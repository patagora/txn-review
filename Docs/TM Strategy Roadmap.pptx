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notesMasterIdLst>
    <p:notesMasterId r:id="rId31"/>
  </p:notesMasterIdLst>
  <p:sldIdLst>
    <p:sldId id="320" r:id="rId6"/>
    <p:sldId id="333" r:id="rId7"/>
    <p:sldId id="4156" r:id="rId8"/>
    <p:sldId id="3977" r:id="rId9"/>
    <p:sldId id="4154" r:id="rId10"/>
    <p:sldId id="4158" r:id="rId11"/>
    <p:sldId id="349" r:id="rId12"/>
    <p:sldId id="358" r:id="rId13"/>
    <p:sldId id="353" r:id="rId14"/>
    <p:sldId id="347" r:id="rId15"/>
    <p:sldId id="354" r:id="rId16"/>
    <p:sldId id="334" r:id="rId17"/>
    <p:sldId id="325" r:id="rId18"/>
    <p:sldId id="355" r:id="rId19"/>
    <p:sldId id="336" r:id="rId20"/>
    <p:sldId id="337" r:id="rId21"/>
    <p:sldId id="338" r:id="rId22"/>
    <p:sldId id="339" r:id="rId23"/>
    <p:sldId id="356" r:id="rId24"/>
    <p:sldId id="342" r:id="rId25"/>
    <p:sldId id="343" r:id="rId26"/>
    <p:sldId id="345" r:id="rId27"/>
    <p:sldId id="346" r:id="rId28"/>
    <p:sldId id="357" r:id="rId29"/>
    <p:sldId id="351" r:id="rId30"/>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isy Rolt" initials="DR" lastIdx="1" clrIdx="0">
    <p:extLst>
      <p:ext uri="{19B8F6BF-5375-455C-9EA6-DF929625EA0E}">
        <p15:presenceInfo xmlns:p15="http://schemas.microsoft.com/office/powerpoint/2012/main" userId="S::Daisy.Rolt@nationwide.co.uk::edf0fae0-896a-496b-8c0f-35f1a4a351f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5E0B4"/>
    <a:srgbClr val="FFC9C9"/>
    <a:srgbClr val="FFABAB"/>
    <a:srgbClr val="FED3CA"/>
    <a:srgbClr val="CFD5EA"/>
    <a:srgbClr val="FEE7E2"/>
    <a:srgbClr val="F4F9F1"/>
    <a:srgbClr val="D63270"/>
    <a:srgbClr val="FF00FF"/>
    <a:srgbClr val="2F559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73" autoAdjust="0"/>
    <p:restoredTop sz="86601" autoAdjust="0"/>
  </p:normalViewPr>
  <p:slideViewPr>
    <p:cSldViewPr snapToGrid="0">
      <p:cViewPr varScale="1">
        <p:scale>
          <a:sx n="121" d="100"/>
          <a:sy n="121" d="100"/>
        </p:scale>
        <p:origin x="280" y="46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theme" Target="theme/theme1.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2C83E03E-05A9-4465-9AD9-DFA898CE8FB1}" type="datetimeFigureOut">
              <a:rPr lang="en-GB" smtClean="0"/>
              <a:t>30/09/2025</a:t>
            </a:fld>
            <a:endParaRPr lang="en-GB" dirty="0"/>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6B5144E8-235A-41F5-B04D-E55DA88CB568}" type="slidenum">
              <a:rPr lang="en-GB" smtClean="0"/>
              <a:t>‹#›</a:t>
            </a:fld>
            <a:endParaRPr lang="en-GB" dirty="0"/>
          </a:p>
        </p:txBody>
      </p:sp>
    </p:spTree>
    <p:extLst>
      <p:ext uri="{BB962C8B-B14F-4D97-AF65-F5344CB8AC3E}">
        <p14:creationId xmlns:p14="http://schemas.microsoft.com/office/powerpoint/2010/main" val="38895548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B5144E8-235A-41F5-B04D-E55DA88CB568}" type="slidenum">
              <a:rPr lang="en-GB" smtClean="0"/>
              <a:t>2</a:t>
            </a:fld>
            <a:endParaRPr lang="en-GB" dirty="0"/>
          </a:p>
        </p:txBody>
      </p:sp>
    </p:spTree>
    <p:extLst>
      <p:ext uri="{BB962C8B-B14F-4D97-AF65-F5344CB8AC3E}">
        <p14:creationId xmlns:p14="http://schemas.microsoft.com/office/powerpoint/2010/main" val="28613499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a:extLst>
              <a:ext uri="{FF2B5EF4-FFF2-40B4-BE49-F238E27FC236}">
                <a16:creationId xmlns:a16="http://schemas.microsoft.com/office/drawing/2014/main" id="{4C77DAAB-82AF-4475-BA6E-9D2111CA07B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a:extLst>
              <a:ext uri="{FF2B5EF4-FFF2-40B4-BE49-F238E27FC236}">
                <a16:creationId xmlns:a16="http://schemas.microsoft.com/office/drawing/2014/main" id="{4AB0CB33-B7D9-4C0C-A030-AA10CC65CFB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4" name="Slide Number Placeholder 3">
            <a:extLst>
              <a:ext uri="{FF2B5EF4-FFF2-40B4-BE49-F238E27FC236}">
                <a16:creationId xmlns:a16="http://schemas.microsoft.com/office/drawing/2014/main" id="{253AD0CD-76F4-4FD0-A16D-9D3A2D572A7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B45823-AB6C-4216-93C6-B06C2DE1B2D4}"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571A9FEF-A415-427C-B408-213DA6D6D80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a:extLst>
              <a:ext uri="{FF2B5EF4-FFF2-40B4-BE49-F238E27FC236}">
                <a16:creationId xmlns:a16="http://schemas.microsoft.com/office/drawing/2014/main" id="{0CC29D84-12CF-460C-A229-0985B39339B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4" name="Slide Number Placeholder 3">
            <a:extLst>
              <a:ext uri="{FF2B5EF4-FFF2-40B4-BE49-F238E27FC236}">
                <a16:creationId xmlns:a16="http://schemas.microsoft.com/office/drawing/2014/main" id="{54AF4551-9F3B-402F-BA0B-EB3519B3564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69A863-699E-4312-978C-BF0A3DB8225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60C2FA35-AC19-4659-9E64-CBCD0121CDA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a:extLst>
              <a:ext uri="{FF2B5EF4-FFF2-40B4-BE49-F238E27FC236}">
                <a16:creationId xmlns:a16="http://schemas.microsoft.com/office/drawing/2014/main" id="{9E3C5195-74A7-4AFB-A1C3-D37BB8B34A3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4" name="Slide Number Placeholder 3">
            <a:extLst>
              <a:ext uri="{FF2B5EF4-FFF2-40B4-BE49-F238E27FC236}">
                <a16:creationId xmlns:a16="http://schemas.microsoft.com/office/drawing/2014/main" id="{A1D31A27-9D2D-49AA-AC65-F6A48B920AC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E5BD83-DB57-48B9-9FCD-712B68DC9F7F}"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Improved investigative capability</a:t>
            </a:r>
            <a:r>
              <a:rPr lang="en-GB" baseline="0" dirty="0"/>
              <a:t> – what does this consist of?</a:t>
            </a:r>
          </a:p>
          <a:p>
            <a:pPr marL="171450" indent="-171450">
              <a:buFontTx/>
              <a:buChar char="-"/>
            </a:pPr>
            <a:r>
              <a:rPr lang="en-GB" baseline="0" dirty="0"/>
              <a:t>Visualisation tools to support network analysis (delivered Q4?)</a:t>
            </a:r>
          </a:p>
          <a:p>
            <a:pPr marL="171450" indent="-171450">
              <a:buFontTx/>
              <a:buChar char="-"/>
            </a:pPr>
            <a:r>
              <a:rPr lang="en-GB" baseline="0" dirty="0"/>
              <a:t>Analytical tools to support alert review e.g. transactional analysis (delivered Q4?)</a:t>
            </a:r>
          </a:p>
          <a:p>
            <a:pPr marL="171450" indent="-171450">
              <a:buFontTx/>
              <a:buChar char="-"/>
            </a:pPr>
            <a:r>
              <a:rPr lang="en-GB" baseline="0" dirty="0"/>
              <a:t>Alert prioritisation and allocation</a:t>
            </a:r>
          </a:p>
          <a:p>
            <a:pPr marL="171450" indent="-171450">
              <a:buFontTx/>
              <a:buChar char="-"/>
            </a:pPr>
            <a:r>
              <a:rPr lang="en-GB" baseline="0" dirty="0"/>
              <a:t>Case management</a:t>
            </a:r>
            <a:endParaRPr lang="en-GB" dirty="0"/>
          </a:p>
        </p:txBody>
      </p:sp>
      <p:sp>
        <p:nvSpPr>
          <p:cNvPr id="4" name="Slide Number Placeholder 3"/>
          <p:cNvSpPr>
            <a:spLocks noGrp="1"/>
          </p:cNvSpPr>
          <p:nvPr>
            <p:ph type="sldNum" sz="quarter" idx="10"/>
          </p:nvPr>
        </p:nvSpPr>
        <p:spPr/>
        <p:txBody>
          <a:bodyPr/>
          <a:lstStyle/>
          <a:p>
            <a:fld id="{F0E68BC6-AC06-48EA-BD68-39AAC852A3BF}" type="slidenum">
              <a:rPr lang="en-GB" smtClean="0"/>
              <a:t>7</a:t>
            </a:fld>
            <a:endParaRPr lang="en-GB" dirty="0"/>
          </a:p>
        </p:txBody>
      </p:sp>
    </p:spTree>
    <p:extLst>
      <p:ext uri="{BB962C8B-B14F-4D97-AF65-F5344CB8AC3E}">
        <p14:creationId xmlns:p14="http://schemas.microsoft.com/office/powerpoint/2010/main" val="11153125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Improved investigative capability</a:t>
            </a:r>
            <a:r>
              <a:rPr lang="en-GB" baseline="0" dirty="0"/>
              <a:t> – what does this consist of?</a:t>
            </a:r>
          </a:p>
          <a:p>
            <a:pPr marL="171450" indent="-171450">
              <a:buFontTx/>
              <a:buChar char="-"/>
            </a:pPr>
            <a:r>
              <a:rPr lang="en-GB" baseline="0" dirty="0"/>
              <a:t>Visualisation tools to support network analysis (delivered Q4?)</a:t>
            </a:r>
          </a:p>
          <a:p>
            <a:pPr marL="171450" indent="-171450">
              <a:buFontTx/>
              <a:buChar char="-"/>
            </a:pPr>
            <a:r>
              <a:rPr lang="en-GB" baseline="0" dirty="0"/>
              <a:t>Analytical tools to support alert review e.g. transactional analysis (delivered Q4?)</a:t>
            </a:r>
          </a:p>
          <a:p>
            <a:pPr marL="171450" indent="-171450">
              <a:buFontTx/>
              <a:buChar char="-"/>
            </a:pPr>
            <a:r>
              <a:rPr lang="en-GB" baseline="0" dirty="0"/>
              <a:t>Alert prioritisation and allocation</a:t>
            </a:r>
          </a:p>
          <a:p>
            <a:pPr marL="171450" indent="-171450">
              <a:buFontTx/>
              <a:buChar char="-"/>
            </a:pPr>
            <a:r>
              <a:rPr lang="en-GB" baseline="0" dirty="0"/>
              <a:t>Case management</a:t>
            </a:r>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0E68BC6-AC06-48EA-BD68-39AAC852A3BF}"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610161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B5144E8-235A-41F5-B04D-E55DA88CB568}" type="slidenum">
              <a:rPr lang="en-GB" smtClean="0"/>
              <a:t>9</a:t>
            </a:fld>
            <a:endParaRPr lang="en-GB" dirty="0"/>
          </a:p>
        </p:txBody>
      </p:sp>
    </p:spTree>
    <p:extLst>
      <p:ext uri="{BB962C8B-B14F-4D97-AF65-F5344CB8AC3E}">
        <p14:creationId xmlns:p14="http://schemas.microsoft.com/office/powerpoint/2010/main" val="16540679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B5144E8-235A-41F5-B04D-E55DA88CB56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62782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Improved investigative capability</a:t>
            </a:r>
            <a:r>
              <a:rPr lang="en-GB" baseline="0" dirty="0"/>
              <a:t> – what does this consist of?</a:t>
            </a:r>
          </a:p>
          <a:p>
            <a:pPr marL="171450" indent="-171450">
              <a:buFontTx/>
              <a:buChar char="-"/>
            </a:pPr>
            <a:r>
              <a:rPr lang="en-GB" baseline="0" dirty="0"/>
              <a:t>Visualisation tools to support network analysis (delivered Q4?)</a:t>
            </a:r>
          </a:p>
          <a:p>
            <a:pPr marL="171450" indent="-171450">
              <a:buFontTx/>
              <a:buChar char="-"/>
            </a:pPr>
            <a:r>
              <a:rPr lang="en-GB" baseline="0" dirty="0"/>
              <a:t>Analytical tools to support alert review e.g. transactional analysis (delivered Q4?)</a:t>
            </a:r>
          </a:p>
          <a:p>
            <a:pPr marL="171450" indent="-171450">
              <a:buFontTx/>
              <a:buChar char="-"/>
            </a:pPr>
            <a:r>
              <a:rPr lang="en-GB" baseline="0" dirty="0"/>
              <a:t>Alert prioritisation and allocation</a:t>
            </a:r>
          </a:p>
          <a:p>
            <a:pPr marL="171450" indent="-171450">
              <a:buFontTx/>
              <a:buChar char="-"/>
            </a:pPr>
            <a:r>
              <a:rPr lang="en-GB" baseline="0" dirty="0"/>
              <a:t>Case management</a:t>
            </a:r>
            <a:endParaRPr lang="en-GB" dirty="0"/>
          </a:p>
        </p:txBody>
      </p:sp>
      <p:sp>
        <p:nvSpPr>
          <p:cNvPr id="4" name="Slide Number Placeholder 3"/>
          <p:cNvSpPr>
            <a:spLocks noGrp="1"/>
          </p:cNvSpPr>
          <p:nvPr>
            <p:ph type="sldNum" sz="quarter" idx="10"/>
          </p:nvPr>
        </p:nvSpPr>
        <p:spPr/>
        <p:txBody>
          <a:bodyPr/>
          <a:lstStyle/>
          <a:p>
            <a:fld id="{F0E68BC6-AC06-48EA-BD68-39AAC852A3BF}" type="slidenum">
              <a:rPr lang="en-GB" smtClean="0"/>
              <a:t>11</a:t>
            </a:fld>
            <a:endParaRPr lang="en-GB" dirty="0"/>
          </a:p>
        </p:txBody>
      </p:sp>
    </p:spTree>
    <p:extLst>
      <p:ext uri="{BB962C8B-B14F-4D97-AF65-F5344CB8AC3E}">
        <p14:creationId xmlns:p14="http://schemas.microsoft.com/office/powerpoint/2010/main" val="42789523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Improved investigative capability</a:t>
            </a:r>
            <a:r>
              <a:rPr lang="en-GB" baseline="0" dirty="0"/>
              <a:t> – what does this consist of?</a:t>
            </a:r>
          </a:p>
          <a:p>
            <a:pPr marL="171450" indent="-171450">
              <a:buFontTx/>
              <a:buChar char="-"/>
            </a:pPr>
            <a:r>
              <a:rPr lang="en-GB" baseline="0" dirty="0"/>
              <a:t>Visualisation tools to support network analysis (delivered Q4?)</a:t>
            </a:r>
          </a:p>
          <a:p>
            <a:pPr marL="171450" indent="-171450">
              <a:buFontTx/>
              <a:buChar char="-"/>
            </a:pPr>
            <a:r>
              <a:rPr lang="en-GB" baseline="0" dirty="0"/>
              <a:t>Analytical tools to support alert review e.g. transactional analysis (delivered Q4?)</a:t>
            </a:r>
          </a:p>
          <a:p>
            <a:pPr marL="171450" indent="-171450">
              <a:buFontTx/>
              <a:buChar char="-"/>
            </a:pPr>
            <a:r>
              <a:rPr lang="en-GB" baseline="0" dirty="0"/>
              <a:t>Alert prioritisation and allocation</a:t>
            </a:r>
          </a:p>
          <a:p>
            <a:pPr marL="171450" indent="-171450">
              <a:buFontTx/>
              <a:buChar char="-"/>
            </a:pPr>
            <a:r>
              <a:rPr lang="en-GB" baseline="0" dirty="0"/>
              <a:t>Case management</a:t>
            </a:r>
            <a:endParaRPr lang="en-GB" dirty="0"/>
          </a:p>
        </p:txBody>
      </p:sp>
      <p:sp>
        <p:nvSpPr>
          <p:cNvPr id="4" name="Slide Number Placeholder 3"/>
          <p:cNvSpPr>
            <a:spLocks noGrp="1"/>
          </p:cNvSpPr>
          <p:nvPr>
            <p:ph type="sldNum" sz="quarter" idx="10"/>
          </p:nvPr>
        </p:nvSpPr>
        <p:spPr/>
        <p:txBody>
          <a:bodyPr/>
          <a:lstStyle/>
          <a:p>
            <a:fld id="{F0E68BC6-AC06-48EA-BD68-39AAC852A3BF}" type="slidenum">
              <a:rPr lang="en-GB" smtClean="0"/>
              <a:t>12</a:t>
            </a:fld>
            <a:endParaRPr lang="en-GB" dirty="0"/>
          </a:p>
        </p:txBody>
      </p:sp>
    </p:spTree>
    <p:extLst>
      <p:ext uri="{BB962C8B-B14F-4D97-AF65-F5344CB8AC3E}">
        <p14:creationId xmlns:p14="http://schemas.microsoft.com/office/powerpoint/2010/main" val="2880932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B5144E8-235A-41F5-B04D-E55DA88CB568}" type="slidenum">
              <a:rPr lang="en-GB" smtClean="0"/>
              <a:t>13</a:t>
            </a:fld>
            <a:endParaRPr lang="en-GB" dirty="0"/>
          </a:p>
        </p:txBody>
      </p:sp>
    </p:spTree>
    <p:extLst>
      <p:ext uri="{BB962C8B-B14F-4D97-AF65-F5344CB8AC3E}">
        <p14:creationId xmlns:p14="http://schemas.microsoft.com/office/powerpoint/2010/main" val="8395667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Improved investigative capability</a:t>
            </a:r>
            <a:r>
              <a:rPr lang="en-GB" baseline="0" dirty="0"/>
              <a:t> – what does this consist of?</a:t>
            </a:r>
          </a:p>
          <a:p>
            <a:pPr marL="171450" indent="-171450">
              <a:buFontTx/>
              <a:buChar char="-"/>
            </a:pPr>
            <a:r>
              <a:rPr lang="en-GB" baseline="0" dirty="0"/>
              <a:t>Visualisation tools to support network analysis (delivered Q4?)</a:t>
            </a:r>
          </a:p>
          <a:p>
            <a:pPr marL="171450" indent="-171450">
              <a:buFontTx/>
              <a:buChar char="-"/>
            </a:pPr>
            <a:r>
              <a:rPr lang="en-GB" baseline="0" dirty="0"/>
              <a:t>Analytical tools to support alert review e.g. transactional analysis (delivered Q4?)</a:t>
            </a:r>
          </a:p>
          <a:p>
            <a:pPr marL="171450" indent="-171450">
              <a:buFontTx/>
              <a:buChar char="-"/>
            </a:pPr>
            <a:r>
              <a:rPr lang="en-GB" baseline="0" dirty="0"/>
              <a:t>Alert prioritisation and allocation</a:t>
            </a:r>
          </a:p>
          <a:p>
            <a:pPr marL="171450" indent="-171450">
              <a:buFontTx/>
              <a:buChar char="-"/>
            </a:pPr>
            <a:r>
              <a:rPr lang="en-GB" baseline="0" dirty="0"/>
              <a:t>Case management</a:t>
            </a:r>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0E68BC6-AC06-48EA-BD68-39AAC852A3BF}"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813837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Improved investigative capability</a:t>
            </a:r>
            <a:r>
              <a:rPr lang="en-GB" baseline="0" dirty="0"/>
              <a:t> – what does this consist of?</a:t>
            </a:r>
          </a:p>
          <a:p>
            <a:pPr marL="171450" indent="-171450">
              <a:buFontTx/>
              <a:buChar char="-"/>
            </a:pPr>
            <a:r>
              <a:rPr lang="en-GB" baseline="0" dirty="0"/>
              <a:t>Visualisation tools to support network analysis (delivered Q4?)</a:t>
            </a:r>
          </a:p>
          <a:p>
            <a:pPr marL="171450" indent="-171450">
              <a:buFontTx/>
              <a:buChar char="-"/>
            </a:pPr>
            <a:r>
              <a:rPr lang="en-GB" baseline="0" dirty="0"/>
              <a:t>Analytical tools to support alert review e.g. transactional analysis (delivered Q4?)</a:t>
            </a:r>
          </a:p>
          <a:p>
            <a:pPr marL="171450" indent="-171450">
              <a:buFontTx/>
              <a:buChar char="-"/>
            </a:pPr>
            <a:r>
              <a:rPr lang="en-GB" baseline="0" dirty="0"/>
              <a:t>Alert prioritisation and allocation</a:t>
            </a:r>
          </a:p>
          <a:p>
            <a:pPr marL="171450" indent="-171450">
              <a:buFontTx/>
              <a:buChar char="-"/>
            </a:pPr>
            <a:r>
              <a:rPr lang="en-GB" baseline="0" dirty="0"/>
              <a:t>Case management</a:t>
            </a:r>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0E68BC6-AC06-48EA-BD68-39AAC852A3BF}"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62758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06319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54607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91663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692538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Improved investigative capability</a:t>
            </a:r>
            <a:r>
              <a:rPr lang="en-GB" baseline="0" dirty="0"/>
              <a:t> – what does this consist of?</a:t>
            </a:r>
          </a:p>
          <a:p>
            <a:pPr marL="171450" indent="-171450">
              <a:buFontTx/>
              <a:buChar char="-"/>
            </a:pPr>
            <a:r>
              <a:rPr lang="en-GB" baseline="0" dirty="0"/>
              <a:t>Visualisation tools to support network analysis (delivered Q4?)</a:t>
            </a:r>
          </a:p>
          <a:p>
            <a:pPr marL="171450" indent="-171450">
              <a:buFontTx/>
              <a:buChar char="-"/>
            </a:pPr>
            <a:r>
              <a:rPr lang="en-GB" baseline="0" dirty="0"/>
              <a:t>Analytical tools to support alert review e.g. transactional analysis (delivered Q4?)</a:t>
            </a:r>
          </a:p>
          <a:p>
            <a:pPr marL="171450" indent="-171450">
              <a:buFontTx/>
              <a:buChar char="-"/>
            </a:pPr>
            <a:r>
              <a:rPr lang="en-GB" baseline="0" dirty="0"/>
              <a:t>Alert prioritisation and allocation</a:t>
            </a:r>
          </a:p>
          <a:p>
            <a:pPr marL="171450" indent="-171450">
              <a:buFontTx/>
              <a:buChar char="-"/>
            </a:pPr>
            <a:r>
              <a:rPr lang="en-GB" baseline="0" dirty="0"/>
              <a:t>Case management</a:t>
            </a:r>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0E68BC6-AC06-48EA-BD68-39AAC852A3BF}"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599114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87527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75E5F-7A38-493D-A385-10499590B95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5025C43-259F-453E-8071-2E59AD892A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38B991B-110B-43CE-B449-E7235BEA465D}"/>
              </a:ext>
            </a:extLst>
          </p:cNvPr>
          <p:cNvSpPr>
            <a:spLocks noGrp="1"/>
          </p:cNvSpPr>
          <p:nvPr>
            <p:ph type="dt" sz="half" idx="10"/>
          </p:nvPr>
        </p:nvSpPr>
        <p:spPr/>
        <p:txBody>
          <a:bodyPr/>
          <a:lstStyle/>
          <a:p>
            <a:fld id="{5B6E78B4-F2CB-44AD-86FE-C91DB791219B}" type="datetimeFigureOut">
              <a:rPr lang="en-GB" smtClean="0"/>
              <a:t>30/09/2025</a:t>
            </a:fld>
            <a:endParaRPr lang="en-GB" dirty="0"/>
          </a:p>
        </p:txBody>
      </p:sp>
      <p:sp>
        <p:nvSpPr>
          <p:cNvPr id="5" name="Footer Placeholder 4">
            <a:extLst>
              <a:ext uri="{FF2B5EF4-FFF2-40B4-BE49-F238E27FC236}">
                <a16:creationId xmlns:a16="http://schemas.microsoft.com/office/drawing/2014/main" id="{CAF64563-8981-4859-A083-0F114421CDBC}"/>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40C18F15-ECAC-4731-A5BC-D7F5293BC2E5}"/>
              </a:ext>
            </a:extLst>
          </p:cNvPr>
          <p:cNvSpPr>
            <a:spLocks noGrp="1"/>
          </p:cNvSpPr>
          <p:nvPr>
            <p:ph type="sldNum" sz="quarter" idx="12"/>
          </p:nvPr>
        </p:nvSpPr>
        <p:spPr/>
        <p:txBody>
          <a:bodyPr/>
          <a:lstStyle/>
          <a:p>
            <a:fld id="{6E3DE0C3-6A41-4858-9ACB-225A2E48AA1E}" type="slidenum">
              <a:rPr lang="en-GB" smtClean="0"/>
              <a:t>‹#›</a:t>
            </a:fld>
            <a:endParaRPr lang="en-GB" dirty="0"/>
          </a:p>
        </p:txBody>
      </p:sp>
    </p:spTree>
    <p:extLst>
      <p:ext uri="{BB962C8B-B14F-4D97-AF65-F5344CB8AC3E}">
        <p14:creationId xmlns:p14="http://schemas.microsoft.com/office/powerpoint/2010/main" val="36364648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F2FAD-0A07-4B01-9FDD-7F244E04A9C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9C3CF30-4737-4682-ADB3-536AA91ECB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35C7829-A4C0-4C1D-A33C-3F24A8852AF5}"/>
              </a:ext>
            </a:extLst>
          </p:cNvPr>
          <p:cNvSpPr>
            <a:spLocks noGrp="1"/>
          </p:cNvSpPr>
          <p:nvPr>
            <p:ph type="dt" sz="half" idx="10"/>
          </p:nvPr>
        </p:nvSpPr>
        <p:spPr/>
        <p:txBody>
          <a:bodyPr/>
          <a:lstStyle/>
          <a:p>
            <a:fld id="{5B6E78B4-F2CB-44AD-86FE-C91DB791219B}" type="datetimeFigureOut">
              <a:rPr lang="en-GB" smtClean="0"/>
              <a:t>30/09/2025</a:t>
            </a:fld>
            <a:endParaRPr lang="en-GB" dirty="0"/>
          </a:p>
        </p:txBody>
      </p:sp>
      <p:sp>
        <p:nvSpPr>
          <p:cNvPr id="5" name="Footer Placeholder 4">
            <a:extLst>
              <a:ext uri="{FF2B5EF4-FFF2-40B4-BE49-F238E27FC236}">
                <a16:creationId xmlns:a16="http://schemas.microsoft.com/office/drawing/2014/main" id="{C36CAFC5-1A4D-493A-A8CD-3884E6112156}"/>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F82AFE14-EAED-46D4-8D87-14A68CD7BDB0}"/>
              </a:ext>
            </a:extLst>
          </p:cNvPr>
          <p:cNvSpPr>
            <a:spLocks noGrp="1"/>
          </p:cNvSpPr>
          <p:nvPr>
            <p:ph type="sldNum" sz="quarter" idx="12"/>
          </p:nvPr>
        </p:nvSpPr>
        <p:spPr/>
        <p:txBody>
          <a:bodyPr/>
          <a:lstStyle/>
          <a:p>
            <a:fld id="{6E3DE0C3-6A41-4858-9ACB-225A2E48AA1E}" type="slidenum">
              <a:rPr lang="en-GB" smtClean="0"/>
              <a:t>‹#›</a:t>
            </a:fld>
            <a:endParaRPr lang="en-GB" dirty="0"/>
          </a:p>
        </p:txBody>
      </p:sp>
    </p:spTree>
    <p:extLst>
      <p:ext uri="{BB962C8B-B14F-4D97-AF65-F5344CB8AC3E}">
        <p14:creationId xmlns:p14="http://schemas.microsoft.com/office/powerpoint/2010/main" val="2700651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B85AB-D058-4061-912B-805AC8B54F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BACCCA10-53E8-49B5-BD8A-6A590199243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E73E29-C5C6-4E71-B9F8-BF403D38EE87}"/>
              </a:ext>
            </a:extLst>
          </p:cNvPr>
          <p:cNvSpPr>
            <a:spLocks noGrp="1"/>
          </p:cNvSpPr>
          <p:nvPr>
            <p:ph type="dt" sz="half" idx="10"/>
          </p:nvPr>
        </p:nvSpPr>
        <p:spPr/>
        <p:txBody>
          <a:bodyPr/>
          <a:lstStyle/>
          <a:p>
            <a:fld id="{5B6E78B4-F2CB-44AD-86FE-C91DB791219B}" type="datetimeFigureOut">
              <a:rPr lang="en-GB" smtClean="0"/>
              <a:t>30/09/2025</a:t>
            </a:fld>
            <a:endParaRPr lang="en-GB" dirty="0"/>
          </a:p>
        </p:txBody>
      </p:sp>
      <p:sp>
        <p:nvSpPr>
          <p:cNvPr id="5" name="Footer Placeholder 4">
            <a:extLst>
              <a:ext uri="{FF2B5EF4-FFF2-40B4-BE49-F238E27FC236}">
                <a16:creationId xmlns:a16="http://schemas.microsoft.com/office/drawing/2014/main" id="{F83B7332-E7F0-4E8C-BE1E-38BC0A5B5124}"/>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E64D8E2C-4D12-407F-9484-790304DF8E64}"/>
              </a:ext>
            </a:extLst>
          </p:cNvPr>
          <p:cNvSpPr>
            <a:spLocks noGrp="1"/>
          </p:cNvSpPr>
          <p:nvPr>
            <p:ph type="sldNum" sz="quarter" idx="12"/>
          </p:nvPr>
        </p:nvSpPr>
        <p:spPr/>
        <p:txBody>
          <a:bodyPr/>
          <a:lstStyle/>
          <a:p>
            <a:fld id="{6E3DE0C3-6A41-4858-9ACB-225A2E48AA1E}" type="slidenum">
              <a:rPr lang="en-GB" smtClean="0"/>
              <a:t>‹#›</a:t>
            </a:fld>
            <a:endParaRPr lang="en-GB" dirty="0"/>
          </a:p>
        </p:txBody>
      </p:sp>
    </p:spTree>
    <p:extLst>
      <p:ext uri="{BB962C8B-B14F-4D97-AF65-F5344CB8AC3E}">
        <p14:creationId xmlns:p14="http://schemas.microsoft.com/office/powerpoint/2010/main" val="10811257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83775-91A8-4A14-AB1A-AD66535148D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333D0A8-F79C-471C-AFD2-7847216EAA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7710273-DAE6-4017-B33A-5E7557A4851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25A20413-E9F0-401C-926E-DEEC13EFE770}"/>
              </a:ext>
            </a:extLst>
          </p:cNvPr>
          <p:cNvSpPr>
            <a:spLocks noGrp="1"/>
          </p:cNvSpPr>
          <p:nvPr>
            <p:ph type="dt" sz="half" idx="10"/>
          </p:nvPr>
        </p:nvSpPr>
        <p:spPr/>
        <p:txBody>
          <a:bodyPr/>
          <a:lstStyle/>
          <a:p>
            <a:fld id="{5B6E78B4-F2CB-44AD-86FE-C91DB791219B}" type="datetimeFigureOut">
              <a:rPr lang="en-GB" smtClean="0"/>
              <a:t>30/09/2025</a:t>
            </a:fld>
            <a:endParaRPr lang="en-GB" dirty="0"/>
          </a:p>
        </p:txBody>
      </p:sp>
      <p:sp>
        <p:nvSpPr>
          <p:cNvPr id="6" name="Footer Placeholder 5">
            <a:extLst>
              <a:ext uri="{FF2B5EF4-FFF2-40B4-BE49-F238E27FC236}">
                <a16:creationId xmlns:a16="http://schemas.microsoft.com/office/drawing/2014/main" id="{E0B452ED-0236-4BA4-B86B-BEFD083FC268}"/>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FC85AE02-9EA7-4BFD-B864-037D47E2E421}"/>
              </a:ext>
            </a:extLst>
          </p:cNvPr>
          <p:cNvSpPr>
            <a:spLocks noGrp="1"/>
          </p:cNvSpPr>
          <p:nvPr>
            <p:ph type="sldNum" sz="quarter" idx="12"/>
          </p:nvPr>
        </p:nvSpPr>
        <p:spPr/>
        <p:txBody>
          <a:bodyPr/>
          <a:lstStyle/>
          <a:p>
            <a:fld id="{6E3DE0C3-6A41-4858-9ACB-225A2E48AA1E}" type="slidenum">
              <a:rPr lang="en-GB" smtClean="0"/>
              <a:t>‹#›</a:t>
            </a:fld>
            <a:endParaRPr lang="en-GB" dirty="0"/>
          </a:p>
        </p:txBody>
      </p:sp>
    </p:spTree>
    <p:extLst>
      <p:ext uri="{BB962C8B-B14F-4D97-AF65-F5344CB8AC3E}">
        <p14:creationId xmlns:p14="http://schemas.microsoft.com/office/powerpoint/2010/main" val="148069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A0D67-71EA-4DCD-9CD7-F14FA1715EE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7CD224D-1B9B-47A5-AC06-4486ED0ED2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3E70C3-E8A4-4E45-B0D3-EE01CE0294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B1A73F9-45BA-43D7-90FE-BC37369D6A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5B9A9C6-05F8-4AAF-8398-ACA6B90877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A4B10266-9A21-43F4-ADE2-23495BAAFE65}"/>
              </a:ext>
            </a:extLst>
          </p:cNvPr>
          <p:cNvSpPr>
            <a:spLocks noGrp="1"/>
          </p:cNvSpPr>
          <p:nvPr>
            <p:ph type="dt" sz="half" idx="10"/>
          </p:nvPr>
        </p:nvSpPr>
        <p:spPr/>
        <p:txBody>
          <a:bodyPr/>
          <a:lstStyle/>
          <a:p>
            <a:fld id="{5B6E78B4-F2CB-44AD-86FE-C91DB791219B}" type="datetimeFigureOut">
              <a:rPr lang="en-GB" smtClean="0"/>
              <a:t>30/09/2025</a:t>
            </a:fld>
            <a:endParaRPr lang="en-GB" dirty="0"/>
          </a:p>
        </p:txBody>
      </p:sp>
      <p:sp>
        <p:nvSpPr>
          <p:cNvPr id="8" name="Footer Placeholder 7">
            <a:extLst>
              <a:ext uri="{FF2B5EF4-FFF2-40B4-BE49-F238E27FC236}">
                <a16:creationId xmlns:a16="http://schemas.microsoft.com/office/drawing/2014/main" id="{6BBD2558-541A-4AD4-9FEF-AD47A3B5E458}"/>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A5DEF3AE-8831-44B0-9FE7-5182F789D8DD}"/>
              </a:ext>
            </a:extLst>
          </p:cNvPr>
          <p:cNvSpPr>
            <a:spLocks noGrp="1"/>
          </p:cNvSpPr>
          <p:nvPr>
            <p:ph type="sldNum" sz="quarter" idx="12"/>
          </p:nvPr>
        </p:nvSpPr>
        <p:spPr/>
        <p:txBody>
          <a:bodyPr/>
          <a:lstStyle/>
          <a:p>
            <a:fld id="{6E3DE0C3-6A41-4858-9ACB-225A2E48AA1E}" type="slidenum">
              <a:rPr lang="en-GB" smtClean="0"/>
              <a:t>‹#›</a:t>
            </a:fld>
            <a:endParaRPr lang="en-GB" dirty="0"/>
          </a:p>
        </p:txBody>
      </p:sp>
    </p:spTree>
    <p:extLst>
      <p:ext uri="{BB962C8B-B14F-4D97-AF65-F5344CB8AC3E}">
        <p14:creationId xmlns:p14="http://schemas.microsoft.com/office/powerpoint/2010/main" val="7324353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D6B72-C7D7-44B9-9251-4476E18253E9}"/>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463B213-FC9D-487A-A337-7F18F8E9CEE6}"/>
              </a:ext>
            </a:extLst>
          </p:cNvPr>
          <p:cNvSpPr>
            <a:spLocks noGrp="1"/>
          </p:cNvSpPr>
          <p:nvPr>
            <p:ph type="dt" sz="half" idx="10"/>
          </p:nvPr>
        </p:nvSpPr>
        <p:spPr/>
        <p:txBody>
          <a:bodyPr/>
          <a:lstStyle/>
          <a:p>
            <a:fld id="{5B6E78B4-F2CB-44AD-86FE-C91DB791219B}" type="datetimeFigureOut">
              <a:rPr lang="en-GB" smtClean="0"/>
              <a:t>30/09/2025</a:t>
            </a:fld>
            <a:endParaRPr lang="en-GB" dirty="0"/>
          </a:p>
        </p:txBody>
      </p:sp>
      <p:sp>
        <p:nvSpPr>
          <p:cNvPr id="4" name="Footer Placeholder 3">
            <a:extLst>
              <a:ext uri="{FF2B5EF4-FFF2-40B4-BE49-F238E27FC236}">
                <a16:creationId xmlns:a16="http://schemas.microsoft.com/office/drawing/2014/main" id="{39869451-5CDE-47CF-A430-079447FF7B94}"/>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A2BD7491-ACBB-4025-BCDA-762E5BCAA469}"/>
              </a:ext>
            </a:extLst>
          </p:cNvPr>
          <p:cNvSpPr>
            <a:spLocks noGrp="1"/>
          </p:cNvSpPr>
          <p:nvPr>
            <p:ph type="sldNum" sz="quarter" idx="12"/>
          </p:nvPr>
        </p:nvSpPr>
        <p:spPr/>
        <p:txBody>
          <a:bodyPr/>
          <a:lstStyle/>
          <a:p>
            <a:fld id="{6E3DE0C3-6A41-4858-9ACB-225A2E48AA1E}" type="slidenum">
              <a:rPr lang="en-GB" smtClean="0"/>
              <a:t>‹#›</a:t>
            </a:fld>
            <a:endParaRPr lang="en-GB" dirty="0"/>
          </a:p>
        </p:txBody>
      </p:sp>
    </p:spTree>
    <p:extLst>
      <p:ext uri="{BB962C8B-B14F-4D97-AF65-F5344CB8AC3E}">
        <p14:creationId xmlns:p14="http://schemas.microsoft.com/office/powerpoint/2010/main" val="14226607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2BD236-828E-4DFC-94ED-01BF2062EC3C}"/>
              </a:ext>
            </a:extLst>
          </p:cNvPr>
          <p:cNvSpPr>
            <a:spLocks noGrp="1"/>
          </p:cNvSpPr>
          <p:nvPr>
            <p:ph type="dt" sz="half" idx="10"/>
          </p:nvPr>
        </p:nvSpPr>
        <p:spPr/>
        <p:txBody>
          <a:bodyPr/>
          <a:lstStyle/>
          <a:p>
            <a:fld id="{5B6E78B4-F2CB-44AD-86FE-C91DB791219B}" type="datetimeFigureOut">
              <a:rPr lang="en-GB" smtClean="0"/>
              <a:t>30/09/2025</a:t>
            </a:fld>
            <a:endParaRPr lang="en-GB" dirty="0"/>
          </a:p>
        </p:txBody>
      </p:sp>
      <p:sp>
        <p:nvSpPr>
          <p:cNvPr id="3" name="Footer Placeholder 2">
            <a:extLst>
              <a:ext uri="{FF2B5EF4-FFF2-40B4-BE49-F238E27FC236}">
                <a16:creationId xmlns:a16="http://schemas.microsoft.com/office/drawing/2014/main" id="{6E999D34-CBCF-49FB-A684-023C97CD0F69}"/>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16EA21EE-C554-4119-9693-02929043A370}"/>
              </a:ext>
            </a:extLst>
          </p:cNvPr>
          <p:cNvSpPr>
            <a:spLocks noGrp="1"/>
          </p:cNvSpPr>
          <p:nvPr>
            <p:ph type="sldNum" sz="quarter" idx="12"/>
          </p:nvPr>
        </p:nvSpPr>
        <p:spPr/>
        <p:txBody>
          <a:bodyPr/>
          <a:lstStyle/>
          <a:p>
            <a:fld id="{6E3DE0C3-6A41-4858-9ACB-225A2E48AA1E}" type="slidenum">
              <a:rPr lang="en-GB" smtClean="0"/>
              <a:t>‹#›</a:t>
            </a:fld>
            <a:endParaRPr lang="en-GB" dirty="0"/>
          </a:p>
        </p:txBody>
      </p:sp>
    </p:spTree>
    <p:extLst>
      <p:ext uri="{BB962C8B-B14F-4D97-AF65-F5344CB8AC3E}">
        <p14:creationId xmlns:p14="http://schemas.microsoft.com/office/powerpoint/2010/main" val="1377618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6DD69-5F2F-44DD-A5F4-E042A884F0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5E93DA0-2B62-493F-9575-B47B5AB309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EF98433-671B-402E-B568-88D2A2053D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CA57CA-8E54-48F7-A508-7096FDA442AB}"/>
              </a:ext>
            </a:extLst>
          </p:cNvPr>
          <p:cNvSpPr>
            <a:spLocks noGrp="1"/>
          </p:cNvSpPr>
          <p:nvPr>
            <p:ph type="dt" sz="half" idx="10"/>
          </p:nvPr>
        </p:nvSpPr>
        <p:spPr/>
        <p:txBody>
          <a:bodyPr/>
          <a:lstStyle/>
          <a:p>
            <a:fld id="{5B6E78B4-F2CB-44AD-86FE-C91DB791219B}" type="datetimeFigureOut">
              <a:rPr lang="en-GB" smtClean="0"/>
              <a:t>30/09/2025</a:t>
            </a:fld>
            <a:endParaRPr lang="en-GB" dirty="0"/>
          </a:p>
        </p:txBody>
      </p:sp>
      <p:sp>
        <p:nvSpPr>
          <p:cNvPr id="6" name="Footer Placeholder 5">
            <a:extLst>
              <a:ext uri="{FF2B5EF4-FFF2-40B4-BE49-F238E27FC236}">
                <a16:creationId xmlns:a16="http://schemas.microsoft.com/office/drawing/2014/main" id="{1438EE42-1DF1-40E8-B436-8FCDFC68BFB4}"/>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0C68742B-B499-4D33-BD93-1BBAAD1204A4}"/>
              </a:ext>
            </a:extLst>
          </p:cNvPr>
          <p:cNvSpPr>
            <a:spLocks noGrp="1"/>
          </p:cNvSpPr>
          <p:nvPr>
            <p:ph type="sldNum" sz="quarter" idx="12"/>
          </p:nvPr>
        </p:nvSpPr>
        <p:spPr/>
        <p:txBody>
          <a:bodyPr/>
          <a:lstStyle/>
          <a:p>
            <a:fld id="{6E3DE0C3-6A41-4858-9ACB-225A2E48AA1E}" type="slidenum">
              <a:rPr lang="en-GB" smtClean="0"/>
              <a:t>‹#›</a:t>
            </a:fld>
            <a:endParaRPr lang="en-GB" dirty="0"/>
          </a:p>
        </p:txBody>
      </p:sp>
    </p:spTree>
    <p:extLst>
      <p:ext uri="{BB962C8B-B14F-4D97-AF65-F5344CB8AC3E}">
        <p14:creationId xmlns:p14="http://schemas.microsoft.com/office/powerpoint/2010/main" val="25721188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1E780-9C6F-4556-8D5E-0585122355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34B7121A-6E25-4435-9C58-2F60FE8304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0746164B-91C9-42CB-892F-D801B92993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D8DB10-6BF5-4D27-9074-609B273A6234}"/>
              </a:ext>
            </a:extLst>
          </p:cNvPr>
          <p:cNvSpPr>
            <a:spLocks noGrp="1"/>
          </p:cNvSpPr>
          <p:nvPr>
            <p:ph type="dt" sz="half" idx="10"/>
          </p:nvPr>
        </p:nvSpPr>
        <p:spPr/>
        <p:txBody>
          <a:bodyPr/>
          <a:lstStyle/>
          <a:p>
            <a:fld id="{5B6E78B4-F2CB-44AD-86FE-C91DB791219B}" type="datetimeFigureOut">
              <a:rPr lang="en-GB" smtClean="0"/>
              <a:t>30/09/2025</a:t>
            </a:fld>
            <a:endParaRPr lang="en-GB" dirty="0"/>
          </a:p>
        </p:txBody>
      </p:sp>
      <p:sp>
        <p:nvSpPr>
          <p:cNvPr id="6" name="Footer Placeholder 5">
            <a:extLst>
              <a:ext uri="{FF2B5EF4-FFF2-40B4-BE49-F238E27FC236}">
                <a16:creationId xmlns:a16="http://schemas.microsoft.com/office/drawing/2014/main" id="{A12C5FD6-5540-428E-9E79-89230310B43D}"/>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24E8917B-AA99-4229-8215-449D57981002}"/>
              </a:ext>
            </a:extLst>
          </p:cNvPr>
          <p:cNvSpPr>
            <a:spLocks noGrp="1"/>
          </p:cNvSpPr>
          <p:nvPr>
            <p:ph type="sldNum" sz="quarter" idx="12"/>
          </p:nvPr>
        </p:nvSpPr>
        <p:spPr/>
        <p:txBody>
          <a:bodyPr/>
          <a:lstStyle/>
          <a:p>
            <a:fld id="{6E3DE0C3-6A41-4858-9ACB-225A2E48AA1E}" type="slidenum">
              <a:rPr lang="en-GB" smtClean="0"/>
              <a:t>‹#›</a:t>
            </a:fld>
            <a:endParaRPr lang="en-GB" dirty="0"/>
          </a:p>
        </p:txBody>
      </p:sp>
    </p:spTree>
    <p:extLst>
      <p:ext uri="{BB962C8B-B14F-4D97-AF65-F5344CB8AC3E}">
        <p14:creationId xmlns:p14="http://schemas.microsoft.com/office/powerpoint/2010/main" val="592564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66926-60D8-485C-8DDB-2DC9AB37668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AD66A49-FB6F-49A5-8ADC-213D663FE49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F32599A-F118-42D3-AC48-B3ECC1B905A2}"/>
              </a:ext>
            </a:extLst>
          </p:cNvPr>
          <p:cNvSpPr>
            <a:spLocks noGrp="1"/>
          </p:cNvSpPr>
          <p:nvPr>
            <p:ph type="dt" sz="half" idx="10"/>
          </p:nvPr>
        </p:nvSpPr>
        <p:spPr/>
        <p:txBody>
          <a:bodyPr/>
          <a:lstStyle/>
          <a:p>
            <a:fld id="{5B6E78B4-F2CB-44AD-86FE-C91DB791219B}" type="datetimeFigureOut">
              <a:rPr lang="en-GB" smtClean="0"/>
              <a:t>30/09/2025</a:t>
            </a:fld>
            <a:endParaRPr lang="en-GB" dirty="0"/>
          </a:p>
        </p:txBody>
      </p:sp>
      <p:sp>
        <p:nvSpPr>
          <p:cNvPr id="5" name="Footer Placeholder 4">
            <a:extLst>
              <a:ext uri="{FF2B5EF4-FFF2-40B4-BE49-F238E27FC236}">
                <a16:creationId xmlns:a16="http://schemas.microsoft.com/office/drawing/2014/main" id="{59A639E2-C372-4397-A84D-92BCE1E38869}"/>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4FE9ABA5-80D0-43E0-A974-355FDB0C70C6}"/>
              </a:ext>
            </a:extLst>
          </p:cNvPr>
          <p:cNvSpPr>
            <a:spLocks noGrp="1"/>
          </p:cNvSpPr>
          <p:nvPr>
            <p:ph type="sldNum" sz="quarter" idx="12"/>
          </p:nvPr>
        </p:nvSpPr>
        <p:spPr/>
        <p:txBody>
          <a:bodyPr/>
          <a:lstStyle/>
          <a:p>
            <a:fld id="{6E3DE0C3-6A41-4858-9ACB-225A2E48AA1E}" type="slidenum">
              <a:rPr lang="en-GB" smtClean="0"/>
              <a:t>‹#›</a:t>
            </a:fld>
            <a:endParaRPr lang="en-GB" dirty="0"/>
          </a:p>
        </p:txBody>
      </p:sp>
    </p:spTree>
    <p:extLst>
      <p:ext uri="{BB962C8B-B14F-4D97-AF65-F5344CB8AC3E}">
        <p14:creationId xmlns:p14="http://schemas.microsoft.com/office/powerpoint/2010/main" val="4038119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5157FE-B9A6-4186-8E60-619D5076684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3518BF3-8C28-42DD-8029-588D9FF6481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EF955BB-4E69-4EAB-A8DC-05DECEF1ACF2}"/>
              </a:ext>
            </a:extLst>
          </p:cNvPr>
          <p:cNvSpPr>
            <a:spLocks noGrp="1"/>
          </p:cNvSpPr>
          <p:nvPr>
            <p:ph type="dt" sz="half" idx="10"/>
          </p:nvPr>
        </p:nvSpPr>
        <p:spPr/>
        <p:txBody>
          <a:bodyPr/>
          <a:lstStyle/>
          <a:p>
            <a:fld id="{5B6E78B4-F2CB-44AD-86FE-C91DB791219B}" type="datetimeFigureOut">
              <a:rPr lang="en-GB" smtClean="0"/>
              <a:t>30/09/2025</a:t>
            </a:fld>
            <a:endParaRPr lang="en-GB" dirty="0"/>
          </a:p>
        </p:txBody>
      </p:sp>
      <p:sp>
        <p:nvSpPr>
          <p:cNvPr id="5" name="Footer Placeholder 4">
            <a:extLst>
              <a:ext uri="{FF2B5EF4-FFF2-40B4-BE49-F238E27FC236}">
                <a16:creationId xmlns:a16="http://schemas.microsoft.com/office/drawing/2014/main" id="{FD087FA3-3522-42B5-9F47-DC30953884F2}"/>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58D71219-82E5-4E22-8ADB-A4705D263361}"/>
              </a:ext>
            </a:extLst>
          </p:cNvPr>
          <p:cNvSpPr>
            <a:spLocks noGrp="1"/>
          </p:cNvSpPr>
          <p:nvPr>
            <p:ph type="sldNum" sz="quarter" idx="12"/>
          </p:nvPr>
        </p:nvSpPr>
        <p:spPr/>
        <p:txBody>
          <a:bodyPr/>
          <a:lstStyle/>
          <a:p>
            <a:fld id="{6E3DE0C3-6A41-4858-9ACB-225A2E48AA1E}" type="slidenum">
              <a:rPr lang="en-GB" smtClean="0"/>
              <a:t>‹#›</a:t>
            </a:fld>
            <a:endParaRPr lang="en-GB" dirty="0"/>
          </a:p>
        </p:txBody>
      </p:sp>
    </p:spTree>
    <p:extLst>
      <p:ext uri="{BB962C8B-B14F-4D97-AF65-F5344CB8AC3E}">
        <p14:creationId xmlns:p14="http://schemas.microsoft.com/office/powerpoint/2010/main" val="35141542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801EF98-3248-4E5E-BFB9-64D5E4788032}"/>
              </a:ext>
            </a:extLst>
          </p:cNvPr>
          <p:cNvSpPr>
            <a:spLocks noGrp="1"/>
          </p:cNvSpPr>
          <p:nvPr>
            <p:ph type="dt" sz="half" idx="10"/>
          </p:nvPr>
        </p:nvSpPr>
        <p:spPr/>
        <p:txBody>
          <a:bodyPr/>
          <a:lstStyle>
            <a:lvl1pPr>
              <a:defRPr/>
            </a:lvl1pPr>
          </a:lstStyle>
          <a:p>
            <a:pPr>
              <a:defRPr/>
            </a:pPr>
            <a:fld id="{C8332906-FB7D-41ED-BD75-C195F2ABD79B}" type="datetimeFigureOut">
              <a:rPr lang="en-GB"/>
              <a:pPr>
                <a:defRPr/>
              </a:pPr>
              <a:t>30/09/2025</a:t>
            </a:fld>
            <a:endParaRPr lang="en-GB" dirty="0"/>
          </a:p>
        </p:txBody>
      </p:sp>
      <p:sp>
        <p:nvSpPr>
          <p:cNvPr id="5" name="Footer Placeholder 4">
            <a:extLst>
              <a:ext uri="{FF2B5EF4-FFF2-40B4-BE49-F238E27FC236}">
                <a16:creationId xmlns:a16="http://schemas.microsoft.com/office/drawing/2014/main" id="{3AB805D2-00BC-4D79-975D-152FACE674BC}"/>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5A54679C-341A-455E-9C3E-B98229BDD7CD}"/>
              </a:ext>
            </a:extLst>
          </p:cNvPr>
          <p:cNvSpPr>
            <a:spLocks noGrp="1"/>
          </p:cNvSpPr>
          <p:nvPr>
            <p:ph type="sldNum" sz="quarter" idx="12"/>
          </p:nvPr>
        </p:nvSpPr>
        <p:spPr/>
        <p:txBody>
          <a:bodyPr/>
          <a:lstStyle>
            <a:lvl1pPr>
              <a:defRPr/>
            </a:lvl1pPr>
          </a:lstStyle>
          <a:p>
            <a:pPr>
              <a:defRPr/>
            </a:pPr>
            <a:fld id="{BD692265-68C2-49E8-B681-896AA7A43B51}" type="slidenum">
              <a:rPr lang="en-GB"/>
              <a:pPr>
                <a:defRPr/>
              </a:pPr>
              <a:t>‹#›</a:t>
            </a:fld>
            <a:endParaRPr lang="en-GB" dirty="0"/>
          </a:p>
        </p:txBody>
      </p:sp>
    </p:spTree>
    <p:extLst>
      <p:ext uri="{BB962C8B-B14F-4D97-AF65-F5344CB8AC3E}">
        <p14:creationId xmlns:p14="http://schemas.microsoft.com/office/powerpoint/2010/main" val="37125660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531F5CB-8D5A-4138-AF6B-8DA6D85D2BC1}"/>
              </a:ext>
            </a:extLst>
          </p:cNvPr>
          <p:cNvSpPr>
            <a:spLocks noGrp="1"/>
          </p:cNvSpPr>
          <p:nvPr>
            <p:ph type="dt" sz="half" idx="10"/>
          </p:nvPr>
        </p:nvSpPr>
        <p:spPr/>
        <p:txBody>
          <a:bodyPr/>
          <a:lstStyle>
            <a:lvl1pPr>
              <a:defRPr/>
            </a:lvl1pPr>
          </a:lstStyle>
          <a:p>
            <a:pPr>
              <a:defRPr/>
            </a:pPr>
            <a:fld id="{EEF13123-0412-437A-8526-ED0384AF9154}" type="datetimeFigureOut">
              <a:rPr lang="en-GB"/>
              <a:pPr>
                <a:defRPr/>
              </a:pPr>
              <a:t>30/09/2025</a:t>
            </a:fld>
            <a:endParaRPr lang="en-GB" dirty="0"/>
          </a:p>
        </p:txBody>
      </p:sp>
      <p:sp>
        <p:nvSpPr>
          <p:cNvPr id="5" name="Footer Placeholder 4">
            <a:extLst>
              <a:ext uri="{FF2B5EF4-FFF2-40B4-BE49-F238E27FC236}">
                <a16:creationId xmlns:a16="http://schemas.microsoft.com/office/drawing/2014/main" id="{5A808264-9E8F-4081-8589-0CCAACE73975}"/>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0E6218D7-C373-44D0-970C-C30CC9BEEC4C}"/>
              </a:ext>
            </a:extLst>
          </p:cNvPr>
          <p:cNvSpPr>
            <a:spLocks noGrp="1"/>
          </p:cNvSpPr>
          <p:nvPr>
            <p:ph type="sldNum" sz="quarter" idx="12"/>
          </p:nvPr>
        </p:nvSpPr>
        <p:spPr/>
        <p:txBody>
          <a:bodyPr/>
          <a:lstStyle>
            <a:lvl1pPr>
              <a:defRPr/>
            </a:lvl1pPr>
          </a:lstStyle>
          <a:p>
            <a:pPr>
              <a:defRPr/>
            </a:pPr>
            <a:fld id="{32C86F1B-799D-4DD9-B0E0-224659BA56F8}" type="slidenum">
              <a:rPr lang="en-GB"/>
              <a:pPr>
                <a:defRPr/>
              </a:pPr>
              <a:t>‹#›</a:t>
            </a:fld>
            <a:endParaRPr lang="en-GB" dirty="0"/>
          </a:p>
        </p:txBody>
      </p:sp>
    </p:spTree>
    <p:extLst>
      <p:ext uri="{BB962C8B-B14F-4D97-AF65-F5344CB8AC3E}">
        <p14:creationId xmlns:p14="http://schemas.microsoft.com/office/powerpoint/2010/main" val="9674446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5394E8-EF41-428C-8CEB-B5CBC15ADFAE}"/>
              </a:ext>
            </a:extLst>
          </p:cNvPr>
          <p:cNvSpPr>
            <a:spLocks noGrp="1"/>
          </p:cNvSpPr>
          <p:nvPr>
            <p:ph type="dt" sz="half" idx="10"/>
          </p:nvPr>
        </p:nvSpPr>
        <p:spPr/>
        <p:txBody>
          <a:bodyPr/>
          <a:lstStyle>
            <a:lvl1pPr>
              <a:defRPr/>
            </a:lvl1pPr>
          </a:lstStyle>
          <a:p>
            <a:pPr>
              <a:defRPr/>
            </a:pPr>
            <a:fld id="{0485C048-E1FB-4500-8682-D70F0F585237}" type="datetimeFigureOut">
              <a:rPr lang="en-GB"/>
              <a:pPr>
                <a:defRPr/>
              </a:pPr>
              <a:t>30/09/2025</a:t>
            </a:fld>
            <a:endParaRPr lang="en-GB" dirty="0"/>
          </a:p>
        </p:txBody>
      </p:sp>
      <p:sp>
        <p:nvSpPr>
          <p:cNvPr id="5" name="Footer Placeholder 4">
            <a:extLst>
              <a:ext uri="{FF2B5EF4-FFF2-40B4-BE49-F238E27FC236}">
                <a16:creationId xmlns:a16="http://schemas.microsoft.com/office/drawing/2014/main" id="{58DFE509-6B03-4387-8A8C-F66198DE2275}"/>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D14B429A-DBC3-4E09-B99B-26D3EC597238}"/>
              </a:ext>
            </a:extLst>
          </p:cNvPr>
          <p:cNvSpPr>
            <a:spLocks noGrp="1"/>
          </p:cNvSpPr>
          <p:nvPr>
            <p:ph type="sldNum" sz="quarter" idx="12"/>
          </p:nvPr>
        </p:nvSpPr>
        <p:spPr/>
        <p:txBody>
          <a:bodyPr/>
          <a:lstStyle>
            <a:lvl1pPr>
              <a:defRPr/>
            </a:lvl1pPr>
          </a:lstStyle>
          <a:p>
            <a:pPr>
              <a:defRPr/>
            </a:pPr>
            <a:fld id="{E1AA7541-410A-4CE2-991B-EF9C6EF15571}" type="slidenum">
              <a:rPr lang="en-GB"/>
              <a:pPr>
                <a:defRPr/>
              </a:pPr>
              <a:t>‹#›</a:t>
            </a:fld>
            <a:endParaRPr lang="en-GB" dirty="0"/>
          </a:p>
        </p:txBody>
      </p:sp>
    </p:spTree>
    <p:extLst>
      <p:ext uri="{BB962C8B-B14F-4D97-AF65-F5344CB8AC3E}">
        <p14:creationId xmlns:p14="http://schemas.microsoft.com/office/powerpoint/2010/main" val="22696512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3">
            <a:extLst>
              <a:ext uri="{FF2B5EF4-FFF2-40B4-BE49-F238E27FC236}">
                <a16:creationId xmlns:a16="http://schemas.microsoft.com/office/drawing/2014/main" id="{6F339010-6755-44B8-B610-B9195280B622}"/>
              </a:ext>
            </a:extLst>
          </p:cNvPr>
          <p:cNvSpPr>
            <a:spLocks noGrp="1"/>
          </p:cNvSpPr>
          <p:nvPr>
            <p:ph type="dt" sz="half" idx="10"/>
          </p:nvPr>
        </p:nvSpPr>
        <p:spPr/>
        <p:txBody>
          <a:bodyPr/>
          <a:lstStyle>
            <a:lvl1pPr>
              <a:defRPr/>
            </a:lvl1pPr>
          </a:lstStyle>
          <a:p>
            <a:pPr>
              <a:defRPr/>
            </a:pPr>
            <a:fld id="{7EA3FD1C-837B-455E-A851-8DDCA321E901}" type="datetimeFigureOut">
              <a:rPr lang="en-GB"/>
              <a:pPr>
                <a:defRPr/>
              </a:pPr>
              <a:t>30/09/2025</a:t>
            </a:fld>
            <a:endParaRPr lang="en-GB" dirty="0"/>
          </a:p>
        </p:txBody>
      </p:sp>
      <p:sp>
        <p:nvSpPr>
          <p:cNvPr id="6" name="Footer Placeholder 4">
            <a:extLst>
              <a:ext uri="{FF2B5EF4-FFF2-40B4-BE49-F238E27FC236}">
                <a16:creationId xmlns:a16="http://schemas.microsoft.com/office/drawing/2014/main" id="{0A8290FD-05D8-4577-9F14-237E56635124}"/>
              </a:ext>
            </a:extLst>
          </p:cNvPr>
          <p:cNvSpPr>
            <a:spLocks noGrp="1"/>
          </p:cNvSpPr>
          <p:nvPr>
            <p:ph type="ftr" sz="quarter" idx="11"/>
          </p:nvPr>
        </p:nvSpPr>
        <p:spPr/>
        <p:txBody>
          <a:bodyPr/>
          <a:lstStyle>
            <a:lvl1pPr>
              <a:defRPr/>
            </a:lvl1pPr>
          </a:lstStyle>
          <a:p>
            <a:pPr>
              <a:defRPr/>
            </a:pPr>
            <a:endParaRPr lang="en-GB"/>
          </a:p>
        </p:txBody>
      </p:sp>
      <p:sp>
        <p:nvSpPr>
          <p:cNvPr id="7" name="Slide Number Placeholder 5">
            <a:extLst>
              <a:ext uri="{FF2B5EF4-FFF2-40B4-BE49-F238E27FC236}">
                <a16:creationId xmlns:a16="http://schemas.microsoft.com/office/drawing/2014/main" id="{9DE44D43-E235-4BF2-87BB-5896861D8659}"/>
              </a:ext>
            </a:extLst>
          </p:cNvPr>
          <p:cNvSpPr>
            <a:spLocks noGrp="1"/>
          </p:cNvSpPr>
          <p:nvPr>
            <p:ph type="sldNum" sz="quarter" idx="12"/>
          </p:nvPr>
        </p:nvSpPr>
        <p:spPr/>
        <p:txBody>
          <a:bodyPr/>
          <a:lstStyle>
            <a:lvl1pPr>
              <a:defRPr/>
            </a:lvl1pPr>
          </a:lstStyle>
          <a:p>
            <a:pPr>
              <a:defRPr/>
            </a:pPr>
            <a:fld id="{6F5A10F2-7598-441E-B84C-045162F93A01}" type="slidenum">
              <a:rPr lang="en-GB"/>
              <a:pPr>
                <a:defRPr/>
              </a:pPr>
              <a:t>‹#›</a:t>
            </a:fld>
            <a:endParaRPr lang="en-GB" dirty="0"/>
          </a:p>
        </p:txBody>
      </p:sp>
    </p:spTree>
    <p:extLst>
      <p:ext uri="{BB962C8B-B14F-4D97-AF65-F5344CB8AC3E}">
        <p14:creationId xmlns:p14="http://schemas.microsoft.com/office/powerpoint/2010/main" val="1294473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3">
            <a:extLst>
              <a:ext uri="{FF2B5EF4-FFF2-40B4-BE49-F238E27FC236}">
                <a16:creationId xmlns:a16="http://schemas.microsoft.com/office/drawing/2014/main" id="{D2CA010F-3BB3-4D21-84A4-BDF599AB997E}"/>
              </a:ext>
            </a:extLst>
          </p:cNvPr>
          <p:cNvSpPr>
            <a:spLocks noGrp="1"/>
          </p:cNvSpPr>
          <p:nvPr>
            <p:ph type="dt" sz="half" idx="10"/>
          </p:nvPr>
        </p:nvSpPr>
        <p:spPr/>
        <p:txBody>
          <a:bodyPr/>
          <a:lstStyle>
            <a:lvl1pPr>
              <a:defRPr/>
            </a:lvl1pPr>
          </a:lstStyle>
          <a:p>
            <a:pPr>
              <a:defRPr/>
            </a:pPr>
            <a:fld id="{23B866EE-84EE-425D-A2CF-EC90F256EE71}" type="datetimeFigureOut">
              <a:rPr lang="en-GB"/>
              <a:pPr>
                <a:defRPr/>
              </a:pPr>
              <a:t>30/09/2025</a:t>
            </a:fld>
            <a:endParaRPr lang="en-GB" dirty="0"/>
          </a:p>
        </p:txBody>
      </p:sp>
      <p:sp>
        <p:nvSpPr>
          <p:cNvPr id="8" name="Footer Placeholder 4">
            <a:extLst>
              <a:ext uri="{FF2B5EF4-FFF2-40B4-BE49-F238E27FC236}">
                <a16:creationId xmlns:a16="http://schemas.microsoft.com/office/drawing/2014/main" id="{1B050A4A-AA3E-4E06-8696-F424B74BE69A}"/>
              </a:ext>
            </a:extLst>
          </p:cNvPr>
          <p:cNvSpPr>
            <a:spLocks noGrp="1"/>
          </p:cNvSpPr>
          <p:nvPr>
            <p:ph type="ftr" sz="quarter" idx="11"/>
          </p:nvPr>
        </p:nvSpPr>
        <p:spPr/>
        <p:txBody>
          <a:bodyPr/>
          <a:lstStyle>
            <a:lvl1pPr>
              <a:defRPr/>
            </a:lvl1pPr>
          </a:lstStyle>
          <a:p>
            <a:pPr>
              <a:defRPr/>
            </a:pPr>
            <a:endParaRPr lang="en-GB"/>
          </a:p>
        </p:txBody>
      </p:sp>
      <p:sp>
        <p:nvSpPr>
          <p:cNvPr id="9" name="Slide Number Placeholder 5">
            <a:extLst>
              <a:ext uri="{FF2B5EF4-FFF2-40B4-BE49-F238E27FC236}">
                <a16:creationId xmlns:a16="http://schemas.microsoft.com/office/drawing/2014/main" id="{F7FEC8EB-253A-4DDB-81C2-E168DC8215A2}"/>
              </a:ext>
            </a:extLst>
          </p:cNvPr>
          <p:cNvSpPr>
            <a:spLocks noGrp="1"/>
          </p:cNvSpPr>
          <p:nvPr>
            <p:ph type="sldNum" sz="quarter" idx="12"/>
          </p:nvPr>
        </p:nvSpPr>
        <p:spPr/>
        <p:txBody>
          <a:bodyPr/>
          <a:lstStyle>
            <a:lvl1pPr>
              <a:defRPr/>
            </a:lvl1pPr>
          </a:lstStyle>
          <a:p>
            <a:pPr>
              <a:defRPr/>
            </a:pPr>
            <a:fld id="{68055490-3696-47FB-9245-A1F75A8E1A8F}" type="slidenum">
              <a:rPr lang="en-GB"/>
              <a:pPr>
                <a:defRPr/>
              </a:pPr>
              <a:t>‹#›</a:t>
            </a:fld>
            <a:endParaRPr lang="en-GB" dirty="0"/>
          </a:p>
        </p:txBody>
      </p:sp>
    </p:spTree>
    <p:extLst>
      <p:ext uri="{BB962C8B-B14F-4D97-AF65-F5344CB8AC3E}">
        <p14:creationId xmlns:p14="http://schemas.microsoft.com/office/powerpoint/2010/main" val="2913297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3">
            <a:extLst>
              <a:ext uri="{FF2B5EF4-FFF2-40B4-BE49-F238E27FC236}">
                <a16:creationId xmlns:a16="http://schemas.microsoft.com/office/drawing/2014/main" id="{5B6D8DC7-5D3D-4BE1-93C0-E5F8219A78C7}"/>
              </a:ext>
            </a:extLst>
          </p:cNvPr>
          <p:cNvSpPr>
            <a:spLocks noGrp="1"/>
          </p:cNvSpPr>
          <p:nvPr>
            <p:ph type="dt" sz="half" idx="10"/>
          </p:nvPr>
        </p:nvSpPr>
        <p:spPr/>
        <p:txBody>
          <a:bodyPr/>
          <a:lstStyle>
            <a:lvl1pPr>
              <a:defRPr/>
            </a:lvl1pPr>
          </a:lstStyle>
          <a:p>
            <a:pPr>
              <a:defRPr/>
            </a:pPr>
            <a:fld id="{FE2B6A18-E4EA-4955-B532-04CFAC43B9FA}" type="datetimeFigureOut">
              <a:rPr lang="en-GB"/>
              <a:pPr>
                <a:defRPr/>
              </a:pPr>
              <a:t>30/09/2025</a:t>
            </a:fld>
            <a:endParaRPr lang="en-GB" dirty="0"/>
          </a:p>
        </p:txBody>
      </p:sp>
      <p:sp>
        <p:nvSpPr>
          <p:cNvPr id="4" name="Footer Placeholder 4">
            <a:extLst>
              <a:ext uri="{FF2B5EF4-FFF2-40B4-BE49-F238E27FC236}">
                <a16:creationId xmlns:a16="http://schemas.microsoft.com/office/drawing/2014/main" id="{94FD9AF2-79B1-4B80-A788-196C359B8A29}"/>
              </a:ext>
            </a:extLst>
          </p:cNvPr>
          <p:cNvSpPr>
            <a:spLocks noGrp="1"/>
          </p:cNvSpPr>
          <p:nvPr>
            <p:ph type="ftr" sz="quarter" idx="11"/>
          </p:nvPr>
        </p:nvSpPr>
        <p:spPr/>
        <p:txBody>
          <a:bodyPr/>
          <a:lstStyle>
            <a:lvl1pPr>
              <a:defRPr/>
            </a:lvl1pPr>
          </a:lstStyle>
          <a:p>
            <a:pPr>
              <a:defRPr/>
            </a:pPr>
            <a:endParaRPr lang="en-GB"/>
          </a:p>
        </p:txBody>
      </p:sp>
      <p:sp>
        <p:nvSpPr>
          <p:cNvPr id="5" name="Slide Number Placeholder 5">
            <a:extLst>
              <a:ext uri="{FF2B5EF4-FFF2-40B4-BE49-F238E27FC236}">
                <a16:creationId xmlns:a16="http://schemas.microsoft.com/office/drawing/2014/main" id="{88EFD34F-322B-4C55-B5CE-DF732B8908CC}"/>
              </a:ext>
            </a:extLst>
          </p:cNvPr>
          <p:cNvSpPr>
            <a:spLocks noGrp="1"/>
          </p:cNvSpPr>
          <p:nvPr>
            <p:ph type="sldNum" sz="quarter" idx="12"/>
          </p:nvPr>
        </p:nvSpPr>
        <p:spPr/>
        <p:txBody>
          <a:bodyPr/>
          <a:lstStyle>
            <a:lvl1pPr>
              <a:defRPr/>
            </a:lvl1pPr>
          </a:lstStyle>
          <a:p>
            <a:pPr>
              <a:defRPr/>
            </a:pPr>
            <a:fld id="{7E66D77D-9D1F-4F58-8F56-6ED6C5021264}" type="slidenum">
              <a:rPr lang="en-GB"/>
              <a:pPr>
                <a:defRPr/>
              </a:pPr>
              <a:t>‹#›</a:t>
            </a:fld>
            <a:endParaRPr lang="en-GB" dirty="0"/>
          </a:p>
        </p:txBody>
      </p:sp>
    </p:spTree>
    <p:extLst>
      <p:ext uri="{BB962C8B-B14F-4D97-AF65-F5344CB8AC3E}">
        <p14:creationId xmlns:p14="http://schemas.microsoft.com/office/powerpoint/2010/main" val="15476076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364AF447-FFAA-4C48-8C87-90D457D92FC5}"/>
              </a:ext>
            </a:extLst>
          </p:cNvPr>
          <p:cNvSpPr>
            <a:spLocks noGrp="1"/>
          </p:cNvSpPr>
          <p:nvPr>
            <p:ph type="dt" sz="half" idx="10"/>
          </p:nvPr>
        </p:nvSpPr>
        <p:spPr/>
        <p:txBody>
          <a:bodyPr/>
          <a:lstStyle>
            <a:lvl1pPr>
              <a:defRPr/>
            </a:lvl1pPr>
          </a:lstStyle>
          <a:p>
            <a:pPr>
              <a:defRPr/>
            </a:pPr>
            <a:fld id="{7AEC6F0F-DEFC-4546-8F5A-82916B28EDEB}" type="datetimeFigureOut">
              <a:rPr lang="en-GB"/>
              <a:pPr>
                <a:defRPr/>
              </a:pPr>
              <a:t>30/09/2025</a:t>
            </a:fld>
            <a:endParaRPr lang="en-GB" dirty="0"/>
          </a:p>
        </p:txBody>
      </p:sp>
      <p:sp>
        <p:nvSpPr>
          <p:cNvPr id="3" name="Footer Placeholder 4">
            <a:extLst>
              <a:ext uri="{FF2B5EF4-FFF2-40B4-BE49-F238E27FC236}">
                <a16:creationId xmlns:a16="http://schemas.microsoft.com/office/drawing/2014/main" id="{2C79072E-EACE-40F9-B1D8-85F52B395A58}"/>
              </a:ext>
            </a:extLst>
          </p:cNvPr>
          <p:cNvSpPr>
            <a:spLocks noGrp="1"/>
          </p:cNvSpPr>
          <p:nvPr>
            <p:ph type="ftr" sz="quarter" idx="11"/>
          </p:nvPr>
        </p:nvSpPr>
        <p:spPr/>
        <p:txBody>
          <a:bodyPr/>
          <a:lstStyle>
            <a:lvl1pPr>
              <a:defRPr/>
            </a:lvl1pPr>
          </a:lstStyle>
          <a:p>
            <a:pPr>
              <a:defRPr/>
            </a:pPr>
            <a:endParaRPr lang="en-GB"/>
          </a:p>
        </p:txBody>
      </p:sp>
      <p:sp>
        <p:nvSpPr>
          <p:cNvPr id="4" name="Slide Number Placeholder 5">
            <a:extLst>
              <a:ext uri="{FF2B5EF4-FFF2-40B4-BE49-F238E27FC236}">
                <a16:creationId xmlns:a16="http://schemas.microsoft.com/office/drawing/2014/main" id="{7A10D296-F638-4598-AB7A-84594A93D392}"/>
              </a:ext>
            </a:extLst>
          </p:cNvPr>
          <p:cNvSpPr>
            <a:spLocks noGrp="1"/>
          </p:cNvSpPr>
          <p:nvPr>
            <p:ph type="sldNum" sz="quarter" idx="12"/>
          </p:nvPr>
        </p:nvSpPr>
        <p:spPr/>
        <p:txBody>
          <a:bodyPr/>
          <a:lstStyle>
            <a:lvl1pPr>
              <a:defRPr/>
            </a:lvl1pPr>
          </a:lstStyle>
          <a:p>
            <a:pPr>
              <a:defRPr/>
            </a:pPr>
            <a:fld id="{1262DBA9-DCA6-4C35-8B39-3FEC7A5F05CE}" type="slidenum">
              <a:rPr lang="en-GB"/>
              <a:pPr>
                <a:defRPr/>
              </a:pPr>
              <a:t>‹#›</a:t>
            </a:fld>
            <a:endParaRPr lang="en-GB" dirty="0"/>
          </a:p>
        </p:txBody>
      </p:sp>
    </p:spTree>
    <p:extLst>
      <p:ext uri="{BB962C8B-B14F-4D97-AF65-F5344CB8AC3E}">
        <p14:creationId xmlns:p14="http://schemas.microsoft.com/office/powerpoint/2010/main" val="6090012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FC65095A-16EB-4359-B641-6DAFACCD777F}"/>
              </a:ext>
            </a:extLst>
          </p:cNvPr>
          <p:cNvSpPr>
            <a:spLocks noGrp="1"/>
          </p:cNvSpPr>
          <p:nvPr>
            <p:ph type="dt" sz="half" idx="10"/>
          </p:nvPr>
        </p:nvSpPr>
        <p:spPr/>
        <p:txBody>
          <a:bodyPr/>
          <a:lstStyle>
            <a:lvl1pPr>
              <a:defRPr/>
            </a:lvl1pPr>
          </a:lstStyle>
          <a:p>
            <a:pPr>
              <a:defRPr/>
            </a:pPr>
            <a:fld id="{DD3D92EB-5E41-4571-A142-195B650DB9AB}" type="datetimeFigureOut">
              <a:rPr lang="en-GB"/>
              <a:pPr>
                <a:defRPr/>
              </a:pPr>
              <a:t>30/09/2025</a:t>
            </a:fld>
            <a:endParaRPr lang="en-GB" dirty="0"/>
          </a:p>
        </p:txBody>
      </p:sp>
      <p:sp>
        <p:nvSpPr>
          <p:cNvPr id="6" name="Footer Placeholder 4">
            <a:extLst>
              <a:ext uri="{FF2B5EF4-FFF2-40B4-BE49-F238E27FC236}">
                <a16:creationId xmlns:a16="http://schemas.microsoft.com/office/drawing/2014/main" id="{650045CC-88B5-4598-A894-006368116466}"/>
              </a:ext>
            </a:extLst>
          </p:cNvPr>
          <p:cNvSpPr>
            <a:spLocks noGrp="1"/>
          </p:cNvSpPr>
          <p:nvPr>
            <p:ph type="ftr" sz="quarter" idx="11"/>
          </p:nvPr>
        </p:nvSpPr>
        <p:spPr/>
        <p:txBody>
          <a:bodyPr/>
          <a:lstStyle>
            <a:lvl1pPr>
              <a:defRPr/>
            </a:lvl1pPr>
          </a:lstStyle>
          <a:p>
            <a:pPr>
              <a:defRPr/>
            </a:pPr>
            <a:endParaRPr lang="en-GB"/>
          </a:p>
        </p:txBody>
      </p:sp>
      <p:sp>
        <p:nvSpPr>
          <p:cNvPr id="7" name="Slide Number Placeholder 5">
            <a:extLst>
              <a:ext uri="{FF2B5EF4-FFF2-40B4-BE49-F238E27FC236}">
                <a16:creationId xmlns:a16="http://schemas.microsoft.com/office/drawing/2014/main" id="{7F02C101-A706-4262-A8DD-89B967C9777B}"/>
              </a:ext>
            </a:extLst>
          </p:cNvPr>
          <p:cNvSpPr>
            <a:spLocks noGrp="1"/>
          </p:cNvSpPr>
          <p:nvPr>
            <p:ph type="sldNum" sz="quarter" idx="12"/>
          </p:nvPr>
        </p:nvSpPr>
        <p:spPr/>
        <p:txBody>
          <a:bodyPr/>
          <a:lstStyle>
            <a:lvl1pPr>
              <a:defRPr/>
            </a:lvl1pPr>
          </a:lstStyle>
          <a:p>
            <a:pPr>
              <a:defRPr/>
            </a:pPr>
            <a:fld id="{B7857844-DA10-4B4E-9527-AB8F3AC2770C}" type="slidenum">
              <a:rPr lang="en-GB"/>
              <a:pPr>
                <a:defRPr/>
              </a:pPr>
              <a:t>‹#›</a:t>
            </a:fld>
            <a:endParaRPr lang="en-GB" dirty="0"/>
          </a:p>
        </p:txBody>
      </p:sp>
    </p:spTree>
    <p:extLst>
      <p:ext uri="{BB962C8B-B14F-4D97-AF65-F5344CB8AC3E}">
        <p14:creationId xmlns:p14="http://schemas.microsoft.com/office/powerpoint/2010/main" val="33768108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05A68664-5C8A-48A0-8CC9-3B6A7082AF4B}"/>
              </a:ext>
            </a:extLst>
          </p:cNvPr>
          <p:cNvSpPr>
            <a:spLocks noGrp="1"/>
          </p:cNvSpPr>
          <p:nvPr>
            <p:ph type="dt" sz="half" idx="10"/>
          </p:nvPr>
        </p:nvSpPr>
        <p:spPr/>
        <p:txBody>
          <a:bodyPr/>
          <a:lstStyle>
            <a:lvl1pPr>
              <a:defRPr/>
            </a:lvl1pPr>
          </a:lstStyle>
          <a:p>
            <a:pPr>
              <a:defRPr/>
            </a:pPr>
            <a:fld id="{2D1E16C4-717B-454A-8B80-8FC2C4BCB860}" type="datetimeFigureOut">
              <a:rPr lang="en-GB"/>
              <a:pPr>
                <a:defRPr/>
              </a:pPr>
              <a:t>30/09/2025</a:t>
            </a:fld>
            <a:endParaRPr lang="en-GB" dirty="0"/>
          </a:p>
        </p:txBody>
      </p:sp>
      <p:sp>
        <p:nvSpPr>
          <p:cNvPr id="6" name="Footer Placeholder 4">
            <a:extLst>
              <a:ext uri="{FF2B5EF4-FFF2-40B4-BE49-F238E27FC236}">
                <a16:creationId xmlns:a16="http://schemas.microsoft.com/office/drawing/2014/main" id="{077CC5E6-78D0-45F3-ACBF-F62A3D83140C}"/>
              </a:ext>
            </a:extLst>
          </p:cNvPr>
          <p:cNvSpPr>
            <a:spLocks noGrp="1"/>
          </p:cNvSpPr>
          <p:nvPr>
            <p:ph type="ftr" sz="quarter" idx="11"/>
          </p:nvPr>
        </p:nvSpPr>
        <p:spPr/>
        <p:txBody>
          <a:bodyPr/>
          <a:lstStyle>
            <a:lvl1pPr>
              <a:defRPr/>
            </a:lvl1pPr>
          </a:lstStyle>
          <a:p>
            <a:pPr>
              <a:defRPr/>
            </a:pPr>
            <a:endParaRPr lang="en-GB"/>
          </a:p>
        </p:txBody>
      </p:sp>
      <p:sp>
        <p:nvSpPr>
          <p:cNvPr id="7" name="Slide Number Placeholder 5">
            <a:extLst>
              <a:ext uri="{FF2B5EF4-FFF2-40B4-BE49-F238E27FC236}">
                <a16:creationId xmlns:a16="http://schemas.microsoft.com/office/drawing/2014/main" id="{70629A45-A0E1-4C12-A264-D05D32D64816}"/>
              </a:ext>
            </a:extLst>
          </p:cNvPr>
          <p:cNvSpPr>
            <a:spLocks noGrp="1"/>
          </p:cNvSpPr>
          <p:nvPr>
            <p:ph type="sldNum" sz="quarter" idx="12"/>
          </p:nvPr>
        </p:nvSpPr>
        <p:spPr/>
        <p:txBody>
          <a:bodyPr/>
          <a:lstStyle>
            <a:lvl1pPr>
              <a:defRPr/>
            </a:lvl1pPr>
          </a:lstStyle>
          <a:p>
            <a:pPr>
              <a:defRPr/>
            </a:pPr>
            <a:fld id="{A82F7534-8691-44F5-9EB1-6F34A23B70B1}" type="slidenum">
              <a:rPr lang="en-GB"/>
              <a:pPr>
                <a:defRPr/>
              </a:pPr>
              <a:t>‹#›</a:t>
            </a:fld>
            <a:endParaRPr lang="en-GB" dirty="0"/>
          </a:p>
        </p:txBody>
      </p:sp>
    </p:spTree>
    <p:extLst>
      <p:ext uri="{BB962C8B-B14F-4D97-AF65-F5344CB8AC3E}">
        <p14:creationId xmlns:p14="http://schemas.microsoft.com/office/powerpoint/2010/main" val="17061415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7A3D1EC-F0A5-4670-8958-BC18AE4D94DD}"/>
              </a:ext>
            </a:extLst>
          </p:cNvPr>
          <p:cNvSpPr>
            <a:spLocks noGrp="1"/>
          </p:cNvSpPr>
          <p:nvPr>
            <p:ph type="dt" sz="half" idx="10"/>
          </p:nvPr>
        </p:nvSpPr>
        <p:spPr/>
        <p:txBody>
          <a:bodyPr/>
          <a:lstStyle>
            <a:lvl1pPr>
              <a:defRPr/>
            </a:lvl1pPr>
          </a:lstStyle>
          <a:p>
            <a:pPr>
              <a:defRPr/>
            </a:pPr>
            <a:fld id="{98E3AEBB-E980-430A-A302-1FF334B15BB2}" type="datetimeFigureOut">
              <a:rPr lang="en-GB"/>
              <a:pPr>
                <a:defRPr/>
              </a:pPr>
              <a:t>30/09/2025</a:t>
            </a:fld>
            <a:endParaRPr lang="en-GB" dirty="0"/>
          </a:p>
        </p:txBody>
      </p:sp>
      <p:sp>
        <p:nvSpPr>
          <p:cNvPr id="5" name="Footer Placeholder 4">
            <a:extLst>
              <a:ext uri="{FF2B5EF4-FFF2-40B4-BE49-F238E27FC236}">
                <a16:creationId xmlns:a16="http://schemas.microsoft.com/office/drawing/2014/main" id="{D80BDAEC-CE5A-4A27-962B-12C5C44085A6}"/>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48CFFF70-FE9F-4C9E-A20E-B7C2309E7F6C}"/>
              </a:ext>
            </a:extLst>
          </p:cNvPr>
          <p:cNvSpPr>
            <a:spLocks noGrp="1"/>
          </p:cNvSpPr>
          <p:nvPr>
            <p:ph type="sldNum" sz="quarter" idx="12"/>
          </p:nvPr>
        </p:nvSpPr>
        <p:spPr/>
        <p:txBody>
          <a:bodyPr/>
          <a:lstStyle>
            <a:lvl1pPr>
              <a:defRPr/>
            </a:lvl1pPr>
          </a:lstStyle>
          <a:p>
            <a:pPr>
              <a:defRPr/>
            </a:pPr>
            <a:fld id="{F5A915B0-8E18-4502-9F08-F8DC2B7A7FAA}" type="slidenum">
              <a:rPr lang="en-GB"/>
              <a:pPr>
                <a:defRPr/>
              </a:pPr>
              <a:t>‹#›</a:t>
            </a:fld>
            <a:endParaRPr lang="en-GB" dirty="0"/>
          </a:p>
        </p:txBody>
      </p:sp>
    </p:spTree>
    <p:extLst>
      <p:ext uri="{BB962C8B-B14F-4D97-AF65-F5344CB8AC3E}">
        <p14:creationId xmlns:p14="http://schemas.microsoft.com/office/powerpoint/2010/main" val="32055032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8FF6B62-FA02-4621-BDBF-63A98D1583F3}"/>
              </a:ext>
            </a:extLst>
          </p:cNvPr>
          <p:cNvSpPr>
            <a:spLocks noGrp="1"/>
          </p:cNvSpPr>
          <p:nvPr>
            <p:ph type="dt" sz="half" idx="10"/>
          </p:nvPr>
        </p:nvSpPr>
        <p:spPr/>
        <p:txBody>
          <a:bodyPr/>
          <a:lstStyle>
            <a:lvl1pPr>
              <a:defRPr/>
            </a:lvl1pPr>
          </a:lstStyle>
          <a:p>
            <a:pPr>
              <a:defRPr/>
            </a:pPr>
            <a:fld id="{84945D47-2F24-4A67-BC80-81BB56875A84}" type="datetimeFigureOut">
              <a:rPr lang="en-GB"/>
              <a:pPr>
                <a:defRPr/>
              </a:pPr>
              <a:t>30/09/2025</a:t>
            </a:fld>
            <a:endParaRPr lang="en-GB" dirty="0"/>
          </a:p>
        </p:txBody>
      </p:sp>
      <p:sp>
        <p:nvSpPr>
          <p:cNvPr id="5" name="Footer Placeholder 4">
            <a:extLst>
              <a:ext uri="{FF2B5EF4-FFF2-40B4-BE49-F238E27FC236}">
                <a16:creationId xmlns:a16="http://schemas.microsoft.com/office/drawing/2014/main" id="{D0F5AD2E-4D5B-487F-8578-947FE843FDBB}"/>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3102F1CF-4F4E-4AED-AA4F-E89FB10BE00E}"/>
              </a:ext>
            </a:extLst>
          </p:cNvPr>
          <p:cNvSpPr>
            <a:spLocks noGrp="1"/>
          </p:cNvSpPr>
          <p:nvPr>
            <p:ph type="sldNum" sz="quarter" idx="12"/>
          </p:nvPr>
        </p:nvSpPr>
        <p:spPr/>
        <p:txBody>
          <a:bodyPr/>
          <a:lstStyle>
            <a:lvl1pPr>
              <a:defRPr/>
            </a:lvl1pPr>
          </a:lstStyle>
          <a:p>
            <a:pPr>
              <a:defRPr/>
            </a:pPr>
            <a:fld id="{73A12BAB-DF15-4B7D-9A69-CA395DE3D009}" type="slidenum">
              <a:rPr lang="en-GB"/>
              <a:pPr>
                <a:defRPr/>
              </a:pPr>
              <a:t>‹#›</a:t>
            </a:fld>
            <a:endParaRPr lang="en-GB" dirty="0"/>
          </a:p>
        </p:txBody>
      </p:sp>
    </p:spTree>
    <p:extLst>
      <p:ext uri="{BB962C8B-B14F-4D97-AF65-F5344CB8AC3E}">
        <p14:creationId xmlns:p14="http://schemas.microsoft.com/office/powerpoint/2010/main" val="6881898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Blank slide with NW logo">
    <p:spTree>
      <p:nvGrpSpPr>
        <p:cNvPr id="1" name=""/>
        <p:cNvGrpSpPr/>
        <p:nvPr/>
      </p:nvGrpSpPr>
      <p:grpSpPr>
        <a:xfrm>
          <a:off x="0" y="0"/>
          <a:ext cx="0" cy="0"/>
          <a:chOff x="0" y="0"/>
          <a:chExt cx="0" cy="0"/>
        </a:xfrm>
      </p:grpSpPr>
      <p:sp>
        <p:nvSpPr>
          <p:cNvPr id="2" name="Rounded Rectangle 8">
            <a:extLst>
              <a:ext uri="{FF2B5EF4-FFF2-40B4-BE49-F238E27FC236}">
                <a16:creationId xmlns:a16="http://schemas.microsoft.com/office/drawing/2014/main" id="{E05DB02C-717A-4D0A-B949-607309FACBD9}"/>
              </a:ext>
            </a:extLst>
          </p:cNvPr>
          <p:cNvSpPr>
            <a:spLocks noChangeAspect="1"/>
          </p:cNvSpPr>
          <p:nvPr userDrawn="1"/>
        </p:nvSpPr>
        <p:spPr bwMode="auto">
          <a:xfrm>
            <a:off x="11739563" y="6467475"/>
            <a:ext cx="331787" cy="285750"/>
          </a:xfrm>
          <a:prstGeom prst="roundRect">
            <a:avLst>
              <a:gd name="adj" fmla="val 29894"/>
            </a:avLst>
          </a:prstGeom>
          <a:solidFill>
            <a:srgbClr val="ED1C24"/>
          </a:solidFill>
          <a:ln>
            <a:noFill/>
          </a:ln>
        </p:spPr>
        <p:txBody>
          <a:bodyPr lIns="0" tIns="0" rIns="0" bIns="0" anchor="ctr"/>
          <a:lstStyle/>
          <a:p>
            <a:pPr algn="ctr" fontAlgn="auto">
              <a:spcBef>
                <a:spcPts val="0"/>
              </a:spcBef>
              <a:spcAft>
                <a:spcPts val="0"/>
              </a:spcAft>
              <a:defRPr/>
            </a:pPr>
            <a:fld id="{C0EEB367-8972-44C1-A5D0-3D966749E363}" type="slidenum">
              <a:rPr lang="en-GB" sz="738">
                <a:solidFill>
                  <a:srgbClr val="FFFFFF"/>
                </a:solidFill>
                <a:latin typeface="+mn-lt"/>
                <a:cs typeface="Arial" charset="0"/>
                <a:sym typeface="Gill Sans" charset="0"/>
              </a:rPr>
              <a:pPr algn="ctr" fontAlgn="auto">
                <a:spcBef>
                  <a:spcPts val="0"/>
                </a:spcBef>
                <a:spcAft>
                  <a:spcPts val="0"/>
                </a:spcAft>
                <a:defRPr/>
              </a:pPr>
              <a:t>‹#›</a:t>
            </a:fld>
            <a:endParaRPr lang="en-GB" sz="738" dirty="0">
              <a:solidFill>
                <a:srgbClr val="FFFFFF"/>
              </a:solidFill>
              <a:latin typeface="+mn-lt"/>
              <a:cs typeface="Arial" charset="0"/>
              <a:sym typeface="Gill Sans" charset="0"/>
            </a:endParaRPr>
          </a:p>
        </p:txBody>
      </p:sp>
      <p:pic>
        <p:nvPicPr>
          <p:cNvPr id="3" name="Picture 7" descr="https://encrypted-tbn0.gstatic.com/images?q=tbn:ANd9GcRbCWUyBV_7kkvH7bG9FtCAIC8AxopDA2qAFJCvSkBHTaRywsWd">
            <a:extLst>
              <a:ext uri="{FF2B5EF4-FFF2-40B4-BE49-F238E27FC236}">
                <a16:creationId xmlns:a16="http://schemas.microsoft.com/office/drawing/2014/main" id="{753CD9D2-E0E5-42A8-95F5-5C4AD163967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298238" y="6430963"/>
            <a:ext cx="436562"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Placeholder 7">
            <a:extLst>
              <a:ext uri="{FF2B5EF4-FFF2-40B4-BE49-F238E27FC236}">
                <a16:creationId xmlns:a16="http://schemas.microsoft.com/office/drawing/2014/main" id="{0BC2F39D-1FB7-4BE7-A574-775CE7D914D2}"/>
              </a:ext>
            </a:extLst>
          </p:cNvPr>
          <p:cNvSpPr txBox="1">
            <a:spLocks/>
          </p:cNvSpPr>
          <p:nvPr userDrawn="1"/>
        </p:nvSpPr>
        <p:spPr>
          <a:xfrm>
            <a:off x="449263" y="6500813"/>
            <a:ext cx="7413625" cy="215900"/>
          </a:xfrm>
          <a:prstGeom prst="rect">
            <a:avLst/>
          </a:prstGeom>
        </p:spPr>
        <p:txBody>
          <a:bodyPr lIns="0"/>
          <a:lstStyle>
            <a:lvl1pPr marL="0" indent="0" algn="l" defTabSz="457178" rtl="0" eaLnBrk="1" latinLnBrk="0" hangingPunct="1">
              <a:lnSpc>
                <a:spcPct val="80000"/>
              </a:lnSpc>
              <a:spcBef>
                <a:spcPct val="20000"/>
              </a:spcBef>
              <a:buFont typeface="Arial"/>
              <a:buNone/>
              <a:defRPr sz="800" b="0" i="0" kern="1200">
                <a:solidFill>
                  <a:schemeClr val="tx1"/>
                </a:solidFill>
                <a:latin typeface="NBS Light"/>
                <a:ea typeface="+mn-ea"/>
                <a:cs typeface="NBS Light"/>
              </a:defRPr>
            </a:lvl1pPr>
            <a:lvl2pPr marL="742913" indent="-285736" algn="l" defTabSz="457178" rtl="0" eaLnBrk="1" latinLnBrk="0" hangingPunct="1">
              <a:spcBef>
                <a:spcPct val="20000"/>
              </a:spcBef>
              <a:buFont typeface="Arial"/>
              <a:buChar char="–"/>
              <a:defRPr sz="3200" kern="1200">
                <a:solidFill>
                  <a:schemeClr val="tx1"/>
                </a:solidFill>
                <a:latin typeface="NBS Light"/>
                <a:ea typeface="+mn-ea"/>
                <a:cs typeface="NBS Light"/>
              </a:defRPr>
            </a:lvl2pPr>
            <a:lvl3pPr marL="1142944" indent="-228588" algn="l" defTabSz="457178" rtl="0" eaLnBrk="1" latinLnBrk="0" hangingPunct="1">
              <a:spcBef>
                <a:spcPct val="20000"/>
              </a:spcBef>
              <a:buFont typeface="Arial"/>
              <a:buChar char="•"/>
              <a:defRPr sz="2400" kern="1200">
                <a:solidFill>
                  <a:schemeClr val="tx1"/>
                </a:solidFill>
                <a:latin typeface="+mn-lt"/>
                <a:ea typeface="+mn-ea"/>
                <a:cs typeface="+mn-cs"/>
              </a:defRPr>
            </a:lvl3pPr>
            <a:lvl4pPr marL="1600120" indent="-228588" algn="l" defTabSz="457178" rtl="0" eaLnBrk="1" latinLnBrk="0" hangingPunct="1">
              <a:spcBef>
                <a:spcPct val="20000"/>
              </a:spcBef>
              <a:buFont typeface="Arial"/>
              <a:buChar char="–"/>
              <a:defRPr sz="2000" kern="1200">
                <a:solidFill>
                  <a:schemeClr val="tx1"/>
                </a:solidFill>
                <a:latin typeface="+mn-lt"/>
                <a:ea typeface="+mn-ea"/>
                <a:cs typeface="+mn-cs"/>
              </a:defRPr>
            </a:lvl4pPr>
            <a:lvl5pPr marL="2057297" indent="-228588" algn="l" defTabSz="457178" rtl="0" eaLnBrk="1" latinLnBrk="0" hangingPunct="1">
              <a:spcBef>
                <a:spcPct val="20000"/>
              </a:spcBef>
              <a:buFont typeface="Arial"/>
              <a:buChar char="»"/>
              <a:defRPr sz="2000" kern="1200">
                <a:solidFill>
                  <a:schemeClr val="tx1"/>
                </a:solidFill>
                <a:latin typeface="+mn-lt"/>
                <a:ea typeface="+mn-ea"/>
                <a:cs typeface="+mn-cs"/>
              </a:defRPr>
            </a:lvl5pPr>
            <a:lvl6pPr marL="2514474" indent="-228588" algn="l" defTabSz="457178" rtl="0" eaLnBrk="1" latinLnBrk="0" hangingPunct="1">
              <a:spcBef>
                <a:spcPct val="20000"/>
              </a:spcBef>
              <a:buFont typeface="Arial"/>
              <a:buChar char="•"/>
              <a:defRPr sz="2000" kern="1200">
                <a:solidFill>
                  <a:schemeClr val="tx1"/>
                </a:solidFill>
                <a:latin typeface="+mn-lt"/>
                <a:ea typeface="+mn-ea"/>
                <a:cs typeface="+mn-cs"/>
              </a:defRPr>
            </a:lvl6pPr>
            <a:lvl7pPr marL="2971652" indent="-228588" algn="l" defTabSz="457178" rtl="0" eaLnBrk="1" latinLnBrk="0" hangingPunct="1">
              <a:spcBef>
                <a:spcPct val="20000"/>
              </a:spcBef>
              <a:buFont typeface="Arial"/>
              <a:buChar char="•"/>
              <a:defRPr sz="2000" kern="1200">
                <a:solidFill>
                  <a:schemeClr val="tx1"/>
                </a:solidFill>
                <a:latin typeface="+mn-lt"/>
                <a:ea typeface="+mn-ea"/>
                <a:cs typeface="+mn-cs"/>
              </a:defRPr>
            </a:lvl7pPr>
            <a:lvl8pPr marL="3428829" indent="-228588" algn="l" defTabSz="457178" rtl="0" eaLnBrk="1" latinLnBrk="0" hangingPunct="1">
              <a:spcBef>
                <a:spcPct val="20000"/>
              </a:spcBef>
              <a:buFont typeface="Arial"/>
              <a:buChar char="•"/>
              <a:defRPr sz="2000" kern="1200">
                <a:solidFill>
                  <a:schemeClr val="tx1"/>
                </a:solidFill>
                <a:latin typeface="+mn-lt"/>
                <a:ea typeface="+mn-ea"/>
                <a:cs typeface="+mn-cs"/>
              </a:defRPr>
            </a:lvl8pPr>
            <a:lvl9pPr marL="3886006" indent="-228588" algn="l" defTabSz="457178" rtl="0" eaLnBrk="1" latinLnBrk="0" hangingPunct="1">
              <a:spcBef>
                <a:spcPct val="20000"/>
              </a:spcBef>
              <a:buFont typeface="Arial"/>
              <a:buChar char="•"/>
              <a:defRPr sz="2000" kern="1200">
                <a:solidFill>
                  <a:schemeClr val="tx1"/>
                </a:solidFill>
                <a:latin typeface="+mn-lt"/>
                <a:ea typeface="+mn-ea"/>
                <a:cs typeface="+mn-cs"/>
              </a:defRPr>
            </a:lvl9pPr>
          </a:lstStyle>
          <a:p>
            <a:pPr fontAlgn="auto">
              <a:spcAft>
                <a:spcPts val="0"/>
              </a:spcAft>
              <a:defRPr/>
            </a:pPr>
            <a:r>
              <a:rPr lang="en-GB" b="1" dirty="0">
                <a:solidFill>
                  <a:srgbClr val="004A8F"/>
                </a:solidFill>
              </a:rPr>
              <a:t>Nationwide Building Society </a:t>
            </a:r>
            <a:r>
              <a:rPr lang="en-GB" dirty="0">
                <a:solidFill>
                  <a:srgbClr val="004A8F"/>
                </a:solidFill>
              </a:rPr>
              <a:t>| </a:t>
            </a:r>
            <a:r>
              <a:rPr lang="en-GB" b="1" dirty="0">
                <a:solidFill>
                  <a:srgbClr val="004A8F"/>
                </a:solidFill>
              </a:rPr>
              <a:t>Eversheds Sutherland / Konexo </a:t>
            </a:r>
            <a:r>
              <a:rPr lang="en-GB" dirty="0">
                <a:solidFill>
                  <a:srgbClr val="004A8F"/>
                </a:solidFill>
              </a:rPr>
              <a:t>| Financial Crime: Target Operating Model | July 2021 | Legal Professional Privilege Applies | DRAFT</a:t>
            </a:r>
          </a:p>
        </p:txBody>
      </p:sp>
    </p:spTree>
    <p:extLst>
      <p:ext uri="{BB962C8B-B14F-4D97-AF65-F5344CB8AC3E}">
        <p14:creationId xmlns:p14="http://schemas.microsoft.com/office/powerpoint/2010/main" val="3004095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DB60BE-9EC7-4F49-86B9-0275F01DB6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7294153-BCF6-4A56-AB79-209E20C273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D84B8AB-6D06-4D49-A706-6C4DA27CC0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6E78B4-F2CB-44AD-86FE-C91DB791219B}" type="datetimeFigureOut">
              <a:rPr lang="en-GB" smtClean="0"/>
              <a:t>30/09/2025</a:t>
            </a:fld>
            <a:endParaRPr lang="en-GB" dirty="0"/>
          </a:p>
        </p:txBody>
      </p:sp>
      <p:sp>
        <p:nvSpPr>
          <p:cNvPr id="5" name="Footer Placeholder 4">
            <a:extLst>
              <a:ext uri="{FF2B5EF4-FFF2-40B4-BE49-F238E27FC236}">
                <a16:creationId xmlns:a16="http://schemas.microsoft.com/office/drawing/2014/main" id="{E303718E-CD22-4D7A-BACB-E0213E88E5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80821C0E-375E-452E-8418-5F00639148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3DE0C3-6A41-4858-9ACB-225A2E48AA1E}" type="slidenum">
              <a:rPr lang="en-GB" smtClean="0"/>
              <a:t>‹#›</a:t>
            </a:fld>
            <a:endParaRPr lang="en-GB" dirty="0"/>
          </a:p>
        </p:txBody>
      </p:sp>
    </p:spTree>
    <p:extLst>
      <p:ext uri="{BB962C8B-B14F-4D97-AF65-F5344CB8AC3E}">
        <p14:creationId xmlns:p14="http://schemas.microsoft.com/office/powerpoint/2010/main" val="24457060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844E1E27-9887-4065-9D70-67A7A722FC74}"/>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1027" name="Text Placeholder 2">
            <a:extLst>
              <a:ext uri="{FF2B5EF4-FFF2-40B4-BE49-F238E27FC236}">
                <a16:creationId xmlns:a16="http://schemas.microsoft.com/office/drawing/2014/main" id="{0CB5E14F-9BB9-4A49-97FC-0AC0887034EE}"/>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4" name="Date Placeholder 3">
            <a:extLst>
              <a:ext uri="{FF2B5EF4-FFF2-40B4-BE49-F238E27FC236}">
                <a16:creationId xmlns:a16="http://schemas.microsoft.com/office/drawing/2014/main" id="{7948D250-412A-46B5-B8E6-5CDEF1F894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E222A10F-565B-48DD-A1E2-D6913E522048}" type="datetimeFigureOut">
              <a:rPr lang="en-GB"/>
              <a:pPr>
                <a:defRPr/>
              </a:pPr>
              <a:t>30/09/2025</a:t>
            </a:fld>
            <a:endParaRPr lang="en-GB" dirty="0"/>
          </a:p>
        </p:txBody>
      </p:sp>
      <p:sp>
        <p:nvSpPr>
          <p:cNvPr id="5" name="Footer Placeholder 4">
            <a:extLst>
              <a:ext uri="{FF2B5EF4-FFF2-40B4-BE49-F238E27FC236}">
                <a16:creationId xmlns:a16="http://schemas.microsoft.com/office/drawing/2014/main" id="{48B0F989-0D1D-4A95-A216-571CDE0577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GB"/>
          </a:p>
        </p:txBody>
      </p:sp>
      <p:sp>
        <p:nvSpPr>
          <p:cNvPr id="6" name="Slide Number Placeholder 5">
            <a:extLst>
              <a:ext uri="{FF2B5EF4-FFF2-40B4-BE49-F238E27FC236}">
                <a16:creationId xmlns:a16="http://schemas.microsoft.com/office/drawing/2014/main" id="{8D5723ED-132F-4322-B5E6-FE865337D8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defRPr>
            </a:lvl1pPr>
          </a:lstStyle>
          <a:p>
            <a:pPr>
              <a:defRPr/>
            </a:pPr>
            <a:fld id="{8C1E54D0-809F-4C01-B2DE-6506A1A42235}" type="slidenum">
              <a:rPr lang="en-GB"/>
              <a:pPr>
                <a:defRPr/>
              </a:pPr>
              <a:t>‹#›</a:t>
            </a:fld>
            <a:endParaRPr lang="en-GB" dirty="0"/>
          </a:p>
        </p:txBody>
      </p:sp>
    </p:spTree>
    <p:extLst>
      <p:ext uri="{BB962C8B-B14F-4D97-AF65-F5344CB8AC3E}">
        <p14:creationId xmlns:p14="http://schemas.microsoft.com/office/powerpoint/2010/main" val="21035988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8">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4" name="Picture 10">
            <a:extLst>
              <a:ext uri="{FF2B5EF4-FFF2-40B4-BE49-F238E27FC236}">
                <a16:creationId xmlns:a16="http://schemas.microsoft.com/office/drawing/2014/main" id="{24F266AD-725B-4A9D-B448-4C000F95CB4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Rectangle: Rounded Corners 1">
            <a:extLst>
              <a:ext uri="{FF2B5EF4-FFF2-40B4-BE49-F238E27FC236}">
                <a16:creationId xmlns:a16="http://schemas.microsoft.com/office/drawing/2014/main" id="{B390736A-A049-42B9-A018-E891131D565C}"/>
              </a:ext>
            </a:extLst>
          </p:cNvPr>
          <p:cNvSpPr/>
          <p:nvPr/>
        </p:nvSpPr>
        <p:spPr>
          <a:xfrm>
            <a:off x="5428289" y="3308958"/>
            <a:ext cx="6316579" cy="2815390"/>
          </a:xfrm>
          <a:prstGeom prst="roundRect">
            <a:avLst>
              <a:gd name="adj" fmla="val 5129"/>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C475341B-0A60-4852-9D6C-CAA98579BB03}"/>
              </a:ext>
            </a:extLst>
          </p:cNvPr>
          <p:cNvSpPr txBox="1"/>
          <p:nvPr/>
        </p:nvSpPr>
        <p:spPr>
          <a:xfrm>
            <a:off x="5547377" y="3477920"/>
            <a:ext cx="6077792" cy="2354093"/>
          </a:xfrm>
          <a:prstGeom prst="rect">
            <a:avLst/>
          </a:prstGeom>
        </p:spPr>
        <p:txBody>
          <a:bodyPr vert="horz" lIns="91440" tIns="45720" rIns="91440" bIns="45720" rtlCol="0" anchor="t">
            <a:normAutofit lnSpcReduction="10000"/>
          </a:bodyPr>
          <a:lstStyle/>
          <a:p>
            <a:pPr algn="r">
              <a:lnSpc>
                <a:spcPct val="90000"/>
              </a:lnSpc>
              <a:spcBef>
                <a:spcPct val="0"/>
              </a:spcBef>
              <a:spcAft>
                <a:spcPts val="600"/>
              </a:spcAft>
            </a:pPr>
            <a:r>
              <a:rPr lang="en-US" sz="2400" dirty="0">
                <a:solidFill>
                  <a:schemeClr val="accent1">
                    <a:lumMod val="75000"/>
                  </a:schemeClr>
                </a:solidFill>
                <a:latin typeface="Elephant" panose="02020904090505020303" pitchFamily="18" charset="0"/>
                <a:ea typeface="+mj-ea"/>
                <a:cs typeface="+mj-cs"/>
              </a:rPr>
              <a:t>AML Transaction Monitoring Capability Development 2019 - 2023</a:t>
            </a:r>
          </a:p>
          <a:p>
            <a:pPr algn="r">
              <a:lnSpc>
                <a:spcPct val="90000"/>
              </a:lnSpc>
              <a:spcBef>
                <a:spcPct val="0"/>
              </a:spcBef>
              <a:spcAft>
                <a:spcPts val="600"/>
              </a:spcAft>
            </a:pPr>
            <a:endParaRPr lang="en-US" sz="2400" dirty="0">
              <a:solidFill>
                <a:srgbClr val="FF0000"/>
              </a:solidFill>
              <a:latin typeface="Elephant" panose="02020904090505020303" pitchFamily="18" charset="0"/>
              <a:ea typeface="+mj-ea"/>
              <a:cs typeface="+mj-cs"/>
            </a:endParaRPr>
          </a:p>
          <a:p>
            <a:pPr algn="r">
              <a:lnSpc>
                <a:spcPct val="90000"/>
              </a:lnSpc>
              <a:spcBef>
                <a:spcPct val="0"/>
              </a:spcBef>
              <a:spcAft>
                <a:spcPts val="600"/>
              </a:spcAft>
            </a:pPr>
            <a:r>
              <a:rPr lang="en-US" sz="2400" dirty="0">
                <a:solidFill>
                  <a:schemeClr val="accent1">
                    <a:lumMod val="75000"/>
                  </a:schemeClr>
                </a:solidFill>
                <a:latin typeface="Elephant" panose="02020904090505020303" pitchFamily="18" charset="0"/>
                <a:ea typeface="+mj-ea"/>
                <a:cs typeface="+mj-cs"/>
              </a:rPr>
              <a:t>Roadmap Review 2021</a:t>
            </a:r>
          </a:p>
          <a:p>
            <a:pPr algn="r">
              <a:lnSpc>
                <a:spcPct val="90000"/>
              </a:lnSpc>
              <a:spcBef>
                <a:spcPct val="0"/>
              </a:spcBef>
              <a:spcAft>
                <a:spcPts val="600"/>
              </a:spcAft>
            </a:pPr>
            <a:endParaRPr lang="en-US" dirty="0">
              <a:solidFill>
                <a:srgbClr val="000000"/>
              </a:solidFill>
              <a:latin typeface="Elephant" panose="02020904090505020303" pitchFamily="18" charset="0"/>
              <a:ea typeface="+mj-ea"/>
              <a:cs typeface="+mj-cs"/>
            </a:endParaRPr>
          </a:p>
          <a:p>
            <a:pPr algn="r">
              <a:lnSpc>
                <a:spcPct val="90000"/>
              </a:lnSpc>
              <a:spcBef>
                <a:spcPct val="0"/>
              </a:spcBef>
              <a:spcAft>
                <a:spcPts val="600"/>
              </a:spcAft>
            </a:pPr>
            <a:r>
              <a:rPr lang="en-US" sz="1700" b="1" dirty="0">
                <a:solidFill>
                  <a:srgbClr val="000000"/>
                </a:solidFill>
                <a:latin typeface="NBS Medium" panose="020B0603030303020204" pitchFamily="34" charset="0"/>
                <a:ea typeface="+mj-ea"/>
                <a:cs typeface="+mj-cs"/>
              </a:rPr>
              <a:t>Date: </a:t>
            </a:r>
            <a:r>
              <a:rPr lang="en-US" sz="1700" dirty="0">
                <a:solidFill>
                  <a:srgbClr val="000000"/>
                </a:solidFill>
                <a:latin typeface="NBS Medium" panose="020B0603030303020204" pitchFamily="34" charset="0"/>
                <a:ea typeface="+mj-ea"/>
                <a:cs typeface="+mj-cs"/>
              </a:rPr>
              <a:t>July 2021 </a:t>
            </a:r>
          </a:p>
          <a:p>
            <a:pPr algn="r">
              <a:lnSpc>
                <a:spcPct val="90000"/>
              </a:lnSpc>
              <a:spcBef>
                <a:spcPct val="0"/>
              </a:spcBef>
              <a:spcAft>
                <a:spcPts val="600"/>
              </a:spcAft>
            </a:pPr>
            <a:r>
              <a:rPr lang="en-US" sz="1700" b="1" dirty="0">
                <a:solidFill>
                  <a:srgbClr val="000000"/>
                </a:solidFill>
                <a:latin typeface="NBS Medium" panose="020B0603030303020204" pitchFamily="34" charset="0"/>
                <a:ea typeface="+mj-ea"/>
                <a:cs typeface="+mj-cs"/>
              </a:rPr>
              <a:t>Author: </a:t>
            </a:r>
            <a:r>
              <a:rPr lang="en-US" sz="1700" dirty="0">
                <a:solidFill>
                  <a:srgbClr val="000000"/>
                </a:solidFill>
                <a:latin typeface="NBS Medium" panose="020B0603030303020204" pitchFamily="34" charset="0"/>
                <a:ea typeface="+mj-ea"/>
                <a:cs typeface="+mj-cs"/>
              </a:rPr>
              <a:t>Daisy Rolt, Financial Crime Policy &amp; Advice Manager </a:t>
            </a:r>
          </a:p>
        </p:txBody>
      </p:sp>
      <p:grpSp>
        <p:nvGrpSpPr>
          <p:cNvPr id="7" name="Group 6">
            <a:extLst>
              <a:ext uri="{FF2B5EF4-FFF2-40B4-BE49-F238E27FC236}">
                <a16:creationId xmlns:a16="http://schemas.microsoft.com/office/drawing/2014/main" id="{4D1B384E-63B7-41D6-A4C8-921132824B20}"/>
              </a:ext>
            </a:extLst>
          </p:cNvPr>
          <p:cNvGrpSpPr/>
          <p:nvPr/>
        </p:nvGrpSpPr>
        <p:grpSpPr>
          <a:xfrm>
            <a:off x="5667694" y="5866514"/>
            <a:ext cx="1430938" cy="515668"/>
            <a:chOff x="3236913" y="913342"/>
            <a:chExt cx="1740428" cy="712845"/>
          </a:xfrm>
        </p:grpSpPr>
        <p:pic>
          <p:nvPicPr>
            <p:cNvPr id="8" name="Picture 7" descr="Nationwide BS Logo sRGB.png">
              <a:extLst>
                <a:ext uri="{FF2B5EF4-FFF2-40B4-BE49-F238E27FC236}">
                  <a16:creationId xmlns:a16="http://schemas.microsoft.com/office/drawing/2014/main" id="{8B2EE7A6-5AB3-4C3F-B2C4-4341C07A99F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938" t="18020" r="9268" b="14259"/>
            <a:stretch/>
          </p:blipFill>
          <p:spPr>
            <a:xfrm>
              <a:off x="3236913" y="913342"/>
              <a:ext cx="1740428" cy="712845"/>
            </a:xfrm>
            <a:prstGeom prst="rect">
              <a:avLst/>
            </a:prstGeom>
          </p:spPr>
        </p:pic>
        <p:sp>
          <p:nvSpPr>
            <p:cNvPr id="9" name="Rounded Rectangle 16">
              <a:extLst>
                <a:ext uri="{FF2B5EF4-FFF2-40B4-BE49-F238E27FC236}">
                  <a16:creationId xmlns:a16="http://schemas.microsoft.com/office/drawing/2014/main" id="{70DC75FC-D7D8-418E-BF03-8BBF8A2C0133}"/>
                </a:ext>
              </a:extLst>
            </p:cNvPr>
            <p:cNvSpPr/>
            <p:nvPr/>
          </p:nvSpPr>
          <p:spPr>
            <a:xfrm>
              <a:off x="3249341" y="919691"/>
              <a:ext cx="1728000" cy="480613"/>
            </a:xfrm>
            <a:prstGeom prst="roundRect">
              <a:avLst>
                <a:gd name="adj" fmla="val 13275"/>
              </a:avLst>
            </a:prstGeom>
            <a:noFill/>
            <a:ln w="6350" cap="flat" cmpd="sng" algn="ctr">
              <a:solidFill>
                <a:sysClr val="window" lastClr="FFFFFF"/>
              </a:solidFill>
              <a:prstDash val="solid"/>
            </a:ln>
            <a:effectLst/>
          </p:spPr>
          <p:txBody>
            <a:bodyPr rtlCol="0" anchor="ctr"/>
            <a:lstStyle/>
            <a:p>
              <a:pPr algn="ctr" defTabSz="257175">
                <a:defRPr/>
              </a:pPr>
              <a:endParaRPr lang="en-US" sz="1013" kern="0" dirty="0">
                <a:solidFill>
                  <a:prstClr val="white"/>
                </a:solidFill>
                <a:latin typeface="Calibri"/>
              </a:endParaRPr>
            </a:p>
          </p:txBody>
        </p:sp>
      </p:grpSp>
    </p:spTree>
    <p:extLst>
      <p:ext uri="{BB962C8B-B14F-4D97-AF65-F5344CB8AC3E}">
        <p14:creationId xmlns:p14="http://schemas.microsoft.com/office/powerpoint/2010/main" val="2523796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259877-24A9-4704-B24C-BB3315BE9169}"/>
              </a:ext>
            </a:extLst>
          </p:cNvPr>
          <p:cNvSpPr txBox="1"/>
          <p:nvPr/>
        </p:nvSpPr>
        <p:spPr>
          <a:xfrm>
            <a:off x="448463" y="1038703"/>
            <a:ext cx="11322060" cy="5170646"/>
          </a:xfrm>
          <a:prstGeom prst="rect">
            <a:avLst/>
          </a:prstGeom>
          <a:noFill/>
        </p:spPr>
        <p:txBody>
          <a:bodyPr wrap="square" rtlCol="0">
            <a:spAutoFit/>
          </a:bodyPr>
          <a:lstStyle/>
          <a:p>
            <a:pPr algn="just">
              <a:lnSpc>
                <a:spcPct val="100000"/>
              </a:lnSpc>
            </a:pPr>
            <a:r>
              <a:rPr lang="en-GB" sz="1600" b="1" u="sng" dirty="0">
                <a:solidFill>
                  <a:schemeClr val="accent1">
                    <a:lumMod val="75000"/>
                  </a:schemeClr>
                </a:solidFill>
                <a:latin typeface="NBS Medium" panose="020B0603030303020204" pitchFamily="34" charset="0"/>
              </a:rPr>
              <a:t>Background </a:t>
            </a:r>
          </a:p>
          <a:p>
            <a:pPr algn="just">
              <a:lnSpc>
                <a:spcPct val="100000"/>
              </a:lnSpc>
            </a:pPr>
            <a:r>
              <a:rPr lang="en-GB" sz="1600" dirty="0">
                <a:latin typeface="NBS Light" panose="020B0303030303020204" pitchFamily="34" charset="0"/>
              </a:rPr>
              <a:t>Nationwide is on a journey to enhance its AML Transaction Monitoring (TM) controls to:</a:t>
            </a:r>
          </a:p>
          <a:p>
            <a:pPr algn="just">
              <a:lnSpc>
                <a:spcPct val="100000"/>
              </a:lnSpc>
            </a:pPr>
            <a:endParaRPr lang="en-GB" sz="1600" b="1" dirty="0">
              <a:latin typeface="NBS Light" panose="020B0303030303020204" pitchFamily="34" charset="0"/>
            </a:endParaRPr>
          </a:p>
          <a:p>
            <a:pPr algn="just">
              <a:lnSpc>
                <a:spcPct val="100000"/>
              </a:lnSpc>
            </a:pPr>
            <a:r>
              <a:rPr lang="en-GB" sz="1600" dirty="0">
                <a:latin typeface="NBS Light" panose="020B0303030303020204" pitchFamily="34" charset="0"/>
              </a:rPr>
              <a:t>	(1) ensure robust and proactive detection of money laundering and terrorist financing, </a:t>
            </a:r>
          </a:p>
          <a:p>
            <a:pPr algn="just">
              <a:lnSpc>
                <a:spcPct val="100000"/>
              </a:lnSpc>
            </a:pPr>
            <a:r>
              <a:rPr lang="en-GB" sz="1600" dirty="0">
                <a:latin typeface="NBS Light" panose="020B0303030303020204" pitchFamily="34" charset="0"/>
              </a:rPr>
              <a:t>	(2) keep pace with our peers and evolving member activity, and </a:t>
            </a:r>
          </a:p>
          <a:p>
            <a:pPr algn="just">
              <a:lnSpc>
                <a:spcPct val="100000"/>
              </a:lnSpc>
            </a:pPr>
            <a:r>
              <a:rPr lang="en-GB" sz="1600" dirty="0">
                <a:latin typeface="NBS Light" panose="020B0303030303020204" pitchFamily="34" charset="0"/>
              </a:rPr>
              <a:t>	(3) protect the Society and its members from regulatory scrutiny. </a:t>
            </a:r>
          </a:p>
          <a:p>
            <a:pPr algn="just">
              <a:lnSpc>
                <a:spcPct val="100000"/>
              </a:lnSpc>
            </a:pPr>
            <a:endParaRPr lang="en-GB" sz="1600" dirty="0">
              <a:latin typeface="NBS Light" panose="020B0303030303020204" pitchFamily="34" charset="0"/>
            </a:endParaRPr>
          </a:p>
          <a:p>
            <a:pPr algn="just">
              <a:lnSpc>
                <a:spcPct val="100000"/>
              </a:lnSpc>
            </a:pPr>
            <a:r>
              <a:rPr lang="en-GB" sz="1600" dirty="0">
                <a:latin typeface="NBS Light" panose="020B0303030303020204" pitchFamily="34" charset="0"/>
              </a:rPr>
              <a:t>In 2019, Nationwide engaged KPMG to validate our internal AML Transaction Monitoring gap analysis, support the production of an AML Transaction Monitoring roadmap, train the AML TM Product Owner/Subject Matter Expert and support the initial 6 month set up of the project. Two workstreams have been running in parallel over the last 12 months to address the most significant compliance gaps identified:</a:t>
            </a:r>
          </a:p>
          <a:p>
            <a:pPr algn="just">
              <a:lnSpc>
                <a:spcPct val="100000"/>
              </a:lnSpc>
            </a:pPr>
            <a:endParaRPr lang="en-GB" sz="1600" dirty="0">
              <a:latin typeface="NBS Light" panose="020B0303030303020204" pitchFamily="34" charset="0"/>
            </a:endParaRPr>
          </a:p>
          <a:p>
            <a:pPr marL="742950" lvl="1" indent="-285750" algn="just">
              <a:buFont typeface="Arial" panose="020B0604020202020204" pitchFamily="34" charset="0"/>
              <a:buChar char="•"/>
            </a:pPr>
            <a:r>
              <a:rPr lang="en-GB" sz="1600" dirty="0">
                <a:latin typeface="NBS Light" panose="020B0303030303020204" pitchFamily="34" charset="0"/>
              </a:rPr>
              <a:t>1 – Data Integrity and;</a:t>
            </a:r>
          </a:p>
          <a:p>
            <a:pPr marL="742950" lvl="1" indent="-285750" algn="just">
              <a:buFont typeface="Arial" panose="020B0604020202020204" pitchFamily="34" charset="0"/>
              <a:buChar char="•"/>
            </a:pPr>
            <a:r>
              <a:rPr lang="en-GB" sz="1600" dirty="0">
                <a:latin typeface="NBS Light" panose="020B0303030303020204" pitchFamily="34" charset="0"/>
              </a:rPr>
              <a:t>2 – Rule Development. </a:t>
            </a:r>
          </a:p>
          <a:p>
            <a:pPr algn="just">
              <a:lnSpc>
                <a:spcPct val="100000"/>
              </a:lnSpc>
            </a:pPr>
            <a:endParaRPr lang="en-GB" sz="1600" dirty="0">
              <a:latin typeface="NBS Medium" panose="020B0603030303020204" pitchFamily="34" charset="0"/>
            </a:endParaRPr>
          </a:p>
          <a:p>
            <a:pPr algn="just">
              <a:lnSpc>
                <a:spcPct val="100000"/>
              </a:lnSpc>
            </a:pPr>
            <a:r>
              <a:rPr lang="en-GB" sz="1600" b="1" u="sng" dirty="0">
                <a:solidFill>
                  <a:schemeClr val="accent1">
                    <a:lumMod val="75000"/>
                  </a:schemeClr>
                </a:solidFill>
                <a:latin typeface="NBS Medium" panose="020B0603030303020204" pitchFamily="34" charset="0"/>
              </a:rPr>
              <a:t>The purpose of this presentation is to;</a:t>
            </a:r>
          </a:p>
          <a:p>
            <a:pPr algn="just">
              <a:lnSpc>
                <a:spcPct val="100000"/>
              </a:lnSpc>
            </a:pPr>
            <a:endParaRPr lang="en-GB" sz="1600" dirty="0">
              <a:latin typeface="NBS Medium" panose="020B0603030303020204" pitchFamily="34" charset="0"/>
            </a:endParaRPr>
          </a:p>
          <a:p>
            <a:pPr marL="800100" lvl="1" indent="-342900" algn="just">
              <a:buFont typeface="+mj-lt"/>
              <a:buAutoNum type="arabicPeriod"/>
            </a:pPr>
            <a:r>
              <a:rPr lang="en-GB" sz="1600" b="1" dirty="0">
                <a:latin typeface="NBS Light" panose="020B0303030303020204" pitchFamily="34" charset="0"/>
              </a:rPr>
              <a:t>Provide an overview of the AML Transaction Monitoring Roadmap Review – </a:t>
            </a:r>
            <a:r>
              <a:rPr lang="en-GB" sz="1600" i="1" dirty="0">
                <a:latin typeface="NBS Light" panose="020B0303030303020204" pitchFamily="34" charset="0"/>
              </a:rPr>
              <a:t>this includes a summary of the background, current position, priorities and future state, which will be presented to the Financial Crime Transformation Programme Steerco on 31</a:t>
            </a:r>
            <a:r>
              <a:rPr lang="en-GB" sz="1600" i="1" baseline="30000" dirty="0">
                <a:latin typeface="NBS Light" panose="020B0303030303020204" pitchFamily="34" charset="0"/>
              </a:rPr>
              <a:t>st</a:t>
            </a:r>
            <a:r>
              <a:rPr lang="en-GB" sz="1600" i="1" dirty="0">
                <a:latin typeface="NBS Light" panose="020B0303030303020204" pitchFamily="34" charset="0"/>
              </a:rPr>
              <a:t> August</a:t>
            </a:r>
          </a:p>
          <a:p>
            <a:pPr marL="800100" lvl="1" indent="-342900" algn="just">
              <a:buFont typeface="+mj-lt"/>
              <a:buAutoNum type="arabicPeriod"/>
            </a:pPr>
            <a:r>
              <a:rPr lang="en-GB" sz="1600" b="1" dirty="0">
                <a:latin typeface="NBS Light" panose="020B0303030303020204" pitchFamily="34" charset="0"/>
              </a:rPr>
              <a:t>Note priorities </a:t>
            </a:r>
            <a:r>
              <a:rPr lang="en-GB" sz="1600" dirty="0">
                <a:latin typeface="NBS Light" panose="020B0303030303020204" pitchFamily="34" charset="0"/>
              </a:rPr>
              <a:t>– </a:t>
            </a:r>
            <a:r>
              <a:rPr lang="en-GB" sz="1600" i="1" dirty="0" err="1">
                <a:latin typeface="NBS Light" panose="020B0303030303020204" pitchFamily="34" charset="0"/>
              </a:rPr>
              <a:t>MLSCARF</a:t>
            </a:r>
            <a:r>
              <a:rPr lang="en-GB" sz="1600" i="1" dirty="0">
                <a:latin typeface="NBS Light" panose="020B0303030303020204" pitchFamily="34" charset="0"/>
              </a:rPr>
              <a:t> to note the priorities and next steps</a:t>
            </a:r>
          </a:p>
          <a:p>
            <a:pPr algn="just">
              <a:lnSpc>
                <a:spcPct val="100000"/>
              </a:lnSpc>
            </a:pPr>
            <a:endParaRPr lang="en-GB" sz="1300" i="1" dirty="0">
              <a:latin typeface="NBS Light" panose="020B0303030303020204" pitchFamily="34" charset="0"/>
            </a:endParaRPr>
          </a:p>
          <a:p>
            <a:pPr algn="just">
              <a:lnSpc>
                <a:spcPct val="100000"/>
              </a:lnSpc>
            </a:pPr>
            <a:endParaRPr lang="en-GB" sz="1300" b="1" i="1" dirty="0">
              <a:latin typeface="NBS Light" panose="020B0303030303020204" pitchFamily="34" charset="0"/>
            </a:endParaRPr>
          </a:p>
        </p:txBody>
      </p:sp>
      <p:grpSp>
        <p:nvGrpSpPr>
          <p:cNvPr id="56" name="Group 55">
            <a:extLst>
              <a:ext uri="{FF2B5EF4-FFF2-40B4-BE49-F238E27FC236}">
                <a16:creationId xmlns:a16="http://schemas.microsoft.com/office/drawing/2014/main" id="{0101469A-8CBA-4157-8F4A-BFA5B87DB4EF}"/>
              </a:ext>
            </a:extLst>
          </p:cNvPr>
          <p:cNvGrpSpPr/>
          <p:nvPr/>
        </p:nvGrpSpPr>
        <p:grpSpPr>
          <a:xfrm>
            <a:off x="10946150" y="120628"/>
            <a:ext cx="1005206" cy="479127"/>
            <a:chOff x="3236913" y="913342"/>
            <a:chExt cx="1740428" cy="712845"/>
          </a:xfrm>
        </p:grpSpPr>
        <p:pic>
          <p:nvPicPr>
            <p:cNvPr id="57" name="Picture 56" descr="Nationwide BS Logo sRGB.png">
              <a:extLst>
                <a:ext uri="{FF2B5EF4-FFF2-40B4-BE49-F238E27FC236}">
                  <a16:creationId xmlns:a16="http://schemas.microsoft.com/office/drawing/2014/main" id="{D31E04F5-9B77-4C3A-9F99-189B5586FE2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938" t="18020" r="9268" b="14259"/>
            <a:stretch/>
          </p:blipFill>
          <p:spPr>
            <a:xfrm>
              <a:off x="3236913" y="913342"/>
              <a:ext cx="1740428" cy="712845"/>
            </a:xfrm>
            <a:prstGeom prst="rect">
              <a:avLst/>
            </a:prstGeom>
          </p:spPr>
        </p:pic>
        <p:sp>
          <p:nvSpPr>
            <p:cNvPr id="60" name="Rounded Rectangle 16">
              <a:extLst>
                <a:ext uri="{FF2B5EF4-FFF2-40B4-BE49-F238E27FC236}">
                  <a16:creationId xmlns:a16="http://schemas.microsoft.com/office/drawing/2014/main" id="{24626AB6-049B-4A3F-A594-88071FF6B6A4}"/>
                </a:ext>
              </a:extLst>
            </p:cNvPr>
            <p:cNvSpPr/>
            <p:nvPr/>
          </p:nvSpPr>
          <p:spPr>
            <a:xfrm>
              <a:off x="3249341" y="919691"/>
              <a:ext cx="1728000" cy="480613"/>
            </a:xfrm>
            <a:prstGeom prst="roundRect">
              <a:avLst>
                <a:gd name="adj" fmla="val 13275"/>
              </a:avLst>
            </a:prstGeom>
            <a:noFill/>
            <a:ln w="6350" cap="flat" cmpd="sng" algn="ctr">
              <a:solidFill>
                <a:sysClr val="window" lastClr="FFFFFF"/>
              </a:solidFill>
              <a:prstDash val="solid"/>
            </a:ln>
            <a:effectLst/>
          </p:spPr>
          <p:txBody>
            <a:bodyPr rtlCol="0" anchor="ctr"/>
            <a:lstStyle/>
            <a:p>
              <a:pPr algn="ctr" defTabSz="257175">
                <a:defRPr/>
              </a:pPr>
              <a:endParaRPr lang="en-US" sz="1013" kern="0" dirty="0">
                <a:solidFill>
                  <a:prstClr val="white"/>
                </a:solidFill>
                <a:latin typeface="Calibri"/>
              </a:endParaRPr>
            </a:p>
          </p:txBody>
        </p:sp>
      </p:grpSp>
      <p:sp>
        <p:nvSpPr>
          <p:cNvPr id="8" name="Title 1">
            <a:extLst>
              <a:ext uri="{FF2B5EF4-FFF2-40B4-BE49-F238E27FC236}">
                <a16:creationId xmlns:a16="http://schemas.microsoft.com/office/drawing/2014/main" id="{8DF6DE44-1450-4294-BD40-C8FF137D7C13}"/>
              </a:ext>
            </a:extLst>
          </p:cNvPr>
          <p:cNvSpPr txBox="1">
            <a:spLocks/>
          </p:cNvSpPr>
          <p:nvPr/>
        </p:nvSpPr>
        <p:spPr>
          <a:xfrm>
            <a:off x="364958" y="260852"/>
            <a:ext cx="10514030" cy="689897"/>
          </a:xfrm>
          <a:prstGeom prst="rect">
            <a:avLst/>
          </a:prstGeom>
        </p:spPr>
        <p:txBody>
          <a:bodyPr>
            <a:normAutofit fontScale="6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5100" dirty="0">
                <a:solidFill>
                  <a:srgbClr val="4472C4">
                    <a:lumMod val="75000"/>
                  </a:srgbClr>
                </a:solidFill>
                <a:latin typeface="Elephant" panose="02020904090505020303" pitchFamily="18" charset="0"/>
              </a:rPr>
              <a:t>Transaction Monitoring – Introduction </a:t>
            </a:r>
            <a:endParaRPr lang="en-GB" sz="5100" dirty="0">
              <a:solidFill>
                <a:schemeClr val="accent1">
                  <a:lumMod val="75000"/>
                </a:schemeClr>
              </a:solidFill>
              <a:latin typeface="Elephant" panose="02020904090505020303" pitchFamily="18" charset="0"/>
            </a:endParaRPr>
          </a:p>
          <a:p>
            <a:r>
              <a:rPr lang="en-US" sz="2900" i="1" dirty="0">
                <a:solidFill>
                  <a:srgbClr val="C00000"/>
                </a:solidFill>
                <a:latin typeface="NBS Medium" panose="020B0603030303020204" pitchFamily="34" charset="0"/>
              </a:rPr>
              <a:t>Summary of the purpose of this presentation </a:t>
            </a:r>
          </a:p>
        </p:txBody>
      </p:sp>
      <p:sp>
        <p:nvSpPr>
          <p:cNvPr id="10" name="TextBox 9">
            <a:extLst>
              <a:ext uri="{FF2B5EF4-FFF2-40B4-BE49-F238E27FC236}">
                <a16:creationId xmlns:a16="http://schemas.microsoft.com/office/drawing/2014/main" id="{62C3D299-0FCF-413E-A535-3048C307E9AC}"/>
              </a:ext>
            </a:extLst>
          </p:cNvPr>
          <p:cNvSpPr txBox="1"/>
          <p:nvPr/>
        </p:nvSpPr>
        <p:spPr>
          <a:xfrm>
            <a:off x="364958" y="6443259"/>
            <a:ext cx="11950109" cy="307777"/>
          </a:xfrm>
          <a:prstGeom prst="rect">
            <a:avLst/>
          </a:prstGeom>
          <a:noFill/>
        </p:spPr>
        <p:txBody>
          <a:bodyPr wrap="square">
            <a:spAutoFit/>
          </a:bodyPr>
          <a:lstStyle/>
          <a:p>
            <a:pPr algn="just">
              <a:lnSpc>
                <a:spcPct val="100000"/>
              </a:lnSpc>
            </a:pPr>
            <a:r>
              <a:rPr lang="en-GB" sz="1400" b="1" i="1" dirty="0">
                <a:solidFill>
                  <a:schemeClr val="accent1">
                    <a:lumMod val="75000"/>
                  </a:schemeClr>
                </a:solidFill>
                <a:latin typeface="NBS Light" panose="020B0303030303020204" pitchFamily="34" charset="0"/>
              </a:rPr>
              <a:t>Note: All details contributing towards the AML TM priorities including the KPMG gap analysis, Fraud TM Audit, and </a:t>
            </a:r>
            <a:r>
              <a:rPr lang="en-GB" sz="1400" b="1" i="1" dirty="0" err="1">
                <a:solidFill>
                  <a:schemeClr val="accent1">
                    <a:lumMod val="75000"/>
                  </a:schemeClr>
                </a:solidFill>
                <a:latin typeface="NBS Light" panose="020B0303030303020204" pitchFamily="34" charset="0"/>
              </a:rPr>
              <a:t>Evershed’s</a:t>
            </a:r>
            <a:r>
              <a:rPr lang="en-GB" sz="1400" b="1" i="1" dirty="0">
                <a:solidFill>
                  <a:schemeClr val="accent1">
                    <a:lumMod val="75000"/>
                  </a:schemeClr>
                </a:solidFill>
                <a:latin typeface="NBS Light" panose="020B0303030303020204" pitchFamily="34" charset="0"/>
              </a:rPr>
              <a:t> can be found in the appendices. </a:t>
            </a:r>
          </a:p>
        </p:txBody>
      </p:sp>
    </p:spTree>
    <p:extLst>
      <p:ext uri="{BB962C8B-B14F-4D97-AF65-F5344CB8AC3E}">
        <p14:creationId xmlns:p14="http://schemas.microsoft.com/office/powerpoint/2010/main" val="4249895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2" name="Group 55">
            <a:extLst>
              <a:ext uri="{FF2B5EF4-FFF2-40B4-BE49-F238E27FC236}">
                <a16:creationId xmlns:a16="http://schemas.microsoft.com/office/drawing/2014/main" id="{F6484A80-2061-47B9-8440-C7B5784C3A1F}"/>
              </a:ext>
            </a:extLst>
          </p:cNvPr>
          <p:cNvGrpSpPr>
            <a:grpSpLocks/>
          </p:cNvGrpSpPr>
          <p:nvPr/>
        </p:nvGrpSpPr>
        <p:grpSpPr bwMode="auto">
          <a:xfrm>
            <a:off x="11041063" y="127000"/>
            <a:ext cx="1006475" cy="479425"/>
            <a:chOff x="3236913" y="913342"/>
            <a:chExt cx="1740428" cy="712845"/>
          </a:xfrm>
        </p:grpSpPr>
        <p:pic>
          <p:nvPicPr>
            <p:cNvPr id="5145" name="Picture 56" descr="Nationwide BS Logo sRGB.png">
              <a:extLst>
                <a:ext uri="{FF2B5EF4-FFF2-40B4-BE49-F238E27FC236}">
                  <a16:creationId xmlns:a16="http://schemas.microsoft.com/office/drawing/2014/main" id="{2B74ED82-D37E-47A9-BD27-E00DB29061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8939" t="18021" r="9268" b="14259"/>
            <a:stretch>
              <a:fillRect/>
            </a:stretch>
          </p:blipFill>
          <p:spPr bwMode="auto">
            <a:xfrm>
              <a:off x="3236913" y="913342"/>
              <a:ext cx="1740428" cy="712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Rounded Rectangle 16">
              <a:extLst>
                <a:ext uri="{FF2B5EF4-FFF2-40B4-BE49-F238E27FC236}">
                  <a16:creationId xmlns:a16="http://schemas.microsoft.com/office/drawing/2014/main" id="{AC8EF79A-E6C3-48D2-83DB-3434FE9F5AEB}"/>
                </a:ext>
              </a:extLst>
            </p:cNvPr>
            <p:cNvSpPr/>
            <p:nvPr/>
          </p:nvSpPr>
          <p:spPr>
            <a:xfrm>
              <a:off x="3250638" y="920424"/>
              <a:ext cx="1726703" cy="479163"/>
            </a:xfrm>
            <a:prstGeom prst="roundRect">
              <a:avLst>
                <a:gd name="adj" fmla="val 13275"/>
              </a:avLst>
            </a:prstGeom>
            <a:noFill/>
            <a:ln w="6350" cap="flat" cmpd="sng" algn="ctr">
              <a:solidFill>
                <a:sysClr val="window" lastClr="FFFFFF"/>
              </a:solidFill>
              <a:prstDash val="solid"/>
            </a:ln>
            <a:effectLst/>
          </p:spPr>
          <p:txBody>
            <a:bodyPr anchor="ctr"/>
            <a:lstStyle/>
            <a:p>
              <a:pPr marL="0" marR="0" lvl="0" indent="0" algn="ctr" defTabSz="257175" rtl="0" eaLnBrk="0" fontAlgn="base" latinLnBrk="0" hangingPunct="0">
                <a:lnSpc>
                  <a:spcPct val="100000"/>
                </a:lnSpc>
                <a:spcBef>
                  <a:spcPct val="0"/>
                </a:spcBef>
                <a:spcAft>
                  <a:spcPct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8" name="Title 1">
            <a:extLst>
              <a:ext uri="{FF2B5EF4-FFF2-40B4-BE49-F238E27FC236}">
                <a16:creationId xmlns:a16="http://schemas.microsoft.com/office/drawing/2014/main" id="{8B0476CE-9DCB-4ECE-AC1E-F742C48E9E99}"/>
              </a:ext>
            </a:extLst>
          </p:cNvPr>
          <p:cNvSpPr txBox="1">
            <a:spLocks/>
          </p:cNvSpPr>
          <p:nvPr/>
        </p:nvSpPr>
        <p:spPr>
          <a:xfrm>
            <a:off x="365125" y="249238"/>
            <a:ext cx="10883900" cy="690562"/>
          </a:xfrm>
          <a:prstGeom prst="rect">
            <a:avLst/>
          </a:prstGeom>
        </p:spPr>
        <p:txBody>
          <a:bodyP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base" latinLnBrk="0" hangingPunct="1">
              <a:lnSpc>
                <a:spcPct val="90000"/>
              </a:lnSpc>
              <a:spcBef>
                <a:spcPct val="0"/>
              </a:spcBef>
              <a:spcAft>
                <a:spcPct val="0"/>
              </a:spcAft>
              <a:buClrTx/>
              <a:buSzTx/>
              <a:buFontTx/>
              <a:buNone/>
              <a:tabLst/>
              <a:defRPr/>
            </a:pPr>
            <a:r>
              <a:rPr lang="en-GB" sz="5100" dirty="0">
                <a:solidFill>
                  <a:srgbClr val="4472C4">
                    <a:lumMod val="75000"/>
                  </a:srgbClr>
                </a:solidFill>
                <a:latin typeface="Elephant" panose="02020904090505020303" pitchFamily="18" charset="0"/>
              </a:rPr>
              <a:t>Transaction Monitoring</a:t>
            </a:r>
            <a:r>
              <a:rPr kumimoji="0" lang="en-GB" sz="5100" i="0" u="none" strike="noStrike" kern="1200" cap="none" spc="0" normalizeH="0" baseline="0" noProof="0" dirty="0">
                <a:ln>
                  <a:noFill/>
                </a:ln>
                <a:solidFill>
                  <a:srgbClr val="4472C4">
                    <a:lumMod val="75000"/>
                  </a:srgbClr>
                </a:solidFill>
                <a:effectLst/>
                <a:uLnTx/>
                <a:uFillTx/>
                <a:latin typeface="Elephant" panose="02020904090505020303" pitchFamily="18" charset="0"/>
              </a:rPr>
              <a:t>– Project Timeline</a:t>
            </a:r>
            <a:endParaRPr kumimoji="0" lang="en-GB" sz="3800" i="0" u="none" strike="noStrike" kern="1200" cap="none" spc="0" normalizeH="0" baseline="0" noProof="0" dirty="0">
              <a:ln>
                <a:noFill/>
              </a:ln>
              <a:solidFill>
                <a:srgbClr val="4472C4">
                  <a:lumMod val="75000"/>
                </a:srgbClr>
              </a:solidFill>
              <a:effectLst/>
              <a:uLnTx/>
              <a:uFillTx/>
              <a:latin typeface="NBS Medium" panose="020B0603030303020204"/>
              <a:ea typeface="+mj-ea"/>
              <a:cs typeface="+mj-cs"/>
            </a:endParaRP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4500" b="0" i="1" u="none" strike="noStrike" kern="1200" cap="none" spc="0" normalizeH="0" baseline="0" noProof="0" dirty="0">
                <a:ln>
                  <a:noFill/>
                </a:ln>
                <a:solidFill>
                  <a:srgbClr val="C00000"/>
                </a:solidFill>
                <a:effectLst/>
                <a:uLnTx/>
                <a:uFillTx/>
                <a:latin typeface="NBS Medium" panose="020B0603030303020204" pitchFamily="34" charset="0"/>
                <a:ea typeface="+mj-ea"/>
                <a:cs typeface="+mj-cs"/>
              </a:rPr>
              <a:t>A summary of the background of the AML Transaction Monitoring journey – Key Milestones so far</a:t>
            </a:r>
          </a:p>
        </p:txBody>
      </p:sp>
      <p:sp>
        <p:nvSpPr>
          <p:cNvPr id="18" name="Rectangle: Rounded Corners 17">
            <a:extLst>
              <a:ext uri="{FF2B5EF4-FFF2-40B4-BE49-F238E27FC236}">
                <a16:creationId xmlns:a16="http://schemas.microsoft.com/office/drawing/2014/main" id="{FA6E6BA1-30ED-4A95-8A95-A0B633C0734D}"/>
              </a:ext>
            </a:extLst>
          </p:cNvPr>
          <p:cNvSpPr/>
          <p:nvPr/>
        </p:nvSpPr>
        <p:spPr>
          <a:xfrm rot="5400000">
            <a:off x="-685006" y="1915319"/>
            <a:ext cx="5607050" cy="3779838"/>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Rounded Corners 18">
            <a:extLst>
              <a:ext uri="{FF2B5EF4-FFF2-40B4-BE49-F238E27FC236}">
                <a16:creationId xmlns:a16="http://schemas.microsoft.com/office/drawing/2014/main" id="{89F38CD9-5A77-4E39-808A-1EBACB03EA50}"/>
              </a:ext>
            </a:extLst>
          </p:cNvPr>
          <p:cNvSpPr/>
          <p:nvPr/>
        </p:nvSpPr>
        <p:spPr>
          <a:xfrm rot="5400000">
            <a:off x="7247732" y="1915319"/>
            <a:ext cx="5607050" cy="3779837"/>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Rounded Corners 19">
            <a:extLst>
              <a:ext uri="{FF2B5EF4-FFF2-40B4-BE49-F238E27FC236}">
                <a16:creationId xmlns:a16="http://schemas.microsoft.com/office/drawing/2014/main" id="{ED8AC684-33BE-4E50-920C-1238BB4BD88F}"/>
              </a:ext>
            </a:extLst>
          </p:cNvPr>
          <p:cNvSpPr/>
          <p:nvPr/>
        </p:nvSpPr>
        <p:spPr>
          <a:xfrm rot="5400000">
            <a:off x="3315494" y="1821657"/>
            <a:ext cx="5607050" cy="3967162"/>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Rectangle: Rounded Corners 3">
            <a:extLst>
              <a:ext uri="{FF2B5EF4-FFF2-40B4-BE49-F238E27FC236}">
                <a16:creationId xmlns:a16="http://schemas.microsoft.com/office/drawing/2014/main" id="{FBF7779F-108B-45F9-9231-6E33D8638F48}"/>
              </a:ext>
            </a:extLst>
          </p:cNvPr>
          <p:cNvSpPr/>
          <p:nvPr/>
        </p:nvSpPr>
        <p:spPr>
          <a:xfrm>
            <a:off x="1620838" y="939800"/>
            <a:ext cx="995362" cy="265113"/>
          </a:xfrm>
          <a:prstGeom prst="round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rPr>
              <a:t>2019</a:t>
            </a:r>
          </a:p>
        </p:txBody>
      </p:sp>
      <p:sp>
        <p:nvSpPr>
          <p:cNvPr id="21" name="Rectangle: Rounded Corners 20">
            <a:extLst>
              <a:ext uri="{FF2B5EF4-FFF2-40B4-BE49-F238E27FC236}">
                <a16:creationId xmlns:a16="http://schemas.microsoft.com/office/drawing/2014/main" id="{AB1B0FFE-796A-40F2-9B7B-F66031F51E3A}"/>
              </a:ext>
            </a:extLst>
          </p:cNvPr>
          <p:cNvSpPr/>
          <p:nvPr/>
        </p:nvSpPr>
        <p:spPr>
          <a:xfrm>
            <a:off x="5638800" y="892175"/>
            <a:ext cx="995363" cy="265113"/>
          </a:xfrm>
          <a:prstGeom prst="round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rPr>
              <a:t>2020</a:t>
            </a:r>
          </a:p>
        </p:txBody>
      </p:sp>
      <p:sp>
        <p:nvSpPr>
          <p:cNvPr id="22" name="Rectangle: Rounded Corners 21">
            <a:extLst>
              <a:ext uri="{FF2B5EF4-FFF2-40B4-BE49-F238E27FC236}">
                <a16:creationId xmlns:a16="http://schemas.microsoft.com/office/drawing/2014/main" id="{8504CC40-8070-4975-877B-DE57413456B4}"/>
              </a:ext>
            </a:extLst>
          </p:cNvPr>
          <p:cNvSpPr/>
          <p:nvPr/>
        </p:nvSpPr>
        <p:spPr>
          <a:xfrm>
            <a:off x="9574213" y="911225"/>
            <a:ext cx="996950" cy="265113"/>
          </a:xfrm>
          <a:prstGeom prst="round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rPr>
              <a:t>2021</a:t>
            </a:r>
          </a:p>
        </p:txBody>
      </p:sp>
      <p:sp>
        <p:nvSpPr>
          <p:cNvPr id="27" name="Rectangle: Rounded Corners 26">
            <a:extLst>
              <a:ext uri="{FF2B5EF4-FFF2-40B4-BE49-F238E27FC236}">
                <a16:creationId xmlns:a16="http://schemas.microsoft.com/office/drawing/2014/main" id="{AA9F3A6B-964D-4E6A-AC17-87FF1D695BBE}"/>
              </a:ext>
            </a:extLst>
          </p:cNvPr>
          <p:cNvSpPr/>
          <p:nvPr/>
        </p:nvSpPr>
        <p:spPr>
          <a:xfrm>
            <a:off x="333375" y="2655888"/>
            <a:ext cx="3551238" cy="766762"/>
          </a:xfrm>
          <a:prstGeom prst="roundRect">
            <a:avLst/>
          </a:prstGeom>
          <a:solidFill>
            <a:schemeClr val="bg1"/>
          </a:solid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800" b="1" i="0" u="none" strike="noStrike" kern="1200" cap="none" spc="0" normalizeH="0" baseline="0" noProof="0" dirty="0">
                <a:ln>
                  <a:noFill/>
                </a:ln>
                <a:solidFill>
                  <a:prstClr val="black"/>
                </a:solidFill>
                <a:effectLst/>
                <a:uLnTx/>
                <a:uFillTx/>
                <a:latin typeface="NBS Medium" panose="020B0603030303020204"/>
                <a:ea typeface="+mn-ea"/>
                <a:cs typeface="+mn-cs"/>
              </a:rPr>
              <a:t>AUGUST</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rPr>
              <a:t>KPMG onboarded to support NBS on journey to improve TM capability through validation of internal gap analysis and production of AML TM vision, strategy and 5 year roadmap.  </a:t>
            </a:r>
          </a:p>
        </p:txBody>
      </p:sp>
      <p:sp>
        <p:nvSpPr>
          <p:cNvPr id="28" name="Rectangle: Rounded Corners 27">
            <a:extLst>
              <a:ext uri="{FF2B5EF4-FFF2-40B4-BE49-F238E27FC236}">
                <a16:creationId xmlns:a16="http://schemas.microsoft.com/office/drawing/2014/main" id="{DC9D7082-FF4B-4883-A04D-E2CAFFA8C591}"/>
              </a:ext>
            </a:extLst>
          </p:cNvPr>
          <p:cNvSpPr/>
          <p:nvPr/>
        </p:nvSpPr>
        <p:spPr>
          <a:xfrm>
            <a:off x="333375" y="1739900"/>
            <a:ext cx="3552825" cy="765175"/>
          </a:xfrm>
          <a:prstGeom prst="roundRect">
            <a:avLst/>
          </a:prstGeom>
          <a:solidFill>
            <a:schemeClr val="bg1"/>
          </a:solid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800" b="1" i="0" u="none" strike="noStrike" kern="1200" cap="none" spc="0" normalizeH="0" baseline="0" noProof="0" dirty="0">
                <a:ln>
                  <a:noFill/>
                </a:ln>
                <a:solidFill>
                  <a:prstClr val="black"/>
                </a:solidFill>
                <a:effectLst/>
                <a:uLnTx/>
                <a:uFillTx/>
                <a:latin typeface="NBS Medium" panose="020B0603030303020204"/>
                <a:ea typeface="+mn-ea"/>
                <a:cs typeface="+mn-cs"/>
              </a:rPr>
              <a:t>APRIL - JULY</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rPr>
              <a:t>NBS  conduct internal AML Transaction Monitoring gap analysis highlighting regulatory and control effectiveness gaps within monitoring, data integrity and governance </a:t>
            </a:r>
          </a:p>
        </p:txBody>
      </p:sp>
      <p:sp>
        <p:nvSpPr>
          <p:cNvPr id="29" name="Rectangle: Rounded Corners 28">
            <a:extLst>
              <a:ext uri="{FF2B5EF4-FFF2-40B4-BE49-F238E27FC236}">
                <a16:creationId xmlns:a16="http://schemas.microsoft.com/office/drawing/2014/main" id="{024454FA-1E34-49FD-8134-E0EB4C239404}"/>
              </a:ext>
            </a:extLst>
          </p:cNvPr>
          <p:cNvSpPr/>
          <p:nvPr/>
        </p:nvSpPr>
        <p:spPr>
          <a:xfrm>
            <a:off x="333375" y="3570288"/>
            <a:ext cx="3551238" cy="722312"/>
          </a:xfrm>
          <a:prstGeom prst="roundRect">
            <a:avLst/>
          </a:prstGeom>
          <a:solidFill>
            <a:schemeClr val="bg1"/>
          </a:solid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800" b="1" i="0" u="none" strike="noStrike" kern="1200" cap="none" spc="0" normalizeH="0" baseline="0" noProof="0" dirty="0">
                <a:ln>
                  <a:noFill/>
                </a:ln>
                <a:solidFill>
                  <a:prstClr val="black"/>
                </a:solidFill>
                <a:effectLst/>
                <a:uLnTx/>
                <a:uFillTx/>
                <a:latin typeface="NBS Medium" panose="020B0603030303020204"/>
                <a:ea typeface="+mn-ea"/>
                <a:cs typeface="+mn-cs"/>
              </a:rPr>
              <a:t>OCTOBER</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rPr>
              <a:t>NBS receive letter from FCA highlighting potential weaknesses with TM controls. NBS responded confirming current risk based approach to TM and confirming the TM enhancements commencing with KPMG</a:t>
            </a:r>
          </a:p>
        </p:txBody>
      </p:sp>
      <p:sp>
        <p:nvSpPr>
          <p:cNvPr id="30" name="Rectangle: Rounded Corners 29">
            <a:extLst>
              <a:ext uri="{FF2B5EF4-FFF2-40B4-BE49-F238E27FC236}">
                <a16:creationId xmlns:a16="http://schemas.microsoft.com/office/drawing/2014/main" id="{622ED4ED-0CB1-43AC-8A7B-732FA2FD276A}"/>
              </a:ext>
            </a:extLst>
          </p:cNvPr>
          <p:cNvSpPr/>
          <p:nvPr/>
        </p:nvSpPr>
        <p:spPr>
          <a:xfrm>
            <a:off x="333375" y="4467225"/>
            <a:ext cx="3557588" cy="561975"/>
          </a:xfrm>
          <a:prstGeom prst="roundRect">
            <a:avLst/>
          </a:prstGeom>
          <a:solidFill>
            <a:schemeClr val="bg1"/>
          </a:solid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800" b="1" i="0" u="none" strike="noStrike" kern="1200" cap="none" spc="0" normalizeH="0" baseline="0" noProof="0" dirty="0">
                <a:ln>
                  <a:noFill/>
                </a:ln>
                <a:solidFill>
                  <a:prstClr val="black"/>
                </a:solidFill>
                <a:effectLst/>
                <a:uLnTx/>
                <a:uFillTx/>
                <a:latin typeface="NBS Medium" panose="020B0603030303020204"/>
                <a:ea typeface="+mn-ea"/>
                <a:cs typeface="+mn-cs"/>
              </a:rPr>
              <a:t>DECEMBER</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rPr>
              <a:t>Further correspondence received from FCA regarding NBS Financial Crime Controls relating to TM</a:t>
            </a:r>
          </a:p>
        </p:txBody>
      </p:sp>
      <p:sp>
        <p:nvSpPr>
          <p:cNvPr id="31" name="Rectangle: Rounded Corners 30">
            <a:extLst>
              <a:ext uri="{FF2B5EF4-FFF2-40B4-BE49-F238E27FC236}">
                <a16:creationId xmlns:a16="http://schemas.microsoft.com/office/drawing/2014/main" id="{B1C5A712-2F29-4F54-96AE-91C1543A3A3F}"/>
              </a:ext>
            </a:extLst>
          </p:cNvPr>
          <p:cNvSpPr/>
          <p:nvPr/>
        </p:nvSpPr>
        <p:spPr>
          <a:xfrm>
            <a:off x="333375" y="5546725"/>
            <a:ext cx="3551238" cy="619125"/>
          </a:xfrm>
          <a:prstGeom prst="roundRect">
            <a:avLst/>
          </a:prstGeom>
          <a:solidFill>
            <a:schemeClr val="bg1"/>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800" b="1" i="0" u="none" strike="noStrike" kern="1200" cap="none" spc="0" normalizeH="0" baseline="0" noProof="0" dirty="0">
                <a:ln>
                  <a:noFill/>
                </a:ln>
                <a:solidFill>
                  <a:prstClr val="black"/>
                </a:solidFill>
                <a:effectLst/>
                <a:uLnTx/>
                <a:uFillTx/>
                <a:latin typeface="NBS Medium" panose="020B0603030303020204"/>
                <a:ea typeface="+mn-ea"/>
                <a:cs typeface="+mn-cs"/>
              </a:rPr>
              <a:t>DECEMBER</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rPr>
              <a:t>The AML TM strategy and roadmap  presented to, and agreed with, the then acting MLRO and CRO</a:t>
            </a:r>
          </a:p>
        </p:txBody>
      </p:sp>
      <p:sp>
        <p:nvSpPr>
          <p:cNvPr id="32" name="Rectangle: Rounded Corners 31">
            <a:extLst>
              <a:ext uri="{FF2B5EF4-FFF2-40B4-BE49-F238E27FC236}">
                <a16:creationId xmlns:a16="http://schemas.microsoft.com/office/drawing/2014/main" id="{11453772-5D21-48CD-9F40-7B28F2515A31}"/>
              </a:ext>
            </a:extLst>
          </p:cNvPr>
          <p:cNvSpPr/>
          <p:nvPr/>
        </p:nvSpPr>
        <p:spPr>
          <a:xfrm>
            <a:off x="4305300" y="1219200"/>
            <a:ext cx="3652838" cy="1060450"/>
          </a:xfrm>
          <a:prstGeom prst="roundRect">
            <a:avLst/>
          </a:prstGeom>
          <a:solidFill>
            <a:schemeClr val="bg1"/>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800" b="1" i="0" u="none" strike="noStrike" kern="1200" cap="none" spc="0" normalizeH="0" baseline="0" noProof="0" dirty="0">
                <a:ln>
                  <a:noFill/>
                </a:ln>
                <a:solidFill>
                  <a:prstClr val="black"/>
                </a:solidFill>
                <a:effectLst/>
                <a:uLnTx/>
                <a:uFillTx/>
                <a:latin typeface="NBS Medium" panose="020B0603030303020204"/>
                <a:ea typeface="+mn-ea"/>
                <a:cs typeface="+mn-cs"/>
              </a:rPr>
              <a:t>JANUARY</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endParaRPr>
          </a:p>
          <a:p>
            <a:pPr marL="171450" marR="0" lvl="0" indent="-1714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rPr>
              <a:t>Nationwide provide response to FCA outlining details of current TM and future commitments </a:t>
            </a:r>
          </a:p>
          <a:p>
            <a:pPr marL="171450" marR="0" lvl="0" indent="-1714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endParaRPr>
          </a:p>
          <a:p>
            <a:pPr marL="171450" marR="0" lvl="0" indent="-1714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rPr>
              <a:t>Data integrity team setup to deliver data lineage, quality and data governance requirements </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800" b="0" i="0" u="none" strike="noStrike" kern="1200" cap="none" spc="0" normalizeH="0" baseline="0" noProof="0" dirty="0">
              <a:ln>
                <a:noFill/>
              </a:ln>
              <a:solidFill>
                <a:prstClr val="white"/>
              </a:solidFill>
              <a:effectLst/>
              <a:uLnTx/>
              <a:uFillTx/>
              <a:latin typeface="NBS Medium" panose="020B0603030303020204"/>
              <a:ea typeface="+mn-ea"/>
              <a:cs typeface="+mn-cs"/>
            </a:endParaRPr>
          </a:p>
        </p:txBody>
      </p:sp>
      <p:sp>
        <p:nvSpPr>
          <p:cNvPr id="34" name="Rectangle: Rounded Corners 33">
            <a:extLst>
              <a:ext uri="{FF2B5EF4-FFF2-40B4-BE49-F238E27FC236}">
                <a16:creationId xmlns:a16="http://schemas.microsoft.com/office/drawing/2014/main" id="{C76ABA4E-8651-418D-A562-CCAC7BD27A61}"/>
              </a:ext>
            </a:extLst>
          </p:cNvPr>
          <p:cNvSpPr/>
          <p:nvPr/>
        </p:nvSpPr>
        <p:spPr>
          <a:xfrm>
            <a:off x="4316413" y="2335213"/>
            <a:ext cx="3641725" cy="1108075"/>
          </a:xfrm>
          <a:prstGeom prst="roundRect">
            <a:avLst/>
          </a:prstGeom>
          <a:solidFill>
            <a:schemeClr val="bg1"/>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800" b="1" i="0" u="none" strike="noStrike" kern="1200" cap="none" spc="0" normalizeH="0" baseline="0" noProof="0" dirty="0">
                <a:ln>
                  <a:noFill/>
                </a:ln>
                <a:solidFill>
                  <a:prstClr val="black"/>
                </a:solidFill>
                <a:effectLst/>
                <a:uLnTx/>
                <a:uFillTx/>
                <a:latin typeface="NBS Medium" panose="020B0603030303020204"/>
                <a:ea typeface="+mn-ea"/>
                <a:cs typeface="+mn-cs"/>
              </a:rPr>
              <a:t>MARCH - JULY</a:t>
            </a:r>
          </a:p>
          <a:p>
            <a:pPr marL="171450" marR="0" lvl="0" indent="-1714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endParaRPr>
          </a:p>
          <a:p>
            <a:pPr marL="171450" marR="0" lvl="0" indent="-1714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rPr>
              <a:t>TM Risk Assessment signed off, outlining controls required to manage the AML risk exposure of Nationwide’s products </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endParaRPr>
          </a:p>
          <a:p>
            <a:pPr marL="171450" marR="0" lvl="0" indent="-1714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rPr>
              <a:t>FCA write to NBS confirming they were satisfied with responses, however to consider their feedback in future TM enhancements</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800" b="0" i="0" u="none" strike="noStrike" kern="1200" cap="none" spc="0" normalizeH="0" baseline="0" noProof="0" dirty="0">
              <a:ln>
                <a:noFill/>
              </a:ln>
              <a:solidFill>
                <a:prstClr val="white"/>
              </a:solidFill>
              <a:effectLst/>
              <a:uLnTx/>
              <a:uFillTx/>
              <a:latin typeface="NBS Medium" panose="020B0603030303020204"/>
              <a:ea typeface="+mn-ea"/>
              <a:cs typeface="+mn-cs"/>
            </a:endParaRPr>
          </a:p>
        </p:txBody>
      </p:sp>
      <p:sp>
        <p:nvSpPr>
          <p:cNvPr id="37" name="Rectangle: Rounded Corners 36">
            <a:extLst>
              <a:ext uri="{FF2B5EF4-FFF2-40B4-BE49-F238E27FC236}">
                <a16:creationId xmlns:a16="http://schemas.microsoft.com/office/drawing/2014/main" id="{2CB354E7-020F-4A2E-8185-79BAE2C92A96}"/>
              </a:ext>
            </a:extLst>
          </p:cNvPr>
          <p:cNvSpPr/>
          <p:nvPr/>
        </p:nvSpPr>
        <p:spPr>
          <a:xfrm>
            <a:off x="4300538" y="3498850"/>
            <a:ext cx="3651250" cy="1455738"/>
          </a:xfrm>
          <a:prstGeom prst="roundRect">
            <a:avLst/>
          </a:prstGeom>
          <a:solidFill>
            <a:schemeClr val="bg1"/>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800" b="1" i="0" u="none" strike="noStrike" kern="1200" cap="none" spc="0" normalizeH="0" baseline="0" noProof="0" dirty="0">
                <a:ln>
                  <a:noFill/>
                </a:ln>
                <a:solidFill>
                  <a:prstClr val="black"/>
                </a:solidFill>
                <a:effectLst/>
                <a:uLnTx/>
                <a:uFillTx/>
                <a:latin typeface="NBS Medium" panose="020B0603030303020204"/>
                <a:ea typeface="+mn-ea"/>
                <a:cs typeface="+mn-cs"/>
              </a:rPr>
              <a:t>AUGUST</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endParaRPr>
          </a:p>
          <a:p>
            <a:pPr marL="171450" marR="0" lvl="0" indent="-1714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rPr>
              <a:t>KPMG confirmed the 9 priority rules that needed to be deployed first</a:t>
            </a:r>
          </a:p>
          <a:p>
            <a:pPr marL="171450" marR="0" lvl="0" indent="-1714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endParaRPr>
          </a:p>
          <a:p>
            <a:pPr marL="171450" marR="0" lvl="0" indent="-1714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rPr>
              <a:t>Alert volumes predicted to increase from 1,500 a month to 5,000 a month by July 23.</a:t>
            </a:r>
          </a:p>
          <a:p>
            <a:pPr marL="171450" marR="0" lvl="0" indent="-1714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endParaRPr>
          </a:p>
          <a:p>
            <a:pPr marL="171450" marR="0" lvl="0" indent="-1714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rPr>
              <a:t>Resource provided (Analytics and Retail Decision Modelling) to commence development. Operational Resource signed-off to manage the impact of changes </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800" b="0" i="0" u="none" strike="noStrike" kern="1200" cap="none" spc="0" normalizeH="0" baseline="0" noProof="0" dirty="0">
              <a:ln>
                <a:noFill/>
              </a:ln>
              <a:solidFill>
                <a:prstClr val="white"/>
              </a:solidFill>
              <a:effectLst/>
              <a:uLnTx/>
              <a:uFillTx/>
              <a:latin typeface="NBS Medium" panose="020B0603030303020204"/>
              <a:ea typeface="+mn-ea"/>
              <a:cs typeface="+mn-cs"/>
            </a:endParaRPr>
          </a:p>
        </p:txBody>
      </p:sp>
      <p:sp>
        <p:nvSpPr>
          <p:cNvPr id="39" name="Rectangle: Rounded Corners 38">
            <a:extLst>
              <a:ext uri="{FF2B5EF4-FFF2-40B4-BE49-F238E27FC236}">
                <a16:creationId xmlns:a16="http://schemas.microsoft.com/office/drawing/2014/main" id="{ABE0636F-FFFA-496A-8EDE-13A987AD9509}"/>
              </a:ext>
            </a:extLst>
          </p:cNvPr>
          <p:cNvSpPr/>
          <p:nvPr/>
        </p:nvSpPr>
        <p:spPr>
          <a:xfrm>
            <a:off x="4322763" y="5008563"/>
            <a:ext cx="3629025" cy="1408112"/>
          </a:xfrm>
          <a:prstGeom prst="roundRect">
            <a:avLst/>
          </a:prstGeom>
          <a:solidFill>
            <a:schemeClr val="bg1"/>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800" b="1" i="0" u="none" strike="noStrike" kern="1200" cap="none" spc="0" normalizeH="0" baseline="0" noProof="0" dirty="0">
                <a:ln>
                  <a:noFill/>
                </a:ln>
                <a:solidFill>
                  <a:prstClr val="black"/>
                </a:solidFill>
                <a:effectLst/>
                <a:uLnTx/>
                <a:uFillTx/>
                <a:latin typeface="NBS Medium" panose="020B0603030303020204"/>
                <a:ea typeface="+mn-ea"/>
                <a:cs typeface="+mn-cs"/>
              </a:rPr>
              <a:t>SEPTEMBER - DECEMBER</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endParaRPr>
          </a:p>
          <a:p>
            <a:pPr marL="171450" marR="0" lvl="0" indent="-1714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rPr>
              <a:t>A Rule Development project team was setup consisting of Analytics, Operational, Policy and Risk Modelling resource to deliver the new rules identified in the TM risk assessment </a:t>
            </a:r>
          </a:p>
          <a:p>
            <a:pPr marL="171450" marR="0" lvl="0" indent="-1714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endParaRPr>
          </a:p>
          <a:p>
            <a:pPr marL="171450" marR="0" lvl="0" indent="-1714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rPr>
              <a:t>New rules split into multiple phases and delivery commenced to deploy phase 1 priority rules</a:t>
            </a:r>
          </a:p>
          <a:p>
            <a:pPr marL="171450" marR="0" lvl="0" indent="-1714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endParaRPr>
          </a:p>
          <a:p>
            <a:pPr marL="171450" marR="0" lvl="0" indent="-1714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rPr>
              <a:t>3 models created and signed off to enhance AML detection capabilities </a:t>
            </a:r>
          </a:p>
        </p:txBody>
      </p:sp>
      <p:sp>
        <p:nvSpPr>
          <p:cNvPr id="41" name="Rectangle: Rounded Corners 40">
            <a:extLst>
              <a:ext uri="{FF2B5EF4-FFF2-40B4-BE49-F238E27FC236}">
                <a16:creationId xmlns:a16="http://schemas.microsoft.com/office/drawing/2014/main" id="{ACC1D119-5101-4738-AE6B-6C7A57B25FD2}"/>
              </a:ext>
            </a:extLst>
          </p:cNvPr>
          <p:cNvSpPr/>
          <p:nvPr/>
        </p:nvSpPr>
        <p:spPr>
          <a:xfrm>
            <a:off x="8305800" y="1373188"/>
            <a:ext cx="3552825" cy="1003300"/>
          </a:xfrm>
          <a:prstGeom prst="roundRect">
            <a:avLst/>
          </a:prstGeom>
          <a:solidFill>
            <a:schemeClr val="bg1"/>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800" b="1" i="0" u="none" strike="noStrike" kern="1200" cap="none" spc="0" normalizeH="0" baseline="0" noProof="0" dirty="0">
                <a:ln>
                  <a:noFill/>
                </a:ln>
                <a:solidFill>
                  <a:prstClr val="black"/>
                </a:solidFill>
                <a:effectLst/>
                <a:uLnTx/>
                <a:uFillTx/>
                <a:latin typeface="NBS Medium" panose="020B0603030303020204"/>
                <a:ea typeface="+mn-ea"/>
                <a:cs typeface="+mn-cs"/>
              </a:rPr>
              <a:t>JANUARY - MARCH</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rPr>
              <a:t>AML Operational recruitment commenced resulting in team increasing by circa.30 FTE including managers, analysts and senior analysts to manage output from new rules and downstream impacts.</a:t>
            </a:r>
          </a:p>
        </p:txBody>
      </p:sp>
      <p:sp>
        <p:nvSpPr>
          <p:cNvPr id="42" name="Rectangle: Rounded Corners 41">
            <a:extLst>
              <a:ext uri="{FF2B5EF4-FFF2-40B4-BE49-F238E27FC236}">
                <a16:creationId xmlns:a16="http://schemas.microsoft.com/office/drawing/2014/main" id="{5BF6777D-88E0-4CF8-B1C6-A710C6DE6691}"/>
              </a:ext>
            </a:extLst>
          </p:cNvPr>
          <p:cNvSpPr/>
          <p:nvPr/>
        </p:nvSpPr>
        <p:spPr>
          <a:xfrm>
            <a:off x="8305800" y="2935288"/>
            <a:ext cx="3517900" cy="1685925"/>
          </a:xfrm>
          <a:prstGeom prst="round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800" b="1" i="0" u="none" strike="noStrike" kern="1200" cap="none" spc="0" normalizeH="0" baseline="0" noProof="0" dirty="0">
                <a:ln>
                  <a:noFill/>
                </a:ln>
                <a:solidFill>
                  <a:prstClr val="black"/>
                </a:solidFill>
                <a:effectLst/>
                <a:uLnTx/>
                <a:uFillTx/>
                <a:latin typeface="NBS Medium" panose="020B0603030303020204"/>
                <a:ea typeface="+mn-ea"/>
                <a:cs typeface="+mn-cs"/>
              </a:rPr>
              <a:t>APRIL - JULY</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endParaRPr>
          </a:p>
          <a:p>
            <a:pPr marL="171450" marR="0" lvl="0" indent="-1714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rPr>
              <a:t>The 8 priority rules signed-off via appropriate governance forums by MLRO, and implemented into AML Operations</a:t>
            </a:r>
          </a:p>
          <a:p>
            <a:pPr marL="171450" marR="0" lvl="0" indent="-1714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rPr>
              <a:t> </a:t>
            </a:r>
          </a:p>
          <a:p>
            <a:pPr marL="171450" marR="0" lvl="0" indent="-1714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rPr>
              <a:t>Alert volumes increased from circa. 1,500 to circa. 3,000. </a:t>
            </a:r>
          </a:p>
          <a:p>
            <a:pPr marL="171450" marR="0" lvl="0" indent="-1714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endParaRPr>
          </a:p>
          <a:p>
            <a:pPr marL="171450" marR="0" lvl="0" indent="-1714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rPr>
              <a:t>Plan signed off by MLRO to deliver the remaining rules in subsequent phases </a:t>
            </a:r>
          </a:p>
        </p:txBody>
      </p:sp>
      <p:sp>
        <p:nvSpPr>
          <p:cNvPr id="43" name="Rectangle: Rounded Corners 42">
            <a:extLst>
              <a:ext uri="{FF2B5EF4-FFF2-40B4-BE49-F238E27FC236}">
                <a16:creationId xmlns:a16="http://schemas.microsoft.com/office/drawing/2014/main" id="{C4F722A9-3D4B-41F9-B8A4-555BF108F5B6}"/>
              </a:ext>
            </a:extLst>
          </p:cNvPr>
          <p:cNvSpPr/>
          <p:nvPr/>
        </p:nvSpPr>
        <p:spPr>
          <a:xfrm>
            <a:off x="8305800" y="4752975"/>
            <a:ext cx="3517900" cy="1685925"/>
          </a:xfrm>
          <a:prstGeom prst="round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800" b="1" i="0" u="none" strike="noStrike" kern="1200" cap="none" spc="0" normalizeH="0" baseline="0" noProof="0" dirty="0">
                <a:ln>
                  <a:noFill/>
                </a:ln>
                <a:solidFill>
                  <a:prstClr val="black"/>
                </a:solidFill>
                <a:effectLst/>
                <a:uLnTx/>
                <a:uFillTx/>
                <a:latin typeface="NBS Medium" panose="020B0603030303020204"/>
                <a:ea typeface="+mn-ea"/>
                <a:cs typeface="+mn-cs"/>
              </a:rPr>
              <a:t>AUGUST</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800" b="1" i="0" u="none" strike="noStrike" kern="1200" cap="none" spc="0" normalizeH="0" baseline="0" noProof="0" dirty="0">
              <a:ln>
                <a:noFill/>
              </a:ln>
              <a:solidFill>
                <a:prstClr val="black"/>
              </a:solidFill>
              <a:effectLst/>
              <a:uLnTx/>
              <a:uFillTx/>
              <a:latin typeface="NBS Medium" panose="020B0603030303020204"/>
              <a:ea typeface="+mn-ea"/>
              <a:cs typeface="+mn-cs"/>
            </a:endParaRPr>
          </a:p>
          <a:p>
            <a:pPr marL="171450" marR="0" lvl="0" indent="-1714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rPr>
              <a:t>Planning commenced for Phase 2 </a:t>
            </a:r>
          </a:p>
          <a:p>
            <a:pPr marL="171450" marR="0" lvl="0" indent="-1714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endParaRPr>
          </a:p>
          <a:p>
            <a:pPr marL="171450" marR="0" lvl="0" indent="-1714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rPr>
              <a:t>TM project to be incorporated as part of a programme within FCTP </a:t>
            </a:r>
          </a:p>
          <a:p>
            <a:pPr marL="171450" marR="0" lvl="0" indent="-1714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endParaRPr>
          </a:p>
          <a:p>
            <a:pPr marL="171450" marR="0" lvl="0" indent="-1714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rPr>
              <a:t>TOM recommendations to be considered as part of the TM FCTP Programme</a:t>
            </a:r>
          </a:p>
          <a:p>
            <a:pPr marL="171450" marR="0" lvl="0" indent="-1714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endParaRPr>
          </a:p>
          <a:p>
            <a:pPr marL="171450" marR="0" lvl="0" indent="-1714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GB" sz="800" b="0" i="0" u="none" strike="noStrike" kern="1200" cap="none" spc="0" normalizeH="0" baseline="0" noProof="0" dirty="0">
                <a:ln>
                  <a:noFill/>
                </a:ln>
                <a:solidFill>
                  <a:prstClr val="black"/>
                </a:solidFill>
                <a:effectLst/>
                <a:uLnTx/>
                <a:uFillTx/>
                <a:latin typeface="NBS Medium" panose="020B0603030303020204"/>
                <a:ea typeface="+mn-ea"/>
                <a:cs typeface="+mn-cs"/>
              </a:rPr>
              <a:t>Inclusion of TM FCTP Programme as part of TOM reconciliation activities reported to the FCA</a:t>
            </a:r>
          </a:p>
        </p:txBody>
      </p:sp>
      <p:sp>
        <p:nvSpPr>
          <p:cNvPr id="2" name="Rectangle: Rounded Corners 1">
            <a:extLst>
              <a:ext uri="{FF2B5EF4-FFF2-40B4-BE49-F238E27FC236}">
                <a16:creationId xmlns:a16="http://schemas.microsoft.com/office/drawing/2014/main" id="{799675CF-CC2A-4FB5-BECC-3C90DA1F1064}"/>
              </a:ext>
            </a:extLst>
          </p:cNvPr>
          <p:cNvSpPr/>
          <p:nvPr/>
        </p:nvSpPr>
        <p:spPr>
          <a:xfrm>
            <a:off x="8569325" y="2501900"/>
            <a:ext cx="2860675" cy="309563"/>
          </a:xfrm>
          <a:prstGeom prst="roundRect">
            <a:avLst/>
          </a:prstGeom>
          <a:solidFill>
            <a:schemeClr val="accent4"/>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NBS Medium" panose="020B0603030303020204"/>
                <a:ea typeface="+mn-ea"/>
                <a:cs typeface="+mn-cs"/>
              </a:rPr>
              <a:t>AML TM Rule Deployment</a:t>
            </a:r>
          </a:p>
        </p:txBody>
      </p:sp>
      <p:sp>
        <p:nvSpPr>
          <p:cNvPr id="35" name="Rectangle: Rounded Corners 34">
            <a:extLst>
              <a:ext uri="{FF2B5EF4-FFF2-40B4-BE49-F238E27FC236}">
                <a16:creationId xmlns:a16="http://schemas.microsoft.com/office/drawing/2014/main" id="{3C5C3C5A-8EE1-43A3-8B39-E4836FD4E28E}"/>
              </a:ext>
            </a:extLst>
          </p:cNvPr>
          <p:cNvSpPr/>
          <p:nvPr/>
        </p:nvSpPr>
        <p:spPr>
          <a:xfrm>
            <a:off x="717550" y="1352550"/>
            <a:ext cx="2790825" cy="233363"/>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NBS Medium" panose="020B0603030303020204"/>
                <a:ea typeface="+mn-ea"/>
                <a:cs typeface="+mn-cs"/>
              </a:rPr>
              <a:t>AML TM Risks and Regulator Feedback</a:t>
            </a:r>
          </a:p>
        </p:txBody>
      </p:sp>
      <p:sp>
        <p:nvSpPr>
          <p:cNvPr id="38" name="Rectangle: Rounded Corners 37">
            <a:extLst>
              <a:ext uri="{FF2B5EF4-FFF2-40B4-BE49-F238E27FC236}">
                <a16:creationId xmlns:a16="http://schemas.microsoft.com/office/drawing/2014/main" id="{F5CEFE93-EE4F-4E36-A608-6392A81D2865}"/>
              </a:ext>
            </a:extLst>
          </p:cNvPr>
          <p:cNvSpPr/>
          <p:nvPr/>
        </p:nvSpPr>
        <p:spPr>
          <a:xfrm>
            <a:off x="717550" y="5146675"/>
            <a:ext cx="2876550" cy="300038"/>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NBS Medium" panose="020B0603030303020204"/>
                <a:ea typeface="+mn-ea"/>
                <a:cs typeface="+mn-cs"/>
              </a:rPr>
              <a:t>AML TM Strategy implementation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Box 9">
            <a:extLst>
              <a:ext uri="{FF2B5EF4-FFF2-40B4-BE49-F238E27FC236}">
                <a16:creationId xmlns:a16="http://schemas.microsoft.com/office/drawing/2014/main" id="{8E4C1A8A-CF34-4600-B656-FC8C3CA80E92}"/>
              </a:ext>
            </a:extLst>
          </p:cNvPr>
          <p:cNvSpPr txBox="1">
            <a:spLocks noChangeArrowheads="1"/>
          </p:cNvSpPr>
          <p:nvPr/>
        </p:nvSpPr>
        <p:spPr bwMode="auto">
          <a:xfrm>
            <a:off x="249238" y="82550"/>
            <a:ext cx="115554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2400" i="0" u="none" strike="noStrike" kern="1200" cap="none" spc="0" normalizeH="0" baseline="0" noProof="0" dirty="0" err="1">
                <a:ln>
                  <a:noFill/>
                </a:ln>
                <a:solidFill>
                  <a:srgbClr val="004A8F"/>
                </a:solidFill>
                <a:effectLst/>
                <a:uLnTx/>
                <a:uFillTx/>
                <a:latin typeface="Elephant" panose="02020904090505020303" pitchFamily="18" charset="0"/>
              </a:rPr>
              <a:t>FCTP</a:t>
            </a:r>
            <a:r>
              <a:rPr kumimoji="0" lang="en-GB" altLang="en-US" sz="2400" i="0" u="none" strike="noStrike" kern="1200" cap="none" spc="0" normalizeH="0" baseline="0" noProof="0" dirty="0">
                <a:ln>
                  <a:noFill/>
                </a:ln>
                <a:solidFill>
                  <a:srgbClr val="004A8F"/>
                </a:solidFill>
                <a:effectLst/>
                <a:uLnTx/>
                <a:uFillTx/>
                <a:latin typeface="Elephant" panose="02020904090505020303" pitchFamily="18" charset="0"/>
              </a:rPr>
              <a:t> Transaction Monitoring Programme Activities</a:t>
            </a:r>
          </a:p>
        </p:txBody>
      </p:sp>
      <p:graphicFrame>
        <p:nvGraphicFramePr>
          <p:cNvPr id="7" name="Content Placeholder 2">
            <a:extLst>
              <a:ext uri="{FF2B5EF4-FFF2-40B4-BE49-F238E27FC236}">
                <a16:creationId xmlns:a16="http://schemas.microsoft.com/office/drawing/2014/main" id="{52880D71-CB50-414B-9E79-BE921DA34262}"/>
              </a:ext>
            </a:extLst>
          </p:cNvPr>
          <p:cNvGraphicFramePr>
            <a:graphicFrameLocks/>
          </p:cNvGraphicFramePr>
          <p:nvPr/>
        </p:nvGraphicFramePr>
        <p:xfrm>
          <a:off x="1871663" y="560388"/>
          <a:ext cx="8310565" cy="5810251"/>
        </p:xfrm>
        <a:graphic>
          <a:graphicData uri="http://schemas.openxmlformats.org/drawingml/2006/table">
            <a:tbl>
              <a:tblPr firstRow="1" firstCol="1" bandRow="1">
                <a:tableStyleId>{21E4AEA4-8DFA-4A89-87EB-49C32662AFE0}</a:tableStyleId>
              </a:tblPr>
              <a:tblGrid>
                <a:gridCol w="1178868">
                  <a:extLst>
                    <a:ext uri="{9D8B030D-6E8A-4147-A177-3AD203B41FA5}">
                      <a16:colId xmlns:a16="http://schemas.microsoft.com/office/drawing/2014/main" val="20000"/>
                    </a:ext>
                  </a:extLst>
                </a:gridCol>
                <a:gridCol w="459869">
                  <a:extLst>
                    <a:ext uri="{9D8B030D-6E8A-4147-A177-3AD203B41FA5}">
                      <a16:colId xmlns:a16="http://schemas.microsoft.com/office/drawing/2014/main" val="20001"/>
                    </a:ext>
                  </a:extLst>
                </a:gridCol>
                <a:gridCol w="459870">
                  <a:extLst>
                    <a:ext uri="{9D8B030D-6E8A-4147-A177-3AD203B41FA5}">
                      <a16:colId xmlns:a16="http://schemas.microsoft.com/office/drawing/2014/main" val="20002"/>
                    </a:ext>
                  </a:extLst>
                </a:gridCol>
                <a:gridCol w="459870">
                  <a:extLst>
                    <a:ext uri="{9D8B030D-6E8A-4147-A177-3AD203B41FA5}">
                      <a16:colId xmlns:a16="http://schemas.microsoft.com/office/drawing/2014/main" val="20003"/>
                    </a:ext>
                  </a:extLst>
                </a:gridCol>
                <a:gridCol w="459869">
                  <a:extLst>
                    <a:ext uri="{9D8B030D-6E8A-4147-A177-3AD203B41FA5}">
                      <a16:colId xmlns:a16="http://schemas.microsoft.com/office/drawing/2014/main" val="20004"/>
                    </a:ext>
                  </a:extLst>
                </a:gridCol>
                <a:gridCol w="459869">
                  <a:extLst>
                    <a:ext uri="{9D8B030D-6E8A-4147-A177-3AD203B41FA5}">
                      <a16:colId xmlns:a16="http://schemas.microsoft.com/office/drawing/2014/main" val="20005"/>
                    </a:ext>
                  </a:extLst>
                </a:gridCol>
                <a:gridCol w="459869">
                  <a:extLst>
                    <a:ext uri="{9D8B030D-6E8A-4147-A177-3AD203B41FA5}">
                      <a16:colId xmlns:a16="http://schemas.microsoft.com/office/drawing/2014/main" val="20006"/>
                    </a:ext>
                  </a:extLst>
                </a:gridCol>
                <a:gridCol w="459869">
                  <a:extLst>
                    <a:ext uri="{9D8B030D-6E8A-4147-A177-3AD203B41FA5}">
                      <a16:colId xmlns:a16="http://schemas.microsoft.com/office/drawing/2014/main" val="20007"/>
                    </a:ext>
                  </a:extLst>
                </a:gridCol>
                <a:gridCol w="233658">
                  <a:extLst>
                    <a:ext uri="{9D8B030D-6E8A-4147-A177-3AD203B41FA5}">
                      <a16:colId xmlns:a16="http://schemas.microsoft.com/office/drawing/2014/main" val="20008"/>
                    </a:ext>
                  </a:extLst>
                </a:gridCol>
                <a:gridCol w="459869">
                  <a:extLst>
                    <a:ext uri="{9D8B030D-6E8A-4147-A177-3AD203B41FA5}">
                      <a16:colId xmlns:a16="http://schemas.microsoft.com/office/drawing/2014/main" val="20009"/>
                    </a:ext>
                  </a:extLst>
                </a:gridCol>
                <a:gridCol w="459869">
                  <a:extLst>
                    <a:ext uri="{9D8B030D-6E8A-4147-A177-3AD203B41FA5}">
                      <a16:colId xmlns:a16="http://schemas.microsoft.com/office/drawing/2014/main" val="20010"/>
                    </a:ext>
                  </a:extLst>
                </a:gridCol>
                <a:gridCol w="459869">
                  <a:extLst>
                    <a:ext uri="{9D8B030D-6E8A-4147-A177-3AD203B41FA5}">
                      <a16:colId xmlns:a16="http://schemas.microsoft.com/office/drawing/2014/main" val="20011"/>
                    </a:ext>
                  </a:extLst>
                </a:gridCol>
                <a:gridCol w="459869">
                  <a:extLst>
                    <a:ext uri="{9D8B030D-6E8A-4147-A177-3AD203B41FA5}">
                      <a16:colId xmlns:a16="http://schemas.microsoft.com/office/drawing/2014/main" val="20012"/>
                    </a:ext>
                  </a:extLst>
                </a:gridCol>
                <a:gridCol w="459869">
                  <a:extLst>
                    <a:ext uri="{9D8B030D-6E8A-4147-A177-3AD203B41FA5}">
                      <a16:colId xmlns:a16="http://schemas.microsoft.com/office/drawing/2014/main" val="20013"/>
                    </a:ext>
                  </a:extLst>
                </a:gridCol>
                <a:gridCol w="459870">
                  <a:extLst>
                    <a:ext uri="{9D8B030D-6E8A-4147-A177-3AD203B41FA5}">
                      <a16:colId xmlns:a16="http://schemas.microsoft.com/office/drawing/2014/main" val="20014"/>
                    </a:ext>
                  </a:extLst>
                </a:gridCol>
                <a:gridCol w="459870">
                  <a:extLst>
                    <a:ext uri="{9D8B030D-6E8A-4147-A177-3AD203B41FA5}">
                      <a16:colId xmlns:a16="http://schemas.microsoft.com/office/drawing/2014/main" val="20015"/>
                    </a:ext>
                  </a:extLst>
                </a:gridCol>
                <a:gridCol w="459869">
                  <a:extLst>
                    <a:ext uri="{9D8B030D-6E8A-4147-A177-3AD203B41FA5}">
                      <a16:colId xmlns:a16="http://schemas.microsoft.com/office/drawing/2014/main" val="20016"/>
                    </a:ext>
                  </a:extLst>
                </a:gridCol>
              </a:tblGrid>
              <a:tr h="249954">
                <a:tc>
                  <a:txBody>
                    <a:bodyPr/>
                    <a:lstStyle/>
                    <a:p>
                      <a:pPr algn="ctr"/>
                      <a:r>
                        <a:rPr lang="en-GB" sz="800" dirty="0">
                          <a:solidFill>
                            <a:schemeClr val="bg1"/>
                          </a:solidFill>
                          <a:latin typeface="NBS Medium" panose="020B0603030303020204"/>
                        </a:rPr>
                        <a:t>`</a:t>
                      </a:r>
                    </a:p>
                  </a:txBody>
                  <a:tcPr marL="91427" marR="91427" marT="45726" marB="45726" anchor="ctr">
                    <a:lnL w="6350" cap="flat" cmpd="sng" algn="ctr">
                      <a:solidFill>
                        <a:schemeClr val="bg1"/>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r>
                        <a:rPr lang="en-GB" sz="800" dirty="0">
                          <a:solidFill>
                            <a:schemeClr val="bg1"/>
                          </a:solidFill>
                          <a:latin typeface="NBS Medium" panose="020B0603030303020204"/>
                        </a:rPr>
                        <a:t>2020</a:t>
                      </a:r>
                    </a:p>
                  </a:txBody>
                  <a:tcPr marL="127998" marR="127998" marT="64017" marB="64017" anchor="ctr">
                    <a:lnL w="6350" cap="flat" cmpd="sng" algn="ctr">
                      <a:solidFill>
                        <a:srgbClr val="004A8F"/>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solidFill>
                      <a:srgbClr val="004A8F"/>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algn="ctr"/>
                      <a:r>
                        <a:rPr lang="en-GB" sz="800" dirty="0">
                          <a:solidFill>
                            <a:schemeClr val="bg1"/>
                          </a:solidFill>
                          <a:latin typeface="NBS Medium" panose="020B0603030303020204"/>
                        </a:rPr>
                        <a:t>2021</a:t>
                      </a:r>
                    </a:p>
                  </a:txBody>
                  <a:tcPr marL="127998" marR="127998" marT="64017" marB="6401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solidFill>
                      <a:srgbClr val="004A8F"/>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algn="ctr"/>
                      <a:r>
                        <a:rPr lang="en-GB" sz="800" dirty="0">
                          <a:solidFill>
                            <a:schemeClr val="bg1"/>
                          </a:solidFill>
                          <a:latin typeface="NBS Medium" panose="020B0603030303020204"/>
                        </a:rPr>
                        <a:t>2022</a:t>
                      </a:r>
                    </a:p>
                  </a:txBody>
                  <a:tcPr marL="127998" marR="127998" marT="64017" marB="6401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solidFill>
                      <a:srgbClr val="004A8F"/>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algn="ctr"/>
                      <a:r>
                        <a:rPr lang="en-GB" sz="800" dirty="0">
                          <a:solidFill>
                            <a:schemeClr val="bg1"/>
                          </a:solidFill>
                          <a:latin typeface="NBS Medium" panose="020B0603030303020204"/>
                        </a:rPr>
                        <a:t>2023</a:t>
                      </a:r>
                    </a:p>
                  </a:txBody>
                  <a:tcPr marL="127998" marR="127998" marT="64017" marB="6401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solidFill>
                      <a:srgbClr val="004A8F"/>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0"/>
                  </a:ext>
                </a:extLst>
              </a:tr>
              <a:tr h="21337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sz="800" dirty="0">
                          <a:solidFill>
                            <a:schemeClr val="bg1"/>
                          </a:solidFill>
                          <a:latin typeface="NBS Medium" panose="020B0603030303020204"/>
                        </a:rPr>
                        <a:t>Core Activity</a:t>
                      </a:r>
                    </a:p>
                  </a:txBody>
                  <a:tcPr marL="91427" marR="91427" marT="45726" marB="45726" anchor="ctr">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solidFill>
                      <a:srgbClr val="004A8F"/>
                    </a:solidFill>
                  </a:tcPr>
                </a:tc>
                <a:tc>
                  <a:txBody>
                    <a:bodyPr/>
                    <a:lstStyle/>
                    <a:p>
                      <a:pPr algn="ctr"/>
                      <a:r>
                        <a:rPr lang="en-GB" sz="800" b="1" dirty="0">
                          <a:solidFill>
                            <a:schemeClr val="tx1"/>
                          </a:solidFill>
                          <a:latin typeface="NBS Medium" panose="020B0603030303020204"/>
                        </a:rPr>
                        <a:t>Q1</a:t>
                      </a:r>
                    </a:p>
                  </a:txBody>
                  <a:tcPr marL="45714" marR="45714" marT="45726" marB="45726" anchor="ctr">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solidFill>
                      <a:srgbClr val="D9E1F2"/>
                    </a:solidFill>
                  </a:tcPr>
                </a:tc>
                <a:tc>
                  <a:txBody>
                    <a:bodyPr/>
                    <a:lstStyle/>
                    <a:p>
                      <a:pPr algn="ctr"/>
                      <a:r>
                        <a:rPr lang="en-GB" sz="800" b="1" dirty="0">
                          <a:solidFill>
                            <a:schemeClr val="tx1"/>
                          </a:solidFill>
                          <a:latin typeface="NBS Medium" panose="020B0603030303020204"/>
                        </a:rPr>
                        <a:t>Q2</a:t>
                      </a:r>
                    </a:p>
                  </a:txBody>
                  <a:tcPr marL="45714" marR="45714" marT="45726" marB="45726" anchor="ctr">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solidFill>
                      <a:srgbClr val="D9E1F2"/>
                    </a:solidFill>
                  </a:tcPr>
                </a:tc>
                <a:tc>
                  <a:txBody>
                    <a:bodyPr/>
                    <a:lstStyle/>
                    <a:p>
                      <a:pPr algn="ctr"/>
                      <a:r>
                        <a:rPr lang="en-GB" sz="800" b="1" dirty="0">
                          <a:solidFill>
                            <a:schemeClr val="tx1"/>
                          </a:solidFill>
                          <a:latin typeface="NBS Medium" panose="020B0603030303020204"/>
                        </a:rPr>
                        <a:t>Q3</a:t>
                      </a:r>
                    </a:p>
                  </a:txBody>
                  <a:tcPr marL="45714" marR="45714" marT="45726" marB="45726" anchor="ctr">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solidFill>
                      <a:srgbClr val="D9E1F2"/>
                    </a:solidFill>
                  </a:tcPr>
                </a:tc>
                <a:tc>
                  <a:txBody>
                    <a:bodyPr/>
                    <a:lstStyle/>
                    <a:p>
                      <a:pPr algn="ctr"/>
                      <a:r>
                        <a:rPr lang="en-GB" sz="800" b="1" dirty="0">
                          <a:solidFill>
                            <a:schemeClr val="tx1"/>
                          </a:solidFill>
                          <a:latin typeface="NBS Medium" panose="020B0603030303020204"/>
                        </a:rPr>
                        <a:t>Q4</a:t>
                      </a:r>
                    </a:p>
                  </a:txBody>
                  <a:tcPr marL="45714" marR="45714" marT="45726" marB="45726" anchor="ctr">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solidFill>
                      <a:srgbClr val="D9E1F2"/>
                    </a:solidFill>
                  </a:tcPr>
                </a:tc>
                <a:tc>
                  <a:txBody>
                    <a:bodyPr/>
                    <a:lstStyle/>
                    <a:p>
                      <a:pPr algn="ctr"/>
                      <a:r>
                        <a:rPr lang="en-GB" sz="800" b="1" dirty="0">
                          <a:solidFill>
                            <a:schemeClr val="tx1"/>
                          </a:solidFill>
                          <a:latin typeface="NBS Medium" panose="020B0603030303020204"/>
                        </a:rPr>
                        <a:t>Q1</a:t>
                      </a:r>
                    </a:p>
                  </a:txBody>
                  <a:tcPr marL="45714" marR="45714" marT="45726" marB="45726" anchor="ctr">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solidFill>
                      <a:srgbClr val="D9E1F2"/>
                    </a:solidFill>
                  </a:tcPr>
                </a:tc>
                <a:tc>
                  <a:txBody>
                    <a:bodyPr/>
                    <a:lstStyle/>
                    <a:p>
                      <a:pPr algn="ctr"/>
                      <a:r>
                        <a:rPr lang="en-GB" sz="800" b="1" dirty="0">
                          <a:solidFill>
                            <a:schemeClr val="tx1"/>
                          </a:solidFill>
                          <a:latin typeface="NBS Medium" panose="020B0603030303020204"/>
                        </a:rPr>
                        <a:t>Q2</a:t>
                      </a:r>
                    </a:p>
                  </a:txBody>
                  <a:tcPr marL="45714" marR="45714" marT="45726" marB="45726" anchor="ctr">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solidFill>
                      <a:srgbClr val="D9E1F2"/>
                    </a:solidFill>
                  </a:tcPr>
                </a:tc>
                <a:tc>
                  <a:txBody>
                    <a:bodyPr/>
                    <a:lstStyle/>
                    <a:p>
                      <a:pPr algn="ctr"/>
                      <a:r>
                        <a:rPr lang="en-GB" sz="800" b="1" dirty="0">
                          <a:solidFill>
                            <a:schemeClr val="tx1"/>
                          </a:solidFill>
                          <a:latin typeface="NBS Medium" panose="020B0603030303020204"/>
                        </a:rPr>
                        <a:t>Q3</a:t>
                      </a:r>
                    </a:p>
                  </a:txBody>
                  <a:tcPr marL="45714" marR="45714" marT="45726" marB="45726" anchor="ctr">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solidFill>
                      <a:srgbClr val="D9E1F2"/>
                    </a:solidFill>
                  </a:tcPr>
                </a:tc>
                <a:tc>
                  <a:txBody>
                    <a:bodyPr/>
                    <a:lstStyle/>
                    <a:p>
                      <a:pPr algn="ctr"/>
                      <a:r>
                        <a:rPr lang="en-GB" sz="800" b="1" dirty="0">
                          <a:solidFill>
                            <a:schemeClr val="tx1"/>
                          </a:solidFill>
                          <a:latin typeface="NBS Medium" panose="020B0603030303020204"/>
                        </a:rPr>
                        <a:t>Q4</a:t>
                      </a:r>
                    </a:p>
                  </a:txBody>
                  <a:tcPr marL="45714" marR="45714" marT="45726" marB="45726" anchor="ctr">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solidFill>
                      <a:srgbClr val="D9E1F2"/>
                    </a:solidFill>
                  </a:tcPr>
                </a:tc>
                <a:tc>
                  <a:txBody>
                    <a:bodyPr/>
                    <a:lstStyle/>
                    <a:p>
                      <a:pPr algn="ctr"/>
                      <a:r>
                        <a:rPr lang="en-GB" sz="800" b="1" dirty="0">
                          <a:solidFill>
                            <a:schemeClr val="tx1"/>
                          </a:solidFill>
                          <a:latin typeface="NBS Medium" panose="020B0603030303020204"/>
                        </a:rPr>
                        <a:t>Q1</a:t>
                      </a:r>
                    </a:p>
                  </a:txBody>
                  <a:tcPr marL="45714" marR="45714" marT="45726" marB="45726" anchor="ctr">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solidFill>
                      <a:srgbClr val="D9E1F2"/>
                    </a:solidFill>
                  </a:tcPr>
                </a:tc>
                <a:tc>
                  <a:txBody>
                    <a:bodyPr/>
                    <a:lstStyle/>
                    <a:p>
                      <a:pPr algn="ctr"/>
                      <a:r>
                        <a:rPr lang="en-GB" sz="800" b="1" dirty="0">
                          <a:solidFill>
                            <a:schemeClr val="tx1"/>
                          </a:solidFill>
                          <a:latin typeface="NBS Medium" panose="020B0603030303020204"/>
                        </a:rPr>
                        <a:t>Q2</a:t>
                      </a:r>
                    </a:p>
                  </a:txBody>
                  <a:tcPr marL="45714" marR="45714" marT="45726" marB="45726" anchor="ctr">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solidFill>
                      <a:srgbClr val="D9E1F2"/>
                    </a:solidFill>
                  </a:tcPr>
                </a:tc>
                <a:tc>
                  <a:txBody>
                    <a:bodyPr/>
                    <a:lstStyle/>
                    <a:p>
                      <a:pPr algn="ctr"/>
                      <a:r>
                        <a:rPr lang="en-GB" sz="800" b="1" dirty="0">
                          <a:solidFill>
                            <a:schemeClr val="tx1"/>
                          </a:solidFill>
                          <a:latin typeface="NBS Medium" panose="020B0603030303020204"/>
                        </a:rPr>
                        <a:t>Q3</a:t>
                      </a:r>
                    </a:p>
                  </a:txBody>
                  <a:tcPr marL="45714" marR="45714" marT="45726" marB="45726" anchor="ctr">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solidFill>
                      <a:srgbClr val="D9E1F2"/>
                    </a:solidFill>
                  </a:tcPr>
                </a:tc>
                <a:tc>
                  <a:txBody>
                    <a:bodyPr/>
                    <a:lstStyle/>
                    <a:p>
                      <a:pPr algn="ctr"/>
                      <a:r>
                        <a:rPr lang="en-GB" sz="800" b="1" dirty="0">
                          <a:solidFill>
                            <a:schemeClr val="tx1"/>
                          </a:solidFill>
                          <a:latin typeface="NBS Medium" panose="020B0603030303020204"/>
                        </a:rPr>
                        <a:t>Q4</a:t>
                      </a:r>
                    </a:p>
                  </a:txBody>
                  <a:tcPr marL="45714" marR="45714" marT="45726" marB="45726" anchor="ctr">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solidFill>
                      <a:srgbClr val="D9E1F2"/>
                    </a:solidFill>
                  </a:tcPr>
                </a:tc>
                <a:tc>
                  <a:txBody>
                    <a:bodyPr/>
                    <a:lstStyle/>
                    <a:p>
                      <a:pPr algn="ctr"/>
                      <a:r>
                        <a:rPr lang="en-GB" sz="800" b="1" dirty="0">
                          <a:solidFill>
                            <a:schemeClr val="tx1"/>
                          </a:solidFill>
                          <a:latin typeface="NBS Medium" panose="020B0603030303020204"/>
                        </a:rPr>
                        <a:t>Q1</a:t>
                      </a:r>
                    </a:p>
                  </a:txBody>
                  <a:tcPr marL="45714" marR="45714" marT="45726" marB="45726" anchor="ctr">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solidFill>
                      <a:srgbClr val="D9E1F2"/>
                    </a:solidFill>
                  </a:tcPr>
                </a:tc>
                <a:tc>
                  <a:txBody>
                    <a:bodyPr/>
                    <a:lstStyle/>
                    <a:p>
                      <a:pPr algn="ctr"/>
                      <a:r>
                        <a:rPr lang="en-GB" sz="800" b="1" dirty="0">
                          <a:solidFill>
                            <a:schemeClr val="tx1"/>
                          </a:solidFill>
                          <a:latin typeface="NBS Medium" panose="020B0603030303020204"/>
                        </a:rPr>
                        <a:t>Q2</a:t>
                      </a:r>
                    </a:p>
                  </a:txBody>
                  <a:tcPr marL="45714" marR="45714" marT="45726" marB="45726" anchor="ctr">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solidFill>
                      <a:srgbClr val="D9E1F2"/>
                    </a:solidFill>
                  </a:tcPr>
                </a:tc>
                <a:tc>
                  <a:txBody>
                    <a:bodyPr/>
                    <a:lstStyle/>
                    <a:p>
                      <a:pPr algn="ctr"/>
                      <a:r>
                        <a:rPr lang="en-GB" sz="800" b="1" dirty="0">
                          <a:solidFill>
                            <a:schemeClr val="tx1"/>
                          </a:solidFill>
                          <a:latin typeface="NBS Medium" panose="020B0603030303020204"/>
                        </a:rPr>
                        <a:t>Q3</a:t>
                      </a:r>
                    </a:p>
                  </a:txBody>
                  <a:tcPr marL="45714" marR="45714" marT="45726" marB="45726" anchor="ctr">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solidFill>
                      <a:srgbClr val="D9E1F2"/>
                    </a:solidFill>
                  </a:tcPr>
                </a:tc>
                <a:tc>
                  <a:txBody>
                    <a:bodyPr/>
                    <a:lstStyle/>
                    <a:p>
                      <a:pPr algn="ctr"/>
                      <a:r>
                        <a:rPr lang="en-GB" sz="800" b="1" dirty="0">
                          <a:solidFill>
                            <a:schemeClr val="tx1"/>
                          </a:solidFill>
                          <a:latin typeface="NBS Medium" panose="020B0603030303020204"/>
                        </a:rPr>
                        <a:t>Q4</a:t>
                      </a:r>
                    </a:p>
                  </a:txBody>
                  <a:tcPr marL="45714" marR="45714" marT="45726" marB="45726" anchor="ctr">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solidFill>
                      <a:srgbClr val="D9E1F2"/>
                    </a:solidFill>
                  </a:tcPr>
                </a:tc>
                <a:extLst>
                  <a:ext uri="{0D108BD9-81ED-4DB2-BD59-A6C34878D82A}">
                    <a16:rowId xmlns:a16="http://schemas.microsoft.com/office/drawing/2014/main" val="10001"/>
                  </a:ext>
                </a:extLst>
              </a:tr>
              <a:tr h="2126271">
                <a:tc>
                  <a:txBody>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lang="en-GB" sz="1100" b="1" i="0" u="none" strike="noStrike" dirty="0">
                          <a:solidFill>
                            <a:srgbClr val="000000"/>
                          </a:solidFill>
                          <a:effectLst/>
                          <a:latin typeface="Calibri" panose="020F0502020204030204" pitchFamily="34" charset="0"/>
                          <a:cs typeface="Calibri" panose="020F0502020204030204" pitchFamily="34" charset="0"/>
                        </a:rPr>
                        <a:t>Rule Implementation</a:t>
                      </a:r>
                    </a:p>
                  </a:txBody>
                  <a:tcPr marL="45714" marR="45714" marT="45726" marB="45726" anchor="ctr">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rowSpan="4" gridSpan="16">
                  <a:txBody>
                    <a:bodyPr/>
                    <a:lstStyle/>
                    <a:p>
                      <a:r>
                        <a:rPr lang="en-GB" sz="800" dirty="0">
                          <a:solidFill>
                            <a:schemeClr val="accent6"/>
                          </a:solidFill>
                          <a:latin typeface="NBS Medium" panose="020B0603030303020204"/>
                        </a:rPr>
                        <a:t>`</a:t>
                      </a:r>
                    </a:p>
                  </a:txBody>
                  <a:tcPr marL="45714" marR="45714" marT="45726" marB="45726">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noFill/>
                  </a:tcPr>
                </a:tc>
                <a:tc rowSpan="4" hMerge="1">
                  <a:txBody>
                    <a:bodyPr/>
                    <a:lstStyle/>
                    <a:p>
                      <a:endParaRPr lang="en-GB" sz="800" dirty="0">
                        <a:solidFill>
                          <a:schemeClr val="accent6"/>
                        </a:solidFill>
                        <a:latin typeface="NBS Medium" panose="020B0603030303020204"/>
                      </a:endParaRPr>
                    </a:p>
                  </a:txBody>
                  <a:tcPr marL="45720" marR="45720">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noFill/>
                  </a:tcPr>
                </a:tc>
                <a:tc rowSpan="4" hMerge="1">
                  <a:txBody>
                    <a:bodyPr/>
                    <a:lstStyle/>
                    <a:p>
                      <a:endParaRPr lang="en-GB" sz="800" dirty="0">
                        <a:solidFill>
                          <a:schemeClr val="accent6"/>
                        </a:solidFill>
                        <a:latin typeface="NBS Medium" panose="020B0603030303020204"/>
                      </a:endParaRPr>
                    </a:p>
                  </a:txBody>
                  <a:tcPr marL="45720" marR="45720">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noFill/>
                  </a:tcPr>
                </a:tc>
                <a:tc rowSpan="4" hMerge="1">
                  <a:txBody>
                    <a:bodyPr/>
                    <a:lstStyle/>
                    <a:p>
                      <a:endParaRPr lang="en-GB" sz="800" dirty="0">
                        <a:solidFill>
                          <a:schemeClr val="accent6"/>
                        </a:solidFill>
                        <a:latin typeface="NBS Medium" panose="020B0603030303020204"/>
                      </a:endParaRPr>
                    </a:p>
                  </a:txBody>
                  <a:tcPr marL="45720" marR="45720">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noFill/>
                  </a:tcPr>
                </a:tc>
                <a:tc rowSpan="4" hMerge="1">
                  <a:txBody>
                    <a:bodyPr/>
                    <a:lstStyle/>
                    <a:p>
                      <a:endParaRPr lang="en-GB" sz="800" dirty="0">
                        <a:solidFill>
                          <a:schemeClr val="accent6"/>
                        </a:solidFill>
                        <a:latin typeface="NBS Medium" panose="020B0603030303020204"/>
                      </a:endParaRPr>
                    </a:p>
                  </a:txBody>
                  <a:tcPr marL="45720" marR="45720">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noFill/>
                  </a:tcPr>
                </a:tc>
                <a:tc rowSpan="4" hMerge="1">
                  <a:txBody>
                    <a:bodyPr/>
                    <a:lstStyle/>
                    <a:p>
                      <a:endParaRPr lang="en-GB" sz="800" dirty="0">
                        <a:solidFill>
                          <a:schemeClr val="accent6"/>
                        </a:solidFill>
                        <a:latin typeface="NBS Medium" panose="020B0603030303020204"/>
                      </a:endParaRPr>
                    </a:p>
                  </a:txBody>
                  <a:tcPr marL="45720" marR="45720">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noFill/>
                  </a:tcPr>
                </a:tc>
                <a:tc rowSpan="4" hMerge="1">
                  <a:txBody>
                    <a:bodyPr/>
                    <a:lstStyle/>
                    <a:p>
                      <a:endParaRPr lang="en-GB" sz="800" dirty="0">
                        <a:solidFill>
                          <a:schemeClr val="accent6"/>
                        </a:solidFill>
                        <a:latin typeface="NBS Medium" panose="020B0603030303020204"/>
                      </a:endParaRPr>
                    </a:p>
                  </a:txBody>
                  <a:tcPr marL="45720" marR="45720">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noFill/>
                  </a:tcPr>
                </a:tc>
                <a:tc rowSpan="4" hMerge="1">
                  <a:txBody>
                    <a:bodyPr/>
                    <a:lstStyle/>
                    <a:p>
                      <a:endParaRPr lang="en-GB" sz="800" dirty="0">
                        <a:solidFill>
                          <a:schemeClr val="accent6"/>
                        </a:solidFill>
                        <a:latin typeface="NBS Medium" panose="020B0603030303020204"/>
                      </a:endParaRPr>
                    </a:p>
                  </a:txBody>
                  <a:tcPr marL="45720" marR="45720">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noFill/>
                  </a:tcPr>
                </a:tc>
                <a:tc rowSpan="4" hMerge="1">
                  <a:txBody>
                    <a:bodyPr/>
                    <a:lstStyle/>
                    <a:p>
                      <a:endParaRPr lang="en-GB" sz="800" dirty="0">
                        <a:solidFill>
                          <a:schemeClr val="accent6"/>
                        </a:solidFill>
                        <a:latin typeface="NBS Medium" panose="020B0603030303020204"/>
                      </a:endParaRPr>
                    </a:p>
                  </a:txBody>
                  <a:tcPr marL="45720" marR="45720">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noFill/>
                  </a:tcPr>
                </a:tc>
                <a:tc rowSpan="4" hMerge="1">
                  <a:txBody>
                    <a:bodyPr/>
                    <a:lstStyle/>
                    <a:p>
                      <a:endParaRPr lang="en-GB" sz="800" dirty="0">
                        <a:solidFill>
                          <a:schemeClr val="accent6"/>
                        </a:solidFill>
                        <a:latin typeface="NBS Medium" panose="020B0603030303020204"/>
                      </a:endParaRPr>
                    </a:p>
                  </a:txBody>
                  <a:tcPr marL="45720" marR="45720">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noFill/>
                  </a:tcPr>
                </a:tc>
                <a:tc rowSpan="4" hMerge="1">
                  <a:txBody>
                    <a:bodyPr/>
                    <a:lstStyle/>
                    <a:p>
                      <a:endParaRPr lang="en-GB" sz="800" dirty="0">
                        <a:solidFill>
                          <a:schemeClr val="accent6"/>
                        </a:solidFill>
                        <a:latin typeface="NBS Medium" panose="020B0603030303020204"/>
                      </a:endParaRPr>
                    </a:p>
                  </a:txBody>
                  <a:tcPr marL="45720" marR="45720">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noFill/>
                  </a:tcPr>
                </a:tc>
                <a:tc rowSpan="4" hMerge="1">
                  <a:txBody>
                    <a:bodyPr/>
                    <a:lstStyle/>
                    <a:p>
                      <a:endParaRPr lang="en-GB" sz="800" dirty="0">
                        <a:solidFill>
                          <a:schemeClr val="accent6"/>
                        </a:solidFill>
                        <a:latin typeface="NBS Medium" panose="020B0603030303020204"/>
                      </a:endParaRPr>
                    </a:p>
                  </a:txBody>
                  <a:tcPr marL="45720" marR="45720">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noFill/>
                  </a:tcPr>
                </a:tc>
                <a:tc rowSpan="4" hMerge="1">
                  <a:txBody>
                    <a:bodyPr/>
                    <a:lstStyle/>
                    <a:p>
                      <a:endParaRPr lang="en-GB" sz="800" dirty="0">
                        <a:solidFill>
                          <a:schemeClr val="accent6"/>
                        </a:solidFill>
                        <a:latin typeface="NBS Medium" panose="020B0603030303020204"/>
                      </a:endParaRPr>
                    </a:p>
                  </a:txBody>
                  <a:tcPr marL="45720" marR="45720">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noFill/>
                  </a:tcPr>
                </a:tc>
                <a:tc rowSpan="4" hMerge="1">
                  <a:txBody>
                    <a:bodyPr/>
                    <a:lstStyle/>
                    <a:p>
                      <a:endParaRPr lang="en-GB"/>
                    </a:p>
                  </a:txBody>
                  <a:tcPr/>
                </a:tc>
                <a:tc rowSpan="4" hMerge="1">
                  <a:txBody>
                    <a:bodyPr/>
                    <a:lstStyle/>
                    <a:p>
                      <a:endParaRPr lang="en-GB"/>
                    </a:p>
                  </a:txBody>
                  <a:tcPr/>
                </a:tc>
                <a:tc rowSpan="4" hMerge="1">
                  <a:txBody>
                    <a:bodyPr/>
                    <a:lstStyle/>
                    <a:p>
                      <a:endParaRPr lang="en-GB"/>
                    </a:p>
                  </a:txBody>
                  <a:tcPr/>
                </a:tc>
                <a:extLst>
                  <a:ext uri="{0D108BD9-81ED-4DB2-BD59-A6C34878D82A}">
                    <a16:rowId xmlns:a16="http://schemas.microsoft.com/office/drawing/2014/main" val="10002"/>
                  </a:ext>
                </a:extLst>
              </a:tr>
              <a:tr h="12575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b="1" i="0" u="none" strike="noStrike" dirty="0">
                          <a:solidFill>
                            <a:srgbClr val="000000"/>
                          </a:solidFill>
                          <a:effectLst/>
                          <a:latin typeface="Calibri" panose="020F0502020204030204" pitchFamily="34" charset="0"/>
                          <a:cs typeface="Calibri" panose="020F0502020204030204" pitchFamily="34" charset="0"/>
                        </a:rPr>
                        <a:t>In Flight Activities:   ON TRACK</a:t>
                      </a:r>
                    </a:p>
                    <a:p>
                      <a:pPr algn="ctr"/>
                      <a:endParaRPr lang="en-GB" sz="1100" dirty="0"/>
                    </a:p>
                  </a:txBody>
                  <a:tcPr marL="45714" marR="45714" marT="45726" marB="45726" anchor="ctr">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gridSpan="16" vMerge="1">
                  <a:txBody>
                    <a:bodyPr/>
                    <a:lstStyle/>
                    <a:p>
                      <a:endParaRPr lang="en-GB" sz="800" dirty="0">
                        <a:solidFill>
                          <a:schemeClr val="accent6"/>
                        </a:solidFill>
                        <a:latin typeface="NBS Medium" panose="020B0603030303020204"/>
                      </a:endParaRPr>
                    </a:p>
                  </a:txBody>
                  <a:tcPr marL="45716" marR="45716" marT="45729" marB="45729">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lang="en-GB"/>
                    </a:p>
                  </a:txBody>
                  <a:tcPr/>
                </a:tc>
                <a:tc hMerge="1" vMerge="1">
                  <a:txBody>
                    <a:bodyPr/>
                    <a:lstStyle/>
                    <a:p>
                      <a:endParaRPr lang="en-GB"/>
                    </a:p>
                  </a:txBody>
                  <a:tcPr/>
                </a:tc>
                <a:tc hMerge="1" vMerge="1">
                  <a:txBody>
                    <a:bodyPr/>
                    <a:lstStyle/>
                    <a:p>
                      <a:endParaRPr lang="en-GB"/>
                    </a:p>
                  </a:txBody>
                  <a:tcPr/>
                </a:tc>
                <a:tc hMerge="1" vMerge="1">
                  <a:txBody>
                    <a:bodyPr/>
                    <a:lstStyle/>
                    <a:p>
                      <a:endParaRPr lang="en-GB" sz="800" dirty="0">
                        <a:solidFill>
                          <a:schemeClr val="accent6"/>
                        </a:solidFill>
                        <a:latin typeface="NBS Medium" panose="020B0603030303020204"/>
                      </a:endParaRPr>
                    </a:p>
                  </a:txBody>
                  <a:tcPr marL="45720" marR="45720">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lang="en-GB"/>
                    </a:p>
                  </a:txBody>
                  <a:tcPr/>
                </a:tc>
                <a:tc hMerge="1" vMerge="1">
                  <a:txBody>
                    <a:bodyPr/>
                    <a:lstStyle/>
                    <a:p>
                      <a:endParaRPr lang="en-GB"/>
                    </a:p>
                  </a:txBody>
                  <a:tcPr/>
                </a:tc>
                <a:tc hMerge="1" vMerge="1">
                  <a:txBody>
                    <a:bodyPr/>
                    <a:lstStyle/>
                    <a:p>
                      <a:endParaRPr lang="en-GB"/>
                    </a:p>
                  </a:txBody>
                  <a:tcPr/>
                </a:tc>
                <a:tc hMerge="1" vMerge="1">
                  <a:txBody>
                    <a:bodyPr/>
                    <a:lstStyle/>
                    <a:p>
                      <a:endParaRPr lang="en-GB" sz="800" dirty="0">
                        <a:solidFill>
                          <a:schemeClr val="accent6"/>
                        </a:solidFill>
                        <a:latin typeface="NBS Medium" panose="020B0603030303020204"/>
                      </a:endParaRPr>
                    </a:p>
                  </a:txBody>
                  <a:tcPr marL="45720" marR="45720">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lang="en-GB"/>
                    </a:p>
                  </a:txBody>
                  <a:tcPr/>
                </a:tc>
                <a:tc hMerge="1" vMerge="1">
                  <a:txBody>
                    <a:bodyPr/>
                    <a:lstStyle/>
                    <a:p>
                      <a:endParaRPr lang="en-GB"/>
                    </a:p>
                  </a:txBody>
                  <a:tcPr/>
                </a:tc>
                <a:tc hMerge="1" vMerge="1">
                  <a:txBody>
                    <a:bodyPr/>
                    <a:lstStyle/>
                    <a:p>
                      <a:endParaRPr lang="en-GB"/>
                    </a:p>
                  </a:txBody>
                  <a:tcPr/>
                </a:tc>
                <a:tc hMerge="1" vMerge="1">
                  <a:txBody>
                    <a:bodyPr/>
                    <a:lstStyle/>
                    <a:p>
                      <a:endParaRPr lang="en-GB" sz="800" dirty="0">
                        <a:solidFill>
                          <a:schemeClr val="accent6"/>
                        </a:solidFill>
                        <a:latin typeface="NBS Medium" panose="020B0603030303020204"/>
                      </a:endParaRPr>
                    </a:p>
                  </a:txBody>
                  <a:tcPr marL="45720" marR="45720">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lang="en-GB"/>
                    </a:p>
                  </a:txBody>
                  <a:tcPr/>
                </a:tc>
                <a:tc hMerge="1" vMerge="1">
                  <a:txBody>
                    <a:bodyPr/>
                    <a:lstStyle/>
                    <a:p>
                      <a:endParaRPr lang="en-GB"/>
                    </a:p>
                  </a:txBody>
                  <a:tcPr/>
                </a:tc>
                <a:tc hMerge="1" vMerge="1">
                  <a:txBody>
                    <a:bodyPr/>
                    <a:lstStyle/>
                    <a:p>
                      <a:endParaRPr lang="en-GB"/>
                    </a:p>
                  </a:txBody>
                  <a:tcPr/>
                </a:tc>
                <a:extLst>
                  <a:ext uri="{0D108BD9-81ED-4DB2-BD59-A6C34878D82A}">
                    <a16:rowId xmlns:a16="http://schemas.microsoft.com/office/drawing/2014/main" val="10003"/>
                  </a:ext>
                </a:extLst>
              </a:tr>
              <a:tr h="875018">
                <a:tc>
                  <a:txBody>
                    <a:bodyPr/>
                    <a:lstStyle/>
                    <a:p>
                      <a:pPr algn="ctr"/>
                      <a:r>
                        <a:rPr lang="en-GB" sz="1100" b="1" i="0" u="none" strike="noStrike" dirty="0">
                          <a:solidFill>
                            <a:srgbClr val="000000"/>
                          </a:solidFill>
                          <a:effectLst/>
                          <a:latin typeface="Calibri" panose="020F0502020204030204" pitchFamily="34" charset="0"/>
                          <a:cs typeface="Calibri" panose="020F0502020204030204" pitchFamily="34" charset="0"/>
                        </a:rPr>
                        <a:t>In Flight Activities: OFF TRACK  </a:t>
                      </a:r>
                      <a:endParaRPr lang="en-GB" sz="1800" dirty="0"/>
                    </a:p>
                  </a:txBody>
                  <a:tcPr marL="45714" marR="45714" marT="45726" marB="45726" anchor="ctr">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gridSpan="16" vMerge="1">
                  <a:txBody>
                    <a:bodyPr/>
                    <a:lstStyle/>
                    <a:p>
                      <a:endParaRPr lang="en-GB" sz="800" dirty="0">
                        <a:solidFill>
                          <a:schemeClr val="accent6"/>
                        </a:solidFill>
                        <a:latin typeface="NBS Medium" panose="020B0603030303020204"/>
                      </a:endParaRPr>
                    </a:p>
                  </a:txBody>
                  <a:tcPr marL="45716" marR="45716" marT="45729" marB="45729">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lang="en-GB"/>
                    </a:p>
                  </a:txBody>
                  <a:tcPr/>
                </a:tc>
                <a:tc hMerge="1" vMerge="1">
                  <a:txBody>
                    <a:bodyPr/>
                    <a:lstStyle/>
                    <a:p>
                      <a:endParaRPr lang="en-GB"/>
                    </a:p>
                  </a:txBody>
                  <a:tcPr/>
                </a:tc>
                <a:tc hMerge="1" vMerge="1">
                  <a:txBody>
                    <a:bodyPr/>
                    <a:lstStyle/>
                    <a:p>
                      <a:endParaRPr lang="en-GB"/>
                    </a:p>
                  </a:txBody>
                  <a:tcPr/>
                </a:tc>
                <a:tc hMerge="1" vMerge="1">
                  <a:txBody>
                    <a:bodyPr/>
                    <a:lstStyle/>
                    <a:p>
                      <a:endParaRPr lang="en-GB"/>
                    </a:p>
                  </a:txBody>
                  <a:tcPr/>
                </a:tc>
                <a:tc hMerge="1" vMerge="1">
                  <a:txBody>
                    <a:bodyPr/>
                    <a:lstStyle/>
                    <a:p>
                      <a:endParaRPr lang="en-GB"/>
                    </a:p>
                  </a:txBody>
                  <a:tcPr/>
                </a:tc>
                <a:tc hMerge="1" vMerge="1">
                  <a:txBody>
                    <a:bodyPr/>
                    <a:lstStyle/>
                    <a:p>
                      <a:endParaRPr lang="en-GB"/>
                    </a:p>
                  </a:txBody>
                  <a:tcPr/>
                </a:tc>
                <a:tc hMerge="1" vMerge="1">
                  <a:txBody>
                    <a:bodyPr/>
                    <a:lstStyle/>
                    <a:p>
                      <a:endParaRPr lang="en-GB"/>
                    </a:p>
                  </a:txBody>
                  <a:tcPr/>
                </a:tc>
                <a:tc hMerge="1" vMerge="1">
                  <a:txBody>
                    <a:bodyPr/>
                    <a:lstStyle/>
                    <a:p>
                      <a:endParaRPr lang="en-GB"/>
                    </a:p>
                  </a:txBody>
                  <a:tcPr/>
                </a:tc>
                <a:tc hMerge="1" vMerge="1">
                  <a:txBody>
                    <a:bodyPr/>
                    <a:lstStyle/>
                    <a:p>
                      <a:endParaRPr lang="en-GB"/>
                    </a:p>
                  </a:txBody>
                  <a:tcPr/>
                </a:tc>
                <a:tc hMerge="1" vMerge="1">
                  <a:txBody>
                    <a:bodyPr/>
                    <a:lstStyle/>
                    <a:p>
                      <a:endParaRPr lang="en-GB"/>
                    </a:p>
                  </a:txBody>
                  <a:tcPr/>
                </a:tc>
                <a:tc hMerge="1" vMerge="1">
                  <a:txBody>
                    <a:bodyPr/>
                    <a:lstStyle/>
                    <a:p>
                      <a:endParaRPr lang="en-GB"/>
                    </a:p>
                  </a:txBody>
                  <a:tcPr/>
                </a:tc>
                <a:tc hMerge="1" vMerge="1">
                  <a:txBody>
                    <a:bodyPr/>
                    <a:lstStyle/>
                    <a:p>
                      <a:endParaRPr lang="en-GB"/>
                    </a:p>
                  </a:txBody>
                  <a:tcPr/>
                </a:tc>
                <a:tc hMerge="1" vMerge="1">
                  <a:txBody>
                    <a:bodyPr/>
                    <a:lstStyle/>
                    <a:p>
                      <a:endParaRPr lang="en-GB"/>
                    </a:p>
                  </a:txBody>
                  <a:tcPr/>
                </a:tc>
                <a:tc hMerge="1" vMerge="1">
                  <a:txBody>
                    <a:bodyPr/>
                    <a:lstStyle/>
                    <a:p>
                      <a:endParaRPr lang="en-GB"/>
                    </a:p>
                  </a:txBody>
                  <a:tcPr/>
                </a:tc>
                <a:tc hMerge="1" vMerge="1">
                  <a:txBody>
                    <a:bodyPr/>
                    <a:lstStyle/>
                    <a:p>
                      <a:endParaRPr lang="en-GB"/>
                    </a:p>
                  </a:txBody>
                  <a:tcPr/>
                </a:tc>
                <a:extLst>
                  <a:ext uri="{0D108BD9-81ED-4DB2-BD59-A6C34878D82A}">
                    <a16:rowId xmlns:a16="http://schemas.microsoft.com/office/drawing/2014/main" val="10004"/>
                  </a:ext>
                </a:extLst>
              </a:tr>
              <a:tr h="1088072">
                <a:tc>
                  <a:txBody>
                    <a:bodyPr/>
                    <a:lstStyle/>
                    <a:p>
                      <a:pPr algn="ctr"/>
                      <a:r>
                        <a:rPr lang="en-GB" sz="1100" b="1" i="0" u="none" strike="noStrike" dirty="0">
                          <a:solidFill>
                            <a:srgbClr val="000000"/>
                          </a:solidFill>
                          <a:effectLst/>
                          <a:latin typeface="Calibri" panose="020F0502020204030204" pitchFamily="34" charset="0"/>
                          <a:cs typeface="Calibri" panose="020F0502020204030204" pitchFamily="34" charset="0"/>
                        </a:rPr>
                        <a:t>Activities to be commenced</a:t>
                      </a:r>
                      <a:endParaRPr lang="en-GB" sz="1800" dirty="0"/>
                    </a:p>
                  </a:txBody>
                  <a:tcPr marL="45714" marR="45714" marT="45726" marB="45726" anchor="ctr">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gridSpan="16" vMerge="1">
                  <a:txBody>
                    <a:bodyPr/>
                    <a:lstStyle/>
                    <a:p>
                      <a:endParaRPr lang="en-GB" sz="800" dirty="0">
                        <a:solidFill>
                          <a:schemeClr val="accent6"/>
                        </a:solidFill>
                        <a:latin typeface="NBS Medium" panose="020B0603030303020204"/>
                      </a:endParaRPr>
                    </a:p>
                  </a:txBody>
                  <a:tcPr marL="45716" marR="45716" marT="45729" marB="45729">
                    <a:lnL w="6350" cap="flat" cmpd="sng" algn="ctr">
                      <a:solidFill>
                        <a:srgbClr val="004A8F"/>
                      </a:solidFill>
                      <a:prstDash val="solid"/>
                      <a:round/>
                      <a:headEnd type="none" w="med" len="med"/>
                      <a:tailEnd type="none" w="med" len="med"/>
                    </a:lnL>
                    <a:lnR w="6350" cap="flat" cmpd="sng" algn="ctr">
                      <a:solidFill>
                        <a:srgbClr val="004A8F"/>
                      </a:solidFill>
                      <a:prstDash val="solid"/>
                      <a:round/>
                      <a:headEnd type="none" w="med" len="med"/>
                      <a:tailEnd type="none" w="med" len="med"/>
                    </a:lnR>
                    <a:lnT w="6350" cap="flat" cmpd="sng" algn="ctr">
                      <a:solidFill>
                        <a:srgbClr val="004A8F"/>
                      </a:solidFill>
                      <a:prstDash val="solid"/>
                      <a:round/>
                      <a:headEnd type="none" w="med" len="med"/>
                      <a:tailEnd type="none" w="med" len="med"/>
                    </a:lnT>
                    <a:lnB w="6350" cap="flat" cmpd="sng" algn="ctr">
                      <a:solidFill>
                        <a:srgbClr val="004A8F"/>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lang="en-GB"/>
                    </a:p>
                  </a:txBody>
                  <a:tcPr/>
                </a:tc>
                <a:tc hMerge="1" vMerge="1">
                  <a:txBody>
                    <a:bodyPr/>
                    <a:lstStyle/>
                    <a:p>
                      <a:endParaRPr lang="en-GB"/>
                    </a:p>
                  </a:txBody>
                  <a:tcPr/>
                </a:tc>
                <a:tc hMerge="1" vMerge="1">
                  <a:txBody>
                    <a:bodyPr/>
                    <a:lstStyle/>
                    <a:p>
                      <a:endParaRPr lang="en-GB"/>
                    </a:p>
                  </a:txBody>
                  <a:tcPr/>
                </a:tc>
                <a:tc hMerge="1" vMerge="1">
                  <a:txBody>
                    <a:bodyPr/>
                    <a:lstStyle/>
                    <a:p>
                      <a:endParaRPr lang="en-GB"/>
                    </a:p>
                  </a:txBody>
                  <a:tcPr/>
                </a:tc>
                <a:tc hMerge="1" vMerge="1">
                  <a:txBody>
                    <a:bodyPr/>
                    <a:lstStyle/>
                    <a:p>
                      <a:endParaRPr lang="en-GB"/>
                    </a:p>
                  </a:txBody>
                  <a:tcPr/>
                </a:tc>
                <a:tc hMerge="1" vMerge="1">
                  <a:txBody>
                    <a:bodyPr/>
                    <a:lstStyle/>
                    <a:p>
                      <a:endParaRPr lang="en-GB"/>
                    </a:p>
                  </a:txBody>
                  <a:tcPr/>
                </a:tc>
                <a:tc hMerge="1" vMerge="1">
                  <a:txBody>
                    <a:bodyPr/>
                    <a:lstStyle/>
                    <a:p>
                      <a:endParaRPr lang="en-GB"/>
                    </a:p>
                  </a:txBody>
                  <a:tcPr/>
                </a:tc>
                <a:tc hMerge="1" vMerge="1">
                  <a:txBody>
                    <a:bodyPr/>
                    <a:lstStyle/>
                    <a:p>
                      <a:endParaRPr lang="en-GB"/>
                    </a:p>
                  </a:txBody>
                  <a:tcPr/>
                </a:tc>
                <a:tc hMerge="1" vMerge="1">
                  <a:txBody>
                    <a:bodyPr/>
                    <a:lstStyle/>
                    <a:p>
                      <a:endParaRPr lang="en-GB"/>
                    </a:p>
                  </a:txBody>
                  <a:tcPr/>
                </a:tc>
                <a:tc hMerge="1" vMerge="1">
                  <a:txBody>
                    <a:bodyPr/>
                    <a:lstStyle/>
                    <a:p>
                      <a:endParaRPr lang="en-GB"/>
                    </a:p>
                  </a:txBody>
                  <a:tcPr/>
                </a:tc>
                <a:tc hMerge="1" vMerge="1">
                  <a:txBody>
                    <a:bodyPr/>
                    <a:lstStyle/>
                    <a:p>
                      <a:endParaRPr lang="en-GB"/>
                    </a:p>
                  </a:txBody>
                  <a:tcPr/>
                </a:tc>
                <a:tc hMerge="1" vMerge="1">
                  <a:txBody>
                    <a:bodyPr/>
                    <a:lstStyle/>
                    <a:p>
                      <a:endParaRPr lang="en-GB"/>
                    </a:p>
                  </a:txBody>
                  <a:tcPr/>
                </a:tc>
                <a:tc hMerge="1" vMerge="1">
                  <a:txBody>
                    <a:bodyPr/>
                    <a:lstStyle/>
                    <a:p>
                      <a:endParaRPr lang="en-GB"/>
                    </a:p>
                  </a:txBody>
                  <a:tcPr/>
                </a:tc>
                <a:tc hMerge="1" vMerge="1">
                  <a:txBody>
                    <a:bodyPr/>
                    <a:lstStyle/>
                    <a:p>
                      <a:endParaRPr lang="en-GB"/>
                    </a:p>
                  </a:txBody>
                  <a:tcPr/>
                </a:tc>
                <a:tc hMerge="1" vMerge="1">
                  <a:txBody>
                    <a:bodyPr/>
                    <a:lstStyle/>
                    <a:p>
                      <a:endParaRPr lang="en-GB"/>
                    </a:p>
                  </a:txBody>
                  <a:tcPr/>
                </a:tc>
                <a:extLst>
                  <a:ext uri="{0D108BD9-81ED-4DB2-BD59-A6C34878D82A}">
                    <a16:rowId xmlns:a16="http://schemas.microsoft.com/office/drawing/2014/main" val="10005"/>
                  </a:ext>
                </a:extLst>
              </a:tr>
            </a:tbl>
          </a:graphicData>
        </a:graphic>
      </p:graphicFrame>
      <p:sp>
        <p:nvSpPr>
          <p:cNvPr id="7230" name="Rectangle 2">
            <a:extLst>
              <a:ext uri="{FF2B5EF4-FFF2-40B4-BE49-F238E27FC236}">
                <a16:creationId xmlns:a16="http://schemas.microsoft.com/office/drawing/2014/main" id="{8859F25B-AB4C-431F-B366-37BF2CB7771E}"/>
              </a:ext>
            </a:extLst>
          </p:cNvPr>
          <p:cNvSpPr>
            <a:spLocks noChangeArrowheads="1"/>
          </p:cNvSpPr>
          <p:nvPr/>
        </p:nvSpPr>
        <p:spPr bwMode="auto">
          <a:xfrm>
            <a:off x="1552575" y="-666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GB" altLang="en-US" sz="1800" b="0" i="0" u="none" strike="noStrike" kern="1200" cap="none" spc="0" normalizeH="0" baseline="0" noProof="0">
              <a:ln>
                <a:noFill/>
              </a:ln>
              <a:solidFill>
                <a:srgbClr val="000000"/>
              </a:solidFill>
              <a:effectLst/>
              <a:uLnTx/>
              <a:uFillTx/>
              <a:latin typeface="Verdana" panose="020B0604030504040204" pitchFamily="34" charset="0"/>
              <a:ea typeface="+mn-ea"/>
              <a:cs typeface="+mn-cs"/>
            </a:endParaRPr>
          </a:p>
        </p:txBody>
      </p:sp>
      <p:sp>
        <p:nvSpPr>
          <p:cNvPr id="7231" name="TextBox 91">
            <a:extLst>
              <a:ext uri="{FF2B5EF4-FFF2-40B4-BE49-F238E27FC236}">
                <a16:creationId xmlns:a16="http://schemas.microsoft.com/office/drawing/2014/main" id="{F6FABA38-2EA6-47A6-9CEE-A5384613F4E1}"/>
              </a:ext>
            </a:extLst>
          </p:cNvPr>
          <p:cNvSpPr txBox="1">
            <a:spLocks noChangeArrowheads="1"/>
          </p:cNvSpPr>
          <p:nvPr/>
        </p:nvSpPr>
        <p:spPr bwMode="auto">
          <a:xfrm>
            <a:off x="4017963" y="1584325"/>
            <a:ext cx="1770062"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mn-cs"/>
              </a:rPr>
              <a:t>Phase Three</a:t>
            </a:r>
            <a:r>
              <a:rPr kumimoji="0" lang="en-GB" altLang="en-US" sz="8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 6 Rules </a:t>
            </a:r>
          </a:p>
        </p:txBody>
      </p:sp>
      <p:sp>
        <p:nvSpPr>
          <p:cNvPr id="7232" name="TextBox 92">
            <a:extLst>
              <a:ext uri="{FF2B5EF4-FFF2-40B4-BE49-F238E27FC236}">
                <a16:creationId xmlns:a16="http://schemas.microsoft.com/office/drawing/2014/main" id="{B5FB63FD-E4AC-4FEF-A7A9-575A98E2C469}"/>
              </a:ext>
            </a:extLst>
          </p:cNvPr>
          <p:cNvSpPr txBox="1">
            <a:spLocks noChangeArrowheads="1"/>
          </p:cNvSpPr>
          <p:nvPr/>
        </p:nvSpPr>
        <p:spPr bwMode="auto">
          <a:xfrm>
            <a:off x="4017963" y="1854200"/>
            <a:ext cx="177006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mn-cs"/>
              </a:rPr>
              <a:t>Phase Four</a:t>
            </a:r>
            <a:r>
              <a:rPr kumimoji="0" lang="en-GB" altLang="en-US" sz="8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 7 Rules </a:t>
            </a:r>
          </a:p>
        </p:txBody>
      </p:sp>
      <p:sp>
        <p:nvSpPr>
          <p:cNvPr id="7233" name="TextBox 94">
            <a:extLst>
              <a:ext uri="{FF2B5EF4-FFF2-40B4-BE49-F238E27FC236}">
                <a16:creationId xmlns:a16="http://schemas.microsoft.com/office/drawing/2014/main" id="{9B7A48DD-9D6B-4325-8686-624FA0EED652}"/>
              </a:ext>
            </a:extLst>
          </p:cNvPr>
          <p:cNvSpPr txBox="1">
            <a:spLocks noChangeArrowheads="1"/>
          </p:cNvSpPr>
          <p:nvPr/>
        </p:nvSpPr>
        <p:spPr bwMode="auto">
          <a:xfrm>
            <a:off x="4025900" y="2378075"/>
            <a:ext cx="177006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mn-cs"/>
              </a:rPr>
              <a:t>Phase Six</a:t>
            </a:r>
            <a:r>
              <a:rPr kumimoji="0" lang="en-GB" altLang="en-US" sz="8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 6 Rules </a:t>
            </a:r>
          </a:p>
        </p:txBody>
      </p:sp>
      <p:sp>
        <p:nvSpPr>
          <p:cNvPr id="7234" name="TextBox 95">
            <a:extLst>
              <a:ext uri="{FF2B5EF4-FFF2-40B4-BE49-F238E27FC236}">
                <a16:creationId xmlns:a16="http://schemas.microsoft.com/office/drawing/2014/main" id="{4542DC00-A3AA-49D7-B752-6802588B0432}"/>
              </a:ext>
            </a:extLst>
          </p:cNvPr>
          <p:cNvSpPr txBox="1">
            <a:spLocks noChangeArrowheads="1"/>
          </p:cNvSpPr>
          <p:nvPr/>
        </p:nvSpPr>
        <p:spPr bwMode="auto">
          <a:xfrm>
            <a:off x="4024313" y="2636838"/>
            <a:ext cx="17716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mn-cs"/>
              </a:rPr>
              <a:t>Phase Seven</a:t>
            </a:r>
            <a:r>
              <a:rPr kumimoji="0" lang="en-GB" altLang="en-US" sz="8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 5 Rules </a:t>
            </a:r>
          </a:p>
        </p:txBody>
      </p:sp>
      <p:sp>
        <p:nvSpPr>
          <p:cNvPr id="7235" name="TextBox 96">
            <a:extLst>
              <a:ext uri="{FF2B5EF4-FFF2-40B4-BE49-F238E27FC236}">
                <a16:creationId xmlns:a16="http://schemas.microsoft.com/office/drawing/2014/main" id="{EC7F626C-F780-4760-94CB-0617DEA76494}"/>
              </a:ext>
            </a:extLst>
          </p:cNvPr>
          <p:cNvSpPr txBox="1">
            <a:spLocks noChangeArrowheads="1"/>
          </p:cNvSpPr>
          <p:nvPr/>
        </p:nvSpPr>
        <p:spPr bwMode="auto">
          <a:xfrm>
            <a:off x="4025900" y="2914650"/>
            <a:ext cx="177006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mn-cs"/>
              </a:rPr>
              <a:t>Phase Eight</a:t>
            </a:r>
            <a:r>
              <a:rPr kumimoji="0" lang="en-GB" altLang="en-US" sz="8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 7 Rules </a:t>
            </a:r>
          </a:p>
        </p:txBody>
      </p:sp>
      <p:sp>
        <p:nvSpPr>
          <p:cNvPr id="99" name="Arrow: Pentagon 98">
            <a:extLst>
              <a:ext uri="{FF2B5EF4-FFF2-40B4-BE49-F238E27FC236}">
                <a16:creationId xmlns:a16="http://schemas.microsoft.com/office/drawing/2014/main" id="{F1F5246D-900F-4483-B22B-F7FAEC18AD98}"/>
              </a:ext>
            </a:extLst>
          </p:cNvPr>
          <p:cNvSpPr/>
          <p:nvPr/>
        </p:nvSpPr>
        <p:spPr>
          <a:xfrm>
            <a:off x="5984875" y="5613400"/>
            <a:ext cx="3444875" cy="233363"/>
          </a:xfrm>
          <a:prstGeom prst="homePlat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6" name="Arrow: Pentagon 105">
            <a:extLst>
              <a:ext uri="{FF2B5EF4-FFF2-40B4-BE49-F238E27FC236}">
                <a16:creationId xmlns:a16="http://schemas.microsoft.com/office/drawing/2014/main" id="{C6DF6691-26D2-4E68-BDE6-E3634BCB9E4C}"/>
              </a:ext>
            </a:extLst>
          </p:cNvPr>
          <p:cNvSpPr/>
          <p:nvPr/>
        </p:nvSpPr>
        <p:spPr>
          <a:xfrm>
            <a:off x="5984875" y="6003925"/>
            <a:ext cx="3444875" cy="233363"/>
          </a:xfrm>
          <a:prstGeom prst="homePlat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7" name="Arrow: Pentagon 106">
            <a:extLst>
              <a:ext uri="{FF2B5EF4-FFF2-40B4-BE49-F238E27FC236}">
                <a16:creationId xmlns:a16="http://schemas.microsoft.com/office/drawing/2014/main" id="{F06CA828-4CC0-4C49-AAED-94669AC32DA0}"/>
              </a:ext>
            </a:extLst>
          </p:cNvPr>
          <p:cNvSpPr/>
          <p:nvPr/>
        </p:nvSpPr>
        <p:spPr>
          <a:xfrm>
            <a:off x="4025900" y="4175125"/>
            <a:ext cx="5395913" cy="234950"/>
          </a:xfrm>
          <a:prstGeom prst="homePlat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8" name="Arrow: Pentagon 107">
            <a:extLst>
              <a:ext uri="{FF2B5EF4-FFF2-40B4-BE49-F238E27FC236}">
                <a16:creationId xmlns:a16="http://schemas.microsoft.com/office/drawing/2014/main" id="{2323E3E4-8CC8-4981-8564-301FB520D816}"/>
              </a:ext>
            </a:extLst>
          </p:cNvPr>
          <p:cNvSpPr/>
          <p:nvPr/>
        </p:nvSpPr>
        <p:spPr>
          <a:xfrm>
            <a:off x="5018088" y="4862513"/>
            <a:ext cx="4411662" cy="234950"/>
          </a:xfrm>
          <a:prstGeom prst="homePlate">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3" name="Arrow: Pentagon 112">
            <a:extLst>
              <a:ext uri="{FF2B5EF4-FFF2-40B4-BE49-F238E27FC236}">
                <a16:creationId xmlns:a16="http://schemas.microsoft.com/office/drawing/2014/main" id="{F086B958-2525-4722-9B03-53A20867990E}"/>
              </a:ext>
            </a:extLst>
          </p:cNvPr>
          <p:cNvSpPr/>
          <p:nvPr/>
        </p:nvSpPr>
        <p:spPr>
          <a:xfrm>
            <a:off x="5548313" y="3875088"/>
            <a:ext cx="957262" cy="233362"/>
          </a:xfrm>
          <a:prstGeom prst="homePlat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7" name="Arrow: Pentagon 136">
            <a:extLst>
              <a:ext uri="{FF2B5EF4-FFF2-40B4-BE49-F238E27FC236}">
                <a16:creationId xmlns:a16="http://schemas.microsoft.com/office/drawing/2014/main" id="{5F3B52DE-9B61-4179-A872-8137EA157992}"/>
              </a:ext>
            </a:extLst>
          </p:cNvPr>
          <p:cNvSpPr/>
          <p:nvPr/>
        </p:nvSpPr>
        <p:spPr>
          <a:xfrm>
            <a:off x="4021138" y="4524375"/>
            <a:ext cx="5407025" cy="233363"/>
          </a:xfrm>
          <a:prstGeom prst="homePlate">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4" name="Arrow: Pentagon 143">
            <a:extLst>
              <a:ext uri="{FF2B5EF4-FFF2-40B4-BE49-F238E27FC236}">
                <a16:creationId xmlns:a16="http://schemas.microsoft.com/office/drawing/2014/main" id="{2DDF9E69-39F8-49D1-A2B6-6D6F6F53C727}"/>
              </a:ext>
            </a:extLst>
          </p:cNvPr>
          <p:cNvSpPr/>
          <p:nvPr/>
        </p:nvSpPr>
        <p:spPr>
          <a:xfrm>
            <a:off x="4025900" y="3203575"/>
            <a:ext cx="5407025" cy="234950"/>
          </a:xfrm>
          <a:prstGeom prst="homePlat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5" name="Arrow: Pentagon 144">
            <a:extLst>
              <a:ext uri="{FF2B5EF4-FFF2-40B4-BE49-F238E27FC236}">
                <a16:creationId xmlns:a16="http://schemas.microsoft.com/office/drawing/2014/main" id="{652D4C49-8F97-4A4B-A64F-2F1C6B4A828E}"/>
              </a:ext>
            </a:extLst>
          </p:cNvPr>
          <p:cNvSpPr/>
          <p:nvPr/>
        </p:nvSpPr>
        <p:spPr>
          <a:xfrm>
            <a:off x="4025900" y="3546475"/>
            <a:ext cx="5407025" cy="233363"/>
          </a:xfrm>
          <a:prstGeom prst="homePlat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244" name="TextBox 145">
            <a:extLst>
              <a:ext uri="{FF2B5EF4-FFF2-40B4-BE49-F238E27FC236}">
                <a16:creationId xmlns:a16="http://schemas.microsoft.com/office/drawing/2014/main" id="{EA396AF5-217E-4597-BC5A-12725E8A715A}"/>
              </a:ext>
            </a:extLst>
          </p:cNvPr>
          <p:cNvSpPr txBox="1">
            <a:spLocks noChangeArrowheads="1"/>
          </p:cNvSpPr>
          <p:nvPr/>
        </p:nvSpPr>
        <p:spPr bwMode="auto">
          <a:xfrm>
            <a:off x="6103938" y="3222625"/>
            <a:ext cx="17684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mn-cs"/>
              </a:rPr>
              <a:t>Rule Development</a:t>
            </a:r>
            <a:endParaRPr kumimoji="0" lang="en-GB" altLang="en-US" sz="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7245" name="TextBox 146">
            <a:extLst>
              <a:ext uri="{FF2B5EF4-FFF2-40B4-BE49-F238E27FC236}">
                <a16:creationId xmlns:a16="http://schemas.microsoft.com/office/drawing/2014/main" id="{CDBBDFFC-D2BE-4C90-BAC6-5ACF431F35F1}"/>
              </a:ext>
            </a:extLst>
          </p:cNvPr>
          <p:cNvSpPr txBox="1">
            <a:spLocks noChangeArrowheads="1"/>
          </p:cNvSpPr>
          <p:nvPr/>
        </p:nvSpPr>
        <p:spPr bwMode="auto">
          <a:xfrm>
            <a:off x="6110288" y="3552825"/>
            <a:ext cx="17684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mn-cs"/>
              </a:rPr>
              <a:t>KYC Data Feeds</a:t>
            </a:r>
            <a:endParaRPr kumimoji="0" lang="en-GB" altLang="en-US" sz="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7246" name="TextBox 148">
            <a:extLst>
              <a:ext uri="{FF2B5EF4-FFF2-40B4-BE49-F238E27FC236}">
                <a16:creationId xmlns:a16="http://schemas.microsoft.com/office/drawing/2014/main" id="{99717144-97BA-48C4-8093-F35BB3C2FB99}"/>
              </a:ext>
            </a:extLst>
          </p:cNvPr>
          <p:cNvSpPr txBox="1">
            <a:spLocks noChangeArrowheads="1"/>
          </p:cNvSpPr>
          <p:nvPr/>
        </p:nvSpPr>
        <p:spPr bwMode="auto">
          <a:xfrm>
            <a:off x="6486525" y="4533900"/>
            <a:ext cx="17684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mn-cs"/>
              </a:rPr>
              <a:t>Data Integrity</a:t>
            </a:r>
            <a:endParaRPr kumimoji="0" lang="en-GB" altLang="en-US" sz="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7247" name="TextBox 149">
            <a:extLst>
              <a:ext uri="{FF2B5EF4-FFF2-40B4-BE49-F238E27FC236}">
                <a16:creationId xmlns:a16="http://schemas.microsoft.com/office/drawing/2014/main" id="{4317739E-BBAD-4395-971B-04F4D8BD1D06}"/>
              </a:ext>
            </a:extLst>
          </p:cNvPr>
          <p:cNvSpPr txBox="1">
            <a:spLocks noChangeArrowheads="1"/>
          </p:cNvSpPr>
          <p:nvPr/>
        </p:nvSpPr>
        <p:spPr bwMode="auto">
          <a:xfrm>
            <a:off x="6477000" y="4881563"/>
            <a:ext cx="17684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mn-cs"/>
              </a:rPr>
              <a:t>TM Risk Appetite</a:t>
            </a:r>
            <a:endParaRPr kumimoji="0" lang="en-GB" altLang="en-US" sz="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151" name="Arrow: Pentagon 150">
            <a:extLst>
              <a:ext uri="{FF2B5EF4-FFF2-40B4-BE49-F238E27FC236}">
                <a16:creationId xmlns:a16="http://schemas.microsoft.com/office/drawing/2014/main" id="{6A55D19A-458E-4B28-A771-BFB718A9C72E}"/>
              </a:ext>
            </a:extLst>
          </p:cNvPr>
          <p:cNvSpPr/>
          <p:nvPr/>
        </p:nvSpPr>
        <p:spPr>
          <a:xfrm>
            <a:off x="5984875" y="5248275"/>
            <a:ext cx="3444875" cy="233363"/>
          </a:xfrm>
          <a:prstGeom prst="homePlat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249" name="TextBox 151">
            <a:extLst>
              <a:ext uri="{FF2B5EF4-FFF2-40B4-BE49-F238E27FC236}">
                <a16:creationId xmlns:a16="http://schemas.microsoft.com/office/drawing/2014/main" id="{4269CBC3-013E-47DA-ACE4-715CDC7E91F6}"/>
              </a:ext>
            </a:extLst>
          </p:cNvPr>
          <p:cNvSpPr txBox="1">
            <a:spLocks noChangeArrowheads="1"/>
          </p:cNvSpPr>
          <p:nvPr/>
        </p:nvSpPr>
        <p:spPr bwMode="auto">
          <a:xfrm>
            <a:off x="5808663" y="3886200"/>
            <a:ext cx="17684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mn-cs"/>
              </a:rPr>
              <a:t>TOM</a:t>
            </a:r>
            <a:endParaRPr kumimoji="0" lang="en-GB" altLang="en-US" sz="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7250" name="TextBox 152">
            <a:extLst>
              <a:ext uri="{FF2B5EF4-FFF2-40B4-BE49-F238E27FC236}">
                <a16:creationId xmlns:a16="http://schemas.microsoft.com/office/drawing/2014/main" id="{29A024BB-7F49-4DC9-8EE5-D37DFEC93B3A}"/>
              </a:ext>
            </a:extLst>
          </p:cNvPr>
          <p:cNvSpPr txBox="1">
            <a:spLocks noChangeArrowheads="1"/>
          </p:cNvSpPr>
          <p:nvPr/>
        </p:nvSpPr>
        <p:spPr bwMode="auto">
          <a:xfrm>
            <a:off x="7421563" y="5280025"/>
            <a:ext cx="177006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mn-cs"/>
              </a:rPr>
              <a:t>TM System Assurance</a:t>
            </a:r>
            <a:endParaRPr kumimoji="0" lang="en-GB" altLang="en-US" sz="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7251" name="TextBox 153">
            <a:extLst>
              <a:ext uri="{FF2B5EF4-FFF2-40B4-BE49-F238E27FC236}">
                <a16:creationId xmlns:a16="http://schemas.microsoft.com/office/drawing/2014/main" id="{87DC3059-0516-4305-A3B6-9FED989A065D}"/>
              </a:ext>
            </a:extLst>
          </p:cNvPr>
          <p:cNvSpPr txBox="1">
            <a:spLocks noChangeArrowheads="1"/>
          </p:cNvSpPr>
          <p:nvPr/>
        </p:nvSpPr>
        <p:spPr bwMode="auto">
          <a:xfrm>
            <a:off x="7421563" y="5621338"/>
            <a:ext cx="177006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mn-cs"/>
              </a:rPr>
              <a:t>TM System Governance</a:t>
            </a:r>
            <a:endParaRPr kumimoji="0" lang="en-GB" altLang="en-US" sz="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7252" name="TextBox 154">
            <a:extLst>
              <a:ext uri="{FF2B5EF4-FFF2-40B4-BE49-F238E27FC236}">
                <a16:creationId xmlns:a16="http://schemas.microsoft.com/office/drawing/2014/main" id="{F03BC442-2347-4E92-BC47-7B929B37B1C2}"/>
              </a:ext>
            </a:extLst>
          </p:cNvPr>
          <p:cNvSpPr txBox="1">
            <a:spLocks noChangeArrowheads="1"/>
          </p:cNvSpPr>
          <p:nvPr/>
        </p:nvSpPr>
        <p:spPr bwMode="auto">
          <a:xfrm>
            <a:off x="7421563" y="6003925"/>
            <a:ext cx="177006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mn-cs"/>
              </a:rPr>
              <a:t>Alert Management</a:t>
            </a:r>
            <a:endParaRPr kumimoji="0" lang="en-GB" altLang="en-US" sz="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7253" name="TextBox 155">
            <a:extLst>
              <a:ext uri="{FF2B5EF4-FFF2-40B4-BE49-F238E27FC236}">
                <a16:creationId xmlns:a16="http://schemas.microsoft.com/office/drawing/2014/main" id="{9AC6ACFD-14D1-448B-B432-AA38A78E616C}"/>
              </a:ext>
            </a:extLst>
          </p:cNvPr>
          <p:cNvSpPr txBox="1">
            <a:spLocks noChangeArrowheads="1"/>
          </p:cNvSpPr>
          <p:nvPr/>
        </p:nvSpPr>
        <p:spPr bwMode="auto">
          <a:xfrm>
            <a:off x="6292850" y="4198938"/>
            <a:ext cx="177006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mn-cs"/>
              </a:rPr>
              <a:t>MI/Ongoing Monitoring</a:t>
            </a:r>
            <a:endParaRPr kumimoji="0" lang="en-GB" altLang="en-US" sz="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2" name="Rectangle: Rounded Corners 1">
            <a:extLst>
              <a:ext uri="{FF2B5EF4-FFF2-40B4-BE49-F238E27FC236}">
                <a16:creationId xmlns:a16="http://schemas.microsoft.com/office/drawing/2014/main" id="{36219FC5-5A56-4A4D-932B-E52D7AD32B91}"/>
              </a:ext>
            </a:extLst>
          </p:cNvPr>
          <p:cNvSpPr/>
          <p:nvPr/>
        </p:nvSpPr>
        <p:spPr>
          <a:xfrm>
            <a:off x="5359400" y="1062038"/>
            <a:ext cx="614363" cy="214312"/>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NBS Medium" panose="020B0603030303020204"/>
                <a:ea typeface="+mn-ea"/>
                <a:cs typeface="+mn-cs"/>
              </a:rPr>
              <a:t>P1</a:t>
            </a:r>
          </a:p>
        </p:txBody>
      </p:sp>
      <p:sp>
        <p:nvSpPr>
          <p:cNvPr id="29" name="Rectangle: Rounded Corners 28">
            <a:extLst>
              <a:ext uri="{FF2B5EF4-FFF2-40B4-BE49-F238E27FC236}">
                <a16:creationId xmlns:a16="http://schemas.microsoft.com/office/drawing/2014/main" id="{AA5FFC65-B070-415C-BA2C-D34A970B39F4}"/>
              </a:ext>
            </a:extLst>
          </p:cNvPr>
          <p:cNvSpPr/>
          <p:nvPr/>
        </p:nvSpPr>
        <p:spPr>
          <a:xfrm>
            <a:off x="5973763" y="1314450"/>
            <a:ext cx="511175" cy="214313"/>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NBS Medium" panose="020B0603030303020204"/>
                <a:ea typeface="+mn-ea"/>
                <a:cs typeface="+mn-cs"/>
              </a:rPr>
              <a:t>P2</a:t>
            </a:r>
          </a:p>
        </p:txBody>
      </p:sp>
      <p:sp>
        <p:nvSpPr>
          <p:cNvPr id="30" name="Rectangle: Rounded Corners 29">
            <a:extLst>
              <a:ext uri="{FF2B5EF4-FFF2-40B4-BE49-F238E27FC236}">
                <a16:creationId xmlns:a16="http://schemas.microsoft.com/office/drawing/2014/main" id="{0E84FF54-8DEF-44C3-AB1D-3874F409D77E}"/>
              </a:ext>
            </a:extLst>
          </p:cNvPr>
          <p:cNvSpPr/>
          <p:nvPr/>
        </p:nvSpPr>
        <p:spPr>
          <a:xfrm>
            <a:off x="6484938" y="1579563"/>
            <a:ext cx="509587" cy="214312"/>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NBS Medium" panose="020B0603030303020204"/>
                <a:ea typeface="+mn-ea"/>
                <a:cs typeface="+mn-cs"/>
              </a:rPr>
              <a:t>P3</a:t>
            </a:r>
          </a:p>
        </p:txBody>
      </p:sp>
      <p:sp>
        <p:nvSpPr>
          <p:cNvPr id="31" name="Rectangle: Rounded Corners 30">
            <a:extLst>
              <a:ext uri="{FF2B5EF4-FFF2-40B4-BE49-F238E27FC236}">
                <a16:creationId xmlns:a16="http://schemas.microsoft.com/office/drawing/2014/main" id="{D2E112CB-D629-4793-AC18-0BBED2095D9E}"/>
              </a:ext>
            </a:extLst>
          </p:cNvPr>
          <p:cNvSpPr/>
          <p:nvPr/>
        </p:nvSpPr>
        <p:spPr>
          <a:xfrm>
            <a:off x="6994525" y="1849438"/>
            <a:ext cx="511175" cy="214312"/>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NBS Medium" panose="020B0603030303020204"/>
                <a:ea typeface="+mn-ea"/>
                <a:cs typeface="+mn-cs"/>
              </a:rPr>
              <a:t>P4</a:t>
            </a:r>
          </a:p>
        </p:txBody>
      </p:sp>
      <p:sp>
        <p:nvSpPr>
          <p:cNvPr id="32" name="Rectangle: Rounded Corners 31">
            <a:extLst>
              <a:ext uri="{FF2B5EF4-FFF2-40B4-BE49-F238E27FC236}">
                <a16:creationId xmlns:a16="http://schemas.microsoft.com/office/drawing/2014/main" id="{3203FE99-EE23-4B71-BCF6-2B8676CB42A5}"/>
              </a:ext>
            </a:extLst>
          </p:cNvPr>
          <p:cNvSpPr/>
          <p:nvPr/>
        </p:nvSpPr>
        <p:spPr>
          <a:xfrm>
            <a:off x="7505700" y="2119313"/>
            <a:ext cx="509588" cy="214312"/>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NBS Medium" panose="020B0603030303020204"/>
                <a:ea typeface="+mn-ea"/>
                <a:cs typeface="+mn-cs"/>
              </a:rPr>
              <a:t>P5</a:t>
            </a:r>
          </a:p>
        </p:txBody>
      </p:sp>
      <p:sp>
        <p:nvSpPr>
          <p:cNvPr id="33" name="Rectangle: Rounded Corners 32">
            <a:extLst>
              <a:ext uri="{FF2B5EF4-FFF2-40B4-BE49-F238E27FC236}">
                <a16:creationId xmlns:a16="http://schemas.microsoft.com/office/drawing/2014/main" id="{BB99BF9C-11C2-4884-B137-930FD7362148}"/>
              </a:ext>
            </a:extLst>
          </p:cNvPr>
          <p:cNvSpPr/>
          <p:nvPr/>
        </p:nvSpPr>
        <p:spPr>
          <a:xfrm>
            <a:off x="8016875" y="2373313"/>
            <a:ext cx="393700" cy="214312"/>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NBS Medium" panose="020B0603030303020204"/>
                <a:ea typeface="+mn-ea"/>
                <a:cs typeface="+mn-cs"/>
              </a:rPr>
              <a:t>P6</a:t>
            </a:r>
          </a:p>
        </p:txBody>
      </p:sp>
      <p:sp>
        <p:nvSpPr>
          <p:cNvPr id="34" name="Rectangle: Rounded Corners 33">
            <a:extLst>
              <a:ext uri="{FF2B5EF4-FFF2-40B4-BE49-F238E27FC236}">
                <a16:creationId xmlns:a16="http://schemas.microsoft.com/office/drawing/2014/main" id="{8A74E7DE-6B44-4719-B90D-E7F93C70E12A}"/>
              </a:ext>
            </a:extLst>
          </p:cNvPr>
          <p:cNvSpPr/>
          <p:nvPr/>
        </p:nvSpPr>
        <p:spPr>
          <a:xfrm>
            <a:off x="8410575" y="2646363"/>
            <a:ext cx="511175" cy="214312"/>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NBS Medium" panose="020B0603030303020204"/>
                <a:ea typeface="+mn-ea"/>
                <a:cs typeface="+mn-cs"/>
              </a:rPr>
              <a:t>P7</a:t>
            </a:r>
          </a:p>
        </p:txBody>
      </p:sp>
      <p:sp>
        <p:nvSpPr>
          <p:cNvPr id="35" name="Rectangle: Rounded Corners 34">
            <a:extLst>
              <a:ext uri="{FF2B5EF4-FFF2-40B4-BE49-F238E27FC236}">
                <a16:creationId xmlns:a16="http://schemas.microsoft.com/office/drawing/2014/main" id="{307F7945-1C50-4F6E-88E2-5AC1A791C1B1}"/>
              </a:ext>
            </a:extLst>
          </p:cNvPr>
          <p:cNvSpPr/>
          <p:nvPr/>
        </p:nvSpPr>
        <p:spPr>
          <a:xfrm>
            <a:off x="8921750" y="2906713"/>
            <a:ext cx="511175" cy="214312"/>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NBS Medium" panose="020B0603030303020204"/>
                <a:ea typeface="+mn-ea"/>
                <a:cs typeface="+mn-cs"/>
              </a:rPr>
              <a:t>P8</a:t>
            </a:r>
          </a:p>
        </p:txBody>
      </p:sp>
      <p:sp>
        <p:nvSpPr>
          <p:cNvPr id="7262" name="TextBox 91">
            <a:extLst>
              <a:ext uri="{FF2B5EF4-FFF2-40B4-BE49-F238E27FC236}">
                <a16:creationId xmlns:a16="http://schemas.microsoft.com/office/drawing/2014/main" id="{EE14E4D7-FEC1-4773-9719-ECD170E077FA}"/>
              </a:ext>
            </a:extLst>
          </p:cNvPr>
          <p:cNvSpPr txBox="1">
            <a:spLocks noChangeArrowheads="1"/>
          </p:cNvSpPr>
          <p:nvPr/>
        </p:nvSpPr>
        <p:spPr bwMode="auto">
          <a:xfrm>
            <a:off x="4014788" y="2116138"/>
            <a:ext cx="1770062"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mn-cs"/>
              </a:rPr>
              <a:t>Phase Five</a:t>
            </a:r>
            <a:r>
              <a:rPr kumimoji="0" lang="en-GB" altLang="en-US" sz="8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 9 Rules </a:t>
            </a:r>
          </a:p>
        </p:txBody>
      </p:sp>
      <p:sp>
        <p:nvSpPr>
          <p:cNvPr id="7263" name="TextBox 91">
            <a:extLst>
              <a:ext uri="{FF2B5EF4-FFF2-40B4-BE49-F238E27FC236}">
                <a16:creationId xmlns:a16="http://schemas.microsoft.com/office/drawing/2014/main" id="{5614B7E9-6A73-4668-8B3C-581FCC8CD1BC}"/>
              </a:ext>
            </a:extLst>
          </p:cNvPr>
          <p:cNvSpPr txBox="1">
            <a:spLocks noChangeArrowheads="1"/>
          </p:cNvSpPr>
          <p:nvPr/>
        </p:nvSpPr>
        <p:spPr bwMode="auto">
          <a:xfrm>
            <a:off x="4014788" y="1311275"/>
            <a:ext cx="1770062"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mn-cs"/>
              </a:rPr>
              <a:t>Phase Two</a:t>
            </a:r>
            <a:r>
              <a:rPr kumimoji="0" lang="en-GB" altLang="en-US" sz="8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 9 Rules </a:t>
            </a:r>
          </a:p>
        </p:txBody>
      </p:sp>
      <p:sp>
        <p:nvSpPr>
          <p:cNvPr id="7264" name="TextBox 91">
            <a:extLst>
              <a:ext uri="{FF2B5EF4-FFF2-40B4-BE49-F238E27FC236}">
                <a16:creationId xmlns:a16="http://schemas.microsoft.com/office/drawing/2014/main" id="{159006B8-A987-4732-A00A-DD5BCD361073}"/>
              </a:ext>
            </a:extLst>
          </p:cNvPr>
          <p:cNvSpPr txBox="1">
            <a:spLocks noChangeArrowheads="1"/>
          </p:cNvSpPr>
          <p:nvPr/>
        </p:nvSpPr>
        <p:spPr bwMode="auto">
          <a:xfrm>
            <a:off x="4014788" y="1049338"/>
            <a:ext cx="1770062"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mn-cs"/>
              </a:rPr>
              <a:t>Phase One</a:t>
            </a:r>
            <a:r>
              <a:rPr kumimoji="0" lang="en-GB" altLang="en-US" sz="8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 9 Rules </a:t>
            </a:r>
          </a:p>
        </p:txBody>
      </p:sp>
      <p:sp>
        <p:nvSpPr>
          <p:cNvPr id="3" name="Rectangle: Rounded Corners 2">
            <a:extLst>
              <a:ext uri="{FF2B5EF4-FFF2-40B4-BE49-F238E27FC236}">
                <a16:creationId xmlns:a16="http://schemas.microsoft.com/office/drawing/2014/main" id="{01960104-D468-4AF1-9036-69F44C908FD0}"/>
              </a:ext>
            </a:extLst>
          </p:cNvPr>
          <p:cNvSpPr/>
          <p:nvPr/>
        </p:nvSpPr>
        <p:spPr>
          <a:xfrm rot="16200000">
            <a:off x="7287419" y="3450431"/>
            <a:ext cx="5176838" cy="511175"/>
          </a:xfrm>
          <a:prstGeom prst="round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Future State BAU TM Operation</a:t>
            </a:r>
          </a:p>
        </p:txBody>
      </p:sp>
      <p:grpSp>
        <p:nvGrpSpPr>
          <p:cNvPr id="7266" name="Group 55">
            <a:extLst>
              <a:ext uri="{FF2B5EF4-FFF2-40B4-BE49-F238E27FC236}">
                <a16:creationId xmlns:a16="http://schemas.microsoft.com/office/drawing/2014/main" id="{C37A1011-8F98-4624-99C3-BA26B2EECF87}"/>
              </a:ext>
            </a:extLst>
          </p:cNvPr>
          <p:cNvGrpSpPr>
            <a:grpSpLocks/>
          </p:cNvGrpSpPr>
          <p:nvPr/>
        </p:nvGrpSpPr>
        <p:grpSpPr bwMode="auto">
          <a:xfrm>
            <a:off x="10799763" y="304800"/>
            <a:ext cx="1004887" cy="479425"/>
            <a:chOff x="3236913" y="913342"/>
            <a:chExt cx="1740428" cy="712845"/>
          </a:xfrm>
        </p:grpSpPr>
        <p:pic>
          <p:nvPicPr>
            <p:cNvPr id="7267" name="Picture 56" descr="Nationwide BS Logo sRGB.png">
              <a:extLst>
                <a:ext uri="{FF2B5EF4-FFF2-40B4-BE49-F238E27FC236}">
                  <a16:creationId xmlns:a16="http://schemas.microsoft.com/office/drawing/2014/main" id="{F7F1D357-53F2-4971-BE5C-046A8817D7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8939" t="18021" r="9268" b="14259"/>
            <a:stretch>
              <a:fillRect/>
            </a:stretch>
          </p:blipFill>
          <p:spPr bwMode="auto">
            <a:xfrm>
              <a:off x="3236913" y="913342"/>
              <a:ext cx="1740428" cy="712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 name="Rounded Rectangle 16">
              <a:extLst>
                <a:ext uri="{FF2B5EF4-FFF2-40B4-BE49-F238E27FC236}">
                  <a16:creationId xmlns:a16="http://schemas.microsoft.com/office/drawing/2014/main" id="{CBACE933-1263-4E1B-B8AB-9F02B4315FB5}"/>
                </a:ext>
              </a:extLst>
            </p:cNvPr>
            <p:cNvSpPr/>
            <p:nvPr/>
          </p:nvSpPr>
          <p:spPr>
            <a:xfrm>
              <a:off x="3250660" y="920424"/>
              <a:ext cx="1726681" cy="479163"/>
            </a:xfrm>
            <a:prstGeom prst="roundRect">
              <a:avLst>
                <a:gd name="adj" fmla="val 13275"/>
              </a:avLst>
            </a:prstGeom>
            <a:noFill/>
            <a:ln w="6350" cap="flat" cmpd="sng" algn="ctr">
              <a:solidFill>
                <a:sysClr val="window" lastClr="FFFFFF"/>
              </a:solidFill>
              <a:prstDash val="solid"/>
            </a:ln>
            <a:effectLst/>
          </p:spPr>
          <p:txBody>
            <a:bodyPr anchor="ctr"/>
            <a:lstStyle/>
            <a:p>
              <a:pPr marL="0" marR="0" lvl="0" indent="0" algn="ctr" defTabSz="257175" rtl="0" eaLnBrk="0" fontAlgn="base" latinLnBrk="0" hangingPunct="0">
                <a:lnSpc>
                  <a:spcPct val="100000"/>
                </a:lnSpc>
                <a:spcBef>
                  <a:spcPct val="0"/>
                </a:spcBef>
                <a:spcAft>
                  <a:spcPct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Calibri"/>
                <a:ea typeface="+mn-ea"/>
                <a:cs typeface="+mn-cs"/>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4" name="Group 55">
            <a:extLst>
              <a:ext uri="{FF2B5EF4-FFF2-40B4-BE49-F238E27FC236}">
                <a16:creationId xmlns:a16="http://schemas.microsoft.com/office/drawing/2014/main" id="{85D95513-F253-451D-A1FD-F321A5D346B2}"/>
              </a:ext>
            </a:extLst>
          </p:cNvPr>
          <p:cNvGrpSpPr>
            <a:grpSpLocks/>
          </p:cNvGrpSpPr>
          <p:nvPr/>
        </p:nvGrpSpPr>
        <p:grpSpPr bwMode="auto">
          <a:xfrm>
            <a:off x="10945813" y="120650"/>
            <a:ext cx="1004887" cy="479425"/>
            <a:chOff x="3236913" y="913342"/>
            <a:chExt cx="1740428" cy="712845"/>
          </a:xfrm>
        </p:grpSpPr>
        <p:pic>
          <p:nvPicPr>
            <p:cNvPr id="8200" name="Picture 56" descr="Nationwide BS Logo sRGB.png">
              <a:extLst>
                <a:ext uri="{FF2B5EF4-FFF2-40B4-BE49-F238E27FC236}">
                  <a16:creationId xmlns:a16="http://schemas.microsoft.com/office/drawing/2014/main" id="{E402A3A4-D742-412E-86AE-D673812E86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8939" t="18021" r="9268" b="14259"/>
            <a:stretch>
              <a:fillRect/>
            </a:stretch>
          </p:blipFill>
          <p:spPr bwMode="auto">
            <a:xfrm>
              <a:off x="3236913" y="913342"/>
              <a:ext cx="1740428" cy="712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Rounded Rectangle 16">
              <a:extLst>
                <a:ext uri="{FF2B5EF4-FFF2-40B4-BE49-F238E27FC236}">
                  <a16:creationId xmlns:a16="http://schemas.microsoft.com/office/drawing/2014/main" id="{4A9B7DCA-2923-4D7F-88FC-3BE8355A3103}"/>
                </a:ext>
              </a:extLst>
            </p:cNvPr>
            <p:cNvSpPr/>
            <p:nvPr/>
          </p:nvSpPr>
          <p:spPr>
            <a:xfrm>
              <a:off x="3250660" y="920424"/>
              <a:ext cx="1726681" cy="479163"/>
            </a:xfrm>
            <a:prstGeom prst="roundRect">
              <a:avLst>
                <a:gd name="adj" fmla="val 13275"/>
              </a:avLst>
            </a:prstGeom>
            <a:noFill/>
            <a:ln w="6350" cap="flat" cmpd="sng" algn="ctr">
              <a:solidFill>
                <a:sysClr val="window" lastClr="FFFFFF"/>
              </a:solidFill>
              <a:prstDash val="solid"/>
            </a:ln>
            <a:effectLst/>
          </p:spPr>
          <p:txBody>
            <a:bodyPr anchor="ctr"/>
            <a:lstStyle/>
            <a:p>
              <a:pPr marL="0" marR="0" lvl="0" indent="0" algn="ctr" defTabSz="257175" rtl="0" eaLnBrk="0" fontAlgn="base" latinLnBrk="0" hangingPunct="0">
                <a:lnSpc>
                  <a:spcPct val="100000"/>
                </a:lnSpc>
                <a:spcBef>
                  <a:spcPct val="0"/>
                </a:spcBef>
                <a:spcAft>
                  <a:spcPct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8" name="Title 1">
            <a:extLst>
              <a:ext uri="{FF2B5EF4-FFF2-40B4-BE49-F238E27FC236}">
                <a16:creationId xmlns:a16="http://schemas.microsoft.com/office/drawing/2014/main" id="{A2E6AA19-6C6A-499D-A86C-716D87A479C4}"/>
              </a:ext>
            </a:extLst>
          </p:cNvPr>
          <p:cNvSpPr txBox="1">
            <a:spLocks/>
          </p:cNvSpPr>
          <p:nvPr/>
        </p:nvSpPr>
        <p:spPr>
          <a:xfrm>
            <a:off x="352425" y="228600"/>
            <a:ext cx="11717338" cy="81915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GB" sz="2400" u="none" strike="noStrike" kern="1200" cap="none" spc="0" normalizeH="0" baseline="0" noProof="0" dirty="0">
                <a:ln>
                  <a:noFill/>
                </a:ln>
                <a:solidFill>
                  <a:srgbClr val="4472C4">
                    <a:lumMod val="75000"/>
                  </a:srgbClr>
                </a:solidFill>
                <a:effectLst/>
                <a:uLnTx/>
                <a:uFillTx/>
                <a:latin typeface="Elephant" panose="02020904090505020303" pitchFamily="18" charset="0"/>
              </a:rPr>
              <a:t>FCTP Transaction Monitoring – Progress Update</a:t>
            </a:r>
          </a:p>
        </p:txBody>
      </p:sp>
      <p:sp>
        <p:nvSpPr>
          <p:cNvPr id="6" name="Rectangle: Rounded Corners 5">
            <a:extLst>
              <a:ext uri="{FF2B5EF4-FFF2-40B4-BE49-F238E27FC236}">
                <a16:creationId xmlns:a16="http://schemas.microsoft.com/office/drawing/2014/main" id="{532019A2-631E-4532-8F45-228F42D95B92}"/>
              </a:ext>
            </a:extLst>
          </p:cNvPr>
          <p:cNvSpPr/>
          <p:nvPr/>
        </p:nvSpPr>
        <p:spPr>
          <a:xfrm>
            <a:off x="6048375" y="3827463"/>
            <a:ext cx="5399088" cy="2843212"/>
          </a:xfrm>
          <a:prstGeom prst="round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NBS Medium" panose="020B0603030303020204"/>
                <a:ea typeface="+mn-ea"/>
                <a:cs typeface="+mn-cs"/>
              </a:rPr>
              <a:t>FUTURE STATE</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200" b="1" i="0" u="none" strike="noStrike" kern="1200" cap="none" spc="0" normalizeH="0" baseline="0" noProof="0" dirty="0">
              <a:ln>
                <a:noFill/>
              </a:ln>
              <a:solidFill>
                <a:prstClr val="black"/>
              </a:solidFill>
              <a:effectLst/>
              <a:uLnTx/>
              <a:uFillTx/>
              <a:latin typeface="NBS Medium" panose="020B0603030303020204"/>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1200" b="1" i="1" u="none" strike="noStrike" kern="1200" cap="none" spc="0" normalizeH="0" baseline="0" noProof="0" dirty="0">
                <a:ln>
                  <a:noFill/>
                </a:ln>
                <a:solidFill>
                  <a:prstClr val="black"/>
                </a:solidFill>
                <a:effectLst/>
                <a:uLnTx/>
                <a:uFillTx/>
                <a:latin typeface="NBS Medium" panose="020B0603030303020204"/>
                <a:ea typeface="+mn-ea"/>
                <a:cs typeface="+mn-cs"/>
              </a:rPr>
              <a:t>Through the delivery of the FCTP the following outcomes will be met</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NBS Medium" panose="020B0603030303020204"/>
              <a:ea typeface="+mn-ea"/>
              <a:cs typeface="+mn-cs"/>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prstClr val="black"/>
                </a:solidFill>
                <a:effectLst/>
                <a:uLnTx/>
                <a:uFillTx/>
                <a:latin typeface="NBS Medium" panose="020B0603030303020204"/>
                <a:ea typeface="+mn-ea"/>
                <a:cs typeface="+mn-cs"/>
              </a:rPr>
              <a:t>TM informs CRA/Event Driven Reviews </a:t>
            </a:r>
            <a:r>
              <a:rPr kumimoji="0" lang="en-GB" sz="1200" b="0" i="0" u="none" strike="noStrike" kern="1200" cap="none" spc="0" normalizeH="0" baseline="0" noProof="0" dirty="0">
                <a:ln>
                  <a:noFill/>
                </a:ln>
                <a:solidFill>
                  <a:prstClr val="black"/>
                </a:solidFill>
                <a:effectLst/>
                <a:uLnTx/>
                <a:uFillTx/>
                <a:latin typeface="NBS Medium" panose="020B0603030303020204"/>
                <a:ea typeface="+mn-ea"/>
                <a:cs typeface="+mn-cs"/>
              </a:rPr>
              <a:t>– NBS adopt a proactive approach to identifying financial crime through the use of advanced analytics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prstClr val="black"/>
                </a:solidFill>
                <a:effectLst/>
                <a:uLnTx/>
                <a:uFillTx/>
                <a:latin typeface="NBS Medium" panose="020B0603030303020204"/>
                <a:ea typeface="+mn-ea"/>
                <a:cs typeface="+mn-cs"/>
              </a:rPr>
              <a:t>Alert Management &amp; Prioritisation </a:t>
            </a:r>
            <a:r>
              <a:rPr kumimoji="0" lang="en-GB" sz="1200" b="0" i="0" u="none" strike="noStrike" kern="1200" cap="none" spc="0" normalizeH="0" baseline="0" noProof="0" dirty="0">
                <a:ln>
                  <a:noFill/>
                </a:ln>
                <a:solidFill>
                  <a:prstClr val="black"/>
                </a:solidFill>
                <a:effectLst/>
                <a:uLnTx/>
                <a:uFillTx/>
                <a:latin typeface="NBS Medium" panose="020B0603030303020204"/>
                <a:ea typeface="+mn-ea"/>
                <a:cs typeface="+mn-cs"/>
              </a:rPr>
              <a:t>– Through use of automated processes NBS will effectively manage alerts in accordance with risk</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prstClr val="black"/>
                </a:solidFill>
                <a:effectLst/>
                <a:uLnTx/>
                <a:uFillTx/>
                <a:latin typeface="NBS Medium" panose="020B0603030303020204"/>
                <a:ea typeface="+mn-ea"/>
                <a:cs typeface="+mn-cs"/>
              </a:rPr>
              <a:t>Case Management </a:t>
            </a:r>
            <a:r>
              <a:rPr kumimoji="0" lang="en-GB" sz="1200" b="0" i="0" u="none" strike="noStrike" kern="1200" cap="none" spc="0" normalizeH="0" baseline="0" noProof="0" dirty="0">
                <a:ln>
                  <a:noFill/>
                </a:ln>
                <a:solidFill>
                  <a:prstClr val="black"/>
                </a:solidFill>
                <a:effectLst/>
                <a:uLnTx/>
                <a:uFillTx/>
                <a:latin typeface="NBS Medium" panose="020B0603030303020204"/>
                <a:ea typeface="+mn-ea"/>
                <a:cs typeface="+mn-cs"/>
              </a:rPr>
              <a:t>– minimising the number of systems required to carry out investigations and provide a single view of customer/financial crime risk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prstClr val="black"/>
                </a:solidFill>
                <a:effectLst/>
                <a:uLnTx/>
                <a:uFillTx/>
                <a:latin typeface="NBS Medium" panose="020B0603030303020204"/>
                <a:ea typeface="+mn-ea"/>
                <a:cs typeface="+mn-cs"/>
              </a:rPr>
              <a:t>Pro Active Analytics </a:t>
            </a:r>
            <a:r>
              <a:rPr kumimoji="0" lang="en-GB" sz="1200" b="0" i="0" u="none" strike="noStrike" kern="1200" cap="none" spc="0" normalizeH="0" baseline="0" noProof="0" dirty="0">
                <a:ln>
                  <a:noFill/>
                </a:ln>
                <a:solidFill>
                  <a:prstClr val="black"/>
                </a:solidFill>
                <a:effectLst/>
                <a:uLnTx/>
                <a:uFillTx/>
                <a:latin typeface="NBS Medium" panose="020B0603030303020204"/>
                <a:ea typeface="+mn-ea"/>
                <a:cs typeface="+mn-cs"/>
              </a:rPr>
              <a:t>– transition from static TM rules to an enhanced financial crime risk identification model </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000" b="0" i="0" u="none" strike="noStrike" kern="1200" cap="none" spc="0" normalizeH="0" baseline="0" noProof="0" dirty="0">
              <a:ln>
                <a:noFill/>
              </a:ln>
              <a:solidFill>
                <a:prstClr val="black"/>
              </a:solidFill>
              <a:effectLst/>
              <a:uLnTx/>
              <a:uFillTx/>
              <a:latin typeface="NBS Medium" panose="020B0603030303020204"/>
              <a:ea typeface="+mn-ea"/>
              <a:cs typeface="+mn-cs"/>
            </a:endParaRPr>
          </a:p>
        </p:txBody>
      </p:sp>
      <p:sp>
        <p:nvSpPr>
          <p:cNvPr id="7" name="Rectangle: Rounded Corners 6">
            <a:extLst>
              <a:ext uri="{FF2B5EF4-FFF2-40B4-BE49-F238E27FC236}">
                <a16:creationId xmlns:a16="http://schemas.microsoft.com/office/drawing/2014/main" id="{422DB41B-AC85-4EA4-B1B5-E99856D7A3B7}"/>
              </a:ext>
            </a:extLst>
          </p:cNvPr>
          <p:cNvSpPr/>
          <p:nvPr/>
        </p:nvSpPr>
        <p:spPr>
          <a:xfrm>
            <a:off x="504825" y="3827463"/>
            <a:ext cx="5400675" cy="2843212"/>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NBS Medium" panose="020B0603030303020204"/>
                <a:ea typeface="+mn-ea"/>
                <a:cs typeface="+mn-cs"/>
              </a:rPr>
              <a:t>TO BE COMMENCED</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200" b="1" i="0" u="none" strike="noStrike" kern="1200" cap="none" spc="0" normalizeH="0" baseline="0" noProof="0" dirty="0">
              <a:ln>
                <a:noFill/>
              </a:ln>
              <a:solidFill>
                <a:prstClr val="black"/>
              </a:solidFill>
              <a:effectLst/>
              <a:uLnTx/>
              <a:uFillTx/>
              <a:latin typeface="NBS Medium" panose="020B0603030303020204"/>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1200" b="1" i="1" u="none" strike="noStrike" kern="1200" cap="none" spc="0" normalizeH="0" baseline="0" noProof="0" dirty="0">
                <a:ln>
                  <a:noFill/>
                </a:ln>
                <a:solidFill>
                  <a:prstClr val="black"/>
                </a:solidFill>
                <a:effectLst/>
                <a:uLnTx/>
                <a:uFillTx/>
                <a:latin typeface="NBS Medium" panose="020B0603030303020204"/>
                <a:ea typeface="+mn-ea"/>
                <a:cs typeface="+mn-cs"/>
              </a:rPr>
              <a:t>Activities which will be delivered as part of the FCTP which have not commenced</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NBS Medium" panose="020B0603030303020204"/>
              <a:ea typeface="+mn-ea"/>
              <a:cs typeface="+mn-cs"/>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prstClr val="black"/>
                </a:solidFill>
                <a:effectLst/>
                <a:uLnTx/>
                <a:uFillTx/>
                <a:latin typeface="NBS Medium" panose="020B0603030303020204"/>
                <a:ea typeface="+mn-ea"/>
                <a:cs typeface="+mn-cs"/>
              </a:rPr>
              <a:t>TM System Assurance </a:t>
            </a:r>
            <a:r>
              <a:rPr kumimoji="0" lang="en-GB" sz="1200" b="0" i="0" u="none" strike="noStrike" kern="1200" cap="none" spc="0" normalizeH="0" baseline="0" noProof="0" dirty="0">
                <a:ln>
                  <a:noFill/>
                </a:ln>
                <a:solidFill>
                  <a:prstClr val="black"/>
                </a:solidFill>
                <a:effectLst/>
                <a:uLnTx/>
                <a:uFillTx/>
                <a:latin typeface="NBS Medium" panose="020B0603030303020204"/>
                <a:ea typeface="+mn-ea"/>
                <a:cs typeface="+mn-cs"/>
              </a:rPr>
              <a:t>- Initial exploratory work was carried out, however put on hold due to lack of maturity of new TM rules where few had been deployed </a:t>
            </a:r>
            <a:endParaRPr kumimoji="0" lang="en-GB" sz="1200" b="1" i="1" u="none" strike="noStrike" kern="1200" cap="none" spc="0" normalizeH="0" baseline="0" noProof="0" dirty="0">
              <a:ln>
                <a:noFill/>
              </a:ln>
              <a:solidFill>
                <a:prstClr val="black"/>
              </a:solidFill>
              <a:effectLst/>
              <a:uLnTx/>
              <a:uFillTx/>
              <a:latin typeface="NBS Medium" panose="020B0603030303020204"/>
              <a:ea typeface="+mn-ea"/>
              <a:cs typeface="+mn-cs"/>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prstClr val="black"/>
                </a:solidFill>
                <a:effectLst/>
                <a:uLnTx/>
                <a:uFillTx/>
                <a:latin typeface="NBS Medium" panose="020B0603030303020204"/>
                <a:ea typeface="+mn-ea"/>
                <a:cs typeface="+mn-cs"/>
              </a:rPr>
              <a:t>TM System Governance </a:t>
            </a:r>
            <a:r>
              <a:rPr kumimoji="0" lang="en-GB" sz="1200" b="0" i="0" u="none" strike="noStrike" kern="1200" cap="none" spc="0" normalizeH="0" baseline="0" noProof="0" dirty="0">
                <a:ln>
                  <a:noFill/>
                </a:ln>
                <a:solidFill>
                  <a:prstClr val="black"/>
                </a:solidFill>
                <a:effectLst/>
                <a:uLnTx/>
                <a:uFillTx/>
                <a:latin typeface="NBS Medium" panose="020B0603030303020204"/>
                <a:ea typeface="+mn-ea"/>
                <a:cs typeface="+mn-cs"/>
              </a:rPr>
              <a:t>– Not started due to resource constraints within Economic Crime Analytics and awaiting outcome of TOM review </a:t>
            </a:r>
            <a:r>
              <a:rPr kumimoji="0" lang="en-GB" sz="1200" b="1" i="1" u="none" strike="noStrike" kern="1200" cap="none" spc="0" normalizeH="0" baseline="0" noProof="0" dirty="0">
                <a:ln>
                  <a:noFill/>
                </a:ln>
                <a:solidFill>
                  <a:prstClr val="black"/>
                </a:solidFill>
                <a:effectLst/>
                <a:uLnTx/>
                <a:uFillTx/>
                <a:latin typeface="NBS Medium" panose="020B0603030303020204"/>
                <a:ea typeface="+mn-ea"/>
                <a:cs typeface="+mn-cs"/>
              </a:rPr>
              <a: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prstClr val="black"/>
                </a:solidFill>
                <a:effectLst/>
                <a:uLnTx/>
                <a:uFillTx/>
                <a:latin typeface="NBS Medium" panose="020B0603030303020204"/>
                <a:ea typeface="+mn-ea"/>
                <a:cs typeface="+mn-cs"/>
              </a:rPr>
              <a:t>Alert Management </a:t>
            </a:r>
            <a:r>
              <a:rPr kumimoji="0" lang="en-GB" sz="1200" b="0" i="0" u="none" strike="noStrike" kern="1200" cap="none" spc="0" normalizeH="0" baseline="0" noProof="0" dirty="0">
                <a:ln>
                  <a:noFill/>
                </a:ln>
                <a:solidFill>
                  <a:prstClr val="black"/>
                </a:solidFill>
                <a:effectLst/>
                <a:uLnTx/>
                <a:uFillTx/>
                <a:latin typeface="NBS Medium" panose="020B0603030303020204"/>
                <a:ea typeface="+mn-ea"/>
                <a:cs typeface="+mn-cs"/>
              </a:rPr>
              <a:t>- Complex analysis is required to fully understand the implications of moving to daily/weekly alerting. Dependency on resource in Economic Crime Analytics</a:t>
            </a:r>
            <a:r>
              <a:rPr kumimoji="0" lang="en-GB" sz="1200" b="1" i="1" u="none" strike="noStrike" kern="1200" cap="none" spc="0" normalizeH="0" baseline="0" noProof="0" dirty="0">
                <a:ln>
                  <a:noFill/>
                </a:ln>
                <a:solidFill>
                  <a:prstClr val="black"/>
                </a:solidFill>
                <a:effectLst/>
                <a:uLnTx/>
                <a:uFillTx/>
                <a:latin typeface="NBS Medium" panose="020B0603030303020204"/>
                <a:ea typeface="+mn-ea"/>
                <a:cs typeface="+mn-cs"/>
              </a:rPr>
              <a:t> </a:t>
            </a:r>
            <a:endParaRPr kumimoji="0" lang="en-GB" sz="1200" b="1" i="0" u="none" strike="noStrike" kern="1200" cap="none" spc="0" normalizeH="0" baseline="0" noProof="0" dirty="0">
              <a:ln>
                <a:noFill/>
              </a:ln>
              <a:solidFill>
                <a:prstClr val="black"/>
              </a:solidFill>
              <a:effectLst/>
              <a:uLnTx/>
              <a:uFillTx/>
              <a:latin typeface="NBS Medium" panose="020B0603030303020204"/>
              <a:ea typeface="+mn-ea"/>
              <a:cs typeface="+mn-cs"/>
            </a:endParaRPr>
          </a:p>
        </p:txBody>
      </p:sp>
      <p:sp>
        <p:nvSpPr>
          <p:cNvPr id="9" name="Rectangle: Rounded Corners 8">
            <a:extLst>
              <a:ext uri="{FF2B5EF4-FFF2-40B4-BE49-F238E27FC236}">
                <a16:creationId xmlns:a16="http://schemas.microsoft.com/office/drawing/2014/main" id="{2C1B8630-52BA-419A-A26C-7D952B10C0DD}"/>
              </a:ext>
            </a:extLst>
          </p:cNvPr>
          <p:cNvSpPr/>
          <p:nvPr/>
        </p:nvSpPr>
        <p:spPr>
          <a:xfrm>
            <a:off x="6048375" y="884238"/>
            <a:ext cx="5399088" cy="2843212"/>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NBS Medium" panose="020B0603030303020204"/>
                <a:ea typeface="+mn-ea"/>
                <a:cs typeface="+mn-cs"/>
              </a:rPr>
              <a:t>OFF TRACK</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200" b="1" i="0" u="none" strike="noStrike" kern="1200" cap="none" spc="0" normalizeH="0" baseline="0" noProof="0" dirty="0">
              <a:ln>
                <a:noFill/>
              </a:ln>
              <a:solidFill>
                <a:prstClr val="black"/>
              </a:solidFill>
              <a:effectLst/>
              <a:uLnTx/>
              <a:uFillTx/>
              <a:latin typeface="NBS Medium" panose="020B0603030303020204"/>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1200" b="1" i="1" u="none" strike="noStrike" kern="1200" cap="none" spc="0" normalizeH="0" baseline="0" noProof="0" dirty="0">
                <a:ln>
                  <a:noFill/>
                </a:ln>
                <a:solidFill>
                  <a:prstClr val="black"/>
                </a:solidFill>
                <a:effectLst/>
                <a:uLnTx/>
                <a:uFillTx/>
                <a:latin typeface="NBS Medium" panose="020B0603030303020204"/>
                <a:ea typeface="+mn-ea"/>
                <a:cs typeface="+mn-cs"/>
              </a:rPr>
              <a:t>Activities which have been delayed due to restrictions and limitations and will be continued as part of the FCTP</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dirty="0">
              <a:ln>
                <a:noFill/>
              </a:ln>
              <a:solidFill>
                <a:prstClr val="black"/>
              </a:solidFill>
              <a:effectLst/>
              <a:uLnTx/>
              <a:uFillTx/>
              <a:latin typeface="NBS Medium" panose="020B0603030303020204"/>
              <a:ea typeface="+mn-ea"/>
              <a:cs typeface="+mn-cs"/>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prstClr val="black"/>
                </a:solidFill>
                <a:effectLst/>
                <a:uLnTx/>
                <a:uFillTx/>
                <a:latin typeface="NBS Medium" panose="020B0603030303020204"/>
                <a:ea typeface="+mn-ea"/>
                <a:cs typeface="+mn-cs"/>
              </a:rPr>
              <a:t>Data Integrity </a:t>
            </a:r>
            <a:r>
              <a:rPr kumimoji="0" lang="en-GB" sz="1200" b="0" i="0" u="none" strike="noStrike" kern="1200" cap="none" spc="0" normalizeH="0" baseline="0" noProof="0" dirty="0">
                <a:ln>
                  <a:noFill/>
                </a:ln>
                <a:solidFill>
                  <a:prstClr val="black"/>
                </a:solidFill>
                <a:effectLst/>
                <a:uLnTx/>
                <a:uFillTx/>
                <a:latin typeface="NBS Medium" panose="020B0603030303020204"/>
                <a:ea typeface="+mn-ea"/>
                <a:cs typeface="+mn-cs"/>
              </a:rPr>
              <a:t>- Team originally responsible for delivering the capabilities is no longer assigned following a restructure. RACI still to be defined under the TOM to continue this work. Validation and verification data is an essential component to the output of the TM system</a:t>
            </a:r>
            <a:endParaRPr kumimoji="0" lang="en-GB" sz="1200" b="1" i="0" u="none" strike="noStrike" kern="1200" cap="none" spc="0" normalizeH="0" baseline="0" noProof="0" dirty="0">
              <a:ln>
                <a:noFill/>
              </a:ln>
              <a:solidFill>
                <a:prstClr val="black"/>
              </a:solidFill>
              <a:effectLst/>
              <a:uLnTx/>
              <a:uFillTx/>
              <a:latin typeface="NBS Medium" panose="020B0603030303020204"/>
              <a:ea typeface="+mn-ea"/>
              <a:cs typeface="+mn-cs"/>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prstClr val="black"/>
                </a:solidFill>
                <a:effectLst/>
                <a:uLnTx/>
                <a:uFillTx/>
                <a:latin typeface="NBS Medium" panose="020B0603030303020204"/>
                <a:ea typeface="+mn-ea"/>
                <a:cs typeface="+mn-cs"/>
              </a:rPr>
              <a:t>TM Risk Appetite </a:t>
            </a:r>
            <a:r>
              <a:rPr kumimoji="0" lang="en-GB" sz="1200" b="0" i="0" u="none" strike="noStrike" kern="1200" cap="none" spc="0" normalizeH="0" baseline="0" noProof="0" dirty="0">
                <a:ln>
                  <a:noFill/>
                </a:ln>
                <a:solidFill>
                  <a:prstClr val="black"/>
                </a:solidFill>
                <a:effectLst/>
                <a:uLnTx/>
                <a:uFillTx/>
                <a:latin typeface="NBS Medium" panose="020B0603030303020204"/>
                <a:ea typeface="+mn-ea"/>
                <a:cs typeface="+mn-cs"/>
              </a:rPr>
              <a:t>- Discussions have been ongoing since but this has been put on hold to allow for the priority rules to deployed and has now been delayed due to FCTP/TOM discussions </a:t>
            </a:r>
            <a:endParaRPr kumimoji="0" lang="en-GB" sz="1200" b="1" i="0" u="none" strike="noStrike" kern="1200" cap="none" spc="0" normalizeH="0" baseline="0" noProof="0" dirty="0">
              <a:ln>
                <a:noFill/>
              </a:ln>
              <a:solidFill>
                <a:prstClr val="black"/>
              </a:solidFill>
              <a:effectLst/>
              <a:uLnTx/>
              <a:uFillTx/>
              <a:latin typeface="NBS Medium" panose="020B0603030303020204"/>
              <a:ea typeface="+mn-ea"/>
              <a:cs typeface="+mn-cs"/>
            </a:endParaRPr>
          </a:p>
        </p:txBody>
      </p:sp>
      <p:sp>
        <p:nvSpPr>
          <p:cNvPr id="10" name="Rectangle: Rounded Corners 9">
            <a:extLst>
              <a:ext uri="{FF2B5EF4-FFF2-40B4-BE49-F238E27FC236}">
                <a16:creationId xmlns:a16="http://schemas.microsoft.com/office/drawing/2014/main" id="{D15396E9-F0AF-4C9B-AC58-76033528B8DD}"/>
              </a:ext>
            </a:extLst>
          </p:cNvPr>
          <p:cNvSpPr/>
          <p:nvPr/>
        </p:nvSpPr>
        <p:spPr>
          <a:xfrm>
            <a:off x="504825" y="884238"/>
            <a:ext cx="5400675" cy="2843212"/>
          </a:xfrm>
          <a:prstGeom prst="roundRect">
            <a:avLst/>
          </a:prstGeom>
          <a:solidFill>
            <a:srgbClr val="C5E0B4"/>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NBS Medium" panose="020B0603030303020204"/>
                <a:ea typeface="+mn-ea"/>
                <a:cs typeface="+mn-cs"/>
              </a:rPr>
              <a:t>ON TRACK</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200" b="0" i="1" u="none" strike="noStrike" kern="1200" cap="none" spc="0" normalizeH="0" baseline="0" noProof="0" dirty="0">
              <a:ln>
                <a:noFill/>
              </a:ln>
              <a:solidFill>
                <a:prstClr val="black"/>
              </a:solidFill>
              <a:effectLst/>
              <a:uLnTx/>
              <a:uFillTx/>
              <a:latin typeface="NBS Medium" panose="020B0603030303020204"/>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1200" b="1" i="1" u="none" strike="noStrike" kern="1200" cap="none" spc="0" normalizeH="0" baseline="0" noProof="0" dirty="0">
                <a:ln>
                  <a:noFill/>
                </a:ln>
                <a:solidFill>
                  <a:prstClr val="black"/>
                </a:solidFill>
                <a:effectLst/>
                <a:uLnTx/>
                <a:uFillTx/>
                <a:latin typeface="NBS Medium" panose="020B0603030303020204"/>
                <a:ea typeface="+mn-ea"/>
                <a:cs typeface="+mn-cs"/>
              </a:rPr>
              <a:t>Activities which are at present on course to be delivered as part of the FCTP</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200" b="1" i="1" u="none" strike="noStrike" kern="1200" cap="none" spc="0" normalizeH="0" baseline="0" noProof="0" dirty="0">
              <a:ln>
                <a:noFill/>
              </a:ln>
              <a:solidFill>
                <a:prstClr val="black"/>
              </a:solidFill>
              <a:effectLst/>
              <a:uLnTx/>
              <a:uFillTx/>
              <a:latin typeface="NBS Medium" panose="020B0603030303020204"/>
              <a:ea typeface="+mn-ea"/>
              <a:cs typeface="+mn-cs"/>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NBS Medium" panose="020B0603030303020204"/>
                <a:ea typeface="+mn-ea"/>
                <a:cs typeface="+mn-cs"/>
              </a:rPr>
              <a:t>A </a:t>
            </a:r>
            <a:r>
              <a:rPr kumimoji="0" lang="en-GB" sz="1200" b="1" i="0" u="none" strike="noStrike" kern="1200" cap="none" spc="0" normalizeH="0" baseline="0" noProof="0" dirty="0">
                <a:ln>
                  <a:noFill/>
                </a:ln>
                <a:solidFill>
                  <a:prstClr val="black"/>
                </a:solidFill>
                <a:effectLst/>
                <a:uLnTx/>
                <a:uFillTx/>
                <a:latin typeface="NBS Medium" panose="020B0603030303020204"/>
                <a:ea typeface="+mn-ea"/>
                <a:cs typeface="+mn-cs"/>
              </a:rPr>
              <a:t>Rule Development </a:t>
            </a:r>
            <a:r>
              <a:rPr kumimoji="0" lang="en-GB" sz="1200" b="0" i="0" u="none" strike="noStrike" kern="1200" cap="none" spc="0" normalizeH="0" baseline="0" noProof="0" dirty="0">
                <a:ln>
                  <a:noFill/>
                </a:ln>
                <a:solidFill>
                  <a:prstClr val="black"/>
                </a:solidFill>
                <a:effectLst/>
                <a:uLnTx/>
                <a:uFillTx/>
                <a:latin typeface="NBS Medium" panose="020B0603030303020204"/>
                <a:ea typeface="+mn-ea"/>
                <a:cs typeface="+mn-cs"/>
              </a:rPr>
              <a:t>Framework created with segmentation and behaviour modelling and rule development is </a:t>
            </a:r>
            <a:r>
              <a:rPr kumimoji="0" lang="en-GB" sz="1200" b="0" i="0" u="none" strike="noStrike" kern="1200" cap="none" spc="0" normalizeH="0" baseline="0" noProof="0">
                <a:ln>
                  <a:noFill/>
                </a:ln>
                <a:solidFill>
                  <a:prstClr val="black"/>
                </a:solidFill>
                <a:effectLst/>
                <a:uLnTx/>
                <a:uFillTx/>
                <a:latin typeface="NBS Medium" panose="020B0603030303020204"/>
                <a:ea typeface="+mn-ea"/>
                <a:cs typeface="+mn-cs"/>
              </a:rPr>
              <a:t>still ongoing</a:t>
            </a:r>
            <a:endParaRPr kumimoji="0" lang="en-GB" sz="1200" b="0" i="0" u="none" strike="noStrike" kern="1200" cap="none" spc="0" normalizeH="0" baseline="0" noProof="0" dirty="0">
              <a:ln>
                <a:noFill/>
              </a:ln>
              <a:solidFill>
                <a:prstClr val="black"/>
              </a:solidFill>
              <a:effectLst/>
              <a:uLnTx/>
              <a:uFillTx/>
              <a:latin typeface="NBS Medium" panose="020B0603030303020204"/>
              <a:ea typeface="+mn-ea"/>
              <a:cs typeface="+mn-cs"/>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prstClr val="black"/>
                </a:solidFill>
                <a:effectLst/>
                <a:uLnTx/>
                <a:uFillTx/>
                <a:latin typeface="NBS Medium" panose="020B0603030303020204"/>
                <a:ea typeface="+mn-ea"/>
                <a:cs typeface="+mn-cs"/>
              </a:rPr>
              <a:t>KYC Data Feeds </a:t>
            </a:r>
            <a:r>
              <a:rPr kumimoji="0" lang="en-GB" sz="1200" b="0" i="0" u="none" strike="noStrike" kern="1200" cap="none" spc="0" normalizeH="0" baseline="0" noProof="0" dirty="0">
                <a:ln>
                  <a:noFill/>
                </a:ln>
                <a:solidFill>
                  <a:prstClr val="black"/>
                </a:solidFill>
                <a:effectLst/>
                <a:uLnTx/>
                <a:uFillTx/>
                <a:latin typeface="NBS Medium" panose="020B0603030303020204"/>
                <a:ea typeface="+mn-ea"/>
                <a:cs typeface="+mn-cs"/>
              </a:rPr>
              <a:t>currently on track with a dependency on delivery on customer remediation programme</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prstClr val="black"/>
                </a:solidFill>
                <a:effectLst/>
                <a:uLnTx/>
                <a:uFillTx/>
                <a:latin typeface="NBS Medium" panose="020B0603030303020204"/>
                <a:ea typeface="+mn-ea"/>
                <a:cs typeface="+mn-cs"/>
              </a:rPr>
              <a:t>TOM</a:t>
            </a:r>
            <a:r>
              <a:rPr kumimoji="0" lang="en-GB" sz="1200" b="0" i="0" u="none" strike="noStrike" kern="1200" cap="none" spc="0" normalizeH="0" baseline="0" noProof="0" dirty="0">
                <a:ln>
                  <a:noFill/>
                </a:ln>
                <a:solidFill>
                  <a:prstClr val="black"/>
                </a:solidFill>
                <a:effectLst/>
                <a:uLnTx/>
                <a:uFillTx/>
                <a:latin typeface="NBS Medium" panose="020B0603030303020204"/>
                <a:ea typeface="+mn-ea"/>
                <a:cs typeface="+mn-cs"/>
              </a:rPr>
              <a:t> recommendations to form part of the TM FCTP Programme along with the ongoing development of the TM TOM</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prstClr val="black"/>
                </a:solidFill>
                <a:effectLst/>
                <a:uLnTx/>
                <a:uFillTx/>
                <a:latin typeface="NBS Medium" panose="020B0603030303020204"/>
                <a:ea typeface="+mn-ea"/>
                <a:cs typeface="+mn-cs"/>
              </a:rPr>
              <a:t>MI/Ongoing Monitoring </a:t>
            </a:r>
            <a:r>
              <a:rPr kumimoji="0" lang="en-GB" sz="1200" b="0" i="0" u="none" strike="noStrike" kern="1200" cap="none" spc="0" normalizeH="0" baseline="0" noProof="0" dirty="0">
                <a:ln>
                  <a:noFill/>
                </a:ln>
                <a:solidFill>
                  <a:prstClr val="black"/>
                </a:solidFill>
                <a:effectLst/>
                <a:uLnTx/>
                <a:uFillTx/>
                <a:latin typeface="NBS Medium" panose="020B0603030303020204"/>
                <a:ea typeface="+mn-ea"/>
                <a:cs typeface="+mn-cs"/>
              </a:rPr>
              <a:t>- Running concurrently with Rule development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2" name="Group 55">
            <a:extLst>
              <a:ext uri="{FF2B5EF4-FFF2-40B4-BE49-F238E27FC236}">
                <a16:creationId xmlns:a16="http://schemas.microsoft.com/office/drawing/2014/main" id="{22C3D898-4D34-4B08-953D-7B6CBF5EE773}"/>
              </a:ext>
            </a:extLst>
          </p:cNvPr>
          <p:cNvGrpSpPr>
            <a:grpSpLocks/>
          </p:cNvGrpSpPr>
          <p:nvPr/>
        </p:nvGrpSpPr>
        <p:grpSpPr bwMode="auto">
          <a:xfrm>
            <a:off x="10945813" y="120650"/>
            <a:ext cx="1004887" cy="479425"/>
            <a:chOff x="3236913" y="913342"/>
            <a:chExt cx="1740428" cy="712845"/>
          </a:xfrm>
        </p:grpSpPr>
        <p:pic>
          <p:nvPicPr>
            <p:cNvPr id="10276" name="Picture 56" descr="Nationwide BS Logo sRGB.png">
              <a:extLst>
                <a:ext uri="{FF2B5EF4-FFF2-40B4-BE49-F238E27FC236}">
                  <a16:creationId xmlns:a16="http://schemas.microsoft.com/office/drawing/2014/main" id="{8D6ED46D-29B2-408C-A965-B6644C569B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8939" t="18021" r="9268" b="14259"/>
            <a:stretch>
              <a:fillRect/>
            </a:stretch>
          </p:blipFill>
          <p:spPr bwMode="auto">
            <a:xfrm>
              <a:off x="3236913" y="913342"/>
              <a:ext cx="1740428" cy="712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Rounded Rectangle 16">
              <a:extLst>
                <a:ext uri="{FF2B5EF4-FFF2-40B4-BE49-F238E27FC236}">
                  <a16:creationId xmlns:a16="http://schemas.microsoft.com/office/drawing/2014/main" id="{CDF992DB-DA03-4EF3-9388-CDFAFC34FCD2}"/>
                </a:ext>
              </a:extLst>
            </p:cNvPr>
            <p:cNvSpPr/>
            <p:nvPr/>
          </p:nvSpPr>
          <p:spPr>
            <a:xfrm>
              <a:off x="3250660" y="920424"/>
              <a:ext cx="1726681" cy="479163"/>
            </a:xfrm>
            <a:prstGeom prst="roundRect">
              <a:avLst>
                <a:gd name="adj" fmla="val 13275"/>
              </a:avLst>
            </a:prstGeom>
            <a:noFill/>
            <a:ln w="6350" cap="flat" cmpd="sng" algn="ctr">
              <a:solidFill>
                <a:sysClr val="window" lastClr="FFFFFF"/>
              </a:solidFill>
              <a:prstDash val="solid"/>
            </a:ln>
            <a:effectLst/>
          </p:spPr>
          <p:txBody>
            <a:bodyPr anchor="ctr"/>
            <a:lstStyle/>
            <a:p>
              <a:pPr marL="0" marR="0" lvl="0" indent="0" algn="ctr" defTabSz="257175" rtl="0" eaLnBrk="0" fontAlgn="base" latinLnBrk="0" hangingPunct="0">
                <a:lnSpc>
                  <a:spcPct val="100000"/>
                </a:lnSpc>
                <a:spcBef>
                  <a:spcPct val="0"/>
                </a:spcBef>
                <a:spcAft>
                  <a:spcPct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8" name="Title 1">
            <a:extLst>
              <a:ext uri="{FF2B5EF4-FFF2-40B4-BE49-F238E27FC236}">
                <a16:creationId xmlns:a16="http://schemas.microsoft.com/office/drawing/2014/main" id="{B0069448-D40C-4AEE-9F70-473333917AC5}"/>
              </a:ext>
            </a:extLst>
          </p:cNvPr>
          <p:cNvSpPr txBox="1">
            <a:spLocks/>
          </p:cNvSpPr>
          <p:nvPr/>
        </p:nvSpPr>
        <p:spPr>
          <a:xfrm>
            <a:off x="352425" y="228600"/>
            <a:ext cx="11717338" cy="81915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GB" sz="2400" i="0" u="none" strike="noStrike" kern="1200" cap="none" spc="0" normalizeH="0" baseline="0" noProof="0" dirty="0">
                <a:ln>
                  <a:noFill/>
                </a:ln>
                <a:solidFill>
                  <a:srgbClr val="4472C4">
                    <a:lumMod val="75000"/>
                  </a:srgbClr>
                </a:solidFill>
                <a:effectLst/>
                <a:uLnTx/>
                <a:uFillTx/>
                <a:latin typeface="Elephant" panose="02020904090505020303" pitchFamily="18" charset="0"/>
              </a:rPr>
              <a:t>FCTP Transaction Monitoring Programme – Next Steps</a:t>
            </a:r>
          </a:p>
        </p:txBody>
      </p:sp>
      <p:sp>
        <p:nvSpPr>
          <p:cNvPr id="10244" name="TextBox 1">
            <a:extLst>
              <a:ext uri="{FF2B5EF4-FFF2-40B4-BE49-F238E27FC236}">
                <a16:creationId xmlns:a16="http://schemas.microsoft.com/office/drawing/2014/main" id="{D885BEE4-5A6F-4D31-B077-3AD5E84CE491}"/>
              </a:ext>
            </a:extLst>
          </p:cNvPr>
          <p:cNvSpPr txBox="1">
            <a:spLocks noChangeArrowheads="1"/>
          </p:cNvSpPr>
          <p:nvPr/>
        </p:nvSpPr>
        <p:spPr bwMode="auto">
          <a:xfrm>
            <a:off x="352425" y="5656263"/>
            <a:ext cx="100584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graphicFrame>
        <p:nvGraphicFramePr>
          <p:cNvPr id="2" name="Table 2">
            <a:extLst>
              <a:ext uri="{FF2B5EF4-FFF2-40B4-BE49-F238E27FC236}">
                <a16:creationId xmlns:a16="http://schemas.microsoft.com/office/drawing/2014/main" id="{82C0344B-CFB1-4E92-BB5F-B4BA140B5FAB}"/>
              </a:ext>
            </a:extLst>
          </p:cNvPr>
          <p:cNvGraphicFramePr>
            <a:graphicFrameLocks noGrp="1"/>
          </p:cNvGraphicFramePr>
          <p:nvPr/>
        </p:nvGraphicFramePr>
        <p:xfrm>
          <a:off x="352425" y="822325"/>
          <a:ext cx="11239500" cy="5491163"/>
        </p:xfrm>
        <a:graphic>
          <a:graphicData uri="http://schemas.openxmlformats.org/drawingml/2006/table">
            <a:tbl>
              <a:tblPr firstRow="1" bandRow="1">
                <a:tableStyleId>{5C22544A-7EE6-4342-B048-85BDC9FD1C3A}</a:tableStyleId>
              </a:tblPr>
              <a:tblGrid>
                <a:gridCol w="2234729">
                  <a:extLst>
                    <a:ext uri="{9D8B030D-6E8A-4147-A177-3AD203B41FA5}">
                      <a16:colId xmlns:a16="http://schemas.microsoft.com/office/drawing/2014/main" val="20000"/>
                    </a:ext>
                  </a:extLst>
                </a:gridCol>
                <a:gridCol w="9004771">
                  <a:extLst>
                    <a:ext uri="{9D8B030D-6E8A-4147-A177-3AD203B41FA5}">
                      <a16:colId xmlns:a16="http://schemas.microsoft.com/office/drawing/2014/main" val="20001"/>
                    </a:ext>
                  </a:extLst>
                </a:gridCol>
              </a:tblGrid>
              <a:tr h="640121">
                <a:tc gridSpan="2">
                  <a:txBody>
                    <a:bodyPr/>
                    <a:lstStyle/>
                    <a:p>
                      <a:pPr marL="0" marR="0" lvl="0" indent="0" algn="ctr" defTabSz="914400" rtl="0" eaLnBrk="1" fontAlgn="auto" latinLnBrk="0" hangingPunct="1">
                        <a:lnSpc>
                          <a:spcPct val="100000"/>
                        </a:lnSpc>
                        <a:spcBef>
                          <a:spcPts val="0"/>
                        </a:spcBef>
                        <a:spcAft>
                          <a:spcPts val="0"/>
                        </a:spcAft>
                        <a:buClrTx/>
                        <a:buSzTx/>
                        <a:buFont typeface="+mj-lt"/>
                        <a:buNone/>
                        <a:tabLst/>
                        <a:defRPr/>
                      </a:pPr>
                      <a:r>
                        <a:rPr lang="en-GB" sz="1200" b="1" i="1" dirty="0">
                          <a:solidFill>
                            <a:schemeClr val="tx1"/>
                          </a:solidFill>
                          <a:latin typeface="NBS Medium" panose="020B0603030303020204"/>
                        </a:rPr>
                        <a:t>As a result of the TM programme being incorporated into FCTP the following activities will be carried out by the existing TM project team supported by Eversheds Sutherland/</a:t>
                      </a:r>
                      <a:r>
                        <a:rPr lang="en-GB" sz="1200" b="1" i="1" dirty="0" err="1">
                          <a:solidFill>
                            <a:schemeClr val="tx1"/>
                          </a:solidFill>
                          <a:latin typeface="NBS Medium" panose="020B0603030303020204"/>
                        </a:rPr>
                        <a:t>Konexo</a:t>
                      </a:r>
                      <a:r>
                        <a:rPr lang="en-GB" sz="1200" b="1" i="1" dirty="0">
                          <a:solidFill>
                            <a:schemeClr val="tx1"/>
                          </a:solidFill>
                          <a:latin typeface="NBS Medium" panose="020B0603030303020204"/>
                        </a:rPr>
                        <a:t> in the next four weeks</a:t>
                      </a:r>
                    </a:p>
                    <a:p>
                      <a:pPr marL="0" indent="0">
                        <a:buFont typeface="+mj-lt"/>
                        <a:buNone/>
                      </a:pPr>
                      <a:endParaRPr lang="en-GB" sz="1200" dirty="0"/>
                    </a:p>
                  </a:txBody>
                  <a:tcPr marL="91435" marR="91435" marT="45723" marB="45723">
                    <a:solidFill>
                      <a:schemeClr val="bg1">
                        <a:lumMod val="85000"/>
                      </a:schemeClr>
                    </a:solidFill>
                  </a:tcPr>
                </a:tc>
                <a:tc hMerge="1">
                  <a:txBody>
                    <a:bodyPr/>
                    <a:lstStyle/>
                    <a:p>
                      <a:endParaRPr lang="en-GB" sz="1200" b="0" dirty="0"/>
                    </a:p>
                  </a:txBody>
                  <a:tcPr>
                    <a:solidFill>
                      <a:schemeClr val="bg1">
                        <a:lumMod val="85000"/>
                      </a:schemeClr>
                    </a:solidFill>
                  </a:tcPr>
                </a:tc>
                <a:extLst>
                  <a:ext uri="{0D108BD9-81ED-4DB2-BD59-A6C34878D82A}">
                    <a16:rowId xmlns:a16="http://schemas.microsoft.com/office/drawing/2014/main" val="10000"/>
                  </a:ext>
                </a:extLst>
              </a:tr>
              <a:tr h="462670">
                <a:tc>
                  <a:txBody>
                    <a:bodyPr/>
                    <a:lstStyle/>
                    <a:p>
                      <a:pPr marL="0" indent="0">
                        <a:buFont typeface="+mj-lt"/>
                        <a:buNone/>
                      </a:pPr>
                      <a:r>
                        <a:rPr lang="en-GB" sz="1200" b="1" dirty="0">
                          <a:solidFill>
                            <a:schemeClr val="tx1"/>
                          </a:solidFill>
                          <a:latin typeface="NBS Medium" panose="020B0603030303020204"/>
                        </a:rPr>
                        <a:t>1. Scope Statement </a:t>
                      </a:r>
                      <a:endParaRPr lang="en-GB" sz="1200" dirty="0"/>
                    </a:p>
                  </a:txBody>
                  <a:tcPr marL="91435" marR="91435" marT="45723" marB="45723">
                    <a:solidFill>
                      <a:schemeClr val="bg1">
                        <a:lumMod val="85000"/>
                      </a:schemeClr>
                    </a:solidFill>
                  </a:tcPr>
                </a:tc>
                <a:tc>
                  <a:txBody>
                    <a:bodyPr/>
                    <a:lstStyle/>
                    <a:p>
                      <a:r>
                        <a:rPr lang="en-GB" sz="1200" b="0" dirty="0">
                          <a:solidFill>
                            <a:schemeClr val="tx1"/>
                          </a:solidFill>
                          <a:latin typeface="NBS Medium" panose="020B0603030303020204"/>
                        </a:rPr>
                        <a:t>A scope statement will outline the entire FCTP TM Programme, including any deliverables and their programme objectives. The overall programme objective will be the transition towards the Future State BAU TM Operation</a:t>
                      </a:r>
                      <a:endParaRPr lang="en-GB" sz="1200" b="0" dirty="0"/>
                    </a:p>
                  </a:txBody>
                  <a:tcPr marL="91435" marR="91435" marT="45723" marB="45723">
                    <a:solidFill>
                      <a:schemeClr val="bg1">
                        <a:lumMod val="85000"/>
                      </a:schemeClr>
                    </a:solidFill>
                  </a:tcPr>
                </a:tc>
                <a:extLst>
                  <a:ext uri="{0D108BD9-81ED-4DB2-BD59-A6C34878D82A}">
                    <a16:rowId xmlns:a16="http://schemas.microsoft.com/office/drawing/2014/main" val="10001"/>
                  </a:ext>
                </a:extLst>
              </a:tr>
              <a:tr h="317140">
                <a:tc>
                  <a:txBody>
                    <a:bodyPr/>
                    <a:lstStyle/>
                    <a:p>
                      <a:pPr marL="0" indent="0">
                        <a:buFont typeface="+mj-lt"/>
                        <a:buNone/>
                      </a:pPr>
                      <a:r>
                        <a:rPr lang="en-GB" sz="1200" b="1" dirty="0">
                          <a:solidFill>
                            <a:schemeClr val="tx1"/>
                          </a:solidFill>
                          <a:latin typeface="NBS Medium" panose="020B0603030303020204"/>
                        </a:rPr>
                        <a:t>2. TOR (Terms of Reference) </a:t>
                      </a:r>
                      <a:endParaRPr lang="en-GB" sz="1200" dirty="0"/>
                    </a:p>
                  </a:txBody>
                  <a:tcPr marL="91435" marR="91435" marT="45723" marB="45723">
                    <a:solidFill>
                      <a:schemeClr val="bg1">
                        <a:lumMod val="85000"/>
                      </a:schemeClr>
                    </a:solidFill>
                  </a:tcPr>
                </a:tc>
                <a:tc>
                  <a:txBody>
                    <a:bodyPr/>
                    <a:lstStyle/>
                    <a:p>
                      <a:r>
                        <a:rPr lang="en-GB" sz="1200" dirty="0">
                          <a:solidFill>
                            <a:schemeClr val="tx1"/>
                          </a:solidFill>
                          <a:latin typeface="NBS Medium" panose="020B0603030303020204"/>
                        </a:rPr>
                        <a:t>Creating a TOR for the governing framework of the FCTP TM Programme </a:t>
                      </a:r>
                      <a:endParaRPr lang="en-GB" sz="1200" dirty="0"/>
                    </a:p>
                  </a:txBody>
                  <a:tcPr marL="91435" marR="91435" marT="45723" marB="45723">
                    <a:solidFill>
                      <a:schemeClr val="bg1">
                        <a:lumMod val="85000"/>
                      </a:schemeClr>
                    </a:solidFill>
                  </a:tcPr>
                </a:tc>
                <a:extLst>
                  <a:ext uri="{0D108BD9-81ED-4DB2-BD59-A6C34878D82A}">
                    <a16:rowId xmlns:a16="http://schemas.microsoft.com/office/drawing/2014/main" val="10002"/>
                  </a:ext>
                </a:extLst>
              </a:tr>
              <a:tr h="457229">
                <a:tc>
                  <a:txBody>
                    <a:bodyPr/>
                    <a:lstStyle/>
                    <a:p>
                      <a:pPr marL="0" indent="0">
                        <a:buFont typeface="+mj-lt"/>
                        <a:buNone/>
                      </a:pPr>
                      <a:r>
                        <a:rPr lang="en-GB" sz="1200" b="1" dirty="0">
                          <a:latin typeface="NBS Medium" panose="020B0603030303020204"/>
                        </a:rPr>
                        <a:t>3. Accountable Executive </a:t>
                      </a:r>
                    </a:p>
                  </a:txBody>
                  <a:tcPr marL="91435" marR="91435" marT="45723" marB="45723">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chemeClr val="tx1"/>
                          </a:solidFill>
                          <a:latin typeface="NBS Medium" panose="020B0603030303020204"/>
                        </a:rPr>
                        <a:t>To assign an accountable executive for the TM FCTP within NBS who will oversee the delivery of the programme</a:t>
                      </a:r>
                    </a:p>
                    <a:p>
                      <a:endParaRPr lang="en-GB" sz="1200" dirty="0">
                        <a:latin typeface="NBS Medium" panose="020B0603030303020204"/>
                      </a:endParaRPr>
                    </a:p>
                  </a:txBody>
                  <a:tcPr marL="91435" marR="91435" marT="45723" marB="45723">
                    <a:solidFill>
                      <a:schemeClr val="bg1">
                        <a:lumMod val="85000"/>
                      </a:schemeClr>
                    </a:solidFill>
                  </a:tcPr>
                </a:tc>
                <a:extLst>
                  <a:ext uri="{0D108BD9-81ED-4DB2-BD59-A6C34878D82A}">
                    <a16:rowId xmlns:a16="http://schemas.microsoft.com/office/drawing/2014/main" val="10003"/>
                  </a:ext>
                </a:extLst>
              </a:tr>
              <a:tr h="823012">
                <a:tc>
                  <a:txBody>
                    <a:bodyPr/>
                    <a:lstStyle/>
                    <a:p>
                      <a:pPr marL="0" indent="0">
                        <a:buFont typeface="+mj-lt"/>
                        <a:buNone/>
                      </a:pPr>
                      <a:r>
                        <a:rPr lang="en-GB" sz="1200" b="1" dirty="0">
                          <a:solidFill>
                            <a:schemeClr val="tx1"/>
                          </a:solidFill>
                          <a:latin typeface="NBS Medium" panose="020B0603030303020204"/>
                        </a:rPr>
                        <a:t>4. TOM recommendations </a:t>
                      </a:r>
                      <a:endParaRPr lang="en-GB" sz="1200" dirty="0">
                        <a:latin typeface="NBS Medium" panose="020B0603030303020204"/>
                      </a:endParaRPr>
                    </a:p>
                  </a:txBody>
                  <a:tcPr marL="91435" marR="91435" marT="45723" marB="45723">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chemeClr val="tx1"/>
                          </a:solidFill>
                          <a:latin typeface="NBS Medium" panose="020B0603030303020204"/>
                        </a:rPr>
                        <a:t>A review will conducted of the TOM Recommendations in relation to Transaction Monitoring provided as part of Project Frontier &amp; Project Horizon conducted by Eversheds Sutherland/</a:t>
                      </a:r>
                      <a:r>
                        <a:rPr lang="en-GB" sz="1200" dirty="0" err="1">
                          <a:solidFill>
                            <a:schemeClr val="tx1"/>
                          </a:solidFill>
                          <a:latin typeface="NBS Medium" panose="020B0603030303020204"/>
                        </a:rPr>
                        <a:t>Konexo</a:t>
                      </a:r>
                      <a:r>
                        <a:rPr lang="en-GB" sz="1200" dirty="0">
                          <a:solidFill>
                            <a:schemeClr val="tx1"/>
                          </a:solidFill>
                          <a:latin typeface="NBS Medium" panose="020B0603030303020204"/>
                        </a:rPr>
                        <a:t>. A report will then be produced highlighting the areas that have been addressed along with the outstanding recommendations and the actions required by NBS to fulfil them. Remediation activities will be reported to the FCA</a:t>
                      </a:r>
                    </a:p>
                    <a:p>
                      <a:endParaRPr lang="en-GB" sz="1200" dirty="0">
                        <a:latin typeface="NBS Medium" panose="020B0603030303020204"/>
                      </a:endParaRPr>
                    </a:p>
                  </a:txBody>
                  <a:tcPr marL="91435" marR="91435" marT="45723" marB="45723">
                    <a:solidFill>
                      <a:schemeClr val="bg1">
                        <a:lumMod val="85000"/>
                      </a:schemeClr>
                    </a:solidFill>
                  </a:tcPr>
                </a:tc>
                <a:extLst>
                  <a:ext uri="{0D108BD9-81ED-4DB2-BD59-A6C34878D82A}">
                    <a16:rowId xmlns:a16="http://schemas.microsoft.com/office/drawing/2014/main" val="10004"/>
                  </a:ext>
                </a:extLst>
              </a:tr>
              <a:tr h="640121">
                <a:tc>
                  <a:txBody>
                    <a:bodyPr/>
                    <a:lstStyle/>
                    <a:p>
                      <a:pPr marL="0" indent="0">
                        <a:buFont typeface="+mj-lt"/>
                        <a:buNone/>
                      </a:pPr>
                      <a:r>
                        <a:rPr lang="en-GB" sz="1200" b="1" dirty="0">
                          <a:solidFill>
                            <a:schemeClr val="tx1"/>
                          </a:solidFill>
                          <a:latin typeface="NBS Medium" panose="020B0603030303020204"/>
                        </a:rPr>
                        <a:t>5. Governance Framework </a:t>
                      </a:r>
                      <a:endParaRPr lang="en-GB" sz="1200" dirty="0"/>
                    </a:p>
                  </a:txBody>
                  <a:tcPr marL="91435" marR="91435" marT="45723" marB="45723">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chemeClr val="tx1"/>
                          </a:solidFill>
                          <a:latin typeface="NBS Medium" panose="020B0603030303020204"/>
                        </a:rPr>
                        <a:t>The existing governance framework within the TM Programme will be reviewed including a current state analysis and a report will be produced providing recommendations if required to enhance the current governance in order to achieve programme objectives</a:t>
                      </a:r>
                    </a:p>
                    <a:p>
                      <a:endParaRPr lang="en-GB" sz="1200" dirty="0"/>
                    </a:p>
                  </a:txBody>
                  <a:tcPr marL="91435" marR="91435" marT="45723" marB="45723">
                    <a:solidFill>
                      <a:schemeClr val="bg1">
                        <a:lumMod val="85000"/>
                      </a:schemeClr>
                    </a:solidFill>
                  </a:tcPr>
                </a:tc>
                <a:extLst>
                  <a:ext uri="{0D108BD9-81ED-4DB2-BD59-A6C34878D82A}">
                    <a16:rowId xmlns:a16="http://schemas.microsoft.com/office/drawing/2014/main" val="10005"/>
                  </a:ext>
                </a:extLst>
              </a:tr>
              <a:tr h="823012">
                <a:tc>
                  <a:txBody>
                    <a:bodyPr/>
                    <a:lstStyle/>
                    <a:p>
                      <a:pPr marL="0" indent="0">
                        <a:buFont typeface="+mj-lt"/>
                        <a:buNone/>
                      </a:pPr>
                      <a:r>
                        <a:rPr lang="en-GB" sz="1200" b="1" dirty="0">
                          <a:solidFill>
                            <a:schemeClr val="tx1"/>
                          </a:solidFill>
                          <a:latin typeface="NBS Medium" panose="020B0603030303020204"/>
                        </a:rPr>
                        <a:t>6. Roles &amp; Responsibilities Review </a:t>
                      </a:r>
                      <a:endParaRPr lang="en-GB" sz="1200" dirty="0"/>
                    </a:p>
                  </a:txBody>
                  <a:tcPr marL="91435" marR="91435" marT="45723" marB="45723">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chemeClr val="tx1"/>
                          </a:solidFill>
                          <a:latin typeface="NBS Medium" panose="020B0603030303020204"/>
                        </a:rPr>
                        <a:t>A review of the roles and responsibilities for both the existing project and BAU TM operations will be carried out to assess the cohesiveness of the relationship between operations, modelling and analytics as well as define the accountabilities of the activities within the TM FCTP  and the Future State BAU TM Operation</a:t>
                      </a:r>
                    </a:p>
                    <a:p>
                      <a:endParaRPr lang="en-GB" sz="1200" dirty="0"/>
                    </a:p>
                  </a:txBody>
                  <a:tcPr marL="91435" marR="91435" marT="45723" marB="45723">
                    <a:solidFill>
                      <a:schemeClr val="bg1">
                        <a:lumMod val="85000"/>
                      </a:schemeClr>
                    </a:solidFill>
                  </a:tcPr>
                </a:tc>
                <a:extLst>
                  <a:ext uri="{0D108BD9-81ED-4DB2-BD59-A6C34878D82A}">
                    <a16:rowId xmlns:a16="http://schemas.microsoft.com/office/drawing/2014/main" val="10006"/>
                  </a:ext>
                </a:extLst>
              </a:tr>
              <a:tr h="515428">
                <a:tc>
                  <a:txBody>
                    <a:bodyPr/>
                    <a:lstStyle/>
                    <a:p>
                      <a:pPr marL="0" indent="0">
                        <a:buFont typeface="+mj-lt"/>
                        <a:buNone/>
                      </a:pPr>
                      <a:r>
                        <a:rPr lang="en-GB" sz="1200" b="1" dirty="0">
                          <a:solidFill>
                            <a:schemeClr val="tx1"/>
                          </a:solidFill>
                          <a:latin typeface="NBS Medium" panose="020B0603030303020204"/>
                        </a:rPr>
                        <a:t>7. FCTP TM Programme Resource Review </a:t>
                      </a:r>
                      <a:endParaRPr lang="en-GB" sz="1200" dirty="0"/>
                    </a:p>
                  </a:txBody>
                  <a:tcPr marL="91435" marR="91435" marT="45723" marB="45723">
                    <a:solidFill>
                      <a:schemeClr val="bg1">
                        <a:lumMod val="85000"/>
                      </a:schemeClr>
                    </a:solidFill>
                  </a:tcPr>
                </a:tc>
                <a:tc>
                  <a:txBody>
                    <a:bodyPr/>
                    <a:lstStyle/>
                    <a:p>
                      <a:r>
                        <a:rPr lang="en-GB" sz="1200" dirty="0">
                          <a:solidFill>
                            <a:schemeClr val="tx1"/>
                          </a:solidFill>
                          <a:latin typeface="NBS Medium" panose="020B0603030303020204"/>
                        </a:rPr>
                        <a:t>Technical, Operational and Change Management resource will be required to deliver the TM FCTP where a review will be conducted by the NBS delivery lead to assess the adequacy of the current state of the programme</a:t>
                      </a:r>
                      <a:endParaRPr lang="en-GB" sz="1200" dirty="0"/>
                    </a:p>
                  </a:txBody>
                  <a:tcPr marL="91435" marR="91435" marT="45723" marB="45723">
                    <a:solidFill>
                      <a:schemeClr val="bg1">
                        <a:lumMod val="85000"/>
                      </a:schemeClr>
                    </a:solidFill>
                  </a:tcPr>
                </a:tc>
                <a:extLst>
                  <a:ext uri="{0D108BD9-81ED-4DB2-BD59-A6C34878D82A}">
                    <a16:rowId xmlns:a16="http://schemas.microsoft.com/office/drawing/2014/main" val="10007"/>
                  </a:ext>
                </a:extLst>
              </a:tr>
              <a:tr h="812430">
                <a:tc>
                  <a:txBody>
                    <a:bodyPr/>
                    <a:lstStyle/>
                    <a:p>
                      <a:pPr marL="0" indent="0">
                        <a:buFont typeface="+mj-lt"/>
                        <a:buNone/>
                      </a:pPr>
                      <a:r>
                        <a:rPr lang="en-GB" sz="1200" b="1" dirty="0">
                          <a:solidFill>
                            <a:schemeClr val="tx1"/>
                          </a:solidFill>
                          <a:latin typeface="NBS Medium" panose="020B0603030303020204"/>
                        </a:rPr>
                        <a:t>8. Resource  Request</a:t>
                      </a:r>
                      <a:r>
                        <a:rPr lang="en-GB" sz="1200" dirty="0">
                          <a:solidFill>
                            <a:schemeClr val="tx1"/>
                          </a:solidFill>
                          <a:latin typeface="NBS Medium" panose="020B0603030303020204"/>
                        </a:rPr>
                        <a:t> </a:t>
                      </a:r>
                      <a:endParaRPr lang="en-GB" sz="1200" dirty="0"/>
                    </a:p>
                  </a:txBody>
                  <a:tcPr marL="91435" marR="91435" marT="45723" marB="45723">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chemeClr val="tx1"/>
                          </a:solidFill>
                          <a:latin typeface="NBS Medium" panose="020B0603030303020204"/>
                        </a:rPr>
                        <a:t>The outcome of  FCTP TM Programme Resource Review will be presented to the next Steerco highlighting the areas of the programme where further resource is required. This will detail the number of resources, what their roles will be and how long they will be required for</a:t>
                      </a:r>
                    </a:p>
                    <a:p>
                      <a:endParaRPr lang="en-GB" sz="1200" dirty="0"/>
                    </a:p>
                  </a:txBody>
                  <a:tcPr marL="91435" marR="91435" marT="45723" marB="45723">
                    <a:solidFill>
                      <a:schemeClr val="bg1">
                        <a:lumMod val="85000"/>
                      </a:schemeClr>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itle 1">
            <a:extLst>
              <a:ext uri="{FF2B5EF4-FFF2-40B4-BE49-F238E27FC236}">
                <a16:creationId xmlns:a16="http://schemas.microsoft.com/office/drawing/2014/main" id="{38BD8AD8-E7A1-40F1-A091-576CC6917E66}"/>
              </a:ext>
            </a:extLst>
          </p:cNvPr>
          <p:cNvSpPr txBox="1">
            <a:spLocks/>
          </p:cNvSpPr>
          <p:nvPr/>
        </p:nvSpPr>
        <p:spPr>
          <a:xfrm>
            <a:off x="364958" y="260852"/>
            <a:ext cx="10329062" cy="203629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5100" dirty="0">
                <a:solidFill>
                  <a:srgbClr val="4472C4">
                    <a:lumMod val="75000"/>
                  </a:srgbClr>
                </a:solidFill>
                <a:latin typeface="Elephant" panose="02020904090505020303" pitchFamily="18" charset="0"/>
              </a:rPr>
              <a:t>Transaction Monitoring – </a:t>
            </a:r>
          </a:p>
          <a:p>
            <a:r>
              <a:rPr lang="en-GB" sz="5100" dirty="0">
                <a:solidFill>
                  <a:srgbClr val="4472C4">
                    <a:lumMod val="75000"/>
                  </a:srgbClr>
                </a:solidFill>
                <a:latin typeface="Elephant" panose="02020904090505020303" pitchFamily="18" charset="0"/>
              </a:rPr>
              <a:t>Appendices </a:t>
            </a:r>
            <a:endParaRPr lang="en-GB" sz="5100" dirty="0">
              <a:solidFill>
                <a:schemeClr val="accent1">
                  <a:lumMod val="75000"/>
                </a:schemeClr>
              </a:solidFill>
              <a:latin typeface="Elephant" panose="02020904090505020303" pitchFamily="18" charset="0"/>
            </a:endParaRPr>
          </a:p>
          <a:p>
            <a:endParaRPr lang="en-US" sz="2900" i="1" dirty="0">
              <a:solidFill>
                <a:srgbClr val="C00000"/>
              </a:solidFill>
              <a:latin typeface="NBS Medium" panose="020B0603030303020204" pitchFamily="34" charset="0"/>
            </a:endParaRPr>
          </a:p>
        </p:txBody>
      </p:sp>
      <p:grpSp>
        <p:nvGrpSpPr>
          <p:cNvPr id="122" name="Group 121">
            <a:extLst>
              <a:ext uri="{FF2B5EF4-FFF2-40B4-BE49-F238E27FC236}">
                <a16:creationId xmlns:a16="http://schemas.microsoft.com/office/drawing/2014/main" id="{3B1EE2E1-79AA-4470-8E96-6D678F59EE24}"/>
              </a:ext>
            </a:extLst>
          </p:cNvPr>
          <p:cNvGrpSpPr/>
          <p:nvPr/>
        </p:nvGrpSpPr>
        <p:grpSpPr>
          <a:xfrm>
            <a:off x="10871810" y="275539"/>
            <a:ext cx="1005206" cy="479127"/>
            <a:chOff x="3236913" y="913342"/>
            <a:chExt cx="1740428" cy="712845"/>
          </a:xfrm>
        </p:grpSpPr>
        <p:pic>
          <p:nvPicPr>
            <p:cNvPr id="124" name="Picture 123" descr="Nationwide BS Logo sRGB.png">
              <a:extLst>
                <a:ext uri="{FF2B5EF4-FFF2-40B4-BE49-F238E27FC236}">
                  <a16:creationId xmlns:a16="http://schemas.microsoft.com/office/drawing/2014/main" id="{02D18641-B9DA-4B9A-9EFC-01E390322BB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938" t="18020" r="9268" b="14259"/>
            <a:stretch/>
          </p:blipFill>
          <p:spPr>
            <a:xfrm>
              <a:off x="3236913" y="913342"/>
              <a:ext cx="1740428" cy="712845"/>
            </a:xfrm>
            <a:prstGeom prst="rect">
              <a:avLst/>
            </a:prstGeom>
          </p:spPr>
        </p:pic>
        <p:sp>
          <p:nvSpPr>
            <p:cNvPr id="128" name="Rounded Rectangle 16">
              <a:extLst>
                <a:ext uri="{FF2B5EF4-FFF2-40B4-BE49-F238E27FC236}">
                  <a16:creationId xmlns:a16="http://schemas.microsoft.com/office/drawing/2014/main" id="{AD2E5EAD-9CFE-4D21-912C-E2F89E76DB5D}"/>
                </a:ext>
              </a:extLst>
            </p:cNvPr>
            <p:cNvSpPr/>
            <p:nvPr/>
          </p:nvSpPr>
          <p:spPr>
            <a:xfrm>
              <a:off x="3249341" y="919691"/>
              <a:ext cx="1728000" cy="480613"/>
            </a:xfrm>
            <a:prstGeom prst="roundRect">
              <a:avLst>
                <a:gd name="adj" fmla="val 13275"/>
              </a:avLst>
            </a:prstGeom>
            <a:noFill/>
            <a:ln w="6350" cap="flat" cmpd="sng" algn="ctr">
              <a:solidFill>
                <a:sysClr val="window" lastClr="FFFFFF"/>
              </a:solidFill>
              <a:prstDash val="solid"/>
            </a:ln>
            <a:effectLst/>
          </p:spPr>
          <p:txBody>
            <a:bodyPr rtlCol="0" anchor="ctr"/>
            <a:lstStyle/>
            <a:p>
              <a:pPr algn="ctr" defTabSz="257175">
                <a:defRPr/>
              </a:pPr>
              <a:endParaRPr lang="en-US" sz="1013" kern="0" dirty="0">
                <a:solidFill>
                  <a:prstClr val="white"/>
                </a:solidFill>
                <a:latin typeface="Calibri"/>
              </a:endParaRPr>
            </a:p>
          </p:txBody>
        </p:sp>
      </p:grpSp>
    </p:spTree>
    <p:extLst>
      <p:ext uri="{BB962C8B-B14F-4D97-AF65-F5344CB8AC3E}">
        <p14:creationId xmlns:p14="http://schemas.microsoft.com/office/powerpoint/2010/main" val="3581390509"/>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70" name="Title 1">
            <a:extLst>
              <a:ext uri="{FF2B5EF4-FFF2-40B4-BE49-F238E27FC236}">
                <a16:creationId xmlns:a16="http://schemas.microsoft.com/office/drawing/2014/main" id="{38BD8AD8-E7A1-40F1-A091-576CC6917E66}"/>
              </a:ext>
            </a:extLst>
          </p:cNvPr>
          <p:cNvSpPr txBox="1">
            <a:spLocks/>
          </p:cNvSpPr>
          <p:nvPr/>
        </p:nvSpPr>
        <p:spPr>
          <a:xfrm>
            <a:off x="364958" y="260852"/>
            <a:ext cx="10329062" cy="203629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5100" b="0" i="0" u="none" strike="noStrike" kern="1200" cap="none" spc="0" normalizeH="0" baseline="0" noProof="0" dirty="0">
                <a:ln>
                  <a:noFill/>
                </a:ln>
                <a:solidFill>
                  <a:prstClr val="white"/>
                </a:solidFill>
                <a:effectLst/>
                <a:uLnTx/>
                <a:uFillTx/>
                <a:latin typeface="Elephant" panose="02020904090505020303" pitchFamily="18" charset="0"/>
                <a:ea typeface="+mj-ea"/>
                <a:cs typeface="+mj-cs"/>
              </a:rPr>
              <a:t>Transaction Monitoring –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5100" b="0" i="0" u="none" strike="noStrike" kern="1200" cap="none" spc="0" normalizeH="0" baseline="0" noProof="0" dirty="0">
                <a:ln>
                  <a:noFill/>
                </a:ln>
                <a:solidFill>
                  <a:prstClr val="white"/>
                </a:solidFill>
                <a:effectLst/>
                <a:uLnTx/>
                <a:uFillTx/>
                <a:latin typeface="Elephant" panose="02020904090505020303" pitchFamily="18" charset="0"/>
                <a:ea typeface="+mj-ea"/>
                <a:cs typeface="+mj-cs"/>
              </a:rPr>
              <a:t>Appendix 1 </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5100" b="0" i="0" u="none" strike="noStrike" kern="1200" cap="none" spc="0" normalizeH="0" baseline="0" noProof="0" dirty="0">
              <a:ln>
                <a:noFill/>
              </a:ln>
              <a:solidFill>
                <a:prstClr val="white"/>
              </a:solidFill>
              <a:effectLst/>
              <a:uLnTx/>
              <a:uFillTx/>
              <a:latin typeface="Elephant" panose="02020904090505020303" pitchFamily="18" charset="0"/>
              <a:ea typeface="+mj-ea"/>
              <a:cs typeface="+mj-cs"/>
            </a:endParaRP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2900" b="0" i="1" u="none" strike="noStrike" kern="1200" cap="none" spc="0" normalizeH="0" baseline="0" noProof="0" dirty="0">
              <a:ln>
                <a:noFill/>
              </a:ln>
              <a:solidFill>
                <a:srgbClr val="C00000"/>
              </a:solidFill>
              <a:effectLst/>
              <a:uLnTx/>
              <a:uFillTx/>
              <a:latin typeface="NBS Medium" panose="020B0603030303020204" pitchFamily="34" charset="0"/>
              <a:ea typeface="+mj-ea"/>
              <a:cs typeface="+mj-cs"/>
            </a:endParaRPr>
          </a:p>
        </p:txBody>
      </p:sp>
      <p:grpSp>
        <p:nvGrpSpPr>
          <p:cNvPr id="122" name="Group 121">
            <a:extLst>
              <a:ext uri="{FF2B5EF4-FFF2-40B4-BE49-F238E27FC236}">
                <a16:creationId xmlns:a16="http://schemas.microsoft.com/office/drawing/2014/main" id="{3B1EE2E1-79AA-4470-8E96-6D678F59EE24}"/>
              </a:ext>
            </a:extLst>
          </p:cNvPr>
          <p:cNvGrpSpPr/>
          <p:nvPr/>
        </p:nvGrpSpPr>
        <p:grpSpPr>
          <a:xfrm>
            <a:off x="10871810" y="275539"/>
            <a:ext cx="1005206" cy="479127"/>
            <a:chOff x="3236913" y="913342"/>
            <a:chExt cx="1740428" cy="712845"/>
          </a:xfrm>
        </p:grpSpPr>
        <p:pic>
          <p:nvPicPr>
            <p:cNvPr id="124" name="Picture 123" descr="Nationwide BS Logo sRGB.png">
              <a:extLst>
                <a:ext uri="{FF2B5EF4-FFF2-40B4-BE49-F238E27FC236}">
                  <a16:creationId xmlns:a16="http://schemas.microsoft.com/office/drawing/2014/main" id="{02D18641-B9DA-4B9A-9EFC-01E390322BB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938" t="18020" r="9268" b="14259"/>
            <a:stretch/>
          </p:blipFill>
          <p:spPr>
            <a:xfrm>
              <a:off x="3236913" y="913342"/>
              <a:ext cx="1740428" cy="712845"/>
            </a:xfrm>
            <a:prstGeom prst="rect">
              <a:avLst/>
            </a:prstGeom>
          </p:spPr>
        </p:pic>
        <p:sp>
          <p:nvSpPr>
            <p:cNvPr id="128" name="Rounded Rectangle 16">
              <a:extLst>
                <a:ext uri="{FF2B5EF4-FFF2-40B4-BE49-F238E27FC236}">
                  <a16:creationId xmlns:a16="http://schemas.microsoft.com/office/drawing/2014/main" id="{AD2E5EAD-9CFE-4D21-912C-E2F89E76DB5D}"/>
                </a:ext>
              </a:extLst>
            </p:cNvPr>
            <p:cNvSpPr/>
            <p:nvPr/>
          </p:nvSpPr>
          <p:spPr>
            <a:xfrm>
              <a:off x="3249341" y="919691"/>
              <a:ext cx="1728000" cy="480613"/>
            </a:xfrm>
            <a:prstGeom prst="roundRect">
              <a:avLst>
                <a:gd name="adj" fmla="val 13275"/>
              </a:avLst>
            </a:prstGeom>
            <a:noFill/>
            <a:ln w="6350" cap="flat" cmpd="sng" algn="ctr">
              <a:solidFill>
                <a:sysClr val="window" lastClr="FFFFFF"/>
              </a:solidFill>
              <a:prstDash val="solid"/>
            </a:ln>
            <a:effectLst/>
          </p:spPr>
          <p:txBody>
            <a:bodyPr rtlCol="0" anchor="ctr"/>
            <a:lstStyle/>
            <a:p>
              <a:pPr marL="0" marR="0" lvl="0" indent="0" algn="ctr" defTabSz="257175" rtl="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extBox 1">
            <a:extLst>
              <a:ext uri="{FF2B5EF4-FFF2-40B4-BE49-F238E27FC236}">
                <a16:creationId xmlns:a16="http://schemas.microsoft.com/office/drawing/2014/main" id="{2F14CFF9-5803-420A-BEF0-F2F050E99BEB}"/>
              </a:ext>
            </a:extLst>
          </p:cNvPr>
          <p:cNvSpPr txBox="1"/>
          <p:nvPr/>
        </p:nvSpPr>
        <p:spPr>
          <a:xfrm>
            <a:off x="606297" y="2426899"/>
            <a:ext cx="9630767" cy="113877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400" b="1" i="1" u="none" strike="noStrike" kern="1200" cap="none" spc="0" normalizeH="0" baseline="0" noProof="0" dirty="0">
                <a:ln>
                  <a:noFill/>
                </a:ln>
                <a:solidFill>
                  <a:prstClr val="black"/>
                </a:solidFill>
                <a:effectLst/>
                <a:uLnTx/>
                <a:uFillTx/>
                <a:latin typeface="NBS Medium" panose="020B0603030303020204" pitchFamily="34" charset="0"/>
                <a:ea typeface="+mn-ea"/>
                <a:cs typeface="+mn-cs"/>
              </a:rPr>
              <a:t>Priorities – </a:t>
            </a:r>
            <a:r>
              <a:rPr kumimoji="0" lang="en-GB" sz="3400" i="1" u="none" strike="noStrike" kern="1200" cap="none" spc="0" normalizeH="0" baseline="0" noProof="0" dirty="0">
                <a:ln>
                  <a:noFill/>
                </a:ln>
                <a:solidFill>
                  <a:prstClr val="black"/>
                </a:solidFill>
                <a:effectLst/>
                <a:uLnTx/>
                <a:uFillTx/>
                <a:latin typeface="NBS Medium" panose="020B0603030303020204" pitchFamily="34" charset="0"/>
                <a:ea typeface="+mn-ea"/>
                <a:cs typeface="+mn-cs"/>
              </a:rPr>
              <a:t>summary of all AML TM priorities – </a:t>
            </a:r>
            <a:r>
              <a:rPr kumimoji="0" lang="en-GB" sz="3400" i="1" u="sng" strike="noStrike" kern="1200" cap="none" spc="0" normalizeH="0" baseline="0" noProof="0" dirty="0">
                <a:ln>
                  <a:noFill/>
                </a:ln>
                <a:solidFill>
                  <a:prstClr val="black"/>
                </a:solidFill>
                <a:effectLst/>
                <a:uLnTx/>
                <a:uFillTx/>
                <a:latin typeface="NBS Medium" panose="020B0603030303020204" pitchFamily="34" charset="0"/>
                <a:ea typeface="+mn-ea"/>
                <a:cs typeface="+mn-cs"/>
              </a:rPr>
              <a:t>updated 2021 </a:t>
            </a:r>
          </a:p>
        </p:txBody>
      </p:sp>
    </p:spTree>
    <p:extLst>
      <p:ext uri="{BB962C8B-B14F-4D97-AF65-F5344CB8AC3E}">
        <p14:creationId xmlns:p14="http://schemas.microsoft.com/office/powerpoint/2010/main" val="443337426"/>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 name="Group 55">
            <a:extLst>
              <a:ext uri="{FF2B5EF4-FFF2-40B4-BE49-F238E27FC236}">
                <a16:creationId xmlns:a16="http://schemas.microsoft.com/office/drawing/2014/main" id="{0101469A-8CBA-4157-8F4A-BFA5B87DB4EF}"/>
              </a:ext>
            </a:extLst>
          </p:cNvPr>
          <p:cNvGrpSpPr/>
          <p:nvPr/>
        </p:nvGrpSpPr>
        <p:grpSpPr>
          <a:xfrm>
            <a:off x="10946150" y="120628"/>
            <a:ext cx="1005206" cy="479127"/>
            <a:chOff x="3236913" y="913342"/>
            <a:chExt cx="1740428" cy="712845"/>
          </a:xfrm>
        </p:grpSpPr>
        <p:pic>
          <p:nvPicPr>
            <p:cNvPr id="57" name="Picture 56" descr="Nationwide BS Logo sRGB.png">
              <a:extLst>
                <a:ext uri="{FF2B5EF4-FFF2-40B4-BE49-F238E27FC236}">
                  <a16:creationId xmlns:a16="http://schemas.microsoft.com/office/drawing/2014/main" id="{D31E04F5-9B77-4C3A-9F99-189B5586FE2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938" t="18020" r="9268" b="14259"/>
            <a:stretch/>
          </p:blipFill>
          <p:spPr>
            <a:xfrm>
              <a:off x="3236913" y="913342"/>
              <a:ext cx="1740428" cy="712845"/>
            </a:xfrm>
            <a:prstGeom prst="rect">
              <a:avLst/>
            </a:prstGeom>
          </p:spPr>
        </p:pic>
        <p:sp>
          <p:nvSpPr>
            <p:cNvPr id="60" name="Rounded Rectangle 16">
              <a:extLst>
                <a:ext uri="{FF2B5EF4-FFF2-40B4-BE49-F238E27FC236}">
                  <a16:creationId xmlns:a16="http://schemas.microsoft.com/office/drawing/2014/main" id="{24626AB6-049B-4A3F-A594-88071FF6B6A4}"/>
                </a:ext>
              </a:extLst>
            </p:cNvPr>
            <p:cNvSpPr/>
            <p:nvPr/>
          </p:nvSpPr>
          <p:spPr>
            <a:xfrm>
              <a:off x="3249341" y="919691"/>
              <a:ext cx="1728000" cy="480613"/>
            </a:xfrm>
            <a:prstGeom prst="roundRect">
              <a:avLst>
                <a:gd name="adj" fmla="val 13275"/>
              </a:avLst>
            </a:prstGeom>
            <a:noFill/>
            <a:ln w="6350" cap="flat" cmpd="sng" algn="ctr">
              <a:solidFill>
                <a:sysClr val="window" lastClr="FFFFFF"/>
              </a:solidFill>
              <a:prstDash val="solid"/>
            </a:ln>
            <a:effectLst/>
          </p:spPr>
          <p:txBody>
            <a:bodyPr rtlCol="0" anchor="ctr"/>
            <a:lstStyle/>
            <a:p>
              <a:pPr algn="ctr" defTabSz="257175">
                <a:defRPr/>
              </a:pPr>
              <a:endParaRPr lang="en-US" sz="1013" kern="0" dirty="0">
                <a:solidFill>
                  <a:prstClr val="white"/>
                </a:solidFill>
                <a:latin typeface="Calibri"/>
              </a:endParaRPr>
            </a:p>
          </p:txBody>
        </p:sp>
      </p:grpSp>
      <p:sp>
        <p:nvSpPr>
          <p:cNvPr id="8" name="Title 1">
            <a:extLst>
              <a:ext uri="{FF2B5EF4-FFF2-40B4-BE49-F238E27FC236}">
                <a16:creationId xmlns:a16="http://schemas.microsoft.com/office/drawing/2014/main" id="{8DF6DE44-1450-4294-BD40-C8FF137D7C13}"/>
              </a:ext>
            </a:extLst>
          </p:cNvPr>
          <p:cNvSpPr txBox="1">
            <a:spLocks/>
          </p:cNvSpPr>
          <p:nvPr/>
        </p:nvSpPr>
        <p:spPr>
          <a:xfrm>
            <a:off x="385874" y="292307"/>
            <a:ext cx="10594001" cy="985008"/>
          </a:xfrm>
          <a:prstGeom prst="rect">
            <a:avLst/>
          </a:prstGeom>
        </p:spPr>
        <p:txBody>
          <a:bodyPr>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5100" dirty="0">
                <a:solidFill>
                  <a:srgbClr val="4472C4">
                    <a:lumMod val="75000"/>
                  </a:srgbClr>
                </a:solidFill>
                <a:latin typeface="Elephant" panose="02020904090505020303" pitchFamily="18" charset="0"/>
              </a:rPr>
              <a:t>Transaction Monitoring – Priorities</a:t>
            </a:r>
          </a:p>
          <a:p>
            <a:r>
              <a:rPr lang="en-GB" sz="2900" b="1" i="1" u="sng" dirty="0">
                <a:solidFill>
                  <a:srgbClr val="C00000"/>
                </a:solidFill>
                <a:latin typeface="NBS Medium" panose="020B0603030303020204" pitchFamily="34" charset="0"/>
              </a:rPr>
              <a:t>Regulatory Risk – </a:t>
            </a:r>
            <a:r>
              <a:rPr lang="en-GB" sz="2900" i="1" dirty="0">
                <a:solidFill>
                  <a:srgbClr val="C00000"/>
                </a:solidFill>
                <a:latin typeface="NBS Medium" panose="020B0603030303020204" pitchFamily="34" charset="0"/>
              </a:rPr>
              <a:t>The below items are the top AML Transaction Monitoring priorities due to the level of regulatory risk exposure involved with not enhancing these part of the AML TM control </a:t>
            </a:r>
          </a:p>
          <a:p>
            <a:endParaRPr lang="en-GB" sz="5100" dirty="0">
              <a:solidFill>
                <a:schemeClr val="accent1">
                  <a:lumMod val="75000"/>
                </a:schemeClr>
              </a:solidFill>
              <a:latin typeface="Elephant" panose="02020904090505020303" pitchFamily="18" charset="0"/>
            </a:endParaRPr>
          </a:p>
        </p:txBody>
      </p:sp>
      <p:sp>
        <p:nvSpPr>
          <p:cNvPr id="7" name="Rectangle: Rounded Corners 6">
            <a:extLst>
              <a:ext uri="{FF2B5EF4-FFF2-40B4-BE49-F238E27FC236}">
                <a16:creationId xmlns:a16="http://schemas.microsoft.com/office/drawing/2014/main" id="{08A49059-EF63-418E-81AE-795C0CB28D11}"/>
              </a:ext>
            </a:extLst>
          </p:cNvPr>
          <p:cNvSpPr/>
          <p:nvPr/>
        </p:nvSpPr>
        <p:spPr>
          <a:xfrm>
            <a:off x="464551" y="1321881"/>
            <a:ext cx="5387180" cy="1618997"/>
          </a:xfrm>
          <a:prstGeom prst="roundRect">
            <a:avLst/>
          </a:prstGeom>
          <a:solidFill>
            <a:schemeClr val="bg1">
              <a:lumMod val="85000"/>
            </a:schemeClr>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b="1" dirty="0">
              <a:latin typeface="NBS Medium" panose="020B0603030303020204" pitchFamily="34" charset="0"/>
            </a:endParaRPr>
          </a:p>
        </p:txBody>
      </p:sp>
      <p:sp>
        <p:nvSpPr>
          <p:cNvPr id="17" name="TextBox 16">
            <a:extLst>
              <a:ext uri="{FF2B5EF4-FFF2-40B4-BE49-F238E27FC236}">
                <a16:creationId xmlns:a16="http://schemas.microsoft.com/office/drawing/2014/main" id="{1AFB511F-D32B-4ACA-ABDE-16AEDE5127AE}"/>
              </a:ext>
            </a:extLst>
          </p:cNvPr>
          <p:cNvSpPr txBox="1"/>
          <p:nvPr/>
        </p:nvSpPr>
        <p:spPr>
          <a:xfrm>
            <a:off x="1401215" y="1321881"/>
            <a:ext cx="4376993" cy="1985159"/>
          </a:xfrm>
          <a:prstGeom prst="rect">
            <a:avLst/>
          </a:prstGeom>
          <a:noFill/>
        </p:spPr>
        <p:txBody>
          <a:bodyPr wrap="square" rtlCol="0">
            <a:spAutoFit/>
          </a:bodyPr>
          <a:lstStyle/>
          <a:p>
            <a:r>
              <a:rPr lang="en-GB" sz="1600" b="1" dirty="0">
                <a:solidFill>
                  <a:schemeClr val="accent1">
                    <a:lumMod val="75000"/>
                  </a:schemeClr>
                </a:solidFill>
                <a:latin typeface="NBS Medium" panose="020B0603030303020204" pitchFamily="34" charset="0"/>
              </a:rPr>
              <a:t>RULE DEVELOPMENT </a:t>
            </a:r>
            <a:endParaRPr lang="en-GB" sz="1600" i="1" dirty="0">
              <a:latin typeface="NBS Medium" panose="020B0603030303020204" pitchFamily="34" charset="0"/>
            </a:endParaRPr>
          </a:p>
          <a:p>
            <a:pPr algn="just"/>
            <a:r>
              <a:rPr lang="en-GB" sz="1200" b="1" dirty="0">
                <a:latin typeface="NBS Light" panose="020B0303030303020204" pitchFamily="34" charset="0"/>
              </a:rPr>
              <a:t>What? </a:t>
            </a:r>
            <a:r>
              <a:rPr lang="en-GB" sz="1200" dirty="0">
                <a:latin typeface="NBS Light" panose="020B0303030303020204" pitchFamily="34" charset="0"/>
              </a:rPr>
              <a:t>-</a:t>
            </a:r>
            <a:r>
              <a:rPr lang="en-GB" sz="1200" b="1" dirty="0">
                <a:latin typeface="NBS Light" panose="020B0303030303020204" pitchFamily="34" charset="0"/>
              </a:rPr>
              <a:t> </a:t>
            </a:r>
            <a:r>
              <a:rPr lang="en-IN" sz="1200" kern="0" dirty="0">
                <a:latin typeface="NBS Light" panose="020B0303030303020204" pitchFamily="34" charset="0"/>
                <a:cs typeface="Arial" pitchFamily="34" charset="0"/>
              </a:rPr>
              <a:t>Rule set with full coverage of all known risks (TM Risk Assessment) </a:t>
            </a:r>
          </a:p>
          <a:p>
            <a:pPr algn="just"/>
            <a:r>
              <a:rPr lang="en-IN" sz="1200" b="1" kern="0" dirty="0">
                <a:latin typeface="NBS Light" panose="020B0303030303020204" pitchFamily="34" charset="0"/>
                <a:cs typeface="Arial" pitchFamily="34" charset="0"/>
              </a:rPr>
              <a:t>Why? - </a:t>
            </a:r>
            <a:r>
              <a:rPr lang="en-IN" sz="1200" kern="0" dirty="0">
                <a:latin typeface="NBS Light" panose="020B0303030303020204" pitchFamily="34" charset="0"/>
                <a:cs typeface="Arial" pitchFamily="34" charset="0"/>
              </a:rPr>
              <a:t>To ensure Nationwide has effective controls to manage the FC risks our products are exposed to and prevent regulatory scrutiny</a:t>
            </a:r>
          </a:p>
          <a:p>
            <a:pPr algn="just"/>
            <a:r>
              <a:rPr lang="en-IN" sz="1200" b="1" kern="0" dirty="0">
                <a:latin typeface="NBS Light" panose="020B0303030303020204" pitchFamily="34" charset="0"/>
                <a:cs typeface="Arial" pitchFamily="34" charset="0"/>
              </a:rPr>
              <a:t>Source – </a:t>
            </a:r>
            <a:r>
              <a:rPr lang="en-IN" sz="1200" kern="0" dirty="0">
                <a:latin typeface="NBS Light" panose="020B0303030303020204" pitchFamily="34" charset="0"/>
                <a:cs typeface="Arial" pitchFamily="34" charset="0"/>
              </a:rPr>
              <a:t>KPMG  recommendation, regulatory requirement </a:t>
            </a:r>
          </a:p>
          <a:p>
            <a:pPr algn="just"/>
            <a:r>
              <a:rPr lang="en-IN" sz="1200" b="1" kern="0" dirty="0">
                <a:latin typeface="NBS Light" panose="020B0303030303020204" pitchFamily="34" charset="0"/>
                <a:cs typeface="Arial" pitchFamily="34" charset="0"/>
              </a:rPr>
              <a:t>Status – </a:t>
            </a:r>
            <a:r>
              <a:rPr lang="en-IN" sz="1200" kern="0" dirty="0">
                <a:latin typeface="NBS Light" panose="020B0303030303020204" pitchFamily="34" charset="0"/>
                <a:cs typeface="Arial" pitchFamily="34" charset="0"/>
              </a:rPr>
              <a:t>In Progress. Delivery plan agreed with </a:t>
            </a:r>
            <a:r>
              <a:rPr lang="en-IN" sz="1200" kern="0" dirty="0" err="1">
                <a:latin typeface="NBS Light" panose="020B0303030303020204" pitchFamily="34" charset="0"/>
                <a:cs typeface="Arial" pitchFamily="34" charset="0"/>
              </a:rPr>
              <a:t>MLRO</a:t>
            </a:r>
            <a:r>
              <a:rPr lang="en-IN" sz="1200" kern="0" dirty="0">
                <a:latin typeface="NBS Light" panose="020B0303030303020204" pitchFamily="34" charset="0"/>
                <a:cs typeface="Arial" pitchFamily="34" charset="0"/>
              </a:rPr>
              <a:t>, subject to resource caveats, all rules scheduled to be delivered by July 2023</a:t>
            </a:r>
          </a:p>
          <a:p>
            <a:pPr algn="just"/>
            <a:endParaRPr lang="en-IN" sz="1100" kern="0" dirty="0">
              <a:latin typeface="NBS Light" panose="020B0303030303020204" pitchFamily="34" charset="0"/>
              <a:cs typeface="Arial" pitchFamily="34" charset="0"/>
            </a:endParaRPr>
          </a:p>
          <a:p>
            <a:endParaRPr lang="en-GB" sz="1200" b="1" dirty="0">
              <a:latin typeface="NBS Medium" panose="020B0603030303020204" pitchFamily="34" charset="0"/>
            </a:endParaRPr>
          </a:p>
        </p:txBody>
      </p:sp>
      <p:sp>
        <p:nvSpPr>
          <p:cNvPr id="18" name="Dodecagon 17">
            <a:extLst>
              <a:ext uri="{FF2B5EF4-FFF2-40B4-BE49-F238E27FC236}">
                <a16:creationId xmlns:a16="http://schemas.microsoft.com/office/drawing/2014/main" id="{D52180C1-D65B-4C9C-BF72-FB3894DA8A80}"/>
              </a:ext>
            </a:extLst>
          </p:cNvPr>
          <p:cNvSpPr/>
          <p:nvPr/>
        </p:nvSpPr>
        <p:spPr>
          <a:xfrm>
            <a:off x="519807" y="1651537"/>
            <a:ext cx="914400" cy="914400"/>
          </a:xfrm>
          <a:prstGeom prst="dodecagon">
            <a:avLst/>
          </a:prstGeom>
          <a:solidFill>
            <a:srgbClr val="C5E0B4"/>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dirty="0">
                <a:latin typeface="Elephant" panose="02020904090505020303" pitchFamily="18" charset="0"/>
              </a:rPr>
              <a:t>1</a:t>
            </a:r>
          </a:p>
        </p:txBody>
      </p:sp>
      <p:sp>
        <p:nvSpPr>
          <p:cNvPr id="23" name="Rectangle: Rounded Corners 22">
            <a:extLst>
              <a:ext uri="{FF2B5EF4-FFF2-40B4-BE49-F238E27FC236}">
                <a16:creationId xmlns:a16="http://schemas.microsoft.com/office/drawing/2014/main" id="{9B7FA819-3326-4C06-B5EC-58EA69B0EA10}"/>
              </a:ext>
            </a:extLst>
          </p:cNvPr>
          <p:cNvSpPr/>
          <p:nvPr/>
        </p:nvSpPr>
        <p:spPr>
          <a:xfrm>
            <a:off x="6083217" y="1287323"/>
            <a:ext cx="5387180" cy="1653555"/>
          </a:xfrm>
          <a:prstGeom prst="roundRect">
            <a:avLst/>
          </a:prstGeom>
          <a:solidFill>
            <a:schemeClr val="bg1">
              <a:lumMod val="85000"/>
            </a:schemeClr>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b="1" dirty="0">
              <a:latin typeface="NBS Medium" panose="020B0603030303020204" pitchFamily="34" charset="0"/>
            </a:endParaRPr>
          </a:p>
        </p:txBody>
      </p:sp>
      <p:sp>
        <p:nvSpPr>
          <p:cNvPr id="24" name="TextBox 23">
            <a:extLst>
              <a:ext uri="{FF2B5EF4-FFF2-40B4-BE49-F238E27FC236}">
                <a16:creationId xmlns:a16="http://schemas.microsoft.com/office/drawing/2014/main" id="{B216F79B-6325-4AFF-B8FE-9C90E0A715D4}"/>
              </a:ext>
            </a:extLst>
          </p:cNvPr>
          <p:cNvSpPr txBox="1"/>
          <p:nvPr/>
        </p:nvSpPr>
        <p:spPr>
          <a:xfrm>
            <a:off x="7093404" y="1310470"/>
            <a:ext cx="4376993" cy="1815882"/>
          </a:xfrm>
          <a:prstGeom prst="rect">
            <a:avLst/>
          </a:prstGeom>
          <a:noFill/>
        </p:spPr>
        <p:txBody>
          <a:bodyPr wrap="square" rtlCol="0">
            <a:spAutoFit/>
          </a:bodyPr>
          <a:lstStyle/>
          <a:p>
            <a:r>
              <a:rPr lang="en-GB" sz="1600" b="1" dirty="0" err="1">
                <a:solidFill>
                  <a:schemeClr val="accent1">
                    <a:lumMod val="75000"/>
                  </a:schemeClr>
                </a:solidFill>
                <a:latin typeface="NBS Medium" panose="020B0603030303020204" pitchFamily="34" charset="0"/>
              </a:rPr>
              <a:t>CDD</a:t>
            </a:r>
            <a:r>
              <a:rPr lang="en-GB" sz="1600" b="1" dirty="0">
                <a:solidFill>
                  <a:schemeClr val="accent1">
                    <a:lumMod val="75000"/>
                  </a:schemeClr>
                </a:solidFill>
                <a:latin typeface="NBS Medium" panose="020B0603030303020204" pitchFamily="34" charset="0"/>
              </a:rPr>
              <a:t> TRIGGERS &amp; REFRESH </a:t>
            </a:r>
          </a:p>
          <a:p>
            <a:pPr algn="just"/>
            <a:r>
              <a:rPr lang="en-GB" sz="1200" b="1" dirty="0">
                <a:latin typeface="NBS Light" panose="020B0303030303020204" pitchFamily="34" charset="0"/>
              </a:rPr>
              <a:t>What? </a:t>
            </a:r>
            <a:r>
              <a:rPr lang="en-GB" sz="1200" dirty="0">
                <a:latin typeface="NBS Light" panose="020B0303030303020204" pitchFamily="34" charset="0"/>
              </a:rPr>
              <a:t>–</a:t>
            </a:r>
            <a:r>
              <a:rPr lang="en-GB" sz="1200" b="1" dirty="0">
                <a:latin typeface="NBS Light" panose="020B0303030303020204" pitchFamily="34" charset="0"/>
              </a:rPr>
              <a:t> </a:t>
            </a:r>
            <a:r>
              <a:rPr lang="en-IN" sz="1200" kern="0" dirty="0">
                <a:latin typeface="NBS Light" panose="020B0303030303020204" pitchFamily="34" charset="0"/>
                <a:cs typeface="Arial" pitchFamily="34" charset="0"/>
              </a:rPr>
              <a:t>Up to date </a:t>
            </a:r>
            <a:r>
              <a:rPr lang="en-IN" sz="1200" kern="0" dirty="0" err="1">
                <a:latin typeface="NBS Light" panose="020B0303030303020204" pitchFamily="34" charset="0"/>
                <a:cs typeface="Arial" pitchFamily="34" charset="0"/>
              </a:rPr>
              <a:t>CDD</a:t>
            </a:r>
            <a:r>
              <a:rPr lang="en-IN" sz="1200" kern="0" dirty="0">
                <a:latin typeface="NBS Light" panose="020B0303030303020204" pitchFamily="34" charset="0"/>
                <a:cs typeface="Arial" pitchFamily="34" charset="0"/>
              </a:rPr>
              <a:t> information to be utilised in TM (wider than TM)</a:t>
            </a:r>
          </a:p>
          <a:p>
            <a:pPr algn="just"/>
            <a:r>
              <a:rPr lang="en-IN" sz="1200" b="1" kern="0" dirty="0">
                <a:latin typeface="NBS Light" panose="020B0303030303020204" pitchFamily="34" charset="0"/>
                <a:cs typeface="Arial" pitchFamily="34" charset="0"/>
              </a:rPr>
              <a:t>Why? –  </a:t>
            </a:r>
            <a:r>
              <a:rPr lang="en-IN" sz="1200" kern="0" dirty="0">
                <a:latin typeface="NBS Light" panose="020B0303030303020204" pitchFamily="34" charset="0"/>
                <a:cs typeface="Arial" pitchFamily="34" charset="0"/>
              </a:rPr>
              <a:t>To ensure Nationwide carry out effective monitoring and identifies unusual transactions that do not align with what’s expected of the customer </a:t>
            </a:r>
          </a:p>
          <a:p>
            <a:pPr algn="just"/>
            <a:r>
              <a:rPr lang="en-IN" sz="1200" b="1" kern="0" dirty="0">
                <a:latin typeface="NBS Light" panose="020B0303030303020204" pitchFamily="34" charset="0"/>
                <a:cs typeface="Arial" pitchFamily="34" charset="0"/>
              </a:rPr>
              <a:t>Source - </a:t>
            </a:r>
            <a:r>
              <a:rPr lang="en-IN" sz="1200" kern="0" dirty="0">
                <a:latin typeface="NBS Light" panose="020B0303030303020204" pitchFamily="34" charset="0"/>
                <a:cs typeface="Arial" pitchFamily="34" charset="0"/>
              </a:rPr>
              <a:t>KPMG  recommendation, regulatory requirement </a:t>
            </a:r>
          </a:p>
          <a:p>
            <a:pPr algn="just"/>
            <a:r>
              <a:rPr lang="en-IN" sz="1200" b="1" kern="0" dirty="0">
                <a:latin typeface="NBS Light" panose="020B0303030303020204" pitchFamily="34" charset="0"/>
                <a:cs typeface="Arial" pitchFamily="34" charset="0"/>
              </a:rPr>
              <a:t>Status -</a:t>
            </a:r>
            <a:r>
              <a:rPr lang="en-IN" sz="1200" kern="0" dirty="0">
                <a:latin typeface="NBS Light" panose="020B0303030303020204" pitchFamily="34" charset="0"/>
                <a:cs typeface="Arial" pitchFamily="34" charset="0"/>
              </a:rPr>
              <a:t> In Progress, society wide programme in flight to deliver </a:t>
            </a:r>
            <a:r>
              <a:rPr lang="en-IN" sz="1200" kern="0" dirty="0" err="1">
                <a:latin typeface="NBS Light" panose="020B0303030303020204" pitchFamily="34" charset="0"/>
                <a:cs typeface="Arial" pitchFamily="34" charset="0"/>
              </a:rPr>
              <a:t>CDD</a:t>
            </a:r>
            <a:r>
              <a:rPr lang="en-IN" sz="1200" kern="0" dirty="0">
                <a:latin typeface="NBS Light" panose="020B0303030303020204" pitchFamily="34" charset="0"/>
                <a:cs typeface="Arial" pitchFamily="34" charset="0"/>
              </a:rPr>
              <a:t> refresh </a:t>
            </a:r>
          </a:p>
          <a:p>
            <a:endParaRPr lang="en-GB" sz="1200" b="1" dirty="0">
              <a:latin typeface="NBS Medium" panose="020B0603030303020204" pitchFamily="34" charset="0"/>
            </a:endParaRPr>
          </a:p>
        </p:txBody>
      </p:sp>
      <p:sp>
        <p:nvSpPr>
          <p:cNvPr id="25" name="Dodecagon 24">
            <a:extLst>
              <a:ext uri="{FF2B5EF4-FFF2-40B4-BE49-F238E27FC236}">
                <a16:creationId xmlns:a16="http://schemas.microsoft.com/office/drawing/2014/main" id="{4D92DAD5-3841-4155-BE6B-5C82DC3818FE}"/>
              </a:ext>
            </a:extLst>
          </p:cNvPr>
          <p:cNvSpPr/>
          <p:nvPr/>
        </p:nvSpPr>
        <p:spPr>
          <a:xfrm>
            <a:off x="6179004" y="1651537"/>
            <a:ext cx="914400" cy="914400"/>
          </a:xfrm>
          <a:prstGeom prst="dodecagon">
            <a:avLst/>
          </a:prstGeom>
          <a:solidFill>
            <a:srgbClr val="C5E0B4"/>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dirty="0">
                <a:latin typeface="Elephant" panose="02020904090505020303" pitchFamily="18" charset="0"/>
              </a:rPr>
              <a:t>2</a:t>
            </a:r>
          </a:p>
        </p:txBody>
      </p:sp>
      <p:sp>
        <p:nvSpPr>
          <p:cNvPr id="26" name="Rectangle: Rounded Corners 25">
            <a:extLst>
              <a:ext uri="{FF2B5EF4-FFF2-40B4-BE49-F238E27FC236}">
                <a16:creationId xmlns:a16="http://schemas.microsoft.com/office/drawing/2014/main" id="{7CF95490-6787-424E-88ED-8CFE6D9DFC0D}"/>
              </a:ext>
            </a:extLst>
          </p:cNvPr>
          <p:cNvSpPr/>
          <p:nvPr/>
        </p:nvSpPr>
        <p:spPr>
          <a:xfrm>
            <a:off x="460125" y="3126352"/>
            <a:ext cx="5387180" cy="1631216"/>
          </a:xfrm>
          <a:prstGeom prst="roundRect">
            <a:avLst/>
          </a:prstGeom>
          <a:solidFill>
            <a:schemeClr val="bg1">
              <a:lumMod val="85000"/>
            </a:schemeClr>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b="1" dirty="0">
              <a:latin typeface="NBS Medium" panose="020B0603030303020204" pitchFamily="34" charset="0"/>
            </a:endParaRPr>
          </a:p>
        </p:txBody>
      </p:sp>
      <p:sp>
        <p:nvSpPr>
          <p:cNvPr id="27" name="TextBox 26">
            <a:extLst>
              <a:ext uri="{FF2B5EF4-FFF2-40B4-BE49-F238E27FC236}">
                <a16:creationId xmlns:a16="http://schemas.microsoft.com/office/drawing/2014/main" id="{7CED3423-A865-479B-B528-F08E1A1E555D}"/>
              </a:ext>
            </a:extLst>
          </p:cNvPr>
          <p:cNvSpPr txBox="1"/>
          <p:nvPr/>
        </p:nvSpPr>
        <p:spPr>
          <a:xfrm>
            <a:off x="1442684" y="3096455"/>
            <a:ext cx="4376993" cy="1631216"/>
          </a:xfrm>
          <a:prstGeom prst="rect">
            <a:avLst/>
          </a:prstGeom>
          <a:noFill/>
        </p:spPr>
        <p:txBody>
          <a:bodyPr wrap="square" rtlCol="0">
            <a:spAutoFit/>
          </a:bodyPr>
          <a:lstStyle/>
          <a:p>
            <a:r>
              <a:rPr lang="en-GB" sz="1600" b="1" dirty="0">
                <a:solidFill>
                  <a:schemeClr val="accent1">
                    <a:lumMod val="75000"/>
                  </a:schemeClr>
                </a:solidFill>
                <a:latin typeface="NBS Medium" panose="020B0603030303020204" pitchFamily="34" charset="0"/>
              </a:rPr>
              <a:t>DATA INTEGRITY</a:t>
            </a:r>
          </a:p>
          <a:p>
            <a:pPr algn="just"/>
            <a:r>
              <a:rPr lang="en-GB" sz="1200" b="1" dirty="0">
                <a:latin typeface="NBS Light" panose="020B0303030303020204" pitchFamily="34" charset="0"/>
              </a:rPr>
              <a:t>What? </a:t>
            </a:r>
            <a:r>
              <a:rPr lang="en-GB" sz="1200" dirty="0">
                <a:latin typeface="NBS Light" panose="020B0303030303020204" pitchFamily="34" charset="0"/>
              </a:rPr>
              <a:t>–</a:t>
            </a:r>
            <a:r>
              <a:rPr lang="en-GB" sz="1200" b="1" dirty="0">
                <a:latin typeface="NBS Light" panose="020B0303030303020204" pitchFamily="34" charset="0"/>
              </a:rPr>
              <a:t> </a:t>
            </a:r>
            <a:r>
              <a:rPr lang="en-IN" sz="1200" kern="0" dirty="0">
                <a:latin typeface="NBS Light" panose="020B0303030303020204" pitchFamily="34" charset="0"/>
                <a:cs typeface="Arial" pitchFamily="34" charset="0"/>
              </a:rPr>
              <a:t>TM data mapped, quality assessed and date governance documented</a:t>
            </a:r>
          </a:p>
          <a:p>
            <a:pPr algn="just"/>
            <a:r>
              <a:rPr lang="en-IN" sz="1200" b="1" kern="0" dirty="0">
                <a:latin typeface="NBS Light" panose="020B0303030303020204" pitchFamily="34" charset="0"/>
                <a:cs typeface="Arial" pitchFamily="34" charset="0"/>
              </a:rPr>
              <a:t>Why? - </a:t>
            </a:r>
            <a:r>
              <a:rPr lang="en-IN" sz="1200" kern="0" dirty="0">
                <a:latin typeface="NBS Light" panose="020B0303030303020204" pitchFamily="34" charset="0"/>
                <a:cs typeface="Arial" pitchFamily="34" charset="0"/>
              </a:rPr>
              <a:t>To ensure NBS </a:t>
            </a:r>
            <a:r>
              <a:rPr lang="en-GB" sz="1200" dirty="0">
                <a:latin typeface="NBS Light" panose="020B0303030303020204" pitchFamily="34" charset="0"/>
                <a:cs typeface="Agency FB"/>
              </a:rPr>
              <a:t>reviews any/every </a:t>
            </a:r>
            <a:r>
              <a:rPr lang="en-GB" sz="1200" spc="-5" dirty="0">
                <a:latin typeface="NBS Light" panose="020B0303030303020204" pitchFamily="34" charset="0"/>
                <a:cs typeface="Agency FB"/>
              </a:rPr>
              <a:t>instance </a:t>
            </a:r>
            <a:r>
              <a:rPr lang="en-GB" sz="1200" dirty="0">
                <a:latin typeface="NBS Light" panose="020B0303030303020204" pitchFamily="34" charset="0"/>
                <a:cs typeface="Agency FB"/>
              </a:rPr>
              <a:t>of </a:t>
            </a:r>
            <a:r>
              <a:rPr lang="en-GB" sz="1200" spc="-5" dirty="0">
                <a:latin typeface="NBS Light" panose="020B0303030303020204" pitchFamily="34" charset="0"/>
                <a:cs typeface="Agency FB"/>
              </a:rPr>
              <a:t>complex, unusual </a:t>
            </a:r>
            <a:r>
              <a:rPr lang="en-GB" sz="1200" dirty="0">
                <a:latin typeface="NBS Light" panose="020B0303030303020204" pitchFamily="34" charset="0"/>
                <a:cs typeface="Agency FB"/>
              </a:rPr>
              <a:t>and/or </a:t>
            </a:r>
            <a:r>
              <a:rPr lang="en-GB" sz="1200" spc="-5" dirty="0">
                <a:latin typeface="NBS Light" panose="020B0303030303020204" pitchFamily="34" charset="0"/>
                <a:cs typeface="Agency FB"/>
              </a:rPr>
              <a:t>large transactions. </a:t>
            </a:r>
          </a:p>
          <a:p>
            <a:pPr algn="just"/>
            <a:r>
              <a:rPr lang="en-GB" sz="1200" b="1" kern="0" spc="-5" dirty="0">
                <a:latin typeface="NBS Light" panose="020B0303030303020204" pitchFamily="34" charset="0"/>
                <a:cs typeface="Arial" pitchFamily="34" charset="0"/>
              </a:rPr>
              <a:t>Source - </a:t>
            </a:r>
            <a:r>
              <a:rPr lang="en-GB" sz="1200" kern="0" spc="-5" dirty="0">
                <a:latin typeface="NBS Light" panose="020B0303030303020204" pitchFamily="34" charset="0"/>
                <a:cs typeface="Arial" pitchFamily="34" charset="0"/>
              </a:rPr>
              <a:t> </a:t>
            </a:r>
            <a:r>
              <a:rPr lang="en-IN" sz="1200" kern="0" dirty="0">
                <a:latin typeface="NBS Light" panose="020B0303030303020204" pitchFamily="34" charset="0"/>
                <a:cs typeface="Arial" pitchFamily="34" charset="0"/>
              </a:rPr>
              <a:t>KPMG  recommendation, regulatory requirement</a:t>
            </a:r>
          </a:p>
          <a:p>
            <a:pPr algn="just"/>
            <a:r>
              <a:rPr lang="en-IN" sz="1200" b="1" kern="0" dirty="0">
                <a:latin typeface="NBS Light" panose="020B0303030303020204" pitchFamily="34" charset="0"/>
                <a:cs typeface="Arial" pitchFamily="34" charset="0"/>
              </a:rPr>
              <a:t>Status - </a:t>
            </a:r>
            <a:r>
              <a:rPr lang="en-IN" sz="1200" kern="0" dirty="0">
                <a:latin typeface="NBS Light" panose="020B0303030303020204" pitchFamily="34" charset="0"/>
                <a:cs typeface="Arial" pitchFamily="34" charset="0"/>
              </a:rPr>
              <a:t>In progress- at risk, change teams delivering capability, but RACI not agreed to continue this work in </a:t>
            </a:r>
            <a:r>
              <a:rPr lang="en-IN" sz="1200" kern="0" dirty="0" err="1">
                <a:latin typeface="NBS Light" panose="020B0303030303020204" pitchFamily="34" charset="0"/>
                <a:cs typeface="Arial" pitchFamily="34" charset="0"/>
              </a:rPr>
              <a:t>BAU</a:t>
            </a:r>
            <a:endParaRPr lang="en-GB" sz="1200" dirty="0">
              <a:latin typeface="NBS Medium" panose="020B0603030303020204" pitchFamily="34" charset="0"/>
            </a:endParaRPr>
          </a:p>
        </p:txBody>
      </p:sp>
      <p:sp>
        <p:nvSpPr>
          <p:cNvPr id="28" name="Dodecagon 27">
            <a:extLst>
              <a:ext uri="{FF2B5EF4-FFF2-40B4-BE49-F238E27FC236}">
                <a16:creationId xmlns:a16="http://schemas.microsoft.com/office/drawing/2014/main" id="{A5D4A05F-B046-4BC5-8CC0-EED5E27B0517}"/>
              </a:ext>
            </a:extLst>
          </p:cNvPr>
          <p:cNvSpPr/>
          <p:nvPr/>
        </p:nvSpPr>
        <p:spPr>
          <a:xfrm>
            <a:off x="508019" y="3430116"/>
            <a:ext cx="914400" cy="914400"/>
          </a:xfrm>
          <a:prstGeom prst="dodecagon">
            <a:avLst/>
          </a:prstGeom>
          <a:solidFill>
            <a:schemeClr val="accent4">
              <a:lumMod val="40000"/>
              <a:lumOff val="60000"/>
            </a:schemeClr>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dirty="0">
                <a:latin typeface="Elephant" panose="02020904090505020303" pitchFamily="18" charset="0"/>
              </a:rPr>
              <a:t>3</a:t>
            </a:r>
          </a:p>
        </p:txBody>
      </p:sp>
      <p:sp>
        <p:nvSpPr>
          <p:cNvPr id="32" name="Rectangle: Rounded Corners 31">
            <a:extLst>
              <a:ext uri="{FF2B5EF4-FFF2-40B4-BE49-F238E27FC236}">
                <a16:creationId xmlns:a16="http://schemas.microsoft.com/office/drawing/2014/main" id="{324E0439-3EAA-49B0-94D5-AF85D1137CB8}"/>
              </a:ext>
            </a:extLst>
          </p:cNvPr>
          <p:cNvSpPr/>
          <p:nvPr/>
        </p:nvSpPr>
        <p:spPr>
          <a:xfrm>
            <a:off x="464551" y="4916049"/>
            <a:ext cx="5387180" cy="1525458"/>
          </a:xfrm>
          <a:prstGeom prst="roundRect">
            <a:avLst/>
          </a:prstGeom>
          <a:solidFill>
            <a:schemeClr val="bg1">
              <a:lumMod val="85000"/>
            </a:schemeClr>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b="1" dirty="0">
              <a:latin typeface="NBS Medium" panose="020B0603030303020204" pitchFamily="34" charset="0"/>
            </a:endParaRPr>
          </a:p>
        </p:txBody>
      </p:sp>
      <p:sp>
        <p:nvSpPr>
          <p:cNvPr id="33" name="TextBox 32">
            <a:extLst>
              <a:ext uri="{FF2B5EF4-FFF2-40B4-BE49-F238E27FC236}">
                <a16:creationId xmlns:a16="http://schemas.microsoft.com/office/drawing/2014/main" id="{4A6FDAD0-109A-45B8-BF86-49A9C02F5392}"/>
              </a:ext>
            </a:extLst>
          </p:cNvPr>
          <p:cNvSpPr txBox="1"/>
          <p:nvPr/>
        </p:nvSpPr>
        <p:spPr>
          <a:xfrm>
            <a:off x="1470312" y="4925714"/>
            <a:ext cx="4376993" cy="1446550"/>
          </a:xfrm>
          <a:prstGeom prst="rect">
            <a:avLst/>
          </a:prstGeom>
          <a:noFill/>
        </p:spPr>
        <p:txBody>
          <a:bodyPr wrap="square" rtlCol="0">
            <a:spAutoFit/>
          </a:bodyPr>
          <a:lstStyle/>
          <a:p>
            <a:r>
              <a:rPr lang="en-GB" sz="1600" b="1" dirty="0">
                <a:solidFill>
                  <a:schemeClr val="accent1">
                    <a:lumMod val="75000"/>
                  </a:schemeClr>
                </a:solidFill>
                <a:latin typeface="NBS Medium" panose="020B0603030303020204" pitchFamily="34" charset="0"/>
              </a:rPr>
              <a:t>TM RISK APPETITE </a:t>
            </a:r>
          </a:p>
          <a:p>
            <a:pPr algn="just"/>
            <a:r>
              <a:rPr lang="en-GB" sz="1200" b="1" dirty="0">
                <a:latin typeface="NBS Light" panose="020B0303030303020204" pitchFamily="34" charset="0"/>
              </a:rPr>
              <a:t>What? </a:t>
            </a:r>
            <a:r>
              <a:rPr lang="en-GB" sz="1200" dirty="0">
                <a:latin typeface="NBS Light" panose="020B0303030303020204" pitchFamily="34" charset="0"/>
              </a:rPr>
              <a:t>–</a:t>
            </a:r>
            <a:r>
              <a:rPr lang="en-GB" sz="1200" b="1" dirty="0">
                <a:latin typeface="NBS Light" panose="020B0303030303020204" pitchFamily="34" charset="0"/>
              </a:rPr>
              <a:t> </a:t>
            </a:r>
            <a:r>
              <a:rPr lang="en-IN" sz="1200" kern="0" dirty="0">
                <a:latin typeface="NBS Light" panose="020B0303030303020204" pitchFamily="34" charset="0"/>
                <a:cs typeface="Arial" pitchFamily="34" charset="0"/>
              </a:rPr>
              <a:t>documented risk appetite to inform TM control</a:t>
            </a:r>
          </a:p>
          <a:p>
            <a:pPr algn="just"/>
            <a:r>
              <a:rPr lang="en-IN" sz="1200" b="1" kern="0" dirty="0">
                <a:latin typeface="NBS Light" panose="020B0303030303020204" pitchFamily="34" charset="0"/>
                <a:cs typeface="Arial" pitchFamily="34" charset="0"/>
              </a:rPr>
              <a:t>Why? - </a:t>
            </a:r>
            <a:r>
              <a:rPr lang="en-IN" sz="1200" kern="0" dirty="0">
                <a:latin typeface="NBS Light" panose="020B0303030303020204" pitchFamily="34" charset="0"/>
                <a:cs typeface="Arial" pitchFamily="34" charset="0"/>
              </a:rPr>
              <a:t>To ensure NBS risk appetite is reflected in it’s TM controls and the controls are proportionate to the risks NBS are exposed to</a:t>
            </a:r>
          </a:p>
          <a:p>
            <a:pPr algn="just"/>
            <a:r>
              <a:rPr lang="en-IN" sz="1200" b="1" kern="0" dirty="0">
                <a:latin typeface="NBS Light" panose="020B0303030303020204" pitchFamily="34" charset="0"/>
                <a:cs typeface="Arial" pitchFamily="34" charset="0"/>
              </a:rPr>
              <a:t>Source: r</a:t>
            </a:r>
            <a:r>
              <a:rPr lang="en-IN" sz="1200" kern="0" dirty="0">
                <a:latin typeface="NBS Light" panose="020B0303030303020204" pitchFamily="34" charset="0"/>
                <a:cs typeface="Arial" pitchFamily="34" charset="0"/>
              </a:rPr>
              <a:t>egulatory requirement  </a:t>
            </a:r>
          </a:p>
          <a:p>
            <a:pPr algn="just"/>
            <a:r>
              <a:rPr lang="en-IN" sz="1200" b="1" kern="0" dirty="0">
                <a:latin typeface="NBS Light" panose="020B0303030303020204" pitchFamily="34" charset="0"/>
                <a:cs typeface="Arial" pitchFamily="34" charset="0"/>
              </a:rPr>
              <a:t>Status: </a:t>
            </a:r>
            <a:r>
              <a:rPr lang="en-IN" sz="1200" kern="0" dirty="0">
                <a:latin typeface="NBS Light" panose="020B0303030303020204" pitchFamily="34" charset="0"/>
                <a:cs typeface="Arial" pitchFamily="34" charset="0"/>
              </a:rPr>
              <a:t>TM risk assessment outlines risk exposure and controls required, but no documented, quantifiable risk appetite linked to RA</a:t>
            </a:r>
            <a:endParaRPr lang="en-GB" sz="1200" dirty="0">
              <a:latin typeface="NBS Medium" panose="020B0603030303020204" pitchFamily="34" charset="0"/>
            </a:endParaRPr>
          </a:p>
        </p:txBody>
      </p:sp>
      <p:sp>
        <p:nvSpPr>
          <p:cNvPr id="34" name="Dodecagon 33">
            <a:extLst>
              <a:ext uri="{FF2B5EF4-FFF2-40B4-BE49-F238E27FC236}">
                <a16:creationId xmlns:a16="http://schemas.microsoft.com/office/drawing/2014/main" id="{D538B965-F9AC-4311-8D83-25E6EF92A177}"/>
              </a:ext>
            </a:extLst>
          </p:cNvPr>
          <p:cNvSpPr/>
          <p:nvPr/>
        </p:nvSpPr>
        <p:spPr>
          <a:xfrm>
            <a:off x="508019" y="5156077"/>
            <a:ext cx="914400" cy="914400"/>
          </a:xfrm>
          <a:prstGeom prst="dodecagon">
            <a:avLst/>
          </a:prstGeom>
          <a:solidFill>
            <a:schemeClr val="accent4">
              <a:lumMod val="40000"/>
              <a:lumOff val="60000"/>
            </a:schemeClr>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dirty="0">
                <a:latin typeface="Elephant" panose="02020904090505020303" pitchFamily="18" charset="0"/>
              </a:rPr>
              <a:t>5</a:t>
            </a:r>
          </a:p>
        </p:txBody>
      </p:sp>
      <p:sp>
        <p:nvSpPr>
          <p:cNvPr id="35" name="Rectangle: Rounded Corners 34">
            <a:extLst>
              <a:ext uri="{FF2B5EF4-FFF2-40B4-BE49-F238E27FC236}">
                <a16:creationId xmlns:a16="http://schemas.microsoft.com/office/drawing/2014/main" id="{FA3ACE0A-9B56-421B-ACFB-E0E8A42CCB12}"/>
              </a:ext>
            </a:extLst>
          </p:cNvPr>
          <p:cNvSpPr/>
          <p:nvPr/>
        </p:nvSpPr>
        <p:spPr>
          <a:xfrm>
            <a:off x="6096000" y="3126352"/>
            <a:ext cx="5374397" cy="1555084"/>
          </a:xfrm>
          <a:prstGeom prst="roundRect">
            <a:avLst/>
          </a:prstGeom>
          <a:solidFill>
            <a:schemeClr val="bg1">
              <a:lumMod val="85000"/>
            </a:schemeClr>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b="1" dirty="0">
              <a:latin typeface="NBS Medium" panose="020B0603030303020204" pitchFamily="34" charset="0"/>
            </a:endParaRPr>
          </a:p>
        </p:txBody>
      </p:sp>
      <p:sp>
        <p:nvSpPr>
          <p:cNvPr id="36" name="TextBox 35">
            <a:extLst>
              <a:ext uri="{FF2B5EF4-FFF2-40B4-BE49-F238E27FC236}">
                <a16:creationId xmlns:a16="http://schemas.microsoft.com/office/drawing/2014/main" id="{8DB6DFAB-9A41-44BA-92EA-551436778AA8}"/>
              </a:ext>
            </a:extLst>
          </p:cNvPr>
          <p:cNvSpPr txBox="1"/>
          <p:nvPr/>
        </p:nvSpPr>
        <p:spPr>
          <a:xfrm>
            <a:off x="7093403" y="3201731"/>
            <a:ext cx="4376993" cy="1446550"/>
          </a:xfrm>
          <a:prstGeom prst="rect">
            <a:avLst/>
          </a:prstGeom>
          <a:noFill/>
        </p:spPr>
        <p:txBody>
          <a:bodyPr wrap="square" rtlCol="0">
            <a:spAutoFit/>
          </a:bodyPr>
          <a:lstStyle/>
          <a:p>
            <a:r>
              <a:rPr lang="en-GB" sz="1600" b="1" dirty="0">
                <a:solidFill>
                  <a:schemeClr val="accent1">
                    <a:lumMod val="75000"/>
                  </a:schemeClr>
                </a:solidFill>
                <a:latin typeface="NBS Medium" panose="020B0603030303020204" pitchFamily="34" charset="0"/>
              </a:rPr>
              <a:t>TM SYSTEM ASSURANCE</a:t>
            </a:r>
          </a:p>
          <a:p>
            <a:pPr algn="just"/>
            <a:r>
              <a:rPr lang="en-GB" sz="1200" b="1" dirty="0">
                <a:latin typeface="NBS Light" panose="020B0303030303020204" pitchFamily="34" charset="0"/>
              </a:rPr>
              <a:t>What? </a:t>
            </a:r>
            <a:r>
              <a:rPr lang="en-GB" sz="1200" dirty="0">
                <a:latin typeface="NBS Light" panose="020B0303030303020204" pitchFamily="34" charset="0"/>
              </a:rPr>
              <a:t>–</a:t>
            </a:r>
            <a:r>
              <a:rPr lang="en-GB" sz="1200" b="1" dirty="0">
                <a:latin typeface="NBS Light" panose="020B0303030303020204" pitchFamily="34" charset="0"/>
              </a:rPr>
              <a:t> </a:t>
            </a:r>
            <a:r>
              <a:rPr lang="en-IN" sz="1200" kern="0" dirty="0">
                <a:latin typeface="NBS Light" panose="020B0303030303020204" pitchFamily="34" charset="0"/>
                <a:cs typeface="Arial" pitchFamily="34" charset="0"/>
              </a:rPr>
              <a:t>Testing/validation of TM rules and models</a:t>
            </a:r>
          </a:p>
          <a:p>
            <a:pPr algn="just"/>
            <a:r>
              <a:rPr lang="en-IN" sz="1200" b="1" kern="0" dirty="0">
                <a:latin typeface="NBS Light" panose="020B0303030303020204" pitchFamily="34" charset="0"/>
                <a:cs typeface="Arial" pitchFamily="34" charset="0"/>
              </a:rPr>
              <a:t>Why? - </a:t>
            </a:r>
            <a:r>
              <a:rPr lang="en-IN" sz="1200" kern="0" dirty="0">
                <a:latin typeface="NBS Light" panose="020B0303030303020204" pitchFamily="34" charset="0"/>
                <a:cs typeface="Arial" pitchFamily="34" charset="0"/>
              </a:rPr>
              <a:t>To ensure Nationwide identifies and addresses system issues/manual coding errors and missing data in a timely and effective manner and to provide assurance the TM control is operating as designed </a:t>
            </a:r>
          </a:p>
          <a:p>
            <a:r>
              <a:rPr lang="en-GB" sz="1200" b="1" dirty="0">
                <a:latin typeface="NBS Light" panose="020B0303030303020204" pitchFamily="34" charset="0"/>
              </a:rPr>
              <a:t>Source - </a:t>
            </a:r>
            <a:r>
              <a:rPr lang="en-GB" sz="1200" dirty="0" err="1">
                <a:latin typeface="NBS Light" panose="020B0303030303020204" pitchFamily="34" charset="0"/>
              </a:rPr>
              <a:t>Evershed’s</a:t>
            </a:r>
            <a:r>
              <a:rPr lang="en-GB" sz="1200" dirty="0">
                <a:latin typeface="NBS Light" panose="020B0303030303020204" pitchFamily="34" charset="0"/>
              </a:rPr>
              <a:t> review, KPMG Review, Regulatory Requirement </a:t>
            </a:r>
          </a:p>
          <a:p>
            <a:r>
              <a:rPr lang="en-GB" sz="1200" b="1" dirty="0">
                <a:latin typeface="NBS Light" panose="020B0303030303020204" pitchFamily="34" charset="0"/>
              </a:rPr>
              <a:t>Status – </a:t>
            </a:r>
            <a:r>
              <a:rPr lang="en-GB" sz="1200" dirty="0">
                <a:latin typeface="NBS Light" panose="020B0303030303020204" pitchFamily="34" charset="0"/>
              </a:rPr>
              <a:t>Not started </a:t>
            </a:r>
          </a:p>
        </p:txBody>
      </p:sp>
      <p:sp>
        <p:nvSpPr>
          <p:cNvPr id="37" name="Dodecagon 36">
            <a:extLst>
              <a:ext uri="{FF2B5EF4-FFF2-40B4-BE49-F238E27FC236}">
                <a16:creationId xmlns:a16="http://schemas.microsoft.com/office/drawing/2014/main" id="{331314B9-DBE1-432C-9D05-4E3B50174341}"/>
              </a:ext>
            </a:extLst>
          </p:cNvPr>
          <p:cNvSpPr/>
          <p:nvPr/>
        </p:nvSpPr>
        <p:spPr>
          <a:xfrm>
            <a:off x="6179004" y="3429000"/>
            <a:ext cx="914400" cy="914400"/>
          </a:xfrm>
          <a:prstGeom prst="dodecagon">
            <a:avLst/>
          </a:prstGeom>
          <a:solidFill>
            <a:schemeClr val="tx1">
              <a:lumMod val="50000"/>
              <a:lumOff val="50000"/>
            </a:schemeClr>
          </a:solid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dirty="0">
                <a:latin typeface="Elephant" panose="02020904090505020303" pitchFamily="18" charset="0"/>
              </a:rPr>
              <a:t>4</a:t>
            </a:r>
          </a:p>
        </p:txBody>
      </p:sp>
      <p:sp>
        <p:nvSpPr>
          <p:cNvPr id="19" name="TextBox 18">
            <a:extLst>
              <a:ext uri="{FF2B5EF4-FFF2-40B4-BE49-F238E27FC236}">
                <a16:creationId xmlns:a16="http://schemas.microsoft.com/office/drawing/2014/main" id="{692BD395-B46E-471D-A280-83CD33A7CAA7}"/>
              </a:ext>
            </a:extLst>
          </p:cNvPr>
          <p:cNvSpPr txBox="1"/>
          <p:nvPr/>
        </p:nvSpPr>
        <p:spPr>
          <a:xfrm>
            <a:off x="6636204" y="6240870"/>
            <a:ext cx="4645440" cy="276999"/>
          </a:xfrm>
          <a:prstGeom prst="rect">
            <a:avLst/>
          </a:prstGeom>
          <a:noFill/>
        </p:spPr>
        <p:txBody>
          <a:bodyPr wrap="square" rtlCol="0">
            <a:spAutoFit/>
          </a:bodyPr>
          <a:lstStyle/>
          <a:p>
            <a:pPr algn="ctr"/>
            <a:r>
              <a:rPr lang="en-GB" sz="1200" b="1" dirty="0">
                <a:solidFill>
                  <a:srgbClr val="C5E0B4"/>
                </a:solidFill>
                <a:latin typeface="NBS Medium" panose="020B0603030303020204" pitchFamily="34" charset="0"/>
              </a:rPr>
              <a:t>In Progress – On Track  </a:t>
            </a:r>
            <a:r>
              <a:rPr lang="en-GB" sz="1200" b="1" dirty="0">
                <a:solidFill>
                  <a:schemeClr val="accent6"/>
                </a:solidFill>
                <a:latin typeface="NBS Medium" panose="020B0603030303020204" pitchFamily="34" charset="0"/>
              </a:rPr>
              <a:t>	</a:t>
            </a:r>
            <a:r>
              <a:rPr lang="en-GB" sz="1200" b="1" dirty="0">
                <a:solidFill>
                  <a:schemeClr val="accent4">
                    <a:lumMod val="60000"/>
                    <a:lumOff val="40000"/>
                  </a:schemeClr>
                </a:solidFill>
                <a:latin typeface="NBS Medium" panose="020B0603030303020204" pitchFamily="34" charset="0"/>
              </a:rPr>
              <a:t>In Progress – Off Track </a:t>
            </a:r>
            <a:r>
              <a:rPr lang="en-GB" sz="1200" b="1" dirty="0">
                <a:solidFill>
                  <a:srgbClr val="FFC000"/>
                </a:solidFill>
                <a:latin typeface="NBS Medium" panose="020B0603030303020204" pitchFamily="34" charset="0"/>
              </a:rPr>
              <a:t>	</a:t>
            </a:r>
            <a:r>
              <a:rPr lang="en-GB" sz="1200" b="1" dirty="0">
                <a:solidFill>
                  <a:schemeClr val="bg1">
                    <a:lumMod val="50000"/>
                  </a:schemeClr>
                </a:solidFill>
                <a:latin typeface="NBS Medium" panose="020B0603030303020204" pitchFamily="34" charset="0"/>
              </a:rPr>
              <a:t>Not Started</a:t>
            </a:r>
          </a:p>
        </p:txBody>
      </p:sp>
    </p:spTree>
    <p:extLst>
      <p:ext uri="{BB962C8B-B14F-4D97-AF65-F5344CB8AC3E}">
        <p14:creationId xmlns:p14="http://schemas.microsoft.com/office/powerpoint/2010/main" val="1801829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89199A2-1572-492A-ACE8-2789F91F26A4}"/>
              </a:ext>
            </a:extLst>
          </p:cNvPr>
          <p:cNvSpPr/>
          <p:nvPr/>
        </p:nvSpPr>
        <p:spPr>
          <a:xfrm>
            <a:off x="6167670" y="1040946"/>
            <a:ext cx="5672182" cy="5487445"/>
          </a:xfrm>
          <a:prstGeom prst="rect">
            <a:avLst/>
          </a:prstGeom>
          <a:solidFill>
            <a:schemeClr val="bg1"/>
          </a:solidFill>
          <a:ln w="285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56" name="Group 55">
            <a:extLst>
              <a:ext uri="{FF2B5EF4-FFF2-40B4-BE49-F238E27FC236}">
                <a16:creationId xmlns:a16="http://schemas.microsoft.com/office/drawing/2014/main" id="{0101469A-8CBA-4157-8F4A-BFA5B87DB4EF}"/>
              </a:ext>
            </a:extLst>
          </p:cNvPr>
          <p:cNvGrpSpPr/>
          <p:nvPr/>
        </p:nvGrpSpPr>
        <p:grpSpPr>
          <a:xfrm>
            <a:off x="10946150" y="120628"/>
            <a:ext cx="1005206" cy="479127"/>
            <a:chOff x="3236913" y="913342"/>
            <a:chExt cx="1740428" cy="712845"/>
          </a:xfrm>
        </p:grpSpPr>
        <p:pic>
          <p:nvPicPr>
            <p:cNvPr id="57" name="Picture 56" descr="Nationwide BS Logo sRGB.png">
              <a:extLst>
                <a:ext uri="{FF2B5EF4-FFF2-40B4-BE49-F238E27FC236}">
                  <a16:creationId xmlns:a16="http://schemas.microsoft.com/office/drawing/2014/main" id="{D31E04F5-9B77-4C3A-9F99-189B5586FE2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938" t="18020" r="9268" b="14259"/>
            <a:stretch/>
          </p:blipFill>
          <p:spPr>
            <a:xfrm>
              <a:off x="3236913" y="913342"/>
              <a:ext cx="1740428" cy="712845"/>
            </a:xfrm>
            <a:prstGeom prst="rect">
              <a:avLst/>
            </a:prstGeom>
          </p:spPr>
        </p:pic>
        <p:sp>
          <p:nvSpPr>
            <p:cNvPr id="60" name="Rounded Rectangle 16">
              <a:extLst>
                <a:ext uri="{FF2B5EF4-FFF2-40B4-BE49-F238E27FC236}">
                  <a16:creationId xmlns:a16="http://schemas.microsoft.com/office/drawing/2014/main" id="{24626AB6-049B-4A3F-A594-88071FF6B6A4}"/>
                </a:ext>
              </a:extLst>
            </p:cNvPr>
            <p:cNvSpPr/>
            <p:nvPr/>
          </p:nvSpPr>
          <p:spPr>
            <a:xfrm>
              <a:off x="3249341" y="919691"/>
              <a:ext cx="1728000" cy="480613"/>
            </a:xfrm>
            <a:prstGeom prst="roundRect">
              <a:avLst>
                <a:gd name="adj" fmla="val 13275"/>
              </a:avLst>
            </a:prstGeom>
            <a:noFill/>
            <a:ln w="6350" cap="flat" cmpd="sng" algn="ctr">
              <a:solidFill>
                <a:sysClr val="window" lastClr="FFFFFF"/>
              </a:solidFill>
              <a:prstDash val="solid"/>
            </a:ln>
            <a:effectLst/>
          </p:spPr>
          <p:txBody>
            <a:bodyPr rtlCol="0" anchor="ctr"/>
            <a:lstStyle/>
            <a:p>
              <a:pPr marL="0" marR="0" lvl="0" indent="0" algn="ctr" defTabSz="257175" rtl="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8" name="Title 1">
            <a:extLst>
              <a:ext uri="{FF2B5EF4-FFF2-40B4-BE49-F238E27FC236}">
                <a16:creationId xmlns:a16="http://schemas.microsoft.com/office/drawing/2014/main" id="{8DF6DE44-1450-4294-BD40-C8FF137D7C13}"/>
              </a:ext>
            </a:extLst>
          </p:cNvPr>
          <p:cNvSpPr txBox="1">
            <a:spLocks/>
          </p:cNvSpPr>
          <p:nvPr/>
        </p:nvSpPr>
        <p:spPr>
          <a:xfrm>
            <a:off x="352148" y="228716"/>
            <a:ext cx="11717451" cy="967202"/>
          </a:xfrm>
          <a:prstGeom prst="rect">
            <a:avLst/>
          </a:prstGeom>
        </p:spPr>
        <p:txBody>
          <a:bodyPr>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5100" b="0" i="0" u="none" strike="noStrike" kern="1200" cap="none" spc="0" normalizeH="0" baseline="0" noProof="0" dirty="0">
                <a:ln>
                  <a:noFill/>
                </a:ln>
                <a:solidFill>
                  <a:srgbClr val="4472C4">
                    <a:lumMod val="75000"/>
                  </a:srgbClr>
                </a:solidFill>
                <a:effectLst/>
                <a:uLnTx/>
                <a:uFillTx/>
                <a:latin typeface="Elephant" panose="02020904090505020303" pitchFamily="18" charset="0"/>
                <a:ea typeface="+mj-ea"/>
                <a:cs typeface="+mj-cs"/>
              </a:rPr>
              <a:t>Transaction Monitoring – Priorities</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2000" b="1" i="1" u="sng" strike="noStrike" kern="1200" cap="none" spc="0" normalizeH="0" baseline="0" noProof="0" dirty="0">
                <a:ln>
                  <a:noFill/>
                </a:ln>
                <a:solidFill>
                  <a:srgbClr val="C00000"/>
                </a:solidFill>
                <a:effectLst/>
                <a:uLnTx/>
                <a:uFillTx/>
                <a:latin typeface="NBS Medium" panose="020B0603030303020204" pitchFamily="34" charset="0"/>
                <a:ea typeface="+mj-ea"/>
                <a:cs typeface="+mj-cs"/>
              </a:rPr>
              <a:t>Ineffective Controls – </a:t>
            </a:r>
            <a:r>
              <a:rPr kumimoji="0" lang="en-GB" sz="2000" b="0" i="1" u="none" strike="noStrike" kern="1200" cap="none" spc="0" normalizeH="0" baseline="0" noProof="0" dirty="0">
                <a:ln>
                  <a:noFill/>
                </a:ln>
                <a:solidFill>
                  <a:srgbClr val="C00000"/>
                </a:solidFill>
                <a:effectLst/>
                <a:uLnTx/>
                <a:uFillTx/>
                <a:latin typeface="NBS Medium" panose="020B0603030303020204" pitchFamily="34" charset="0"/>
                <a:ea typeface="+mj-ea"/>
                <a:cs typeface="+mj-cs"/>
              </a:rPr>
              <a:t>These below items are the second priority AML Transaction Monitoring priorities due to the level of risk exposure involved with having ineffective TM controls.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000" b="0" i="1" u="none" strike="noStrike" kern="1200" cap="none" spc="0" normalizeH="0" baseline="0" noProof="0" dirty="0">
                <a:ln>
                  <a:noFill/>
                </a:ln>
                <a:solidFill>
                  <a:srgbClr val="C00000"/>
                </a:solidFill>
                <a:effectLst/>
                <a:uLnTx/>
                <a:uFillTx/>
                <a:latin typeface="NBS Medium" panose="020B0603030303020204" pitchFamily="34" charset="0"/>
                <a:ea typeface="+mj-ea"/>
                <a:cs typeface="+mj-cs"/>
              </a:rPr>
              <a:t> </a:t>
            </a:r>
          </a:p>
        </p:txBody>
      </p:sp>
      <p:sp>
        <p:nvSpPr>
          <p:cNvPr id="29" name="Rectangle: Rounded Corners 28">
            <a:extLst>
              <a:ext uri="{FF2B5EF4-FFF2-40B4-BE49-F238E27FC236}">
                <a16:creationId xmlns:a16="http://schemas.microsoft.com/office/drawing/2014/main" id="{55956F9F-3833-43EC-B368-889D3258DA27}"/>
              </a:ext>
            </a:extLst>
          </p:cNvPr>
          <p:cNvSpPr/>
          <p:nvPr/>
        </p:nvSpPr>
        <p:spPr>
          <a:xfrm>
            <a:off x="429620" y="1031559"/>
            <a:ext cx="5387180" cy="1371395"/>
          </a:xfrm>
          <a:prstGeom prst="roundRect">
            <a:avLst/>
          </a:prstGeom>
          <a:solidFill>
            <a:schemeClr val="bg1">
              <a:lumMod val="85000"/>
            </a:schemeClr>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white"/>
              </a:solidFill>
              <a:effectLst/>
              <a:uLnTx/>
              <a:uFillTx/>
              <a:latin typeface="NBS Medium" panose="020B0603030303020204" pitchFamily="34" charset="0"/>
              <a:ea typeface="+mn-ea"/>
              <a:cs typeface="+mn-cs"/>
            </a:endParaRPr>
          </a:p>
        </p:txBody>
      </p:sp>
      <p:sp>
        <p:nvSpPr>
          <p:cNvPr id="30" name="TextBox 29">
            <a:extLst>
              <a:ext uri="{FF2B5EF4-FFF2-40B4-BE49-F238E27FC236}">
                <a16:creationId xmlns:a16="http://schemas.microsoft.com/office/drawing/2014/main" id="{BAD14110-6BE4-4DF8-858A-6EB20DA8FE94}"/>
              </a:ext>
            </a:extLst>
          </p:cNvPr>
          <p:cNvSpPr txBox="1"/>
          <p:nvPr/>
        </p:nvSpPr>
        <p:spPr>
          <a:xfrm>
            <a:off x="1439807" y="1012024"/>
            <a:ext cx="4376993" cy="144655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4472C4">
                    <a:lumMod val="75000"/>
                  </a:srgbClr>
                </a:solidFill>
                <a:effectLst/>
                <a:uLnTx/>
                <a:uFillTx/>
                <a:latin typeface="NBS Medium" panose="020B0603030303020204" pitchFamily="34" charset="0"/>
                <a:ea typeface="+mn-ea"/>
                <a:cs typeface="+mn-cs"/>
              </a:rPr>
              <a:t>TM SYSTEM GOVERNANCE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150" b="1" i="0" u="none" strike="noStrike" kern="1200" cap="none" spc="0" normalizeH="0" baseline="0" noProof="0" dirty="0">
                <a:ln>
                  <a:noFill/>
                </a:ln>
                <a:solidFill>
                  <a:prstClr val="black"/>
                </a:solidFill>
                <a:effectLst/>
                <a:uLnTx/>
                <a:uFillTx/>
                <a:latin typeface="NBS Light" panose="020B0303030303020204" pitchFamily="34" charset="0"/>
                <a:ea typeface="+mn-ea"/>
                <a:cs typeface="+mn-cs"/>
              </a:rPr>
              <a:t>What? </a:t>
            </a:r>
            <a:r>
              <a:rPr kumimoji="0" lang="en-GB" sz="1150" b="0" i="0" u="none" strike="noStrike" kern="1200" cap="none" spc="0" normalizeH="0" baseline="0" noProof="0" dirty="0">
                <a:ln>
                  <a:noFill/>
                </a:ln>
                <a:solidFill>
                  <a:prstClr val="black"/>
                </a:solidFill>
                <a:effectLst/>
                <a:uLnTx/>
                <a:uFillTx/>
                <a:latin typeface="NBS Light" panose="020B0303030303020204" pitchFamily="34" charset="0"/>
                <a:ea typeface="+mn-ea"/>
                <a:cs typeface="+mn-cs"/>
              </a:rPr>
              <a:t>–</a:t>
            </a:r>
            <a:r>
              <a:rPr kumimoji="0" lang="en-GB" sz="1150" b="1" i="0" u="none" strike="noStrike" kern="1200" cap="none" spc="0" normalizeH="0" baseline="0" noProof="0" dirty="0">
                <a:ln>
                  <a:noFill/>
                </a:ln>
                <a:solidFill>
                  <a:prstClr val="black"/>
                </a:solidFill>
                <a:effectLst/>
                <a:uLnTx/>
                <a:uFillTx/>
                <a:latin typeface="NBS Light" panose="020B0303030303020204" pitchFamily="34" charset="0"/>
                <a:ea typeface="+mn-ea"/>
                <a:cs typeface="+mn-cs"/>
              </a:rPr>
              <a:t> </a:t>
            </a:r>
            <a:r>
              <a:rPr kumimoji="0" lang="en-IN" sz="1150" b="0"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Segregation of duties, test environment and system controls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1150" b="1"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Why? - </a:t>
            </a:r>
            <a:r>
              <a:rPr kumimoji="0" lang="en-IN" sz="1150" b="0"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To ensure changes to system, models, coding are only possible to those with permissions and are maintained in an audit trail and to minimise coding errors to prevent NBS coming under regulator scrutiny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50" b="1" i="0" u="none" strike="noStrike" kern="1200" cap="none" spc="0" normalizeH="0" baseline="0" noProof="0" dirty="0">
                <a:ln>
                  <a:noFill/>
                </a:ln>
                <a:solidFill>
                  <a:prstClr val="black"/>
                </a:solidFill>
                <a:effectLst/>
                <a:uLnTx/>
                <a:uFillTx/>
                <a:latin typeface="NBS Light" panose="020B0303030303020204" pitchFamily="34" charset="0"/>
                <a:ea typeface="+mn-ea"/>
                <a:cs typeface="+mn-cs"/>
              </a:rPr>
              <a:t>Source: </a:t>
            </a:r>
            <a:r>
              <a:rPr kumimoji="0" lang="en-GB" sz="1150" b="0" i="0" u="none" strike="noStrike" kern="1200" cap="none" spc="0" normalizeH="0" baseline="0" noProof="0" dirty="0">
                <a:ln>
                  <a:noFill/>
                </a:ln>
                <a:solidFill>
                  <a:prstClr val="black"/>
                </a:solidFill>
                <a:effectLst/>
                <a:uLnTx/>
                <a:uFillTx/>
                <a:latin typeface="NBS Light" panose="020B0303030303020204" pitchFamily="34" charset="0"/>
                <a:ea typeface="+mn-ea"/>
                <a:cs typeface="+mn-cs"/>
              </a:rPr>
              <a:t>Internal Audit, KPMG recommendation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50" b="1" i="0" u="none" strike="noStrike" kern="1200" cap="none" spc="0" normalizeH="0" baseline="0" noProof="0" dirty="0">
                <a:ln>
                  <a:noFill/>
                </a:ln>
                <a:solidFill>
                  <a:prstClr val="black"/>
                </a:solidFill>
                <a:effectLst/>
                <a:uLnTx/>
                <a:uFillTx/>
                <a:latin typeface="NBS Light" panose="020B0303030303020204" pitchFamily="34" charset="0"/>
                <a:ea typeface="+mn-ea"/>
                <a:cs typeface="+mn-cs"/>
              </a:rPr>
              <a:t>Status</a:t>
            </a:r>
            <a:r>
              <a:rPr kumimoji="0" lang="en-GB" sz="1150" b="0" i="0" u="none" strike="noStrike" kern="1200" cap="none" spc="0" normalizeH="0" baseline="0" noProof="0" dirty="0">
                <a:ln>
                  <a:noFill/>
                </a:ln>
                <a:solidFill>
                  <a:prstClr val="black"/>
                </a:solidFill>
                <a:effectLst/>
                <a:uLnTx/>
                <a:uFillTx/>
                <a:latin typeface="NBS Light" panose="020B0303030303020204" pitchFamily="34" charset="0"/>
                <a:ea typeface="+mn-ea"/>
                <a:cs typeface="+mn-cs"/>
              </a:rPr>
              <a:t>: Not started </a:t>
            </a:r>
          </a:p>
        </p:txBody>
      </p:sp>
      <p:sp>
        <p:nvSpPr>
          <p:cNvPr id="31" name="Dodecagon 30">
            <a:extLst>
              <a:ext uri="{FF2B5EF4-FFF2-40B4-BE49-F238E27FC236}">
                <a16:creationId xmlns:a16="http://schemas.microsoft.com/office/drawing/2014/main" id="{BD1A0C16-8FC5-4E76-A942-1E3076FEEA7B}"/>
              </a:ext>
            </a:extLst>
          </p:cNvPr>
          <p:cNvSpPr/>
          <p:nvPr/>
        </p:nvSpPr>
        <p:spPr>
          <a:xfrm>
            <a:off x="484876" y="1144122"/>
            <a:ext cx="914400" cy="914400"/>
          </a:xfrm>
          <a:prstGeom prst="dodecagon">
            <a:avLst/>
          </a:prstGeom>
          <a:solidFill>
            <a:schemeClr val="tx1">
              <a:lumMod val="50000"/>
              <a:lumOff val="50000"/>
            </a:schemeClr>
          </a:solid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prstClr val="white"/>
                </a:solidFill>
                <a:effectLst/>
                <a:uLnTx/>
                <a:uFillTx/>
                <a:latin typeface="Elephant" panose="02020904090505020303" pitchFamily="18" charset="0"/>
                <a:ea typeface="+mn-ea"/>
                <a:cs typeface="+mn-cs"/>
              </a:rPr>
              <a:t>6</a:t>
            </a:r>
          </a:p>
        </p:txBody>
      </p:sp>
      <p:sp>
        <p:nvSpPr>
          <p:cNvPr id="38" name="Rectangle: Rounded Corners 37">
            <a:extLst>
              <a:ext uri="{FF2B5EF4-FFF2-40B4-BE49-F238E27FC236}">
                <a16:creationId xmlns:a16="http://schemas.microsoft.com/office/drawing/2014/main" id="{BF991525-6A3A-4F41-B33C-A62AC9D6F4B4}"/>
              </a:ext>
            </a:extLst>
          </p:cNvPr>
          <p:cNvSpPr/>
          <p:nvPr/>
        </p:nvSpPr>
        <p:spPr>
          <a:xfrm>
            <a:off x="429251" y="2535570"/>
            <a:ext cx="5387180" cy="1323299"/>
          </a:xfrm>
          <a:prstGeom prst="roundRect">
            <a:avLst/>
          </a:prstGeom>
          <a:solidFill>
            <a:schemeClr val="bg1">
              <a:lumMod val="85000"/>
            </a:schemeClr>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white"/>
              </a:solidFill>
              <a:effectLst/>
              <a:uLnTx/>
              <a:uFillTx/>
              <a:latin typeface="NBS Medium" panose="020B0603030303020204" pitchFamily="34" charset="0"/>
              <a:ea typeface="+mn-ea"/>
              <a:cs typeface="+mn-cs"/>
            </a:endParaRPr>
          </a:p>
        </p:txBody>
      </p:sp>
      <p:sp>
        <p:nvSpPr>
          <p:cNvPr id="39" name="TextBox 38">
            <a:extLst>
              <a:ext uri="{FF2B5EF4-FFF2-40B4-BE49-F238E27FC236}">
                <a16:creationId xmlns:a16="http://schemas.microsoft.com/office/drawing/2014/main" id="{6718FB9A-8CCD-433F-A7CD-3D725325FCFF}"/>
              </a:ext>
            </a:extLst>
          </p:cNvPr>
          <p:cNvSpPr txBox="1"/>
          <p:nvPr/>
        </p:nvSpPr>
        <p:spPr>
          <a:xfrm>
            <a:off x="1398907" y="2498096"/>
            <a:ext cx="4376993" cy="16312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4472C4">
                    <a:lumMod val="75000"/>
                  </a:srgbClr>
                </a:solidFill>
                <a:effectLst/>
                <a:uLnTx/>
                <a:uFillTx/>
                <a:latin typeface="NBS Medium" panose="020B0603030303020204" pitchFamily="34" charset="0"/>
                <a:ea typeface="+mn-ea"/>
                <a:cs typeface="+mn-cs"/>
              </a:rPr>
              <a:t>ALERT FREQUENCY</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150" b="1" i="0" u="none" strike="noStrike" kern="1200" cap="none" spc="0" normalizeH="0" baseline="0" noProof="0" dirty="0">
                <a:ln>
                  <a:noFill/>
                </a:ln>
                <a:solidFill>
                  <a:prstClr val="black"/>
                </a:solidFill>
                <a:effectLst/>
                <a:uLnTx/>
                <a:uFillTx/>
                <a:latin typeface="NBS Light" panose="020B0303030303020204" pitchFamily="34" charset="0"/>
                <a:ea typeface="+mn-ea"/>
                <a:cs typeface="+mn-cs"/>
              </a:rPr>
              <a:t>What? </a:t>
            </a:r>
            <a:r>
              <a:rPr kumimoji="0" lang="en-GB" sz="1150" b="0" i="0" u="none" strike="noStrike" kern="1200" cap="none" spc="0" normalizeH="0" baseline="0" noProof="0" dirty="0">
                <a:ln>
                  <a:noFill/>
                </a:ln>
                <a:solidFill>
                  <a:prstClr val="black"/>
                </a:solidFill>
                <a:effectLst/>
                <a:uLnTx/>
                <a:uFillTx/>
                <a:latin typeface="NBS Light" panose="020B0303030303020204" pitchFamily="34" charset="0"/>
                <a:ea typeface="+mn-ea"/>
                <a:cs typeface="+mn-cs"/>
              </a:rPr>
              <a:t>–</a:t>
            </a:r>
            <a:r>
              <a:rPr kumimoji="0" lang="en-GB" sz="1150" b="1" i="0" u="none" strike="noStrike" kern="1200" cap="none" spc="0" normalizeH="0" baseline="0" noProof="0" dirty="0">
                <a:ln>
                  <a:noFill/>
                </a:ln>
                <a:solidFill>
                  <a:prstClr val="black"/>
                </a:solidFill>
                <a:effectLst/>
                <a:uLnTx/>
                <a:uFillTx/>
                <a:latin typeface="NBS Light" panose="020B0303030303020204" pitchFamily="34" charset="0"/>
                <a:ea typeface="+mn-ea"/>
                <a:cs typeface="+mn-cs"/>
              </a:rPr>
              <a:t> </a:t>
            </a:r>
            <a:r>
              <a:rPr kumimoji="0" lang="en-IN" sz="1150" b="0"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frequency of rules and alerts appropriately manages NBS risks</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1150" b="1"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Why? - </a:t>
            </a:r>
            <a:r>
              <a:rPr kumimoji="0" lang="en-IN" sz="1150" b="0"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To ensure Nationwide identifies financial crime risks in a timely manner and alert frequency is proportionate to the risk Nationwide are exposed to</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1150" b="1"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Source: </a:t>
            </a:r>
            <a:r>
              <a:rPr kumimoji="0" lang="en-IN" sz="1150" b="0"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KPMG recommendation, </a:t>
            </a:r>
            <a:r>
              <a:rPr kumimoji="0" lang="en-IN" sz="1150" b="0" i="0" u="none" strike="noStrike" kern="0" cap="none" spc="0" normalizeH="0" baseline="0" noProof="0" dirty="0" err="1">
                <a:ln>
                  <a:noFill/>
                </a:ln>
                <a:solidFill>
                  <a:prstClr val="black"/>
                </a:solidFill>
                <a:effectLst/>
                <a:uLnTx/>
                <a:uFillTx/>
                <a:latin typeface="NBS Light" panose="020B0303030303020204" pitchFamily="34" charset="0"/>
                <a:ea typeface="+mn-ea"/>
                <a:cs typeface="Arial" pitchFamily="34" charset="0"/>
              </a:rPr>
              <a:t>JMLSG</a:t>
            </a:r>
            <a:r>
              <a:rPr kumimoji="0" lang="en-IN" sz="1150" b="0"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1150" b="1"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Status: </a:t>
            </a:r>
            <a:r>
              <a:rPr kumimoji="0" lang="en-IN" sz="1150" b="0"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Not started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prstClr val="black"/>
              </a:solidFill>
              <a:effectLst/>
              <a:uLnTx/>
              <a:uFillTx/>
              <a:latin typeface="NBS Medium" panose="020B0603030303020204" pitchFamily="34" charset="0"/>
              <a:ea typeface="+mn-ea"/>
              <a:cs typeface="+mn-cs"/>
            </a:endParaRPr>
          </a:p>
        </p:txBody>
      </p:sp>
      <p:sp>
        <p:nvSpPr>
          <p:cNvPr id="40" name="Dodecagon 39">
            <a:extLst>
              <a:ext uri="{FF2B5EF4-FFF2-40B4-BE49-F238E27FC236}">
                <a16:creationId xmlns:a16="http://schemas.microsoft.com/office/drawing/2014/main" id="{A9E5AF24-E908-4A6A-83FD-B2C253A744BF}"/>
              </a:ext>
            </a:extLst>
          </p:cNvPr>
          <p:cNvSpPr/>
          <p:nvPr/>
        </p:nvSpPr>
        <p:spPr>
          <a:xfrm>
            <a:off x="484507" y="2648133"/>
            <a:ext cx="914400" cy="914400"/>
          </a:xfrm>
          <a:prstGeom prst="dodecagon">
            <a:avLst/>
          </a:prstGeom>
          <a:solidFill>
            <a:schemeClr val="tx1">
              <a:lumMod val="50000"/>
              <a:lumOff val="50000"/>
            </a:schemeClr>
          </a:solid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prstClr val="white"/>
                </a:solidFill>
                <a:effectLst/>
                <a:uLnTx/>
                <a:uFillTx/>
                <a:latin typeface="Elephant" panose="02020904090505020303" pitchFamily="18" charset="0"/>
                <a:ea typeface="+mn-ea"/>
                <a:cs typeface="+mn-cs"/>
              </a:rPr>
              <a:t>7</a:t>
            </a:r>
          </a:p>
        </p:txBody>
      </p:sp>
      <p:sp>
        <p:nvSpPr>
          <p:cNvPr id="41" name="Rectangle: Rounded Corners 40">
            <a:extLst>
              <a:ext uri="{FF2B5EF4-FFF2-40B4-BE49-F238E27FC236}">
                <a16:creationId xmlns:a16="http://schemas.microsoft.com/office/drawing/2014/main" id="{A6B49AB9-17A4-4DAB-9BC2-390F4C6575C4}"/>
              </a:ext>
            </a:extLst>
          </p:cNvPr>
          <p:cNvSpPr/>
          <p:nvPr/>
        </p:nvSpPr>
        <p:spPr>
          <a:xfrm>
            <a:off x="429620" y="3962585"/>
            <a:ext cx="5387180" cy="1281753"/>
          </a:xfrm>
          <a:prstGeom prst="roundRect">
            <a:avLst/>
          </a:prstGeom>
          <a:solidFill>
            <a:schemeClr val="bg1">
              <a:lumMod val="85000"/>
            </a:schemeClr>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white"/>
              </a:solidFill>
              <a:effectLst/>
              <a:uLnTx/>
              <a:uFillTx/>
              <a:latin typeface="NBS Medium" panose="020B0603030303020204" pitchFamily="34" charset="0"/>
              <a:ea typeface="+mn-ea"/>
              <a:cs typeface="+mn-cs"/>
            </a:endParaRPr>
          </a:p>
        </p:txBody>
      </p:sp>
      <p:sp>
        <p:nvSpPr>
          <p:cNvPr id="42" name="TextBox 41">
            <a:extLst>
              <a:ext uri="{FF2B5EF4-FFF2-40B4-BE49-F238E27FC236}">
                <a16:creationId xmlns:a16="http://schemas.microsoft.com/office/drawing/2014/main" id="{E84978B7-1F02-443F-B0BE-D33EC19B2472}"/>
              </a:ext>
            </a:extLst>
          </p:cNvPr>
          <p:cNvSpPr txBox="1"/>
          <p:nvPr/>
        </p:nvSpPr>
        <p:spPr>
          <a:xfrm>
            <a:off x="1430435" y="3962585"/>
            <a:ext cx="4376993" cy="14080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4472C4">
                    <a:lumMod val="75000"/>
                  </a:srgbClr>
                </a:solidFill>
                <a:effectLst/>
                <a:uLnTx/>
                <a:uFillTx/>
                <a:latin typeface="NBS Medium" panose="020B0603030303020204" pitchFamily="34" charset="0"/>
                <a:ea typeface="+mn-ea"/>
                <a:cs typeface="+mn-cs"/>
              </a:rPr>
              <a:t>TM OPERATING MODEL</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150" b="1" i="0" u="none" strike="noStrike" kern="1200" cap="none" spc="0" normalizeH="0" baseline="0" noProof="0" dirty="0">
                <a:ln>
                  <a:noFill/>
                </a:ln>
                <a:solidFill>
                  <a:prstClr val="black"/>
                </a:solidFill>
                <a:effectLst/>
                <a:uLnTx/>
                <a:uFillTx/>
                <a:latin typeface="NBS Light" panose="020B0303030303020204" pitchFamily="34" charset="0"/>
                <a:ea typeface="+mn-ea"/>
                <a:cs typeface="+mn-cs"/>
              </a:rPr>
              <a:t>What? </a:t>
            </a:r>
            <a:r>
              <a:rPr kumimoji="0" lang="en-GB" sz="1150" b="0" i="0" u="none" strike="noStrike" kern="1200" cap="none" spc="0" normalizeH="0" baseline="0" noProof="0" dirty="0">
                <a:ln>
                  <a:noFill/>
                </a:ln>
                <a:solidFill>
                  <a:prstClr val="black"/>
                </a:solidFill>
                <a:effectLst/>
                <a:uLnTx/>
                <a:uFillTx/>
                <a:latin typeface="NBS Light" panose="020B0303030303020204" pitchFamily="34" charset="0"/>
                <a:ea typeface="+mn-ea"/>
                <a:cs typeface="+mn-cs"/>
              </a:rPr>
              <a:t>–</a:t>
            </a:r>
            <a:r>
              <a:rPr kumimoji="0" lang="en-GB" sz="1150" b="1" i="0" u="none" strike="noStrike" kern="1200" cap="none" spc="0" normalizeH="0" baseline="0" noProof="0" dirty="0">
                <a:ln>
                  <a:noFill/>
                </a:ln>
                <a:solidFill>
                  <a:prstClr val="black"/>
                </a:solidFill>
                <a:effectLst/>
                <a:uLnTx/>
                <a:uFillTx/>
                <a:latin typeface="NBS Light" panose="020B0303030303020204" pitchFamily="34" charset="0"/>
                <a:ea typeface="+mn-ea"/>
                <a:cs typeface="+mn-cs"/>
              </a:rPr>
              <a:t> </a:t>
            </a:r>
            <a:r>
              <a:rPr kumimoji="0" lang="en-IN" sz="1150" b="0"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Op model continues to meet requirements of TM capability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1150" b="1"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Why? - </a:t>
            </a:r>
            <a:r>
              <a:rPr kumimoji="0" lang="en-IN" sz="1150" b="0"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To ensure the op model enables the TM control to operate effectively</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1150" b="1"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Source: </a:t>
            </a:r>
            <a:r>
              <a:rPr kumimoji="0" lang="en-IN" sz="1150" b="0" i="0" u="none" strike="noStrike" kern="0" cap="none" spc="0" normalizeH="0" baseline="0" noProof="0" dirty="0" err="1">
                <a:ln>
                  <a:noFill/>
                </a:ln>
                <a:solidFill>
                  <a:prstClr val="black"/>
                </a:solidFill>
                <a:effectLst/>
                <a:uLnTx/>
                <a:uFillTx/>
                <a:latin typeface="NBS Light" panose="020B0303030303020204" pitchFamily="34" charset="0"/>
                <a:ea typeface="+mn-ea"/>
                <a:cs typeface="Arial" pitchFamily="34" charset="0"/>
              </a:rPr>
              <a:t>Evershed’s</a:t>
            </a:r>
            <a:r>
              <a:rPr kumimoji="0" lang="en-IN" sz="1150" b="0"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 review and KPMG recommendations</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1150" b="1"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Status</a:t>
            </a:r>
            <a:r>
              <a:rPr kumimoji="0" lang="en-IN" sz="1150" b="0"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 In Progress, </a:t>
            </a:r>
            <a:r>
              <a:rPr kumimoji="0" lang="en-IN" sz="1150" b="0" i="0" u="none" strike="noStrike" kern="0" cap="none" spc="0" normalizeH="0" baseline="0" noProof="0" dirty="0" err="1">
                <a:ln>
                  <a:noFill/>
                </a:ln>
                <a:solidFill>
                  <a:prstClr val="black"/>
                </a:solidFill>
                <a:effectLst/>
                <a:uLnTx/>
                <a:uFillTx/>
                <a:latin typeface="NBS Light" panose="020B0303030303020204" pitchFamily="34" charset="0"/>
                <a:ea typeface="+mn-ea"/>
                <a:cs typeface="Arial" pitchFamily="34" charset="0"/>
              </a:rPr>
              <a:t>Evershed’s</a:t>
            </a:r>
            <a:r>
              <a:rPr kumimoji="0" lang="en-IN" sz="1150" b="0"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a:t>
            </a:r>
            <a:r>
              <a:rPr kumimoji="0" lang="en-IN" sz="1150" b="0" i="0" u="none" strike="noStrike" kern="0" cap="none" spc="0" normalizeH="0" baseline="0" noProof="0" dirty="0" err="1">
                <a:ln>
                  <a:noFill/>
                </a:ln>
                <a:solidFill>
                  <a:prstClr val="black"/>
                </a:solidFill>
                <a:effectLst/>
                <a:uLnTx/>
                <a:uFillTx/>
                <a:latin typeface="NBS Light" panose="020B0303030303020204" pitchFamily="34" charset="0"/>
                <a:ea typeface="+mn-ea"/>
                <a:cs typeface="Arial" pitchFamily="34" charset="0"/>
              </a:rPr>
              <a:t>Konexo</a:t>
            </a:r>
            <a:r>
              <a:rPr kumimoji="0" lang="en-IN" sz="1150" b="0"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 FC Transformation Programme and ongoing review of analytics/ops resource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prstClr val="black"/>
              </a:solidFill>
              <a:effectLst/>
              <a:uLnTx/>
              <a:uFillTx/>
              <a:latin typeface="NBS Medium" panose="020B0603030303020204" pitchFamily="34" charset="0"/>
              <a:ea typeface="+mn-ea"/>
              <a:cs typeface="+mn-cs"/>
            </a:endParaRPr>
          </a:p>
        </p:txBody>
      </p:sp>
      <p:sp>
        <p:nvSpPr>
          <p:cNvPr id="43" name="Dodecagon 42">
            <a:extLst>
              <a:ext uri="{FF2B5EF4-FFF2-40B4-BE49-F238E27FC236}">
                <a16:creationId xmlns:a16="http://schemas.microsoft.com/office/drawing/2014/main" id="{53810AD6-4888-45B9-A4D3-A9BFE621C90B}"/>
              </a:ext>
            </a:extLst>
          </p:cNvPr>
          <p:cNvSpPr/>
          <p:nvPr/>
        </p:nvSpPr>
        <p:spPr>
          <a:xfrm>
            <a:off x="484507" y="4152144"/>
            <a:ext cx="914400" cy="914400"/>
          </a:xfrm>
          <a:prstGeom prst="dodecagon">
            <a:avLst/>
          </a:prstGeom>
          <a:solidFill>
            <a:srgbClr val="C5E0B4"/>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prstClr val="white"/>
                </a:solidFill>
                <a:effectLst/>
                <a:uLnTx/>
                <a:uFillTx/>
                <a:latin typeface="Elephant" panose="02020904090505020303" pitchFamily="18" charset="0"/>
                <a:ea typeface="+mn-ea"/>
                <a:cs typeface="+mn-cs"/>
              </a:rPr>
              <a:t>8</a:t>
            </a:r>
          </a:p>
        </p:txBody>
      </p:sp>
      <p:sp>
        <p:nvSpPr>
          <p:cNvPr id="47" name="Rectangle: Rounded Corners 46">
            <a:extLst>
              <a:ext uri="{FF2B5EF4-FFF2-40B4-BE49-F238E27FC236}">
                <a16:creationId xmlns:a16="http://schemas.microsoft.com/office/drawing/2014/main" id="{A3305B54-FA66-4A05-80BE-14D88CF5BD3D}"/>
              </a:ext>
            </a:extLst>
          </p:cNvPr>
          <p:cNvSpPr/>
          <p:nvPr/>
        </p:nvSpPr>
        <p:spPr>
          <a:xfrm>
            <a:off x="429620" y="5314304"/>
            <a:ext cx="5387180" cy="1342617"/>
          </a:xfrm>
          <a:prstGeom prst="roundRect">
            <a:avLst/>
          </a:prstGeom>
          <a:solidFill>
            <a:schemeClr val="bg1">
              <a:lumMod val="85000"/>
            </a:schemeClr>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white"/>
              </a:solidFill>
              <a:effectLst/>
              <a:uLnTx/>
              <a:uFillTx/>
              <a:latin typeface="NBS Medium" panose="020B0603030303020204" pitchFamily="34" charset="0"/>
              <a:ea typeface="+mn-ea"/>
              <a:cs typeface="+mn-cs"/>
            </a:endParaRPr>
          </a:p>
        </p:txBody>
      </p:sp>
      <p:sp>
        <p:nvSpPr>
          <p:cNvPr id="48" name="TextBox 47">
            <a:extLst>
              <a:ext uri="{FF2B5EF4-FFF2-40B4-BE49-F238E27FC236}">
                <a16:creationId xmlns:a16="http://schemas.microsoft.com/office/drawing/2014/main" id="{93EC44EE-8A1B-491F-85B5-2268EDCABEFB}"/>
              </a:ext>
            </a:extLst>
          </p:cNvPr>
          <p:cNvSpPr txBox="1"/>
          <p:nvPr/>
        </p:nvSpPr>
        <p:spPr>
          <a:xfrm>
            <a:off x="1439807" y="5314304"/>
            <a:ext cx="4376993" cy="16312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4472C4">
                    <a:lumMod val="75000"/>
                  </a:srgbClr>
                </a:solidFill>
                <a:effectLst/>
                <a:uLnTx/>
                <a:uFillTx/>
                <a:latin typeface="NBS Medium" panose="020B0603030303020204" pitchFamily="34" charset="0"/>
                <a:ea typeface="+mn-ea"/>
                <a:cs typeface="+mn-cs"/>
              </a:rPr>
              <a:t>MI/ONGOING MONITORING</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150" b="1" i="0" u="none" strike="noStrike" kern="1200" cap="none" spc="0" normalizeH="0" baseline="0" noProof="0" dirty="0">
                <a:ln>
                  <a:noFill/>
                </a:ln>
                <a:solidFill>
                  <a:prstClr val="black"/>
                </a:solidFill>
                <a:effectLst/>
                <a:uLnTx/>
                <a:uFillTx/>
                <a:latin typeface="NBS Light" panose="020B0303030303020204" pitchFamily="34" charset="0"/>
                <a:ea typeface="+mn-ea"/>
                <a:cs typeface="+mn-cs"/>
              </a:rPr>
              <a:t>What? </a:t>
            </a:r>
            <a:r>
              <a:rPr kumimoji="0" lang="en-GB" sz="1150" b="0" i="0" u="none" strike="noStrike" kern="1200" cap="none" spc="0" normalizeH="0" baseline="0" noProof="0" dirty="0">
                <a:ln>
                  <a:noFill/>
                </a:ln>
                <a:solidFill>
                  <a:prstClr val="black"/>
                </a:solidFill>
                <a:effectLst/>
                <a:uLnTx/>
                <a:uFillTx/>
                <a:latin typeface="NBS Light" panose="020B0303030303020204" pitchFamily="34" charset="0"/>
                <a:ea typeface="+mn-ea"/>
                <a:cs typeface="+mn-cs"/>
              </a:rPr>
              <a:t>–</a:t>
            </a:r>
            <a:r>
              <a:rPr kumimoji="0" lang="en-GB" sz="1150" b="1" i="0" u="none" strike="noStrike" kern="1200" cap="none" spc="0" normalizeH="0" baseline="0" noProof="0" dirty="0">
                <a:ln>
                  <a:noFill/>
                </a:ln>
                <a:solidFill>
                  <a:prstClr val="black"/>
                </a:solidFill>
                <a:effectLst/>
                <a:uLnTx/>
                <a:uFillTx/>
                <a:latin typeface="NBS Light" panose="020B0303030303020204" pitchFamily="34" charset="0"/>
                <a:ea typeface="+mn-ea"/>
                <a:cs typeface="+mn-cs"/>
              </a:rPr>
              <a:t> </a:t>
            </a:r>
            <a:r>
              <a:rPr kumimoji="0" lang="en-IN" sz="1150" b="0"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Comprehensive MI approach to track progress, inform rule enhancements, ongoing monitoring and feedback loop from operations</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1150" b="1"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Why? - </a:t>
            </a:r>
            <a:r>
              <a:rPr kumimoji="0" lang="en-IN" sz="1150" b="0"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to ensure TM rules remain effective and manage the risks nationwide are exposed to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1150" b="1"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Source – </a:t>
            </a:r>
            <a:r>
              <a:rPr kumimoji="0" lang="en-IN" sz="1150" b="0"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KPMG, Internal asks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1150" b="1"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Status: </a:t>
            </a:r>
            <a:r>
              <a:rPr kumimoji="0" lang="en-IN" sz="1150" b="0"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In progress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prstClr val="black"/>
              </a:solidFill>
              <a:effectLst/>
              <a:uLnTx/>
              <a:uFillTx/>
              <a:latin typeface="NBS Medium" panose="020B0603030303020204" pitchFamily="34" charset="0"/>
              <a:ea typeface="+mn-ea"/>
              <a:cs typeface="+mn-cs"/>
            </a:endParaRPr>
          </a:p>
        </p:txBody>
      </p:sp>
      <p:sp>
        <p:nvSpPr>
          <p:cNvPr id="49" name="Dodecagon 48">
            <a:extLst>
              <a:ext uri="{FF2B5EF4-FFF2-40B4-BE49-F238E27FC236}">
                <a16:creationId xmlns:a16="http://schemas.microsoft.com/office/drawing/2014/main" id="{729D2B8A-2258-4386-8440-B78AEE48340E}"/>
              </a:ext>
            </a:extLst>
          </p:cNvPr>
          <p:cNvSpPr/>
          <p:nvPr/>
        </p:nvSpPr>
        <p:spPr>
          <a:xfrm>
            <a:off x="484507" y="5528412"/>
            <a:ext cx="914400" cy="914400"/>
          </a:xfrm>
          <a:prstGeom prst="dodecagon">
            <a:avLst/>
          </a:prstGeom>
          <a:solidFill>
            <a:srgbClr val="C5E0B4"/>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prstClr val="white"/>
                </a:solidFill>
                <a:effectLst/>
                <a:uLnTx/>
                <a:uFillTx/>
                <a:latin typeface="Elephant" panose="02020904090505020303" pitchFamily="18" charset="0"/>
                <a:ea typeface="+mn-ea"/>
                <a:cs typeface="+mn-cs"/>
              </a:rPr>
              <a:t>9</a:t>
            </a:r>
          </a:p>
        </p:txBody>
      </p:sp>
      <p:sp>
        <p:nvSpPr>
          <p:cNvPr id="50" name="Rectangle: Rounded Corners 49">
            <a:extLst>
              <a:ext uri="{FF2B5EF4-FFF2-40B4-BE49-F238E27FC236}">
                <a16:creationId xmlns:a16="http://schemas.microsoft.com/office/drawing/2014/main" id="{E77CD5D1-563B-47FD-88EE-5656CBA1E8BC}"/>
              </a:ext>
            </a:extLst>
          </p:cNvPr>
          <p:cNvSpPr/>
          <p:nvPr/>
        </p:nvSpPr>
        <p:spPr>
          <a:xfrm>
            <a:off x="6339416" y="1478115"/>
            <a:ext cx="5387180" cy="1160813"/>
          </a:xfrm>
          <a:prstGeom prst="round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white"/>
              </a:solidFill>
              <a:effectLst/>
              <a:uLnTx/>
              <a:uFillTx/>
              <a:latin typeface="NBS Medium" panose="020B0603030303020204" pitchFamily="34" charset="0"/>
              <a:ea typeface="+mn-ea"/>
              <a:cs typeface="+mn-cs"/>
            </a:endParaRPr>
          </a:p>
        </p:txBody>
      </p:sp>
      <p:sp>
        <p:nvSpPr>
          <p:cNvPr id="51" name="TextBox 50">
            <a:extLst>
              <a:ext uri="{FF2B5EF4-FFF2-40B4-BE49-F238E27FC236}">
                <a16:creationId xmlns:a16="http://schemas.microsoft.com/office/drawing/2014/main" id="{93442DB5-25BF-4A57-89F4-C8A7AB89002F}"/>
              </a:ext>
            </a:extLst>
          </p:cNvPr>
          <p:cNvSpPr txBox="1"/>
          <p:nvPr/>
        </p:nvSpPr>
        <p:spPr>
          <a:xfrm>
            <a:off x="7385387" y="1549258"/>
            <a:ext cx="4376993"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4472C4">
                    <a:lumMod val="75000"/>
                  </a:srgbClr>
                </a:solidFill>
                <a:effectLst/>
                <a:uLnTx/>
                <a:uFillTx/>
                <a:latin typeface="NBS Medium" panose="020B0603030303020204" pitchFamily="34" charset="0"/>
                <a:ea typeface="+mn-ea"/>
                <a:cs typeface="+mn-cs"/>
              </a:rPr>
              <a:t>TM INFORMS CRA/EVENT DRIVEN REVIEWS</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prstClr val="black"/>
                </a:solidFill>
                <a:effectLst/>
                <a:uLnTx/>
                <a:uFillTx/>
                <a:latin typeface="NBS Light" panose="020B0303030303020204" pitchFamily="34" charset="0"/>
                <a:ea typeface="+mn-ea"/>
                <a:cs typeface="+mn-cs"/>
              </a:rPr>
              <a:t>What? </a:t>
            </a:r>
            <a:r>
              <a:rPr kumimoji="0" lang="en-GB" sz="1100" b="0" i="0" u="none" strike="noStrike" kern="1200" cap="none" spc="0" normalizeH="0" baseline="0" noProof="0" dirty="0">
                <a:ln>
                  <a:noFill/>
                </a:ln>
                <a:solidFill>
                  <a:prstClr val="black"/>
                </a:solidFill>
                <a:effectLst/>
                <a:uLnTx/>
                <a:uFillTx/>
                <a:latin typeface="NBS Light" panose="020B0303030303020204" pitchFamily="34" charset="0"/>
                <a:ea typeface="+mn-ea"/>
                <a:cs typeface="+mn-cs"/>
              </a:rPr>
              <a:t>–</a:t>
            </a:r>
            <a:r>
              <a:rPr kumimoji="0" lang="en-GB" sz="1100" b="1" i="0" u="none" strike="noStrike" kern="1200" cap="none" spc="0" normalizeH="0" baseline="0" noProof="0" dirty="0">
                <a:ln>
                  <a:noFill/>
                </a:ln>
                <a:solidFill>
                  <a:prstClr val="black"/>
                </a:solidFill>
                <a:effectLst/>
                <a:uLnTx/>
                <a:uFillTx/>
                <a:latin typeface="NBS Light" panose="020B0303030303020204" pitchFamily="34" charset="0"/>
                <a:ea typeface="+mn-ea"/>
                <a:cs typeface="+mn-cs"/>
              </a:rPr>
              <a:t> </a:t>
            </a:r>
            <a:r>
              <a:rPr kumimoji="0" lang="en-IN" sz="1100" b="0"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TM informs CRA and creates event driven reviews</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Why? - </a:t>
            </a:r>
            <a:r>
              <a:rPr kumimoji="0" lang="en-IN" sz="1100" b="0"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To ensure Nationwide are identifying the truly unusual activity and the correct process is being following – EDD where required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Source: </a:t>
            </a:r>
            <a:r>
              <a:rPr kumimoji="0" lang="en-IN" sz="1100" b="0"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KPMG, </a:t>
            </a:r>
            <a:r>
              <a:rPr kumimoji="0" lang="en-IN" sz="1100" b="0" i="0" u="none" strike="noStrike" kern="0" cap="none" spc="0" normalizeH="0" baseline="0" noProof="0" dirty="0" err="1">
                <a:ln>
                  <a:noFill/>
                </a:ln>
                <a:solidFill>
                  <a:prstClr val="black"/>
                </a:solidFill>
                <a:effectLst/>
                <a:uLnTx/>
                <a:uFillTx/>
                <a:latin typeface="NBS Light" panose="020B0303030303020204" pitchFamily="34" charset="0"/>
                <a:ea typeface="+mn-ea"/>
                <a:cs typeface="Arial" pitchFamily="34" charset="0"/>
              </a:rPr>
              <a:t>Evershed’s</a:t>
            </a:r>
            <a:endParaRPr kumimoji="0" lang="en-IN" sz="1100" b="0"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endParaRPr>
          </a:p>
        </p:txBody>
      </p:sp>
      <p:sp>
        <p:nvSpPr>
          <p:cNvPr id="52" name="Dodecagon 51">
            <a:extLst>
              <a:ext uri="{FF2B5EF4-FFF2-40B4-BE49-F238E27FC236}">
                <a16:creationId xmlns:a16="http://schemas.microsoft.com/office/drawing/2014/main" id="{80D293BD-F78B-4A48-99CF-25A571BB6757}"/>
              </a:ext>
            </a:extLst>
          </p:cNvPr>
          <p:cNvSpPr/>
          <p:nvPr/>
        </p:nvSpPr>
        <p:spPr>
          <a:xfrm>
            <a:off x="6466731" y="1585857"/>
            <a:ext cx="914400" cy="914400"/>
          </a:xfrm>
          <a:prstGeom prst="dodecagon">
            <a:avLst/>
          </a:prstGeom>
          <a:solidFill>
            <a:schemeClr val="accent1">
              <a:lumMod val="75000"/>
            </a:schemeClr>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prstClr val="white"/>
                </a:solidFill>
                <a:effectLst/>
                <a:uLnTx/>
                <a:uFillTx/>
                <a:latin typeface="Elephant" panose="02020904090505020303" pitchFamily="18" charset="0"/>
                <a:ea typeface="+mn-ea"/>
                <a:cs typeface="+mn-cs"/>
              </a:rPr>
              <a:t>10</a:t>
            </a:r>
          </a:p>
        </p:txBody>
      </p:sp>
      <p:sp>
        <p:nvSpPr>
          <p:cNvPr id="54" name="Rectangle: Rounded Corners 53">
            <a:extLst>
              <a:ext uri="{FF2B5EF4-FFF2-40B4-BE49-F238E27FC236}">
                <a16:creationId xmlns:a16="http://schemas.microsoft.com/office/drawing/2014/main" id="{461B25AB-F9CA-47D3-879E-133D3F051740}"/>
              </a:ext>
            </a:extLst>
          </p:cNvPr>
          <p:cNvSpPr/>
          <p:nvPr/>
        </p:nvSpPr>
        <p:spPr>
          <a:xfrm>
            <a:off x="6370944" y="2753528"/>
            <a:ext cx="5387180" cy="1105342"/>
          </a:xfrm>
          <a:prstGeom prst="round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white"/>
              </a:solidFill>
              <a:effectLst/>
              <a:uLnTx/>
              <a:uFillTx/>
              <a:latin typeface="NBS Medium" panose="020B0603030303020204" pitchFamily="34" charset="0"/>
              <a:ea typeface="+mn-ea"/>
              <a:cs typeface="+mn-cs"/>
            </a:endParaRPr>
          </a:p>
        </p:txBody>
      </p:sp>
      <p:sp>
        <p:nvSpPr>
          <p:cNvPr id="55" name="TextBox 54">
            <a:extLst>
              <a:ext uri="{FF2B5EF4-FFF2-40B4-BE49-F238E27FC236}">
                <a16:creationId xmlns:a16="http://schemas.microsoft.com/office/drawing/2014/main" id="{13ACC6E5-35D7-40C3-892F-502083001A49}"/>
              </a:ext>
            </a:extLst>
          </p:cNvPr>
          <p:cNvSpPr txBox="1"/>
          <p:nvPr/>
        </p:nvSpPr>
        <p:spPr>
          <a:xfrm>
            <a:off x="7381131" y="2824004"/>
            <a:ext cx="4376993"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4472C4">
                    <a:lumMod val="75000"/>
                  </a:srgbClr>
                </a:solidFill>
                <a:effectLst/>
                <a:uLnTx/>
                <a:uFillTx/>
                <a:latin typeface="NBS Medium" panose="020B0603030303020204" pitchFamily="34" charset="0"/>
                <a:ea typeface="+mn-ea"/>
                <a:cs typeface="+mn-cs"/>
              </a:rPr>
              <a:t>ALERT MANAGEMENT &amp; PRIORITISATION</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prstClr val="black"/>
                </a:solidFill>
                <a:effectLst/>
                <a:uLnTx/>
                <a:uFillTx/>
                <a:latin typeface="NBS Light" panose="020B0303030303020204" pitchFamily="34" charset="0"/>
                <a:ea typeface="+mn-ea"/>
                <a:cs typeface="+mn-cs"/>
              </a:rPr>
              <a:t>What? </a:t>
            </a:r>
            <a:r>
              <a:rPr kumimoji="0" lang="en-GB" sz="1100" b="0" i="0" u="none" strike="noStrike" kern="1200" cap="none" spc="0" normalizeH="0" baseline="0" noProof="0" dirty="0">
                <a:ln>
                  <a:noFill/>
                </a:ln>
                <a:solidFill>
                  <a:prstClr val="black"/>
                </a:solidFill>
                <a:effectLst/>
                <a:uLnTx/>
                <a:uFillTx/>
                <a:latin typeface="NBS Light" panose="020B0303030303020204" pitchFamily="34" charset="0"/>
                <a:ea typeface="+mn-ea"/>
                <a:cs typeface="+mn-cs"/>
              </a:rPr>
              <a:t>–</a:t>
            </a:r>
            <a:r>
              <a:rPr kumimoji="0" lang="en-GB" sz="1100" b="1" i="0" u="none" strike="noStrike" kern="1200" cap="none" spc="0" normalizeH="0" baseline="0" noProof="0" dirty="0">
                <a:ln>
                  <a:noFill/>
                </a:ln>
                <a:solidFill>
                  <a:prstClr val="black"/>
                </a:solidFill>
                <a:effectLst/>
                <a:uLnTx/>
                <a:uFillTx/>
                <a:latin typeface="NBS Light" panose="020B0303030303020204" pitchFamily="34" charset="0"/>
                <a:ea typeface="+mn-ea"/>
                <a:cs typeface="+mn-cs"/>
              </a:rPr>
              <a:t> </a:t>
            </a:r>
            <a:r>
              <a:rPr kumimoji="0" lang="en-IN" sz="1100" b="0"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Risk based prioritisation of alerts and automated alert allocation/triage</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Why? - </a:t>
            </a:r>
            <a:r>
              <a:rPr kumimoji="0" lang="en-IN" sz="1100" b="0"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To ensure Nationwide effectively manage alerts in accordance with risk in the most efficient way – automate the process to remove reliance on manual process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prstClr val="black"/>
              </a:solidFill>
              <a:effectLst/>
              <a:uLnTx/>
              <a:uFillTx/>
              <a:latin typeface="NBS Medium" panose="020B0603030303020204" pitchFamily="34" charset="0"/>
              <a:ea typeface="+mn-ea"/>
              <a:cs typeface="+mn-cs"/>
            </a:endParaRPr>
          </a:p>
        </p:txBody>
      </p:sp>
      <p:sp>
        <p:nvSpPr>
          <p:cNvPr id="58" name="Dodecagon 57">
            <a:extLst>
              <a:ext uri="{FF2B5EF4-FFF2-40B4-BE49-F238E27FC236}">
                <a16:creationId xmlns:a16="http://schemas.microsoft.com/office/drawing/2014/main" id="{C667A531-F534-4779-8345-EC5B5EE060DA}"/>
              </a:ext>
            </a:extLst>
          </p:cNvPr>
          <p:cNvSpPr/>
          <p:nvPr/>
        </p:nvSpPr>
        <p:spPr>
          <a:xfrm>
            <a:off x="6426200" y="2866089"/>
            <a:ext cx="914400" cy="914400"/>
          </a:xfrm>
          <a:prstGeom prst="dodecagon">
            <a:avLst/>
          </a:prstGeom>
          <a:solidFill>
            <a:schemeClr val="accent1">
              <a:lumMod val="75000"/>
            </a:schemeClr>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prstClr val="white"/>
                </a:solidFill>
                <a:effectLst/>
                <a:uLnTx/>
                <a:uFillTx/>
                <a:latin typeface="Elephant" panose="02020904090505020303" pitchFamily="18" charset="0"/>
                <a:ea typeface="+mn-ea"/>
                <a:cs typeface="+mn-cs"/>
              </a:rPr>
              <a:t>12</a:t>
            </a:r>
          </a:p>
        </p:txBody>
      </p:sp>
      <p:sp>
        <p:nvSpPr>
          <p:cNvPr id="59" name="Rectangle: Rounded Corners 58">
            <a:extLst>
              <a:ext uri="{FF2B5EF4-FFF2-40B4-BE49-F238E27FC236}">
                <a16:creationId xmlns:a16="http://schemas.microsoft.com/office/drawing/2014/main" id="{7CDFE9CE-1902-4E98-874C-99847529DC26}"/>
              </a:ext>
            </a:extLst>
          </p:cNvPr>
          <p:cNvSpPr/>
          <p:nvPr/>
        </p:nvSpPr>
        <p:spPr>
          <a:xfrm>
            <a:off x="6339416" y="4011160"/>
            <a:ext cx="5387180" cy="1044128"/>
          </a:xfrm>
          <a:prstGeom prst="round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white"/>
              </a:solidFill>
              <a:effectLst/>
              <a:uLnTx/>
              <a:uFillTx/>
              <a:latin typeface="NBS Medium" panose="020B0603030303020204" pitchFamily="34" charset="0"/>
              <a:ea typeface="+mn-ea"/>
              <a:cs typeface="+mn-cs"/>
            </a:endParaRPr>
          </a:p>
        </p:txBody>
      </p:sp>
      <p:sp>
        <p:nvSpPr>
          <p:cNvPr id="61" name="TextBox 60">
            <a:extLst>
              <a:ext uri="{FF2B5EF4-FFF2-40B4-BE49-F238E27FC236}">
                <a16:creationId xmlns:a16="http://schemas.microsoft.com/office/drawing/2014/main" id="{7DC6A5CC-6321-4947-ACFD-60C13F54C4D4}"/>
              </a:ext>
            </a:extLst>
          </p:cNvPr>
          <p:cNvSpPr txBox="1"/>
          <p:nvPr/>
        </p:nvSpPr>
        <p:spPr>
          <a:xfrm>
            <a:off x="7349603" y="4024236"/>
            <a:ext cx="4376993" cy="103105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4472C4">
                    <a:lumMod val="75000"/>
                  </a:srgbClr>
                </a:solidFill>
                <a:effectLst/>
                <a:uLnTx/>
                <a:uFillTx/>
                <a:latin typeface="NBS Medium" panose="020B0603030303020204" pitchFamily="34" charset="0"/>
                <a:ea typeface="+mn-ea"/>
                <a:cs typeface="+mn-cs"/>
              </a:rPr>
              <a:t>CASE MANAGEMENT</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prstClr val="black"/>
                </a:solidFill>
                <a:effectLst/>
                <a:uLnTx/>
                <a:uFillTx/>
                <a:latin typeface="NBS Light" panose="020B0303030303020204" pitchFamily="34" charset="0"/>
                <a:ea typeface="+mn-ea"/>
                <a:cs typeface="+mn-cs"/>
              </a:rPr>
              <a:t>What? </a:t>
            </a:r>
            <a:r>
              <a:rPr kumimoji="0" lang="en-GB" sz="1100" b="0" i="0" u="none" strike="noStrike" kern="1200" cap="none" spc="0" normalizeH="0" baseline="0" noProof="0" dirty="0">
                <a:ln>
                  <a:noFill/>
                </a:ln>
                <a:solidFill>
                  <a:prstClr val="black"/>
                </a:solidFill>
                <a:effectLst/>
                <a:uLnTx/>
                <a:uFillTx/>
                <a:latin typeface="NBS Light" panose="020B0303030303020204" pitchFamily="34" charset="0"/>
                <a:ea typeface="+mn-ea"/>
                <a:cs typeface="+mn-cs"/>
              </a:rPr>
              <a:t>–</a:t>
            </a:r>
            <a:r>
              <a:rPr kumimoji="0" lang="en-GB" sz="1100" b="1" i="0" u="none" strike="noStrike" kern="1200" cap="none" spc="0" normalizeH="0" baseline="0" noProof="0" dirty="0">
                <a:ln>
                  <a:noFill/>
                </a:ln>
                <a:solidFill>
                  <a:prstClr val="black"/>
                </a:solidFill>
                <a:effectLst/>
                <a:uLnTx/>
                <a:uFillTx/>
                <a:latin typeface="NBS Light" panose="020B0303030303020204" pitchFamily="34" charset="0"/>
                <a:ea typeface="+mn-ea"/>
                <a:cs typeface="+mn-cs"/>
              </a:rPr>
              <a:t> </a:t>
            </a:r>
            <a:r>
              <a:rPr kumimoji="0" lang="en-IN" sz="1100" b="0"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Integrated case management – reduction of systems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Why? - </a:t>
            </a:r>
            <a:r>
              <a:rPr kumimoji="0" lang="en-IN" sz="1100" b="0"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To minimise the number of systems required to carry out investigations and provide a single view of customer/financial crime risk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Source: </a:t>
            </a:r>
            <a:r>
              <a:rPr kumimoji="0" lang="en-IN" sz="1100" b="0"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KPMG Recommendations and </a:t>
            </a:r>
            <a:r>
              <a:rPr kumimoji="0" lang="en-IN" sz="1100" b="0" i="0" u="none" strike="noStrike" kern="0" cap="none" spc="0" normalizeH="0" baseline="0" noProof="0" dirty="0" err="1">
                <a:ln>
                  <a:noFill/>
                </a:ln>
                <a:solidFill>
                  <a:prstClr val="black"/>
                </a:solidFill>
                <a:effectLst/>
                <a:uLnTx/>
                <a:uFillTx/>
                <a:latin typeface="NBS Light" panose="020B0303030303020204" pitchFamily="34" charset="0"/>
                <a:ea typeface="+mn-ea"/>
                <a:cs typeface="Arial" pitchFamily="34" charset="0"/>
              </a:rPr>
              <a:t>Evershed’s</a:t>
            </a:r>
            <a:r>
              <a:rPr kumimoji="0" lang="en-IN" sz="1100" b="0"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 review </a:t>
            </a:r>
            <a:endParaRPr kumimoji="0" lang="en-GB" sz="1200" b="0" i="0" u="none" strike="noStrike" kern="1200" cap="none" spc="0" normalizeH="0" baseline="0" noProof="0" dirty="0">
              <a:ln>
                <a:noFill/>
              </a:ln>
              <a:solidFill>
                <a:prstClr val="black"/>
              </a:solidFill>
              <a:effectLst/>
              <a:uLnTx/>
              <a:uFillTx/>
              <a:latin typeface="NBS Medium" panose="020B0603030303020204" pitchFamily="34" charset="0"/>
              <a:ea typeface="+mn-ea"/>
              <a:cs typeface="+mn-cs"/>
            </a:endParaRPr>
          </a:p>
        </p:txBody>
      </p:sp>
      <p:sp>
        <p:nvSpPr>
          <p:cNvPr id="62" name="Dodecagon 61">
            <a:extLst>
              <a:ext uri="{FF2B5EF4-FFF2-40B4-BE49-F238E27FC236}">
                <a16:creationId xmlns:a16="http://schemas.microsoft.com/office/drawing/2014/main" id="{D3449B94-61F7-4529-AF47-31AA7381C2CC}"/>
              </a:ext>
            </a:extLst>
          </p:cNvPr>
          <p:cNvSpPr/>
          <p:nvPr/>
        </p:nvSpPr>
        <p:spPr>
          <a:xfrm>
            <a:off x="6394672" y="4066321"/>
            <a:ext cx="914400" cy="914400"/>
          </a:xfrm>
          <a:prstGeom prst="dodecagon">
            <a:avLst/>
          </a:prstGeom>
          <a:solidFill>
            <a:schemeClr val="accent1">
              <a:lumMod val="75000"/>
            </a:schemeClr>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prstClr val="white"/>
                </a:solidFill>
                <a:effectLst/>
                <a:uLnTx/>
                <a:uFillTx/>
                <a:latin typeface="Elephant" panose="02020904090505020303" pitchFamily="18" charset="0"/>
                <a:ea typeface="+mn-ea"/>
                <a:cs typeface="+mn-cs"/>
              </a:rPr>
              <a:t>13</a:t>
            </a:r>
          </a:p>
        </p:txBody>
      </p:sp>
      <p:sp>
        <p:nvSpPr>
          <p:cNvPr id="63" name="Rectangle: Rounded Corners 62">
            <a:extLst>
              <a:ext uri="{FF2B5EF4-FFF2-40B4-BE49-F238E27FC236}">
                <a16:creationId xmlns:a16="http://schemas.microsoft.com/office/drawing/2014/main" id="{A1B7FE7C-6B8E-4985-B9AE-2065ABF079B3}"/>
              </a:ext>
            </a:extLst>
          </p:cNvPr>
          <p:cNvSpPr/>
          <p:nvPr/>
        </p:nvSpPr>
        <p:spPr>
          <a:xfrm>
            <a:off x="6343345" y="5207578"/>
            <a:ext cx="5387180" cy="1168133"/>
          </a:xfrm>
          <a:prstGeom prst="round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white"/>
              </a:solidFill>
              <a:effectLst/>
              <a:uLnTx/>
              <a:uFillTx/>
              <a:latin typeface="NBS Medium" panose="020B0603030303020204" pitchFamily="34" charset="0"/>
              <a:ea typeface="+mn-ea"/>
              <a:cs typeface="+mn-cs"/>
            </a:endParaRPr>
          </a:p>
        </p:txBody>
      </p:sp>
      <p:sp>
        <p:nvSpPr>
          <p:cNvPr id="64" name="TextBox 63">
            <a:extLst>
              <a:ext uri="{FF2B5EF4-FFF2-40B4-BE49-F238E27FC236}">
                <a16:creationId xmlns:a16="http://schemas.microsoft.com/office/drawing/2014/main" id="{E2587A5B-2583-493C-9A7E-A8C3E3A85E9C}"/>
              </a:ext>
            </a:extLst>
          </p:cNvPr>
          <p:cNvSpPr txBox="1"/>
          <p:nvPr/>
        </p:nvSpPr>
        <p:spPr>
          <a:xfrm>
            <a:off x="7309863" y="5220056"/>
            <a:ext cx="4376993" cy="136960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4472C4">
                    <a:lumMod val="75000"/>
                  </a:srgbClr>
                </a:solidFill>
                <a:effectLst/>
                <a:uLnTx/>
                <a:uFillTx/>
                <a:latin typeface="NBS Medium" panose="020B0603030303020204" pitchFamily="34" charset="0"/>
                <a:ea typeface="+mn-ea"/>
                <a:cs typeface="+mn-cs"/>
              </a:rPr>
              <a:t>PROACTIVE ANALYTICS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prstClr val="black"/>
                </a:solidFill>
                <a:effectLst/>
                <a:uLnTx/>
                <a:uFillTx/>
                <a:latin typeface="NBS Light" panose="020B0303030303020204" pitchFamily="34" charset="0"/>
                <a:ea typeface="+mn-ea"/>
                <a:cs typeface="+mn-cs"/>
              </a:rPr>
              <a:t>What? </a:t>
            </a:r>
            <a:r>
              <a:rPr kumimoji="0" lang="en-GB" sz="1100" b="0" i="0" u="none" strike="noStrike" kern="1200" cap="none" spc="0" normalizeH="0" baseline="0" noProof="0" dirty="0">
                <a:ln>
                  <a:noFill/>
                </a:ln>
                <a:solidFill>
                  <a:prstClr val="black"/>
                </a:solidFill>
                <a:effectLst/>
                <a:uLnTx/>
                <a:uFillTx/>
                <a:latin typeface="NBS Light" panose="020B0303030303020204" pitchFamily="34" charset="0"/>
                <a:ea typeface="+mn-ea"/>
                <a:cs typeface="+mn-cs"/>
              </a:rPr>
              <a:t>–</a:t>
            </a:r>
            <a:r>
              <a:rPr kumimoji="0" lang="en-GB" sz="1100" b="1" i="0" u="none" strike="noStrike" kern="1200" cap="none" spc="0" normalizeH="0" baseline="0" noProof="0" dirty="0">
                <a:ln>
                  <a:noFill/>
                </a:ln>
                <a:solidFill>
                  <a:prstClr val="black"/>
                </a:solidFill>
                <a:effectLst/>
                <a:uLnTx/>
                <a:uFillTx/>
                <a:latin typeface="NBS Light" panose="020B0303030303020204" pitchFamily="34" charset="0"/>
                <a:ea typeface="+mn-ea"/>
                <a:cs typeface="+mn-cs"/>
              </a:rPr>
              <a:t> </a:t>
            </a:r>
            <a:r>
              <a:rPr kumimoji="0" lang="en-IN" sz="1100" b="0"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shift to proactive analytics  - hunter gather style models and analytics informing rule enhancements. Quicker response to external intelligence (</a:t>
            </a:r>
            <a:r>
              <a:rPr kumimoji="0" lang="en-IN" sz="1100" b="0" i="0" u="none" strike="noStrike" kern="0" cap="none" spc="0" normalizeH="0" baseline="0" noProof="0" dirty="0" err="1">
                <a:ln>
                  <a:noFill/>
                </a:ln>
                <a:solidFill>
                  <a:prstClr val="black"/>
                </a:solidFill>
                <a:effectLst/>
                <a:uLnTx/>
                <a:uFillTx/>
                <a:latin typeface="NBS Light" panose="020B0303030303020204" pitchFamily="34" charset="0"/>
                <a:ea typeface="+mn-ea"/>
                <a:cs typeface="Arial" pitchFamily="34" charset="0"/>
              </a:rPr>
              <a:t>JMLIT</a:t>
            </a:r>
            <a:r>
              <a:rPr kumimoji="0" lang="en-IN" sz="1100" b="0"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Why? - </a:t>
            </a:r>
            <a:r>
              <a:rPr kumimoji="0" lang="en-IN" sz="1100" b="0"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To proactively identify financial crime risk with more efficient methods and less reliance on static TM rules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Source</a:t>
            </a:r>
            <a:r>
              <a:rPr kumimoji="0" lang="en-IN" sz="1100" b="0" i="0" u="none" strike="noStrike" kern="0" cap="none" spc="0" normalizeH="0" baseline="0" noProof="0" dirty="0">
                <a:ln>
                  <a:noFill/>
                </a:ln>
                <a:solidFill>
                  <a:prstClr val="black"/>
                </a:solidFill>
                <a:effectLst/>
                <a:uLnTx/>
                <a:uFillTx/>
                <a:latin typeface="NBS Light" panose="020B0303030303020204" pitchFamily="34" charset="0"/>
                <a:ea typeface="+mn-ea"/>
                <a:cs typeface="Arial" pitchFamily="34" charset="0"/>
              </a:rPr>
              <a:t>: KPMG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prstClr val="black"/>
              </a:solidFill>
              <a:effectLst/>
              <a:uLnTx/>
              <a:uFillTx/>
              <a:latin typeface="NBS Medium" panose="020B0603030303020204" pitchFamily="34" charset="0"/>
              <a:ea typeface="+mn-ea"/>
              <a:cs typeface="+mn-cs"/>
            </a:endParaRPr>
          </a:p>
        </p:txBody>
      </p:sp>
      <p:sp>
        <p:nvSpPr>
          <p:cNvPr id="65" name="Dodecagon 64">
            <a:extLst>
              <a:ext uri="{FF2B5EF4-FFF2-40B4-BE49-F238E27FC236}">
                <a16:creationId xmlns:a16="http://schemas.microsoft.com/office/drawing/2014/main" id="{6C341100-F18A-4373-A489-2C60B8AB5F5D}"/>
              </a:ext>
            </a:extLst>
          </p:cNvPr>
          <p:cNvSpPr/>
          <p:nvPr/>
        </p:nvSpPr>
        <p:spPr>
          <a:xfrm>
            <a:off x="6398601" y="5320140"/>
            <a:ext cx="914400" cy="914400"/>
          </a:xfrm>
          <a:prstGeom prst="dodecagon">
            <a:avLst/>
          </a:prstGeom>
          <a:solidFill>
            <a:schemeClr val="accent1">
              <a:lumMod val="75000"/>
            </a:schemeClr>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prstClr val="white"/>
                </a:solidFill>
                <a:effectLst/>
                <a:uLnTx/>
                <a:uFillTx/>
                <a:latin typeface="Elephant" panose="02020904090505020303" pitchFamily="18" charset="0"/>
                <a:ea typeface="+mn-ea"/>
                <a:cs typeface="+mn-cs"/>
              </a:rPr>
              <a:t>14</a:t>
            </a:r>
          </a:p>
        </p:txBody>
      </p:sp>
      <p:sp>
        <p:nvSpPr>
          <p:cNvPr id="3" name="TextBox 2">
            <a:extLst>
              <a:ext uri="{FF2B5EF4-FFF2-40B4-BE49-F238E27FC236}">
                <a16:creationId xmlns:a16="http://schemas.microsoft.com/office/drawing/2014/main" id="{54FC42ED-49AE-47B0-B367-5FD3A48B71C1}"/>
              </a:ext>
            </a:extLst>
          </p:cNvPr>
          <p:cNvSpPr txBox="1"/>
          <p:nvPr/>
        </p:nvSpPr>
        <p:spPr>
          <a:xfrm>
            <a:off x="8044017" y="1081728"/>
            <a:ext cx="152561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sng" strike="noStrike" kern="1200" cap="none" spc="0" normalizeH="0" baseline="0" noProof="0" dirty="0">
                <a:ln>
                  <a:noFill/>
                </a:ln>
                <a:solidFill>
                  <a:prstClr val="black"/>
                </a:solidFill>
                <a:effectLst/>
                <a:uLnTx/>
                <a:uFillTx/>
                <a:latin typeface="NBS Medium" panose="020B0603030303020204" pitchFamily="34" charset="0"/>
                <a:ea typeface="+mn-ea"/>
                <a:cs typeface="+mn-cs"/>
              </a:rPr>
              <a:t>FUTURE STATE</a:t>
            </a:r>
          </a:p>
        </p:txBody>
      </p:sp>
      <p:sp>
        <p:nvSpPr>
          <p:cNvPr id="33" name="TextBox 32">
            <a:extLst>
              <a:ext uri="{FF2B5EF4-FFF2-40B4-BE49-F238E27FC236}">
                <a16:creationId xmlns:a16="http://schemas.microsoft.com/office/drawing/2014/main" id="{8A07856B-BAE5-4F50-9231-655693F326D5}"/>
              </a:ext>
            </a:extLst>
          </p:cNvPr>
          <p:cNvSpPr txBox="1"/>
          <p:nvPr/>
        </p:nvSpPr>
        <p:spPr>
          <a:xfrm>
            <a:off x="6043337" y="6533589"/>
            <a:ext cx="5920847" cy="276999"/>
          </a:xfrm>
          <a:prstGeom prst="rect">
            <a:avLst/>
          </a:prstGeom>
          <a:noFill/>
        </p:spPr>
        <p:txBody>
          <a:bodyPr wrap="square" rtlCol="0">
            <a:spAutoFit/>
          </a:bodyPr>
          <a:lstStyle/>
          <a:p>
            <a:pPr algn="ctr"/>
            <a:r>
              <a:rPr lang="en-GB" sz="1200" b="1" dirty="0">
                <a:solidFill>
                  <a:srgbClr val="C5E0B4"/>
                </a:solidFill>
                <a:latin typeface="NBS Medium" panose="020B0603030303020204" pitchFamily="34" charset="0"/>
              </a:rPr>
              <a:t>In Progress – On Track  </a:t>
            </a:r>
            <a:r>
              <a:rPr lang="en-GB" sz="1200" b="1" dirty="0">
                <a:solidFill>
                  <a:schemeClr val="accent6"/>
                </a:solidFill>
                <a:latin typeface="NBS Medium" panose="020B0603030303020204" pitchFamily="34" charset="0"/>
              </a:rPr>
              <a:t>	</a:t>
            </a:r>
            <a:r>
              <a:rPr lang="en-GB" sz="1200" b="1" dirty="0">
                <a:solidFill>
                  <a:schemeClr val="accent4">
                    <a:lumMod val="60000"/>
                    <a:lumOff val="40000"/>
                  </a:schemeClr>
                </a:solidFill>
                <a:latin typeface="NBS Medium" panose="020B0603030303020204" pitchFamily="34" charset="0"/>
              </a:rPr>
              <a:t>In Progress – Off Track </a:t>
            </a:r>
            <a:r>
              <a:rPr lang="en-GB" sz="1200" b="1" dirty="0">
                <a:solidFill>
                  <a:srgbClr val="FFC000"/>
                </a:solidFill>
                <a:latin typeface="NBS Medium" panose="020B0603030303020204" pitchFamily="34" charset="0"/>
              </a:rPr>
              <a:t>	</a:t>
            </a:r>
            <a:r>
              <a:rPr lang="en-GB" sz="1200" b="1" dirty="0">
                <a:solidFill>
                  <a:schemeClr val="bg1">
                    <a:lumMod val="50000"/>
                  </a:schemeClr>
                </a:solidFill>
                <a:latin typeface="NBS Medium" panose="020B0603030303020204" pitchFamily="34" charset="0"/>
              </a:rPr>
              <a:t>Not Started        </a:t>
            </a:r>
            <a:r>
              <a:rPr lang="en-GB" sz="1200" b="1" dirty="0">
                <a:solidFill>
                  <a:schemeClr val="accent1">
                    <a:lumMod val="75000"/>
                  </a:schemeClr>
                </a:solidFill>
                <a:latin typeface="NBS Medium" panose="020B0603030303020204" pitchFamily="34" charset="0"/>
              </a:rPr>
              <a:t>Future State</a:t>
            </a:r>
          </a:p>
        </p:txBody>
      </p:sp>
    </p:spTree>
    <p:extLst>
      <p:ext uri="{BB962C8B-B14F-4D97-AF65-F5344CB8AC3E}">
        <p14:creationId xmlns:p14="http://schemas.microsoft.com/office/powerpoint/2010/main" val="4622634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70" name="Title 1">
            <a:extLst>
              <a:ext uri="{FF2B5EF4-FFF2-40B4-BE49-F238E27FC236}">
                <a16:creationId xmlns:a16="http://schemas.microsoft.com/office/drawing/2014/main" id="{38BD8AD8-E7A1-40F1-A091-576CC6917E66}"/>
              </a:ext>
            </a:extLst>
          </p:cNvPr>
          <p:cNvSpPr txBox="1">
            <a:spLocks/>
          </p:cNvSpPr>
          <p:nvPr/>
        </p:nvSpPr>
        <p:spPr>
          <a:xfrm>
            <a:off x="364958" y="260852"/>
            <a:ext cx="10329062" cy="203629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5100" dirty="0">
                <a:solidFill>
                  <a:schemeClr val="bg1"/>
                </a:solidFill>
                <a:latin typeface="Elephant" panose="02020904090505020303" pitchFamily="18" charset="0"/>
              </a:rPr>
              <a:t>Transaction Monitoring – </a:t>
            </a:r>
          </a:p>
          <a:p>
            <a:r>
              <a:rPr lang="en-GB" sz="5100" dirty="0">
                <a:solidFill>
                  <a:schemeClr val="bg1"/>
                </a:solidFill>
                <a:latin typeface="Elephant" panose="02020904090505020303" pitchFamily="18" charset="0"/>
              </a:rPr>
              <a:t>Appendix 1 </a:t>
            </a:r>
          </a:p>
          <a:p>
            <a:endParaRPr lang="en-GB" sz="5100" dirty="0">
              <a:solidFill>
                <a:schemeClr val="bg1"/>
              </a:solidFill>
              <a:latin typeface="Elephant" panose="02020904090505020303" pitchFamily="18" charset="0"/>
            </a:endParaRPr>
          </a:p>
          <a:p>
            <a:endParaRPr lang="en-US" sz="2900" i="1" dirty="0">
              <a:solidFill>
                <a:srgbClr val="C00000"/>
              </a:solidFill>
              <a:latin typeface="NBS Medium" panose="020B0603030303020204" pitchFamily="34" charset="0"/>
            </a:endParaRPr>
          </a:p>
        </p:txBody>
      </p:sp>
      <p:grpSp>
        <p:nvGrpSpPr>
          <p:cNvPr id="122" name="Group 121">
            <a:extLst>
              <a:ext uri="{FF2B5EF4-FFF2-40B4-BE49-F238E27FC236}">
                <a16:creationId xmlns:a16="http://schemas.microsoft.com/office/drawing/2014/main" id="{3B1EE2E1-79AA-4470-8E96-6D678F59EE24}"/>
              </a:ext>
            </a:extLst>
          </p:cNvPr>
          <p:cNvGrpSpPr/>
          <p:nvPr/>
        </p:nvGrpSpPr>
        <p:grpSpPr>
          <a:xfrm>
            <a:off x="10871810" y="275539"/>
            <a:ext cx="1005206" cy="479127"/>
            <a:chOff x="3236913" y="913342"/>
            <a:chExt cx="1740428" cy="712845"/>
          </a:xfrm>
        </p:grpSpPr>
        <p:pic>
          <p:nvPicPr>
            <p:cNvPr id="124" name="Picture 123" descr="Nationwide BS Logo sRGB.png">
              <a:extLst>
                <a:ext uri="{FF2B5EF4-FFF2-40B4-BE49-F238E27FC236}">
                  <a16:creationId xmlns:a16="http://schemas.microsoft.com/office/drawing/2014/main" id="{02D18641-B9DA-4B9A-9EFC-01E390322BB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938" t="18020" r="9268" b="14259"/>
            <a:stretch/>
          </p:blipFill>
          <p:spPr>
            <a:xfrm>
              <a:off x="3236913" y="913342"/>
              <a:ext cx="1740428" cy="712845"/>
            </a:xfrm>
            <a:prstGeom prst="rect">
              <a:avLst/>
            </a:prstGeom>
          </p:spPr>
        </p:pic>
        <p:sp>
          <p:nvSpPr>
            <p:cNvPr id="128" name="Rounded Rectangle 16">
              <a:extLst>
                <a:ext uri="{FF2B5EF4-FFF2-40B4-BE49-F238E27FC236}">
                  <a16:creationId xmlns:a16="http://schemas.microsoft.com/office/drawing/2014/main" id="{AD2E5EAD-9CFE-4D21-912C-E2F89E76DB5D}"/>
                </a:ext>
              </a:extLst>
            </p:cNvPr>
            <p:cNvSpPr/>
            <p:nvPr/>
          </p:nvSpPr>
          <p:spPr>
            <a:xfrm>
              <a:off x="3249341" y="919691"/>
              <a:ext cx="1728000" cy="480613"/>
            </a:xfrm>
            <a:prstGeom prst="roundRect">
              <a:avLst>
                <a:gd name="adj" fmla="val 13275"/>
              </a:avLst>
            </a:prstGeom>
            <a:noFill/>
            <a:ln w="6350" cap="flat" cmpd="sng" algn="ctr">
              <a:solidFill>
                <a:sysClr val="window" lastClr="FFFFFF"/>
              </a:solidFill>
              <a:prstDash val="solid"/>
            </a:ln>
            <a:effectLst/>
          </p:spPr>
          <p:txBody>
            <a:bodyPr rtlCol="0" anchor="ctr"/>
            <a:lstStyle/>
            <a:p>
              <a:pPr algn="ctr" defTabSz="257175">
                <a:defRPr/>
              </a:pPr>
              <a:endParaRPr lang="en-US" sz="1013" kern="0" dirty="0">
                <a:solidFill>
                  <a:prstClr val="white"/>
                </a:solidFill>
                <a:latin typeface="Calibri"/>
              </a:endParaRPr>
            </a:p>
          </p:txBody>
        </p:sp>
      </p:grpSp>
      <p:sp>
        <p:nvSpPr>
          <p:cNvPr id="2" name="TextBox 1">
            <a:extLst>
              <a:ext uri="{FF2B5EF4-FFF2-40B4-BE49-F238E27FC236}">
                <a16:creationId xmlns:a16="http://schemas.microsoft.com/office/drawing/2014/main" id="{2F14CFF9-5803-420A-BEF0-F2F050E99BEB}"/>
              </a:ext>
            </a:extLst>
          </p:cNvPr>
          <p:cNvSpPr txBox="1"/>
          <p:nvPr/>
        </p:nvSpPr>
        <p:spPr>
          <a:xfrm>
            <a:off x="507146" y="2415882"/>
            <a:ext cx="9630767" cy="1138773"/>
          </a:xfrm>
          <a:prstGeom prst="rect">
            <a:avLst/>
          </a:prstGeom>
          <a:noFill/>
        </p:spPr>
        <p:txBody>
          <a:bodyPr wrap="square" rtlCol="0">
            <a:spAutoFit/>
          </a:bodyPr>
          <a:lstStyle/>
          <a:p>
            <a:r>
              <a:rPr lang="en-GB" sz="3400" b="1" i="1" dirty="0">
                <a:latin typeface="NBS Medium" panose="020B0603030303020204" pitchFamily="34" charset="0"/>
              </a:rPr>
              <a:t>KPMG Roadmap and peer comparison slides from 2019 Review </a:t>
            </a:r>
            <a:r>
              <a:rPr lang="en-GB" sz="3400" i="1" dirty="0">
                <a:latin typeface="NBS Medium" panose="020B0603030303020204" pitchFamily="34" charset="0"/>
              </a:rPr>
              <a:t>– </a:t>
            </a:r>
            <a:r>
              <a:rPr lang="en-GB" sz="3400" i="1" u="sng" dirty="0">
                <a:latin typeface="NBS Medium" panose="020B0603030303020204" pitchFamily="34" charset="0"/>
              </a:rPr>
              <a:t>updated 2021 </a:t>
            </a:r>
          </a:p>
        </p:txBody>
      </p:sp>
    </p:spTree>
    <p:extLst>
      <p:ext uri="{BB962C8B-B14F-4D97-AF65-F5344CB8AC3E}">
        <p14:creationId xmlns:p14="http://schemas.microsoft.com/office/powerpoint/2010/main" val="3672276150"/>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6" name="Straight Connector 85"/>
          <p:cNvCxnSpPr/>
          <p:nvPr/>
        </p:nvCxnSpPr>
        <p:spPr bwMode="auto">
          <a:xfrm flipH="1">
            <a:off x="8001163" y="2219728"/>
            <a:ext cx="1765663" cy="4217338"/>
          </a:xfrm>
          <a:prstGeom prst="line">
            <a:avLst/>
          </a:prstGeom>
          <a:solidFill>
            <a:srgbClr val="8AA5CB"/>
          </a:solidFill>
          <a:ln w="19050" cap="flat">
            <a:solidFill>
              <a:srgbClr val="004A8F"/>
            </a:solidFill>
            <a:prstDash val="solid"/>
            <a:round/>
            <a:headEnd/>
            <a:tailEnd/>
          </a:ln>
        </p:spPr>
      </p:cxnSp>
      <p:cxnSp>
        <p:nvCxnSpPr>
          <p:cNvPr id="87" name="Straight Connector 86"/>
          <p:cNvCxnSpPr/>
          <p:nvPr/>
        </p:nvCxnSpPr>
        <p:spPr bwMode="auto">
          <a:xfrm flipH="1">
            <a:off x="5493838" y="2125913"/>
            <a:ext cx="3975026" cy="4338885"/>
          </a:xfrm>
          <a:prstGeom prst="line">
            <a:avLst/>
          </a:prstGeom>
          <a:solidFill>
            <a:srgbClr val="8AA5CB"/>
          </a:solidFill>
          <a:ln w="19050" cap="flat">
            <a:solidFill>
              <a:srgbClr val="004A8F"/>
            </a:solidFill>
            <a:prstDash val="solid"/>
            <a:round/>
            <a:headEnd/>
            <a:tailEnd/>
          </a:ln>
        </p:spPr>
      </p:cxnSp>
      <p:cxnSp>
        <p:nvCxnSpPr>
          <p:cNvPr id="88" name="Straight Connector 87"/>
          <p:cNvCxnSpPr/>
          <p:nvPr/>
        </p:nvCxnSpPr>
        <p:spPr bwMode="auto">
          <a:xfrm flipH="1">
            <a:off x="3324284" y="2018697"/>
            <a:ext cx="5832431" cy="4444096"/>
          </a:xfrm>
          <a:prstGeom prst="line">
            <a:avLst/>
          </a:prstGeom>
          <a:solidFill>
            <a:srgbClr val="8AA5CB"/>
          </a:solidFill>
          <a:ln w="19050" cap="flat">
            <a:solidFill>
              <a:srgbClr val="004A8F"/>
            </a:solidFill>
            <a:prstDash val="solid"/>
            <a:round/>
            <a:headEnd/>
            <a:tailEnd/>
          </a:ln>
        </p:spPr>
      </p:cxnSp>
      <p:cxnSp>
        <p:nvCxnSpPr>
          <p:cNvPr id="89" name="Straight Connector 88"/>
          <p:cNvCxnSpPr/>
          <p:nvPr/>
        </p:nvCxnSpPr>
        <p:spPr bwMode="auto">
          <a:xfrm flipH="1">
            <a:off x="492664" y="1697051"/>
            <a:ext cx="8380276" cy="2819060"/>
          </a:xfrm>
          <a:prstGeom prst="line">
            <a:avLst/>
          </a:prstGeom>
          <a:solidFill>
            <a:srgbClr val="8AA5CB"/>
          </a:solidFill>
          <a:ln w="19050" cap="flat">
            <a:solidFill>
              <a:srgbClr val="004A8F"/>
            </a:solidFill>
            <a:prstDash val="solid"/>
            <a:round/>
            <a:headEnd/>
            <a:tailEnd/>
          </a:ln>
        </p:spPr>
      </p:cxnSp>
      <p:cxnSp>
        <p:nvCxnSpPr>
          <p:cNvPr id="90" name="Straight Connector 89"/>
          <p:cNvCxnSpPr/>
          <p:nvPr/>
        </p:nvCxnSpPr>
        <p:spPr bwMode="auto">
          <a:xfrm flipH="1">
            <a:off x="518654" y="1576432"/>
            <a:ext cx="8212399" cy="1139559"/>
          </a:xfrm>
          <a:prstGeom prst="line">
            <a:avLst/>
          </a:prstGeom>
          <a:solidFill>
            <a:srgbClr val="8AA5CB"/>
          </a:solidFill>
          <a:ln w="19050" cap="flat">
            <a:solidFill>
              <a:srgbClr val="004A8F"/>
            </a:solidFill>
            <a:prstDash val="solid"/>
            <a:round/>
            <a:headEnd/>
            <a:tailEnd/>
          </a:ln>
        </p:spPr>
      </p:cxnSp>
      <p:sp>
        <p:nvSpPr>
          <p:cNvPr id="91" name="Freeform 591"/>
          <p:cNvSpPr>
            <a:spLocks/>
          </p:cNvSpPr>
          <p:nvPr/>
        </p:nvSpPr>
        <p:spPr bwMode="auto">
          <a:xfrm>
            <a:off x="5368337" y="1439350"/>
            <a:ext cx="4747539" cy="2495831"/>
          </a:xfrm>
          <a:custGeom>
            <a:avLst/>
            <a:gdLst/>
            <a:ahLst/>
            <a:cxnLst>
              <a:cxn ang="0">
                <a:pos x="2253" y="1264"/>
              </a:cxn>
              <a:cxn ang="0">
                <a:pos x="2013" y="1251"/>
              </a:cxn>
              <a:cxn ang="0">
                <a:pos x="1782" y="1226"/>
              </a:cxn>
              <a:cxn ang="0">
                <a:pos x="1559" y="1189"/>
              </a:cxn>
              <a:cxn ang="0">
                <a:pos x="1346" y="1141"/>
              </a:cxn>
              <a:cxn ang="0">
                <a:pos x="1144" y="1083"/>
              </a:cxn>
              <a:cxn ang="0">
                <a:pos x="955" y="1015"/>
              </a:cxn>
              <a:cxn ang="0">
                <a:pos x="779" y="938"/>
              </a:cxn>
              <a:cxn ang="0">
                <a:pos x="618" y="852"/>
              </a:cxn>
              <a:cxn ang="0">
                <a:pos x="472" y="758"/>
              </a:cxn>
              <a:cxn ang="0">
                <a:pos x="345" y="657"/>
              </a:cxn>
              <a:cxn ang="0">
                <a:pos x="235" y="550"/>
              </a:cxn>
              <a:cxn ang="0">
                <a:pos x="144" y="436"/>
              </a:cxn>
              <a:cxn ang="0">
                <a:pos x="75" y="317"/>
              </a:cxn>
              <a:cxn ang="0">
                <a:pos x="27" y="193"/>
              </a:cxn>
              <a:cxn ang="0">
                <a:pos x="3" y="65"/>
              </a:cxn>
              <a:cxn ang="0">
                <a:pos x="5" y="0"/>
              </a:cxn>
              <a:cxn ang="0">
                <a:pos x="17" y="128"/>
              </a:cxn>
              <a:cxn ang="0">
                <a:pos x="53" y="253"/>
              </a:cxn>
              <a:cxn ang="0">
                <a:pos x="112" y="374"/>
              </a:cxn>
              <a:cxn ang="0">
                <a:pos x="191" y="489"/>
              </a:cxn>
              <a:cxn ang="0">
                <a:pos x="291" y="599"/>
              </a:cxn>
              <a:cxn ang="0">
                <a:pos x="409" y="704"/>
              </a:cxn>
              <a:cxn ang="0">
                <a:pos x="546" y="801"/>
              </a:cxn>
              <a:cxn ang="0">
                <a:pos x="699" y="890"/>
              </a:cxn>
              <a:cxn ang="0">
                <a:pos x="867" y="972"/>
              </a:cxn>
              <a:cxn ang="0">
                <a:pos x="1050" y="1045"/>
              </a:cxn>
              <a:cxn ang="0">
                <a:pos x="1245" y="1108"/>
              </a:cxn>
              <a:cxn ang="0">
                <a:pos x="1452" y="1161"/>
              </a:cxn>
              <a:cxn ang="0">
                <a:pos x="1670" y="1203"/>
              </a:cxn>
              <a:cxn ang="0">
                <a:pos x="1897" y="1234"/>
              </a:cxn>
              <a:cxn ang="0">
                <a:pos x="2133" y="1254"/>
              </a:cxn>
              <a:cxn ang="0">
                <a:pos x="2375" y="1260"/>
              </a:cxn>
            </a:cxnLst>
            <a:rect l="0" t="0" r="r" b="b"/>
            <a:pathLst>
              <a:path w="2375" h="1266">
                <a:moveTo>
                  <a:pt x="2375" y="1266"/>
                </a:moveTo>
                <a:lnTo>
                  <a:pt x="2253" y="1264"/>
                </a:lnTo>
                <a:lnTo>
                  <a:pt x="2132" y="1260"/>
                </a:lnTo>
                <a:lnTo>
                  <a:pt x="2013" y="1251"/>
                </a:lnTo>
                <a:lnTo>
                  <a:pt x="1897" y="1240"/>
                </a:lnTo>
                <a:lnTo>
                  <a:pt x="1782" y="1226"/>
                </a:lnTo>
                <a:lnTo>
                  <a:pt x="1669" y="1209"/>
                </a:lnTo>
                <a:lnTo>
                  <a:pt x="1559" y="1189"/>
                </a:lnTo>
                <a:lnTo>
                  <a:pt x="1451" y="1167"/>
                </a:lnTo>
                <a:lnTo>
                  <a:pt x="1346" y="1141"/>
                </a:lnTo>
                <a:lnTo>
                  <a:pt x="1244" y="1114"/>
                </a:lnTo>
                <a:lnTo>
                  <a:pt x="1144" y="1083"/>
                </a:lnTo>
                <a:lnTo>
                  <a:pt x="1048" y="1050"/>
                </a:lnTo>
                <a:lnTo>
                  <a:pt x="955" y="1015"/>
                </a:lnTo>
                <a:lnTo>
                  <a:pt x="865" y="977"/>
                </a:lnTo>
                <a:lnTo>
                  <a:pt x="779" y="938"/>
                </a:lnTo>
                <a:lnTo>
                  <a:pt x="696" y="896"/>
                </a:lnTo>
                <a:lnTo>
                  <a:pt x="618" y="852"/>
                </a:lnTo>
                <a:lnTo>
                  <a:pt x="543" y="806"/>
                </a:lnTo>
                <a:lnTo>
                  <a:pt x="472" y="758"/>
                </a:lnTo>
                <a:lnTo>
                  <a:pt x="406" y="709"/>
                </a:lnTo>
                <a:lnTo>
                  <a:pt x="345" y="657"/>
                </a:lnTo>
                <a:lnTo>
                  <a:pt x="287" y="604"/>
                </a:lnTo>
                <a:lnTo>
                  <a:pt x="235" y="550"/>
                </a:lnTo>
                <a:lnTo>
                  <a:pt x="187" y="494"/>
                </a:lnTo>
                <a:lnTo>
                  <a:pt x="144" y="436"/>
                </a:lnTo>
                <a:lnTo>
                  <a:pt x="107" y="377"/>
                </a:lnTo>
                <a:lnTo>
                  <a:pt x="75" y="317"/>
                </a:lnTo>
                <a:lnTo>
                  <a:pt x="48" y="256"/>
                </a:lnTo>
                <a:lnTo>
                  <a:pt x="27" y="193"/>
                </a:lnTo>
                <a:lnTo>
                  <a:pt x="12" y="129"/>
                </a:lnTo>
                <a:lnTo>
                  <a:pt x="3" y="65"/>
                </a:lnTo>
                <a:lnTo>
                  <a:pt x="0" y="0"/>
                </a:lnTo>
                <a:lnTo>
                  <a:pt x="5" y="0"/>
                </a:lnTo>
                <a:lnTo>
                  <a:pt x="8" y="64"/>
                </a:lnTo>
                <a:lnTo>
                  <a:pt x="17" y="128"/>
                </a:lnTo>
                <a:lnTo>
                  <a:pt x="32" y="191"/>
                </a:lnTo>
                <a:lnTo>
                  <a:pt x="53" y="253"/>
                </a:lnTo>
                <a:lnTo>
                  <a:pt x="79" y="314"/>
                </a:lnTo>
                <a:lnTo>
                  <a:pt x="112" y="374"/>
                </a:lnTo>
                <a:lnTo>
                  <a:pt x="149" y="432"/>
                </a:lnTo>
                <a:lnTo>
                  <a:pt x="191" y="489"/>
                </a:lnTo>
                <a:lnTo>
                  <a:pt x="239" y="546"/>
                </a:lnTo>
                <a:lnTo>
                  <a:pt x="291" y="599"/>
                </a:lnTo>
                <a:lnTo>
                  <a:pt x="348" y="653"/>
                </a:lnTo>
                <a:lnTo>
                  <a:pt x="409" y="704"/>
                </a:lnTo>
                <a:lnTo>
                  <a:pt x="475" y="753"/>
                </a:lnTo>
                <a:lnTo>
                  <a:pt x="546" y="801"/>
                </a:lnTo>
                <a:lnTo>
                  <a:pt x="620" y="846"/>
                </a:lnTo>
                <a:lnTo>
                  <a:pt x="699" y="890"/>
                </a:lnTo>
                <a:lnTo>
                  <a:pt x="781" y="932"/>
                </a:lnTo>
                <a:lnTo>
                  <a:pt x="867" y="972"/>
                </a:lnTo>
                <a:lnTo>
                  <a:pt x="956" y="1009"/>
                </a:lnTo>
                <a:lnTo>
                  <a:pt x="1050" y="1045"/>
                </a:lnTo>
                <a:lnTo>
                  <a:pt x="1146" y="1077"/>
                </a:lnTo>
                <a:lnTo>
                  <a:pt x="1245" y="1108"/>
                </a:lnTo>
                <a:lnTo>
                  <a:pt x="1347" y="1136"/>
                </a:lnTo>
                <a:lnTo>
                  <a:pt x="1452" y="1161"/>
                </a:lnTo>
                <a:lnTo>
                  <a:pt x="1560" y="1184"/>
                </a:lnTo>
                <a:lnTo>
                  <a:pt x="1670" y="1203"/>
                </a:lnTo>
                <a:lnTo>
                  <a:pt x="1782" y="1221"/>
                </a:lnTo>
                <a:lnTo>
                  <a:pt x="1897" y="1234"/>
                </a:lnTo>
                <a:lnTo>
                  <a:pt x="2014" y="1245"/>
                </a:lnTo>
                <a:lnTo>
                  <a:pt x="2133" y="1254"/>
                </a:lnTo>
                <a:lnTo>
                  <a:pt x="2253" y="1258"/>
                </a:lnTo>
                <a:lnTo>
                  <a:pt x="2375" y="1260"/>
                </a:lnTo>
                <a:lnTo>
                  <a:pt x="2375" y="1266"/>
                </a:lnTo>
                <a:close/>
              </a:path>
            </a:pathLst>
          </a:custGeom>
          <a:solidFill>
            <a:srgbClr val="004A8F"/>
          </a:solidFill>
          <a:ln w="12700" cap="flat">
            <a:solidFill>
              <a:srgbClr val="004A8F"/>
            </a:solidFill>
            <a:prstDash val="solid"/>
            <a:round/>
            <a:headEnd/>
            <a:tailEnd/>
          </a:ln>
        </p:spPr>
        <p:txBody>
          <a:bodyPr vert="horz" wrap="square" lIns="54000" tIns="54000" rIns="54000" bIns="54000" numCol="1" anchor="ctr" anchorCtr="0" compatLnSpc="1">
            <a:prstTxWarp prst="textNoShape">
              <a:avLst/>
            </a:prstTxWarp>
          </a:bodyPr>
          <a:lstStyle/>
          <a:p>
            <a:pPr algn="ctr"/>
            <a:endParaRPr lang="en-IN" sz="900" dirty="0">
              <a:solidFill>
                <a:prstClr val="black"/>
              </a:solidFill>
              <a:cs typeface="Arial" pitchFamily="34" charset="0"/>
            </a:endParaRPr>
          </a:p>
        </p:txBody>
      </p:sp>
      <p:sp>
        <p:nvSpPr>
          <p:cNvPr id="93" name="Freeform 608"/>
          <p:cNvSpPr>
            <a:spLocks/>
          </p:cNvSpPr>
          <p:nvPr/>
        </p:nvSpPr>
        <p:spPr bwMode="auto">
          <a:xfrm>
            <a:off x="499365" y="5643935"/>
            <a:ext cx="1117014" cy="802444"/>
          </a:xfrm>
          <a:custGeom>
            <a:avLst/>
            <a:gdLst/>
            <a:ahLst/>
            <a:cxnLst>
              <a:cxn ang="0">
                <a:pos x="0" y="0"/>
              </a:cxn>
              <a:cxn ang="0">
                <a:pos x="1760" y="1280"/>
              </a:cxn>
              <a:cxn ang="0">
                <a:pos x="0" y="1280"/>
              </a:cxn>
              <a:cxn ang="0">
                <a:pos x="0" y="0"/>
              </a:cxn>
            </a:cxnLst>
            <a:rect l="0" t="0" r="r" b="b"/>
            <a:pathLst>
              <a:path w="1760" h="1280">
                <a:moveTo>
                  <a:pt x="0" y="0"/>
                </a:moveTo>
                <a:cubicBezTo>
                  <a:pt x="972" y="0"/>
                  <a:pt x="1760" y="574"/>
                  <a:pt x="1760" y="1280"/>
                </a:cubicBezTo>
                <a:lnTo>
                  <a:pt x="0" y="1280"/>
                </a:lnTo>
                <a:lnTo>
                  <a:pt x="0" y="0"/>
                </a:lnTo>
                <a:close/>
              </a:path>
            </a:pathLst>
          </a:custGeom>
          <a:solidFill>
            <a:srgbClr val="004A8F"/>
          </a:solidFill>
          <a:ln w="6350">
            <a:solidFill>
              <a:srgbClr val="004A8F"/>
            </a:solidFill>
            <a:round/>
            <a:headEnd type="none" w="sm" len="med"/>
            <a:tailEnd type="none" w="sm" len="sm"/>
          </a:ln>
          <a:effectLst/>
        </p:spPr>
        <p:txBody>
          <a:bodyPr rot="10800000" wrap="none" anchor="ctr"/>
          <a:lstStyle/>
          <a:p>
            <a:pPr defTabSz="762000" eaLnBrk="0" hangingPunct="0">
              <a:defRPr/>
            </a:pPr>
            <a:endParaRPr lang="en-IN" sz="1000" b="1" kern="0" dirty="0">
              <a:solidFill>
                <a:srgbClr val="0C2D83"/>
              </a:solidFill>
              <a:cs typeface="Arial" pitchFamily="34" charset="0"/>
            </a:endParaRPr>
          </a:p>
        </p:txBody>
      </p:sp>
      <p:sp>
        <p:nvSpPr>
          <p:cNvPr id="94" name="Freeform 610"/>
          <p:cNvSpPr>
            <a:spLocks noEditPoints="1"/>
          </p:cNvSpPr>
          <p:nvPr/>
        </p:nvSpPr>
        <p:spPr bwMode="auto">
          <a:xfrm>
            <a:off x="493906" y="1407234"/>
            <a:ext cx="9625610" cy="5044170"/>
          </a:xfrm>
          <a:custGeom>
            <a:avLst/>
            <a:gdLst/>
            <a:ahLst/>
            <a:cxnLst>
              <a:cxn ang="0">
                <a:pos x="0" y="0"/>
              </a:cxn>
              <a:cxn ang="0">
                <a:pos x="5291" y="0"/>
              </a:cxn>
              <a:cxn ang="0">
                <a:pos x="5291" y="3011"/>
              </a:cxn>
              <a:cxn ang="0">
                <a:pos x="0" y="3011"/>
              </a:cxn>
              <a:cxn ang="0">
                <a:pos x="0" y="0"/>
              </a:cxn>
              <a:cxn ang="0">
                <a:pos x="6" y="3008"/>
              </a:cxn>
              <a:cxn ang="0">
                <a:pos x="3" y="3005"/>
              </a:cxn>
              <a:cxn ang="0">
                <a:pos x="5288" y="3005"/>
              </a:cxn>
              <a:cxn ang="0">
                <a:pos x="5286" y="3008"/>
              </a:cxn>
              <a:cxn ang="0">
                <a:pos x="5286" y="3"/>
              </a:cxn>
              <a:cxn ang="0">
                <a:pos x="5288" y="6"/>
              </a:cxn>
              <a:cxn ang="0">
                <a:pos x="3" y="6"/>
              </a:cxn>
              <a:cxn ang="0">
                <a:pos x="6" y="3"/>
              </a:cxn>
              <a:cxn ang="0">
                <a:pos x="6" y="3008"/>
              </a:cxn>
            </a:cxnLst>
            <a:rect l="0" t="0" r="r" b="b"/>
            <a:pathLst>
              <a:path w="5291" h="3011">
                <a:moveTo>
                  <a:pt x="0" y="0"/>
                </a:moveTo>
                <a:lnTo>
                  <a:pt x="5291" y="0"/>
                </a:lnTo>
                <a:lnTo>
                  <a:pt x="5291" y="3011"/>
                </a:lnTo>
                <a:lnTo>
                  <a:pt x="0" y="3011"/>
                </a:lnTo>
                <a:lnTo>
                  <a:pt x="0" y="0"/>
                </a:lnTo>
                <a:close/>
                <a:moveTo>
                  <a:pt x="6" y="3008"/>
                </a:moveTo>
                <a:lnTo>
                  <a:pt x="3" y="3005"/>
                </a:lnTo>
                <a:lnTo>
                  <a:pt x="5288" y="3005"/>
                </a:lnTo>
                <a:lnTo>
                  <a:pt x="5286" y="3008"/>
                </a:lnTo>
                <a:lnTo>
                  <a:pt x="5286" y="3"/>
                </a:lnTo>
                <a:lnTo>
                  <a:pt x="5288" y="6"/>
                </a:lnTo>
                <a:lnTo>
                  <a:pt x="3" y="6"/>
                </a:lnTo>
                <a:lnTo>
                  <a:pt x="6" y="3"/>
                </a:lnTo>
                <a:lnTo>
                  <a:pt x="6" y="3008"/>
                </a:lnTo>
                <a:close/>
              </a:path>
            </a:pathLst>
          </a:custGeom>
          <a:solidFill>
            <a:srgbClr val="004A8F"/>
          </a:solidFill>
          <a:ln w="12700" cap="flat">
            <a:solidFill>
              <a:srgbClr val="004A8F"/>
            </a:solidFill>
            <a:prstDash val="solid"/>
            <a:round/>
            <a:headEnd/>
            <a:tailEnd/>
          </a:ln>
        </p:spPr>
        <p:txBody>
          <a:bodyPr vert="horz" wrap="square" lIns="91440" tIns="45720" rIns="91440" bIns="45720" numCol="1" anchor="t" anchorCtr="0" compatLnSpc="1">
            <a:prstTxWarp prst="textNoShape">
              <a:avLst/>
            </a:prstTxWarp>
          </a:bodyPr>
          <a:lstStyle/>
          <a:p>
            <a:endParaRPr lang="en-IN" sz="1000" dirty="0">
              <a:solidFill>
                <a:prstClr val="black"/>
              </a:solidFill>
              <a:cs typeface="Arial" pitchFamily="34" charset="0"/>
            </a:endParaRPr>
          </a:p>
        </p:txBody>
      </p:sp>
      <p:sp>
        <p:nvSpPr>
          <p:cNvPr id="95" name="Rectangle 611"/>
          <p:cNvSpPr>
            <a:spLocks noChangeArrowheads="1"/>
          </p:cNvSpPr>
          <p:nvPr/>
        </p:nvSpPr>
        <p:spPr bwMode="auto">
          <a:xfrm>
            <a:off x="541601" y="6085935"/>
            <a:ext cx="939080" cy="153888"/>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fontAlgn="base">
              <a:spcBef>
                <a:spcPct val="0"/>
              </a:spcBef>
              <a:spcAft>
                <a:spcPct val="0"/>
              </a:spcAft>
            </a:pPr>
            <a:r>
              <a:rPr lang="en-US" sz="1000" b="1" dirty="0">
                <a:solidFill>
                  <a:srgbClr val="FFFFFF"/>
                </a:solidFill>
                <a:cs typeface="Arial" pitchFamily="34" charset="0"/>
              </a:rPr>
              <a:t>CURRENT  STATE</a:t>
            </a:r>
            <a:endParaRPr lang="en-US" sz="1000" dirty="0">
              <a:solidFill>
                <a:prstClr val="black"/>
              </a:solidFill>
              <a:cs typeface="Arial" pitchFamily="34" charset="0"/>
            </a:endParaRPr>
          </a:p>
        </p:txBody>
      </p:sp>
      <p:sp>
        <p:nvSpPr>
          <p:cNvPr id="99" name="Freeform 615"/>
          <p:cNvSpPr>
            <a:spLocks/>
          </p:cNvSpPr>
          <p:nvPr/>
        </p:nvSpPr>
        <p:spPr bwMode="auto">
          <a:xfrm>
            <a:off x="8655018" y="1414688"/>
            <a:ext cx="1469957" cy="820869"/>
          </a:xfrm>
          <a:custGeom>
            <a:avLst/>
            <a:gdLst/>
            <a:ahLst/>
            <a:cxnLst>
              <a:cxn ang="0">
                <a:pos x="3585" y="1536"/>
              </a:cxn>
              <a:cxn ang="0">
                <a:pos x="0" y="0"/>
              </a:cxn>
              <a:cxn ang="0">
                <a:pos x="3584" y="0"/>
              </a:cxn>
              <a:cxn ang="0">
                <a:pos x="3585" y="1536"/>
              </a:cxn>
            </a:cxnLst>
            <a:rect l="0" t="0" r="r" b="b"/>
            <a:pathLst>
              <a:path w="3585" h="1536">
                <a:moveTo>
                  <a:pt x="3585" y="1536"/>
                </a:moveTo>
                <a:cubicBezTo>
                  <a:pt x="1605" y="1536"/>
                  <a:pt x="0" y="849"/>
                  <a:pt x="0" y="0"/>
                </a:cubicBezTo>
                <a:lnTo>
                  <a:pt x="3584" y="0"/>
                </a:lnTo>
                <a:lnTo>
                  <a:pt x="3585" y="1536"/>
                </a:lnTo>
                <a:close/>
              </a:path>
            </a:pathLst>
          </a:custGeom>
          <a:solidFill>
            <a:srgbClr val="004A8F"/>
          </a:solidFill>
          <a:ln w="6350">
            <a:solidFill>
              <a:srgbClr val="004A8F"/>
            </a:solidFill>
            <a:round/>
            <a:headEnd type="none" w="sm" len="med"/>
            <a:tailEnd type="none" w="sm" len="sm"/>
          </a:ln>
          <a:effectLst/>
        </p:spPr>
        <p:txBody>
          <a:bodyPr rot="10800000" wrap="none" anchor="ctr"/>
          <a:lstStyle/>
          <a:p>
            <a:pPr defTabSz="762000" eaLnBrk="0" hangingPunct="0">
              <a:defRPr/>
            </a:pPr>
            <a:endParaRPr lang="en-IN" sz="1000" b="1" kern="0" dirty="0">
              <a:solidFill>
                <a:srgbClr val="0C2D83"/>
              </a:solidFill>
              <a:cs typeface="Arial" pitchFamily="34" charset="0"/>
            </a:endParaRPr>
          </a:p>
        </p:txBody>
      </p:sp>
      <p:sp>
        <p:nvSpPr>
          <p:cNvPr id="100" name="Freeform 621"/>
          <p:cNvSpPr>
            <a:spLocks/>
          </p:cNvSpPr>
          <p:nvPr/>
        </p:nvSpPr>
        <p:spPr bwMode="auto">
          <a:xfrm>
            <a:off x="3733804" y="1439349"/>
            <a:ext cx="6391171" cy="3326754"/>
          </a:xfrm>
          <a:custGeom>
            <a:avLst/>
            <a:gdLst/>
            <a:ahLst/>
            <a:cxnLst>
              <a:cxn ang="0">
                <a:pos x="4037" y="2176"/>
              </a:cxn>
              <a:cxn ang="0">
                <a:pos x="3624" y="2165"/>
              </a:cxn>
              <a:cxn ang="0">
                <a:pos x="3224" y="2132"/>
              </a:cxn>
              <a:cxn ang="0">
                <a:pos x="2837" y="2078"/>
              </a:cxn>
              <a:cxn ang="0">
                <a:pos x="2466" y="2005"/>
              </a:cxn>
              <a:cxn ang="0">
                <a:pos x="2113" y="1914"/>
              </a:cxn>
              <a:cxn ang="0">
                <a:pos x="1781" y="1805"/>
              </a:cxn>
              <a:cxn ang="0">
                <a:pos x="1470" y="1680"/>
              </a:cxn>
              <a:cxn ang="0">
                <a:pos x="1183" y="1539"/>
              </a:cxn>
              <a:cxn ang="0">
                <a:pos x="923" y="1385"/>
              </a:cxn>
              <a:cxn ang="0">
                <a:pos x="690" y="1217"/>
              </a:cxn>
              <a:cxn ang="0">
                <a:pos x="488" y="1038"/>
              </a:cxn>
              <a:cxn ang="0">
                <a:pos x="358" y="896"/>
              </a:cxn>
              <a:cxn ang="0">
                <a:pos x="280" y="799"/>
              </a:cxn>
              <a:cxn ang="0">
                <a:pos x="213" y="699"/>
              </a:cxn>
              <a:cxn ang="0">
                <a:pos x="154" y="596"/>
              </a:cxn>
              <a:cxn ang="0">
                <a:pos x="104" y="492"/>
              </a:cxn>
              <a:cxn ang="0">
                <a:pos x="63" y="385"/>
              </a:cxn>
              <a:cxn ang="0">
                <a:pos x="33" y="278"/>
              </a:cxn>
              <a:cxn ang="0">
                <a:pos x="12" y="168"/>
              </a:cxn>
              <a:cxn ang="0">
                <a:pos x="1" y="56"/>
              </a:cxn>
              <a:cxn ang="0">
                <a:pos x="6" y="0"/>
              </a:cxn>
              <a:cxn ang="0">
                <a:pos x="11" y="111"/>
              </a:cxn>
              <a:cxn ang="0">
                <a:pos x="26" y="221"/>
              </a:cxn>
              <a:cxn ang="0">
                <a:pos x="52" y="330"/>
              </a:cxn>
              <a:cxn ang="0">
                <a:pos x="88" y="437"/>
              </a:cxn>
              <a:cxn ang="0">
                <a:pos x="133" y="542"/>
              </a:cxn>
              <a:cxn ang="0">
                <a:pos x="187" y="644"/>
              </a:cxn>
              <a:cxn ang="0">
                <a:pos x="250" y="745"/>
              </a:cxn>
              <a:cxn ang="0">
                <a:pos x="322" y="844"/>
              </a:cxn>
              <a:cxn ang="0">
                <a:pos x="403" y="940"/>
              </a:cxn>
              <a:cxn ang="0">
                <a:pos x="588" y="1124"/>
              </a:cxn>
              <a:cxn ang="0">
                <a:pos x="806" y="1298"/>
              </a:cxn>
              <a:cxn ang="0">
                <a:pos x="1052" y="1458"/>
              </a:cxn>
              <a:cxn ang="0">
                <a:pos x="1326" y="1606"/>
              </a:cxn>
              <a:cxn ang="0">
                <a:pos x="1624" y="1738"/>
              </a:cxn>
              <a:cxn ang="0">
                <a:pos x="1946" y="1856"/>
              </a:cxn>
              <a:cxn ang="0">
                <a:pos x="2289" y="1956"/>
              </a:cxn>
              <a:cxn ang="0">
                <a:pos x="2650" y="2039"/>
              </a:cxn>
              <a:cxn ang="0">
                <a:pos x="3029" y="2102"/>
              </a:cxn>
              <a:cxn ang="0">
                <a:pos x="3423" y="2145"/>
              </a:cxn>
              <a:cxn ang="0">
                <a:pos x="3829" y="2167"/>
              </a:cxn>
              <a:cxn ang="0">
                <a:pos x="4038" y="2170"/>
              </a:cxn>
            </a:cxnLst>
            <a:rect l="0" t="0" r="r" b="b"/>
            <a:pathLst>
              <a:path w="4038" h="2176">
                <a:moveTo>
                  <a:pt x="4038" y="2176"/>
                </a:moveTo>
                <a:lnTo>
                  <a:pt x="4037" y="2176"/>
                </a:lnTo>
                <a:lnTo>
                  <a:pt x="3829" y="2173"/>
                </a:lnTo>
                <a:lnTo>
                  <a:pt x="3624" y="2165"/>
                </a:lnTo>
                <a:lnTo>
                  <a:pt x="3422" y="2151"/>
                </a:lnTo>
                <a:lnTo>
                  <a:pt x="3224" y="2132"/>
                </a:lnTo>
                <a:lnTo>
                  <a:pt x="3029" y="2107"/>
                </a:lnTo>
                <a:lnTo>
                  <a:pt x="2837" y="2078"/>
                </a:lnTo>
                <a:lnTo>
                  <a:pt x="2649" y="2044"/>
                </a:lnTo>
                <a:lnTo>
                  <a:pt x="2466" y="2005"/>
                </a:lnTo>
                <a:lnTo>
                  <a:pt x="2288" y="1961"/>
                </a:lnTo>
                <a:lnTo>
                  <a:pt x="2113" y="1914"/>
                </a:lnTo>
                <a:lnTo>
                  <a:pt x="1944" y="1861"/>
                </a:lnTo>
                <a:lnTo>
                  <a:pt x="1781" y="1805"/>
                </a:lnTo>
                <a:lnTo>
                  <a:pt x="1622" y="1744"/>
                </a:lnTo>
                <a:lnTo>
                  <a:pt x="1470" y="1680"/>
                </a:lnTo>
                <a:lnTo>
                  <a:pt x="1323" y="1611"/>
                </a:lnTo>
                <a:lnTo>
                  <a:pt x="1183" y="1539"/>
                </a:lnTo>
                <a:lnTo>
                  <a:pt x="1050" y="1464"/>
                </a:lnTo>
                <a:lnTo>
                  <a:pt x="923" y="1385"/>
                </a:lnTo>
                <a:lnTo>
                  <a:pt x="803" y="1303"/>
                </a:lnTo>
                <a:lnTo>
                  <a:pt x="690" y="1217"/>
                </a:lnTo>
                <a:lnTo>
                  <a:pt x="585" y="1129"/>
                </a:lnTo>
                <a:lnTo>
                  <a:pt x="488" y="1038"/>
                </a:lnTo>
                <a:lnTo>
                  <a:pt x="399" y="944"/>
                </a:lnTo>
                <a:lnTo>
                  <a:pt x="358" y="896"/>
                </a:lnTo>
                <a:lnTo>
                  <a:pt x="318" y="848"/>
                </a:lnTo>
                <a:lnTo>
                  <a:pt x="280" y="799"/>
                </a:lnTo>
                <a:lnTo>
                  <a:pt x="246" y="749"/>
                </a:lnTo>
                <a:lnTo>
                  <a:pt x="213" y="699"/>
                </a:lnTo>
                <a:lnTo>
                  <a:pt x="182" y="648"/>
                </a:lnTo>
                <a:lnTo>
                  <a:pt x="154" y="596"/>
                </a:lnTo>
                <a:lnTo>
                  <a:pt x="127" y="544"/>
                </a:lnTo>
                <a:lnTo>
                  <a:pt x="104" y="492"/>
                </a:lnTo>
                <a:lnTo>
                  <a:pt x="82" y="439"/>
                </a:lnTo>
                <a:lnTo>
                  <a:pt x="63" y="385"/>
                </a:lnTo>
                <a:lnTo>
                  <a:pt x="47" y="332"/>
                </a:lnTo>
                <a:lnTo>
                  <a:pt x="33" y="278"/>
                </a:lnTo>
                <a:lnTo>
                  <a:pt x="21" y="223"/>
                </a:lnTo>
                <a:lnTo>
                  <a:pt x="12" y="168"/>
                </a:lnTo>
                <a:lnTo>
                  <a:pt x="6" y="112"/>
                </a:lnTo>
                <a:lnTo>
                  <a:pt x="1" y="56"/>
                </a:lnTo>
                <a:lnTo>
                  <a:pt x="0" y="0"/>
                </a:lnTo>
                <a:lnTo>
                  <a:pt x="6" y="0"/>
                </a:lnTo>
                <a:lnTo>
                  <a:pt x="7" y="56"/>
                </a:lnTo>
                <a:lnTo>
                  <a:pt x="11" y="111"/>
                </a:lnTo>
                <a:lnTo>
                  <a:pt x="17" y="166"/>
                </a:lnTo>
                <a:lnTo>
                  <a:pt x="26" y="221"/>
                </a:lnTo>
                <a:lnTo>
                  <a:pt x="38" y="276"/>
                </a:lnTo>
                <a:lnTo>
                  <a:pt x="52" y="330"/>
                </a:lnTo>
                <a:lnTo>
                  <a:pt x="69" y="384"/>
                </a:lnTo>
                <a:lnTo>
                  <a:pt x="88" y="437"/>
                </a:lnTo>
                <a:lnTo>
                  <a:pt x="109" y="489"/>
                </a:lnTo>
                <a:lnTo>
                  <a:pt x="133" y="542"/>
                </a:lnTo>
                <a:lnTo>
                  <a:pt x="158" y="593"/>
                </a:lnTo>
                <a:lnTo>
                  <a:pt x="187" y="644"/>
                </a:lnTo>
                <a:lnTo>
                  <a:pt x="217" y="695"/>
                </a:lnTo>
                <a:lnTo>
                  <a:pt x="250" y="745"/>
                </a:lnTo>
                <a:lnTo>
                  <a:pt x="285" y="795"/>
                </a:lnTo>
                <a:lnTo>
                  <a:pt x="322" y="844"/>
                </a:lnTo>
                <a:lnTo>
                  <a:pt x="361" y="892"/>
                </a:lnTo>
                <a:lnTo>
                  <a:pt x="403" y="940"/>
                </a:lnTo>
                <a:lnTo>
                  <a:pt x="492" y="1033"/>
                </a:lnTo>
                <a:lnTo>
                  <a:pt x="588" y="1124"/>
                </a:lnTo>
                <a:lnTo>
                  <a:pt x="693" y="1212"/>
                </a:lnTo>
                <a:lnTo>
                  <a:pt x="806" y="1298"/>
                </a:lnTo>
                <a:lnTo>
                  <a:pt x="925" y="1380"/>
                </a:lnTo>
                <a:lnTo>
                  <a:pt x="1052" y="1458"/>
                </a:lnTo>
                <a:lnTo>
                  <a:pt x="1186" y="1534"/>
                </a:lnTo>
                <a:lnTo>
                  <a:pt x="1326" y="1606"/>
                </a:lnTo>
                <a:lnTo>
                  <a:pt x="1472" y="1674"/>
                </a:lnTo>
                <a:lnTo>
                  <a:pt x="1624" y="1738"/>
                </a:lnTo>
                <a:lnTo>
                  <a:pt x="1782" y="1799"/>
                </a:lnTo>
                <a:lnTo>
                  <a:pt x="1946" y="1856"/>
                </a:lnTo>
                <a:lnTo>
                  <a:pt x="2115" y="1908"/>
                </a:lnTo>
                <a:lnTo>
                  <a:pt x="2289" y="1956"/>
                </a:lnTo>
                <a:lnTo>
                  <a:pt x="2467" y="2000"/>
                </a:lnTo>
                <a:lnTo>
                  <a:pt x="2650" y="2039"/>
                </a:lnTo>
                <a:lnTo>
                  <a:pt x="2838" y="2073"/>
                </a:lnTo>
                <a:lnTo>
                  <a:pt x="3029" y="2102"/>
                </a:lnTo>
                <a:lnTo>
                  <a:pt x="3224" y="2126"/>
                </a:lnTo>
                <a:lnTo>
                  <a:pt x="3423" y="2145"/>
                </a:lnTo>
                <a:lnTo>
                  <a:pt x="3625" y="2159"/>
                </a:lnTo>
                <a:lnTo>
                  <a:pt x="3829" y="2167"/>
                </a:lnTo>
                <a:lnTo>
                  <a:pt x="4037" y="2170"/>
                </a:lnTo>
                <a:lnTo>
                  <a:pt x="4038" y="2170"/>
                </a:lnTo>
                <a:lnTo>
                  <a:pt x="4038" y="2176"/>
                </a:lnTo>
                <a:close/>
              </a:path>
            </a:pathLst>
          </a:custGeom>
          <a:solidFill>
            <a:srgbClr val="004A8F"/>
          </a:solidFill>
          <a:ln w="12700" cap="flat">
            <a:solidFill>
              <a:srgbClr val="004A8F"/>
            </a:solidFill>
            <a:prstDash val="solid"/>
            <a:round/>
            <a:headEnd/>
            <a:tailEnd/>
          </a:ln>
        </p:spPr>
        <p:txBody>
          <a:bodyPr vert="horz" wrap="square" lIns="54000" tIns="54000" rIns="54000" bIns="54000" numCol="1" anchor="ctr" anchorCtr="0" compatLnSpc="1">
            <a:prstTxWarp prst="textNoShape">
              <a:avLst/>
            </a:prstTxWarp>
          </a:bodyPr>
          <a:lstStyle/>
          <a:p>
            <a:pPr algn="ctr"/>
            <a:endParaRPr lang="en-IN" sz="900" dirty="0">
              <a:solidFill>
                <a:prstClr val="black"/>
              </a:solidFill>
              <a:cs typeface="Arial" pitchFamily="34" charset="0"/>
            </a:endParaRPr>
          </a:p>
        </p:txBody>
      </p:sp>
      <p:sp>
        <p:nvSpPr>
          <p:cNvPr id="101" name="Rectangle 652"/>
          <p:cNvSpPr>
            <a:spLocks noChangeArrowheads="1"/>
          </p:cNvSpPr>
          <p:nvPr/>
        </p:nvSpPr>
        <p:spPr bwMode="auto">
          <a:xfrm>
            <a:off x="2701023" y="1098122"/>
            <a:ext cx="501740" cy="153888"/>
          </a:xfrm>
          <a:prstGeom prst="rect">
            <a:avLst/>
          </a:prstGeom>
          <a:noFill/>
          <a:ln w="6350" algn="ctr">
            <a:noFill/>
            <a:miter lim="800000"/>
            <a:headEnd/>
            <a:tailEnd/>
          </a:ln>
          <a:effectLst/>
        </p:spPr>
        <p:txBody>
          <a:bodyPr vert="horz" wrap="none" lIns="0" tIns="0" rIns="0" bIns="0" numCol="1" anchor="t" anchorCtr="0" compatLnSpc="1">
            <a:prstTxWarp prst="textNoShape">
              <a:avLst/>
            </a:prstTxWarp>
            <a:spAutoFit/>
          </a:bodyPr>
          <a:lstStyle/>
          <a:p>
            <a:r>
              <a:rPr lang="en-US" sz="1000" b="1" kern="0" dirty="0">
                <a:solidFill>
                  <a:prstClr val="black"/>
                </a:solidFill>
                <a:cs typeface="Arial" pitchFamily="34" charset="0"/>
              </a:rPr>
              <a:t>FY20 / 21</a:t>
            </a:r>
          </a:p>
        </p:txBody>
      </p:sp>
      <p:sp>
        <p:nvSpPr>
          <p:cNvPr id="102" name="Rectangle 653"/>
          <p:cNvSpPr>
            <a:spLocks noChangeArrowheads="1"/>
          </p:cNvSpPr>
          <p:nvPr/>
        </p:nvSpPr>
        <p:spPr bwMode="auto">
          <a:xfrm>
            <a:off x="4315005" y="1098122"/>
            <a:ext cx="530594" cy="153888"/>
          </a:xfrm>
          <a:prstGeom prst="rect">
            <a:avLst/>
          </a:prstGeom>
          <a:noFill/>
          <a:ln w="6350" algn="ctr">
            <a:noFill/>
            <a:miter lim="800000"/>
            <a:headEnd/>
            <a:tailEnd/>
          </a:ln>
          <a:effectLst/>
        </p:spPr>
        <p:txBody>
          <a:bodyPr vert="horz" wrap="none" lIns="0" tIns="0" rIns="0" bIns="0" numCol="1" anchor="t" anchorCtr="0" compatLnSpc="1">
            <a:prstTxWarp prst="textNoShape">
              <a:avLst/>
            </a:prstTxWarp>
            <a:spAutoFit/>
          </a:bodyPr>
          <a:lstStyle/>
          <a:p>
            <a:r>
              <a:rPr lang="en-US" sz="1000" b="1" kern="0" dirty="0">
                <a:solidFill>
                  <a:prstClr val="black"/>
                </a:solidFill>
                <a:cs typeface="Arial" pitchFamily="34" charset="0"/>
              </a:rPr>
              <a:t>FY 21 / 22</a:t>
            </a:r>
          </a:p>
        </p:txBody>
      </p:sp>
      <p:sp>
        <p:nvSpPr>
          <p:cNvPr id="103" name="Rectangle 654"/>
          <p:cNvSpPr>
            <a:spLocks noChangeArrowheads="1"/>
          </p:cNvSpPr>
          <p:nvPr/>
        </p:nvSpPr>
        <p:spPr bwMode="auto">
          <a:xfrm>
            <a:off x="5886420" y="1098122"/>
            <a:ext cx="530594" cy="153888"/>
          </a:xfrm>
          <a:prstGeom prst="rect">
            <a:avLst/>
          </a:prstGeom>
          <a:noFill/>
          <a:ln w="6350" algn="ctr">
            <a:noFill/>
            <a:miter lim="800000"/>
            <a:headEnd/>
            <a:tailEnd/>
          </a:ln>
          <a:effectLst/>
        </p:spPr>
        <p:txBody>
          <a:bodyPr vert="horz" wrap="none" lIns="0" tIns="0" rIns="0" bIns="0" numCol="1" anchor="t" anchorCtr="0" compatLnSpc="1">
            <a:prstTxWarp prst="textNoShape">
              <a:avLst/>
            </a:prstTxWarp>
            <a:spAutoFit/>
          </a:bodyPr>
          <a:lstStyle/>
          <a:p>
            <a:r>
              <a:rPr lang="en-US" sz="1000" b="1" kern="0" dirty="0">
                <a:solidFill>
                  <a:prstClr val="black"/>
                </a:solidFill>
                <a:cs typeface="Arial" pitchFamily="34" charset="0"/>
              </a:rPr>
              <a:t>FY 22 / 23</a:t>
            </a:r>
          </a:p>
        </p:txBody>
      </p:sp>
      <p:sp>
        <p:nvSpPr>
          <p:cNvPr id="104" name="Rectangle 655"/>
          <p:cNvSpPr>
            <a:spLocks noChangeArrowheads="1"/>
          </p:cNvSpPr>
          <p:nvPr/>
        </p:nvSpPr>
        <p:spPr bwMode="auto">
          <a:xfrm>
            <a:off x="712606" y="1107355"/>
            <a:ext cx="676467" cy="153888"/>
          </a:xfrm>
          <a:prstGeom prst="rect">
            <a:avLst/>
          </a:prstGeom>
          <a:noFill/>
          <a:ln w="6350" algn="ctr">
            <a:noFill/>
            <a:miter lim="800000"/>
            <a:headEnd/>
            <a:tailEnd/>
          </a:ln>
          <a:effectLst/>
        </p:spPr>
        <p:txBody>
          <a:bodyPr vert="horz" wrap="none" lIns="0" tIns="0" rIns="0" bIns="0" numCol="1" anchor="t" anchorCtr="0" compatLnSpc="1">
            <a:prstTxWarp prst="textNoShape">
              <a:avLst/>
            </a:prstTxWarp>
            <a:spAutoFit/>
          </a:bodyPr>
          <a:lstStyle/>
          <a:p>
            <a:pPr fontAlgn="base">
              <a:spcBef>
                <a:spcPct val="0"/>
              </a:spcBef>
              <a:spcAft>
                <a:spcPct val="0"/>
              </a:spcAft>
            </a:pPr>
            <a:r>
              <a:rPr lang="en-US" sz="1000" b="1" kern="0" dirty="0">
                <a:solidFill>
                  <a:prstClr val="black"/>
                </a:solidFill>
                <a:cs typeface="Arial" pitchFamily="34" charset="0"/>
              </a:rPr>
              <a:t>H2 FY19 / 20</a:t>
            </a:r>
          </a:p>
        </p:txBody>
      </p:sp>
      <p:cxnSp>
        <p:nvCxnSpPr>
          <p:cNvPr id="105" name="Straight Arrow Connector 104"/>
          <p:cNvCxnSpPr/>
          <p:nvPr/>
        </p:nvCxnSpPr>
        <p:spPr bwMode="auto">
          <a:xfrm>
            <a:off x="529996" y="1271536"/>
            <a:ext cx="9654801" cy="0"/>
          </a:xfrm>
          <a:prstGeom prst="straightConnector1">
            <a:avLst/>
          </a:prstGeom>
          <a:noFill/>
          <a:ln w="28575" cap="flat" cmpd="sng" algn="ctr">
            <a:solidFill>
              <a:srgbClr val="004A8F"/>
            </a:solidFill>
            <a:prstDash val="solid"/>
            <a:round/>
            <a:headEnd type="none" w="med" len="med"/>
            <a:tailEnd type="triangle" w="med" len="med"/>
          </a:ln>
          <a:effectLst/>
        </p:spPr>
      </p:cxnSp>
      <p:sp>
        <p:nvSpPr>
          <p:cNvPr id="108" name="Rectangle 617"/>
          <p:cNvSpPr>
            <a:spLocks noChangeArrowheads="1"/>
          </p:cNvSpPr>
          <p:nvPr/>
        </p:nvSpPr>
        <p:spPr bwMode="auto">
          <a:xfrm>
            <a:off x="6277002" y="6315706"/>
            <a:ext cx="1227988" cy="281442"/>
          </a:xfrm>
          <a:prstGeom prst="rect">
            <a:avLst/>
          </a:prstGeom>
          <a:solidFill>
            <a:srgbClr val="A6A6A6"/>
          </a:solidFill>
          <a:ln w="9525">
            <a:noFill/>
            <a:miter lim="800000"/>
            <a:headEnd/>
            <a:tailEnd/>
          </a:ln>
        </p:spPr>
        <p:txBody>
          <a:bodyPr vert="horz" wrap="square" lIns="54000" tIns="54000" rIns="54000" bIns="54000" numCol="1" anchor="ctr" anchorCtr="0" compatLnSpc="1">
            <a:prstTxWarp prst="textNoShape">
              <a:avLst/>
            </a:prstTxWarp>
          </a:bodyPr>
          <a:lstStyle/>
          <a:p>
            <a:pPr algn="ctr"/>
            <a:r>
              <a:rPr lang="en-IN" sz="1050" b="1" dirty="0">
                <a:solidFill>
                  <a:prstClr val="white"/>
                </a:solidFill>
                <a:cs typeface="Arial" pitchFamily="34" charset="0"/>
              </a:rPr>
              <a:t>Data</a:t>
            </a:r>
          </a:p>
        </p:txBody>
      </p:sp>
      <p:sp>
        <p:nvSpPr>
          <p:cNvPr id="109" name="Rectangle 623"/>
          <p:cNvSpPr>
            <a:spLocks noChangeArrowheads="1"/>
          </p:cNvSpPr>
          <p:nvPr/>
        </p:nvSpPr>
        <p:spPr bwMode="auto">
          <a:xfrm>
            <a:off x="3911314" y="6305655"/>
            <a:ext cx="1218892" cy="281442"/>
          </a:xfrm>
          <a:prstGeom prst="rect">
            <a:avLst/>
          </a:prstGeom>
          <a:solidFill>
            <a:srgbClr val="A6A6A6"/>
          </a:solidFill>
          <a:ln w="9525">
            <a:noFill/>
            <a:miter lim="800000"/>
            <a:headEnd/>
            <a:tailEnd/>
          </a:ln>
        </p:spPr>
        <p:txBody>
          <a:bodyPr vert="horz" wrap="square" lIns="54000" tIns="54000" rIns="54000" bIns="54000" numCol="1" anchor="ctr" anchorCtr="0" compatLnSpc="1">
            <a:prstTxWarp prst="textNoShape">
              <a:avLst/>
            </a:prstTxWarp>
          </a:bodyPr>
          <a:lstStyle/>
          <a:p>
            <a:pPr algn="ctr"/>
            <a:r>
              <a:rPr lang="en-IN" sz="1050" b="1" dirty="0">
                <a:solidFill>
                  <a:prstClr val="white"/>
                </a:solidFill>
                <a:cs typeface="Arial" pitchFamily="34" charset="0"/>
              </a:rPr>
              <a:t>TM Risk Assessment</a:t>
            </a:r>
          </a:p>
        </p:txBody>
      </p:sp>
      <p:sp>
        <p:nvSpPr>
          <p:cNvPr id="110" name="Rectangle 627"/>
          <p:cNvSpPr>
            <a:spLocks noChangeArrowheads="1"/>
          </p:cNvSpPr>
          <p:nvPr/>
        </p:nvSpPr>
        <p:spPr bwMode="auto">
          <a:xfrm>
            <a:off x="1778895" y="6295607"/>
            <a:ext cx="1227988" cy="291493"/>
          </a:xfrm>
          <a:prstGeom prst="rect">
            <a:avLst/>
          </a:prstGeom>
          <a:solidFill>
            <a:srgbClr val="A6A6A6"/>
          </a:solidFill>
          <a:ln w="9525">
            <a:noFill/>
            <a:miter lim="800000"/>
            <a:headEnd/>
            <a:tailEnd/>
          </a:ln>
        </p:spPr>
        <p:txBody>
          <a:bodyPr vert="horz" wrap="square" lIns="54000" tIns="54000" rIns="54000" bIns="54000" numCol="1" anchor="ctr" anchorCtr="0" compatLnSpc="1">
            <a:prstTxWarp prst="textNoShape">
              <a:avLst/>
            </a:prstTxWarp>
          </a:bodyPr>
          <a:lstStyle/>
          <a:p>
            <a:pPr algn="ctr"/>
            <a:r>
              <a:rPr lang="en-IN" sz="1050" b="1" dirty="0">
                <a:solidFill>
                  <a:prstClr val="white"/>
                </a:solidFill>
                <a:cs typeface="Arial" pitchFamily="34" charset="0"/>
              </a:rPr>
              <a:t>Governance</a:t>
            </a:r>
          </a:p>
        </p:txBody>
      </p:sp>
      <p:sp>
        <p:nvSpPr>
          <p:cNvPr id="111" name="Rectangle 631"/>
          <p:cNvSpPr>
            <a:spLocks noChangeArrowheads="1"/>
          </p:cNvSpPr>
          <p:nvPr/>
        </p:nvSpPr>
        <p:spPr bwMode="auto">
          <a:xfrm>
            <a:off x="346550" y="4610307"/>
            <a:ext cx="294717" cy="923062"/>
          </a:xfrm>
          <a:prstGeom prst="rect">
            <a:avLst/>
          </a:prstGeom>
          <a:solidFill>
            <a:srgbClr val="A6A6A6"/>
          </a:solidFill>
          <a:ln w="9525">
            <a:noFill/>
            <a:miter lim="800000"/>
            <a:headEnd/>
            <a:tailEnd/>
          </a:ln>
        </p:spPr>
        <p:txBody>
          <a:bodyPr vert="vert270" wrap="square" lIns="54000" tIns="54000" rIns="54000" bIns="54000" numCol="1" anchor="ctr" anchorCtr="1" compatLnSpc="1">
            <a:prstTxWarp prst="textNoShape">
              <a:avLst/>
            </a:prstTxWarp>
          </a:bodyPr>
          <a:lstStyle/>
          <a:p>
            <a:pPr algn="ctr"/>
            <a:r>
              <a:rPr lang="en-IN" sz="1100" b="1" dirty="0">
                <a:solidFill>
                  <a:prstClr val="white"/>
                </a:solidFill>
                <a:cs typeface="Arial" pitchFamily="34" charset="0"/>
              </a:rPr>
              <a:t>Technology</a:t>
            </a:r>
          </a:p>
        </p:txBody>
      </p:sp>
      <p:sp>
        <p:nvSpPr>
          <p:cNvPr id="112" name="Rectangle 635"/>
          <p:cNvSpPr>
            <a:spLocks noChangeArrowheads="1"/>
          </p:cNvSpPr>
          <p:nvPr/>
        </p:nvSpPr>
        <p:spPr bwMode="auto">
          <a:xfrm>
            <a:off x="346550" y="3000268"/>
            <a:ext cx="294717" cy="1202828"/>
          </a:xfrm>
          <a:prstGeom prst="rect">
            <a:avLst/>
          </a:prstGeom>
          <a:solidFill>
            <a:srgbClr val="A6A6A6"/>
          </a:solidFill>
          <a:ln w="9525">
            <a:noFill/>
            <a:miter lim="800000"/>
            <a:headEnd/>
            <a:tailEnd/>
          </a:ln>
        </p:spPr>
        <p:txBody>
          <a:bodyPr vert="vert270" wrap="square" lIns="54000" tIns="54000" rIns="54000" bIns="54000" numCol="1" anchor="ctr" anchorCtr="1" compatLnSpc="1">
            <a:prstTxWarp prst="textNoShape">
              <a:avLst/>
            </a:prstTxWarp>
          </a:bodyPr>
          <a:lstStyle/>
          <a:p>
            <a:r>
              <a:rPr lang="en-IN" sz="1100" b="1" dirty="0">
                <a:solidFill>
                  <a:prstClr val="white"/>
                </a:solidFill>
                <a:cs typeface="Arial" pitchFamily="34" charset="0"/>
              </a:rPr>
              <a:t>Process</a:t>
            </a:r>
          </a:p>
        </p:txBody>
      </p:sp>
      <p:sp>
        <p:nvSpPr>
          <p:cNvPr id="113" name="Rectangle 639"/>
          <p:cNvSpPr>
            <a:spLocks noChangeArrowheads="1"/>
          </p:cNvSpPr>
          <p:nvPr/>
        </p:nvSpPr>
        <p:spPr bwMode="auto">
          <a:xfrm>
            <a:off x="357465" y="1490622"/>
            <a:ext cx="294717" cy="1112364"/>
          </a:xfrm>
          <a:prstGeom prst="rect">
            <a:avLst/>
          </a:prstGeom>
          <a:solidFill>
            <a:srgbClr val="A6A6A6"/>
          </a:solidFill>
          <a:ln w="9525">
            <a:noFill/>
            <a:miter lim="800000"/>
            <a:headEnd/>
            <a:tailEnd/>
          </a:ln>
        </p:spPr>
        <p:txBody>
          <a:bodyPr vert="vert270" wrap="square" lIns="54000" tIns="54000" rIns="54000" bIns="54000" numCol="1" anchor="ctr" anchorCtr="1" compatLnSpc="1">
            <a:prstTxWarp prst="textNoShape">
              <a:avLst/>
            </a:prstTxWarp>
          </a:bodyPr>
          <a:lstStyle/>
          <a:p>
            <a:r>
              <a:rPr lang="en-IN" sz="1100" b="1" dirty="0">
                <a:solidFill>
                  <a:prstClr val="white"/>
                </a:solidFill>
                <a:cs typeface="Arial" pitchFamily="34" charset="0"/>
              </a:rPr>
              <a:t>People</a:t>
            </a:r>
          </a:p>
        </p:txBody>
      </p:sp>
      <p:sp>
        <p:nvSpPr>
          <p:cNvPr id="114" name="Rectangle 645"/>
          <p:cNvSpPr>
            <a:spLocks noChangeArrowheads="1"/>
          </p:cNvSpPr>
          <p:nvPr/>
        </p:nvSpPr>
        <p:spPr bwMode="auto">
          <a:xfrm>
            <a:off x="8479973" y="6295607"/>
            <a:ext cx="1227988" cy="291493"/>
          </a:xfrm>
          <a:prstGeom prst="rect">
            <a:avLst/>
          </a:prstGeom>
          <a:solidFill>
            <a:srgbClr val="A6A6A6"/>
          </a:solidFill>
          <a:ln w="9525">
            <a:noFill/>
            <a:miter lim="800000"/>
            <a:headEnd/>
            <a:tailEnd/>
          </a:ln>
        </p:spPr>
        <p:txBody>
          <a:bodyPr vert="horz" wrap="square" lIns="54000" tIns="54000" rIns="54000" bIns="54000" numCol="1" anchor="ctr" anchorCtr="0" compatLnSpc="1">
            <a:prstTxWarp prst="textNoShape">
              <a:avLst/>
            </a:prstTxWarp>
          </a:bodyPr>
          <a:lstStyle/>
          <a:p>
            <a:pPr algn="ctr"/>
            <a:r>
              <a:rPr lang="en-IN" sz="1050" b="1" dirty="0">
                <a:solidFill>
                  <a:prstClr val="white"/>
                </a:solidFill>
                <a:cs typeface="Arial" pitchFamily="34" charset="0"/>
              </a:rPr>
              <a:t>Skills</a:t>
            </a:r>
          </a:p>
        </p:txBody>
      </p:sp>
      <p:sp>
        <p:nvSpPr>
          <p:cNvPr id="115" name="Rectangle 613"/>
          <p:cNvSpPr>
            <a:spLocks noChangeArrowheads="1"/>
          </p:cNvSpPr>
          <p:nvPr/>
        </p:nvSpPr>
        <p:spPr bwMode="auto">
          <a:xfrm>
            <a:off x="7585532" y="1098122"/>
            <a:ext cx="530594" cy="153888"/>
          </a:xfrm>
          <a:prstGeom prst="rect">
            <a:avLst/>
          </a:prstGeom>
          <a:noFill/>
          <a:ln w="6350" algn="ctr">
            <a:noFill/>
            <a:miter lim="800000"/>
            <a:headEnd/>
            <a:tailEnd/>
          </a:ln>
          <a:effectLst/>
        </p:spPr>
        <p:txBody>
          <a:bodyPr vert="horz" wrap="none" lIns="0" tIns="0" rIns="0" bIns="0" numCol="1" anchor="t" anchorCtr="0" compatLnSpc="1">
            <a:prstTxWarp prst="textNoShape">
              <a:avLst/>
            </a:prstTxWarp>
            <a:spAutoFit/>
          </a:bodyPr>
          <a:lstStyle/>
          <a:p>
            <a:r>
              <a:rPr lang="en-US" sz="1000" b="1" kern="0" dirty="0">
                <a:solidFill>
                  <a:prstClr val="black"/>
                </a:solidFill>
                <a:cs typeface="Arial" pitchFamily="34" charset="0"/>
              </a:rPr>
              <a:t>FY 23 / 24</a:t>
            </a:r>
          </a:p>
        </p:txBody>
      </p:sp>
      <p:cxnSp>
        <p:nvCxnSpPr>
          <p:cNvPr id="116" name="Straight Connector 115"/>
          <p:cNvCxnSpPr/>
          <p:nvPr/>
        </p:nvCxnSpPr>
        <p:spPr bwMode="auto">
          <a:xfrm flipH="1">
            <a:off x="1237250" y="1817667"/>
            <a:ext cx="7678257" cy="4202860"/>
          </a:xfrm>
          <a:prstGeom prst="line">
            <a:avLst/>
          </a:prstGeom>
          <a:solidFill>
            <a:srgbClr val="8AA5CB"/>
          </a:solidFill>
          <a:ln w="19050" cap="flat">
            <a:solidFill>
              <a:srgbClr val="004A8F"/>
            </a:solidFill>
            <a:prstDash val="solid"/>
            <a:round/>
            <a:headEnd/>
            <a:tailEnd/>
          </a:ln>
        </p:spPr>
      </p:cxnSp>
      <p:sp>
        <p:nvSpPr>
          <p:cNvPr id="117" name="Rectangle 1125"/>
          <p:cNvSpPr>
            <a:spLocks noChangeArrowheads="1"/>
          </p:cNvSpPr>
          <p:nvPr/>
        </p:nvSpPr>
        <p:spPr bwMode="auto">
          <a:xfrm>
            <a:off x="9180184" y="1516501"/>
            <a:ext cx="920174" cy="262943"/>
          </a:xfrm>
          <a:prstGeom prst="rect">
            <a:avLst/>
          </a:prstGeom>
          <a:noFill/>
          <a:ln w="9525">
            <a:noFill/>
            <a:miter lim="800000"/>
            <a:headEnd/>
            <a:tailEnd/>
          </a:ln>
        </p:spPr>
        <p:txBody>
          <a:bodyPr vert="horz" wrap="none" lIns="54000" tIns="54000" rIns="54000" bIns="54000" numCol="1" anchor="t" anchorCtr="0" compatLnSpc="1">
            <a:prstTxWarp prst="textNoShape">
              <a:avLst/>
            </a:prstTxWarp>
            <a:spAutoFit/>
          </a:bodyPr>
          <a:lstStyle/>
          <a:p>
            <a:pPr fontAlgn="base">
              <a:spcBef>
                <a:spcPct val="0"/>
              </a:spcBef>
              <a:spcAft>
                <a:spcPct val="0"/>
              </a:spcAft>
            </a:pPr>
            <a:r>
              <a:rPr lang="en-US" sz="1000" dirty="0">
                <a:solidFill>
                  <a:srgbClr val="FFFFFF"/>
                </a:solidFill>
                <a:cs typeface="Arial" pitchFamily="34" charset="0"/>
              </a:rPr>
              <a:t>FUTURE  STATE</a:t>
            </a:r>
            <a:endParaRPr lang="en-US" sz="1000" dirty="0">
              <a:solidFill>
                <a:prstClr val="black"/>
              </a:solidFill>
              <a:cs typeface="Arial" pitchFamily="34" charset="0"/>
            </a:endParaRPr>
          </a:p>
        </p:txBody>
      </p:sp>
      <p:sp>
        <p:nvSpPr>
          <p:cNvPr id="119" name="Freeform 621"/>
          <p:cNvSpPr>
            <a:spLocks/>
          </p:cNvSpPr>
          <p:nvPr/>
        </p:nvSpPr>
        <p:spPr bwMode="auto">
          <a:xfrm>
            <a:off x="1097784" y="1423884"/>
            <a:ext cx="9002573" cy="4504780"/>
          </a:xfrm>
          <a:custGeom>
            <a:avLst/>
            <a:gdLst/>
            <a:ahLst/>
            <a:cxnLst>
              <a:cxn ang="0">
                <a:pos x="4037" y="2176"/>
              </a:cxn>
              <a:cxn ang="0">
                <a:pos x="3624" y="2165"/>
              </a:cxn>
              <a:cxn ang="0">
                <a:pos x="3224" y="2132"/>
              </a:cxn>
              <a:cxn ang="0">
                <a:pos x="2837" y="2078"/>
              </a:cxn>
              <a:cxn ang="0">
                <a:pos x="2466" y="2005"/>
              </a:cxn>
              <a:cxn ang="0">
                <a:pos x="2113" y="1914"/>
              </a:cxn>
              <a:cxn ang="0">
                <a:pos x="1781" y="1805"/>
              </a:cxn>
              <a:cxn ang="0">
                <a:pos x="1470" y="1680"/>
              </a:cxn>
              <a:cxn ang="0">
                <a:pos x="1183" y="1539"/>
              </a:cxn>
              <a:cxn ang="0">
                <a:pos x="923" y="1385"/>
              </a:cxn>
              <a:cxn ang="0">
                <a:pos x="690" y="1217"/>
              </a:cxn>
              <a:cxn ang="0">
                <a:pos x="488" y="1038"/>
              </a:cxn>
              <a:cxn ang="0">
                <a:pos x="358" y="896"/>
              </a:cxn>
              <a:cxn ang="0">
                <a:pos x="280" y="799"/>
              </a:cxn>
              <a:cxn ang="0">
                <a:pos x="213" y="699"/>
              </a:cxn>
              <a:cxn ang="0">
                <a:pos x="154" y="596"/>
              </a:cxn>
              <a:cxn ang="0">
                <a:pos x="104" y="492"/>
              </a:cxn>
              <a:cxn ang="0">
                <a:pos x="63" y="385"/>
              </a:cxn>
              <a:cxn ang="0">
                <a:pos x="33" y="278"/>
              </a:cxn>
              <a:cxn ang="0">
                <a:pos x="12" y="168"/>
              </a:cxn>
              <a:cxn ang="0">
                <a:pos x="1" y="56"/>
              </a:cxn>
              <a:cxn ang="0">
                <a:pos x="6" y="0"/>
              </a:cxn>
              <a:cxn ang="0">
                <a:pos x="11" y="111"/>
              </a:cxn>
              <a:cxn ang="0">
                <a:pos x="26" y="221"/>
              </a:cxn>
              <a:cxn ang="0">
                <a:pos x="52" y="330"/>
              </a:cxn>
              <a:cxn ang="0">
                <a:pos x="88" y="437"/>
              </a:cxn>
              <a:cxn ang="0">
                <a:pos x="133" y="542"/>
              </a:cxn>
              <a:cxn ang="0">
                <a:pos x="187" y="644"/>
              </a:cxn>
              <a:cxn ang="0">
                <a:pos x="250" y="745"/>
              </a:cxn>
              <a:cxn ang="0">
                <a:pos x="322" y="844"/>
              </a:cxn>
              <a:cxn ang="0">
                <a:pos x="403" y="940"/>
              </a:cxn>
              <a:cxn ang="0">
                <a:pos x="588" y="1124"/>
              </a:cxn>
              <a:cxn ang="0">
                <a:pos x="806" y="1298"/>
              </a:cxn>
              <a:cxn ang="0">
                <a:pos x="1052" y="1458"/>
              </a:cxn>
              <a:cxn ang="0">
                <a:pos x="1326" y="1606"/>
              </a:cxn>
              <a:cxn ang="0">
                <a:pos x="1624" y="1738"/>
              </a:cxn>
              <a:cxn ang="0">
                <a:pos x="1946" y="1856"/>
              </a:cxn>
              <a:cxn ang="0">
                <a:pos x="2289" y="1956"/>
              </a:cxn>
              <a:cxn ang="0">
                <a:pos x="2650" y="2039"/>
              </a:cxn>
              <a:cxn ang="0">
                <a:pos x="3029" y="2102"/>
              </a:cxn>
              <a:cxn ang="0">
                <a:pos x="3423" y="2145"/>
              </a:cxn>
              <a:cxn ang="0">
                <a:pos x="3829" y="2167"/>
              </a:cxn>
              <a:cxn ang="0">
                <a:pos x="4038" y="2170"/>
              </a:cxn>
            </a:cxnLst>
            <a:rect l="0" t="0" r="r" b="b"/>
            <a:pathLst>
              <a:path w="4038" h="2176">
                <a:moveTo>
                  <a:pt x="4038" y="2176"/>
                </a:moveTo>
                <a:lnTo>
                  <a:pt x="4037" y="2176"/>
                </a:lnTo>
                <a:lnTo>
                  <a:pt x="3829" y="2173"/>
                </a:lnTo>
                <a:lnTo>
                  <a:pt x="3624" y="2165"/>
                </a:lnTo>
                <a:lnTo>
                  <a:pt x="3422" y="2151"/>
                </a:lnTo>
                <a:lnTo>
                  <a:pt x="3224" y="2132"/>
                </a:lnTo>
                <a:lnTo>
                  <a:pt x="3029" y="2107"/>
                </a:lnTo>
                <a:lnTo>
                  <a:pt x="2837" y="2078"/>
                </a:lnTo>
                <a:lnTo>
                  <a:pt x="2649" y="2044"/>
                </a:lnTo>
                <a:lnTo>
                  <a:pt x="2466" y="2005"/>
                </a:lnTo>
                <a:lnTo>
                  <a:pt x="2288" y="1961"/>
                </a:lnTo>
                <a:lnTo>
                  <a:pt x="2113" y="1914"/>
                </a:lnTo>
                <a:lnTo>
                  <a:pt x="1944" y="1861"/>
                </a:lnTo>
                <a:lnTo>
                  <a:pt x="1781" y="1805"/>
                </a:lnTo>
                <a:lnTo>
                  <a:pt x="1622" y="1744"/>
                </a:lnTo>
                <a:lnTo>
                  <a:pt x="1470" y="1680"/>
                </a:lnTo>
                <a:lnTo>
                  <a:pt x="1323" y="1611"/>
                </a:lnTo>
                <a:lnTo>
                  <a:pt x="1183" y="1539"/>
                </a:lnTo>
                <a:lnTo>
                  <a:pt x="1050" y="1464"/>
                </a:lnTo>
                <a:lnTo>
                  <a:pt x="923" y="1385"/>
                </a:lnTo>
                <a:lnTo>
                  <a:pt x="803" y="1303"/>
                </a:lnTo>
                <a:lnTo>
                  <a:pt x="690" y="1217"/>
                </a:lnTo>
                <a:lnTo>
                  <a:pt x="585" y="1129"/>
                </a:lnTo>
                <a:lnTo>
                  <a:pt x="488" y="1038"/>
                </a:lnTo>
                <a:lnTo>
                  <a:pt x="399" y="944"/>
                </a:lnTo>
                <a:lnTo>
                  <a:pt x="358" y="896"/>
                </a:lnTo>
                <a:lnTo>
                  <a:pt x="318" y="848"/>
                </a:lnTo>
                <a:lnTo>
                  <a:pt x="280" y="799"/>
                </a:lnTo>
                <a:lnTo>
                  <a:pt x="246" y="749"/>
                </a:lnTo>
                <a:lnTo>
                  <a:pt x="213" y="699"/>
                </a:lnTo>
                <a:lnTo>
                  <a:pt x="182" y="648"/>
                </a:lnTo>
                <a:lnTo>
                  <a:pt x="154" y="596"/>
                </a:lnTo>
                <a:lnTo>
                  <a:pt x="127" y="544"/>
                </a:lnTo>
                <a:lnTo>
                  <a:pt x="104" y="492"/>
                </a:lnTo>
                <a:lnTo>
                  <a:pt x="82" y="439"/>
                </a:lnTo>
                <a:lnTo>
                  <a:pt x="63" y="385"/>
                </a:lnTo>
                <a:lnTo>
                  <a:pt x="47" y="332"/>
                </a:lnTo>
                <a:lnTo>
                  <a:pt x="33" y="278"/>
                </a:lnTo>
                <a:lnTo>
                  <a:pt x="21" y="223"/>
                </a:lnTo>
                <a:lnTo>
                  <a:pt x="12" y="168"/>
                </a:lnTo>
                <a:lnTo>
                  <a:pt x="6" y="112"/>
                </a:lnTo>
                <a:lnTo>
                  <a:pt x="1" y="56"/>
                </a:lnTo>
                <a:lnTo>
                  <a:pt x="0" y="0"/>
                </a:lnTo>
                <a:lnTo>
                  <a:pt x="6" y="0"/>
                </a:lnTo>
                <a:lnTo>
                  <a:pt x="7" y="56"/>
                </a:lnTo>
                <a:lnTo>
                  <a:pt x="11" y="111"/>
                </a:lnTo>
                <a:lnTo>
                  <a:pt x="17" y="166"/>
                </a:lnTo>
                <a:lnTo>
                  <a:pt x="26" y="221"/>
                </a:lnTo>
                <a:lnTo>
                  <a:pt x="38" y="276"/>
                </a:lnTo>
                <a:lnTo>
                  <a:pt x="52" y="330"/>
                </a:lnTo>
                <a:lnTo>
                  <a:pt x="69" y="384"/>
                </a:lnTo>
                <a:lnTo>
                  <a:pt x="88" y="437"/>
                </a:lnTo>
                <a:lnTo>
                  <a:pt x="109" y="489"/>
                </a:lnTo>
                <a:lnTo>
                  <a:pt x="133" y="542"/>
                </a:lnTo>
                <a:lnTo>
                  <a:pt x="158" y="593"/>
                </a:lnTo>
                <a:lnTo>
                  <a:pt x="187" y="644"/>
                </a:lnTo>
                <a:lnTo>
                  <a:pt x="217" y="695"/>
                </a:lnTo>
                <a:lnTo>
                  <a:pt x="250" y="745"/>
                </a:lnTo>
                <a:lnTo>
                  <a:pt x="285" y="795"/>
                </a:lnTo>
                <a:lnTo>
                  <a:pt x="322" y="844"/>
                </a:lnTo>
                <a:lnTo>
                  <a:pt x="361" y="892"/>
                </a:lnTo>
                <a:lnTo>
                  <a:pt x="403" y="940"/>
                </a:lnTo>
                <a:lnTo>
                  <a:pt x="492" y="1033"/>
                </a:lnTo>
                <a:lnTo>
                  <a:pt x="588" y="1124"/>
                </a:lnTo>
                <a:lnTo>
                  <a:pt x="693" y="1212"/>
                </a:lnTo>
                <a:lnTo>
                  <a:pt x="806" y="1298"/>
                </a:lnTo>
                <a:lnTo>
                  <a:pt x="925" y="1380"/>
                </a:lnTo>
                <a:lnTo>
                  <a:pt x="1052" y="1458"/>
                </a:lnTo>
                <a:lnTo>
                  <a:pt x="1186" y="1534"/>
                </a:lnTo>
                <a:lnTo>
                  <a:pt x="1326" y="1606"/>
                </a:lnTo>
                <a:lnTo>
                  <a:pt x="1472" y="1674"/>
                </a:lnTo>
                <a:lnTo>
                  <a:pt x="1624" y="1738"/>
                </a:lnTo>
                <a:lnTo>
                  <a:pt x="1782" y="1799"/>
                </a:lnTo>
                <a:lnTo>
                  <a:pt x="1946" y="1856"/>
                </a:lnTo>
                <a:lnTo>
                  <a:pt x="2115" y="1908"/>
                </a:lnTo>
                <a:lnTo>
                  <a:pt x="2289" y="1956"/>
                </a:lnTo>
                <a:lnTo>
                  <a:pt x="2467" y="2000"/>
                </a:lnTo>
                <a:lnTo>
                  <a:pt x="2650" y="2039"/>
                </a:lnTo>
                <a:lnTo>
                  <a:pt x="2838" y="2073"/>
                </a:lnTo>
                <a:lnTo>
                  <a:pt x="3029" y="2102"/>
                </a:lnTo>
                <a:lnTo>
                  <a:pt x="3224" y="2126"/>
                </a:lnTo>
                <a:lnTo>
                  <a:pt x="3423" y="2145"/>
                </a:lnTo>
                <a:lnTo>
                  <a:pt x="3625" y="2159"/>
                </a:lnTo>
                <a:lnTo>
                  <a:pt x="3829" y="2167"/>
                </a:lnTo>
                <a:lnTo>
                  <a:pt x="4037" y="2170"/>
                </a:lnTo>
                <a:lnTo>
                  <a:pt x="4038" y="2170"/>
                </a:lnTo>
                <a:lnTo>
                  <a:pt x="4038" y="2176"/>
                </a:lnTo>
                <a:close/>
              </a:path>
            </a:pathLst>
          </a:custGeom>
          <a:solidFill>
            <a:srgbClr val="004A8F"/>
          </a:solidFill>
          <a:ln w="12700" cap="flat">
            <a:solidFill>
              <a:srgbClr val="004A8F"/>
            </a:solidFill>
            <a:prstDash val="solid"/>
            <a:round/>
            <a:headEnd/>
            <a:tailEnd/>
          </a:ln>
        </p:spPr>
        <p:txBody>
          <a:bodyPr vert="horz" wrap="square" lIns="54000" tIns="54000" rIns="54000" bIns="54000" numCol="1" anchor="ctr" anchorCtr="0" compatLnSpc="1">
            <a:prstTxWarp prst="textNoShape">
              <a:avLst/>
            </a:prstTxWarp>
          </a:bodyPr>
          <a:lstStyle/>
          <a:p>
            <a:pPr algn="ctr"/>
            <a:endParaRPr lang="en-IN" sz="900" dirty="0">
              <a:solidFill>
                <a:prstClr val="black"/>
              </a:solidFill>
              <a:cs typeface="Arial" pitchFamily="34" charset="0"/>
            </a:endParaRPr>
          </a:p>
        </p:txBody>
      </p:sp>
      <p:sp>
        <p:nvSpPr>
          <p:cNvPr id="120" name="Freeform 591"/>
          <p:cNvSpPr>
            <a:spLocks/>
          </p:cNvSpPr>
          <p:nvPr/>
        </p:nvSpPr>
        <p:spPr bwMode="auto">
          <a:xfrm>
            <a:off x="7028411" y="1412547"/>
            <a:ext cx="3078942" cy="1651507"/>
          </a:xfrm>
          <a:custGeom>
            <a:avLst/>
            <a:gdLst/>
            <a:ahLst/>
            <a:cxnLst>
              <a:cxn ang="0">
                <a:pos x="2253" y="1264"/>
              </a:cxn>
              <a:cxn ang="0">
                <a:pos x="2013" y="1251"/>
              </a:cxn>
              <a:cxn ang="0">
                <a:pos x="1782" y="1226"/>
              </a:cxn>
              <a:cxn ang="0">
                <a:pos x="1559" y="1189"/>
              </a:cxn>
              <a:cxn ang="0">
                <a:pos x="1346" y="1141"/>
              </a:cxn>
              <a:cxn ang="0">
                <a:pos x="1144" y="1083"/>
              </a:cxn>
              <a:cxn ang="0">
                <a:pos x="955" y="1015"/>
              </a:cxn>
              <a:cxn ang="0">
                <a:pos x="779" y="938"/>
              </a:cxn>
              <a:cxn ang="0">
                <a:pos x="618" y="852"/>
              </a:cxn>
              <a:cxn ang="0">
                <a:pos x="472" y="758"/>
              </a:cxn>
              <a:cxn ang="0">
                <a:pos x="345" y="657"/>
              </a:cxn>
              <a:cxn ang="0">
                <a:pos x="235" y="550"/>
              </a:cxn>
              <a:cxn ang="0">
                <a:pos x="144" y="436"/>
              </a:cxn>
              <a:cxn ang="0">
                <a:pos x="75" y="317"/>
              </a:cxn>
              <a:cxn ang="0">
                <a:pos x="27" y="193"/>
              </a:cxn>
              <a:cxn ang="0">
                <a:pos x="3" y="65"/>
              </a:cxn>
              <a:cxn ang="0">
                <a:pos x="5" y="0"/>
              </a:cxn>
              <a:cxn ang="0">
                <a:pos x="17" y="128"/>
              </a:cxn>
              <a:cxn ang="0">
                <a:pos x="53" y="253"/>
              </a:cxn>
              <a:cxn ang="0">
                <a:pos x="112" y="374"/>
              </a:cxn>
              <a:cxn ang="0">
                <a:pos x="191" y="489"/>
              </a:cxn>
              <a:cxn ang="0">
                <a:pos x="291" y="599"/>
              </a:cxn>
              <a:cxn ang="0">
                <a:pos x="409" y="704"/>
              </a:cxn>
              <a:cxn ang="0">
                <a:pos x="546" y="801"/>
              </a:cxn>
              <a:cxn ang="0">
                <a:pos x="699" y="890"/>
              </a:cxn>
              <a:cxn ang="0">
                <a:pos x="867" y="972"/>
              </a:cxn>
              <a:cxn ang="0">
                <a:pos x="1050" y="1045"/>
              </a:cxn>
              <a:cxn ang="0">
                <a:pos x="1245" y="1108"/>
              </a:cxn>
              <a:cxn ang="0">
                <a:pos x="1452" y="1161"/>
              </a:cxn>
              <a:cxn ang="0">
                <a:pos x="1670" y="1203"/>
              </a:cxn>
              <a:cxn ang="0">
                <a:pos x="1897" y="1234"/>
              </a:cxn>
              <a:cxn ang="0">
                <a:pos x="2133" y="1254"/>
              </a:cxn>
              <a:cxn ang="0">
                <a:pos x="2375" y="1260"/>
              </a:cxn>
            </a:cxnLst>
            <a:rect l="0" t="0" r="r" b="b"/>
            <a:pathLst>
              <a:path w="2375" h="1266">
                <a:moveTo>
                  <a:pt x="2375" y="1266"/>
                </a:moveTo>
                <a:lnTo>
                  <a:pt x="2253" y="1264"/>
                </a:lnTo>
                <a:lnTo>
                  <a:pt x="2132" y="1260"/>
                </a:lnTo>
                <a:lnTo>
                  <a:pt x="2013" y="1251"/>
                </a:lnTo>
                <a:lnTo>
                  <a:pt x="1897" y="1240"/>
                </a:lnTo>
                <a:lnTo>
                  <a:pt x="1782" y="1226"/>
                </a:lnTo>
                <a:lnTo>
                  <a:pt x="1669" y="1209"/>
                </a:lnTo>
                <a:lnTo>
                  <a:pt x="1559" y="1189"/>
                </a:lnTo>
                <a:lnTo>
                  <a:pt x="1451" y="1167"/>
                </a:lnTo>
                <a:lnTo>
                  <a:pt x="1346" y="1141"/>
                </a:lnTo>
                <a:lnTo>
                  <a:pt x="1244" y="1114"/>
                </a:lnTo>
                <a:lnTo>
                  <a:pt x="1144" y="1083"/>
                </a:lnTo>
                <a:lnTo>
                  <a:pt x="1048" y="1050"/>
                </a:lnTo>
                <a:lnTo>
                  <a:pt x="955" y="1015"/>
                </a:lnTo>
                <a:lnTo>
                  <a:pt x="865" y="977"/>
                </a:lnTo>
                <a:lnTo>
                  <a:pt x="779" y="938"/>
                </a:lnTo>
                <a:lnTo>
                  <a:pt x="696" y="896"/>
                </a:lnTo>
                <a:lnTo>
                  <a:pt x="618" y="852"/>
                </a:lnTo>
                <a:lnTo>
                  <a:pt x="543" y="806"/>
                </a:lnTo>
                <a:lnTo>
                  <a:pt x="472" y="758"/>
                </a:lnTo>
                <a:lnTo>
                  <a:pt x="406" y="709"/>
                </a:lnTo>
                <a:lnTo>
                  <a:pt x="345" y="657"/>
                </a:lnTo>
                <a:lnTo>
                  <a:pt x="287" y="604"/>
                </a:lnTo>
                <a:lnTo>
                  <a:pt x="235" y="550"/>
                </a:lnTo>
                <a:lnTo>
                  <a:pt x="187" y="494"/>
                </a:lnTo>
                <a:lnTo>
                  <a:pt x="144" y="436"/>
                </a:lnTo>
                <a:lnTo>
                  <a:pt x="107" y="377"/>
                </a:lnTo>
                <a:lnTo>
                  <a:pt x="75" y="317"/>
                </a:lnTo>
                <a:lnTo>
                  <a:pt x="48" y="256"/>
                </a:lnTo>
                <a:lnTo>
                  <a:pt x="27" y="193"/>
                </a:lnTo>
                <a:lnTo>
                  <a:pt x="12" y="129"/>
                </a:lnTo>
                <a:lnTo>
                  <a:pt x="3" y="65"/>
                </a:lnTo>
                <a:lnTo>
                  <a:pt x="0" y="0"/>
                </a:lnTo>
                <a:lnTo>
                  <a:pt x="5" y="0"/>
                </a:lnTo>
                <a:lnTo>
                  <a:pt x="8" y="64"/>
                </a:lnTo>
                <a:lnTo>
                  <a:pt x="17" y="128"/>
                </a:lnTo>
                <a:lnTo>
                  <a:pt x="32" y="191"/>
                </a:lnTo>
                <a:lnTo>
                  <a:pt x="53" y="253"/>
                </a:lnTo>
                <a:lnTo>
                  <a:pt x="79" y="314"/>
                </a:lnTo>
                <a:lnTo>
                  <a:pt x="112" y="374"/>
                </a:lnTo>
                <a:lnTo>
                  <a:pt x="149" y="432"/>
                </a:lnTo>
                <a:lnTo>
                  <a:pt x="191" y="489"/>
                </a:lnTo>
                <a:lnTo>
                  <a:pt x="239" y="546"/>
                </a:lnTo>
                <a:lnTo>
                  <a:pt x="291" y="599"/>
                </a:lnTo>
                <a:lnTo>
                  <a:pt x="348" y="653"/>
                </a:lnTo>
                <a:lnTo>
                  <a:pt x="409" y="704"/>
                </a:lnTo>
                <a:lnTo>
                  <a:pt x="475" y="753"/>
                </a:lnTo>
                <a:lnTo>
                  <a:pt x="546" y="801"/>
                </a:lnTo>
                <a:lnTo>
                  <a:pt x="620" y="846"/>
                </a:lnTo>
                <a:lnTo>
                  <a:pt x="699" y="890"/>
                </a:lnTo>
                <a:lnTo>
                  <a:pt x="781" y="932"/>
                </a:lnTo>
                <a:lnTo>
                  <a:pt x="867" y="972"/>
                </a:lnTo>
                <a:lnTo>
                  <a:pt x="956" y="1009"/>
                </a:lnTo>
                <a:lnTo>
                  <a:pt x="1050" y="1045"/>
                </a:lnTo>
                <a:lnTo>
                  <a:pt x="1146" y="1077"/>
                </a:lnTo>
                <a:lnTo>
                  <a:pt x="1245" y="1108"/>
                </a:lnTo>
                <a:lnTo>
                  <a:pt x="1347" y="1136"/>
                </a:lnTo>
                <a:lnTo>
                  <a:pt x="1452" y="1161"/>
                </a:lnTo>
                <a:lnTo>
                  <a:pt x="1560" y="1184"/>
                </a:lnTo>
                <a:lnTo>
                  <a:pt x="1670" y="1203"/>
                </a:lnTo>
                <a:lnTo>
                  <a:pt x="1782" y="1221"/>
                </a:lnTo>
                <a:lnTo>
                  <a:pt x="1897" y="1234"/>
                </a:lnTo>
                <a:lnTo>
                  <a:pt x="2014" y="1245"/>
                </a:lnTo>
                <a:lnTo>
                  <a:pt x="2133" y="1254"/>
                </a:lnTo>
                <a:lnTo>
                  <a:pt x="2253" y="1258"/>
                </a:lnTo>
                <a:lnTo>
                  <a:pt x="2375" y="1260"/>
                </a:lnTo>
                <a:lnTo>
                  <a:pt x="2375" y="1266"/>
                </a:lnTo>
                <a:close/>
              </a:path>
            </a:pathLst>
          </a:custGeom>
          <a:solidFill>
            <a:srgbClr val="004A8F"/>
          </a:solidFill>
          <a:ln w="12700" cap="flat">
            <a:solidFill>
              <a:srgbClr val="004A8F"/>
            </a:solidFill>
            <a:prstDash val="solid"/>
            <a:round/>
            <a:headEnd/>
            <a:tailEnd/>
          </a:ln>
        </p:spPr>
        <p:txBody>
          <a:bodyPr vert="horz" wrap="square" lIns="54000" tIns="54000" rIns="54000" bIns="54000" numCol="1" anchor="ctr" anchorCtr="0" compatLnSpc="1">
            <a:prstTxWarp prst="textNoShape">
              <a:avLst/>
            </a:prstTxWarp>
          </a:bodyPr>
          <a:lstStyle/>
          <a:p>
            <a:pPr algn="ctr"/>
            <a:endParaRPr lang="en-IN" sz="1000" dirty="0">
              <a:solidFill>
                <a:prstClr val="black"/>
              </a:solidFill>
              <a:cs typeface="Arial" pitchFamily="34" charset="0"/>
            </a:endParaRPr>
          </a:p>
        </p:txBody>
      </p:sp>
      <p:sp>
        <p:nvSpPr>
          <p:cNvPr id="143" name="Rectangle 648"/>
          <p:cNvSpPr>
            <a:spLocks noChangeArrowheads="1"/>
          </p:cNvSpPr>
          <p:nvPr/>
        </p:nvSpPr>
        <p:spPr bwMode="auto">
          <a:xfrm>
            <a:off x="3120470" y="2521545"/>
            <a:ext cx="986508" cy="647684"/>
          </a:xfrm>
          <a:prstGeom prst="rect">
            <a:avLst/>
          </a:prstGeom>
          <a:solidFill>
            <a:schemeClr val="bg2">
              <a:lumMod val="75000"/>
            </a:schemeClr>
          </a:solidFill>
          <a:ln w="28575" algn="ctr">
            <a:solidFill>
              <a:schemeClr val="tx1"/>
            </a:solidFill>
            <a:miter lim="800000"/>
            <a:headEnd/>
            <a:tailEnd/>
          </a:ln>
          <a:effectLst/>
        </p:spPr>
        <p:txBody>
          <a:bodyPr lIns="18000" tIns="18000" rIns="18000" bIns="18000" anchor="ctr" anchorCtr="0"/>
          <a:lstStyle/>
          <a:p>
            <a:pPr algn="ctr" defTabSz="762000">
              <a:lnSpc>
                <a:spcPct val="90000"/>
              </a:lnSpc>
            </a:pPr>
            <a:r>
              <a:rPr lang="en-IN" sz="900" kern="0" dirty="0">
                <a:cs typeface="Arial" pitchFamily="34" charset="0"/>
              </a:rPr>
              <a:t>Assurance of advanced analytics and machine learning  / AI e.g. hunter model</a:t>
            </a:r>
          </a:p>
        </p:txBody>
      </p:sp>
      <p:sp>
        <p:nvSpPr>
          <p:cNvPr id="144" name="Rectangle 648"/>
          <p:cNvSpPr>
            <a:spLocks noChangeArrowheads="1"/>
          </p:cNvSpPr>
          <p:nvPr/>
        </p:nvSpPr>
        <p:spPr bwMode="auto">
          <a:xfrm>
            <a:off x="7348323" y="5241857"/>
            <a:ext cx="914344" cy="443016"/>
          </a:xfrm>
          <a:prstGeom prst="rect">
            <a:avLst/>
          </a:prstGeom>
          <a:solidFill>
            <a:srgbClr val="92D050"/>
          </a:solidFill>
          <a:ln w="6350" algn="ctr">
            <a:solidFill>
              <a:srgbClr val="00B050"/>
            </a:solidFill>
            <a:miter lim="800000"/>
            <a:headEnd/>
            <a:tailEnd/>
          </a:ln>
          <a:effectLst/>
        </p:spPr>
        <p:txBody>
          <a:bodyPr lIns="18000" tIns="18000" rIns="18000" bIns="18000" anchor="ctr" anchorCtr="0"/>
          <a:lstStyle/>
          <a:p>
            <a:pPr algn="ctr" defTabSz="762000">
              <a:lnSpc>
                <a:spcPct val="90000"/>
              </a:lnSpc>
            </a:pPr>
            <a:r>
              <a:rPr lang="en-IN" sz="900" kern="0" dirty="0">
                <a:cs typeface="Arial" pitchFamily="34" charset="0"/>
              </a:rPr>
              <a:t>All current data sources feed into TMS</a:t>
            </a:r>
          </a:p>
        </p:txBody>
      </p:sp>
      <p:sp>
        <p:nvSpPr>
          <p:cNvPr id="145" name="Rectangle 648"/>
          <p:cNvSpPr>
            <a:spLocks noChangeArrowheads="1"/>
          </p:cNvSpPr>
          <p:nvPr/>
        </p:nvSpPr>
        <p:spPr bwMode="auto">
          <a:xfrm>
            <a:off x="2097059" y="4102314"/>
            <a:ext cx="1154491" cy="561170"/>
          </a:xfrm>
          <a:prstGeom prst="rect">
            <a:avLst/>
          </a:prstGeom>
          <a:solidFill>
            <a:srgbClr val="92D050"/>
          </a:solidFill>
          <a:ln w="6350" algn="ctr">
            <a:solidFill>
              <a:srgbClr val="00B050"/>
            </a:solidFill>
            <a:miter lim="800000"/>
            <a:headEnd/>
            <a:tailEnd/>
          </a:ln>
          <a:effectLst/>
        </p:spPr>
        <p:txBody>
          <a:bodyPr lIns="18000" tIns="18000" rIns="18000" bIns="18000" anchor="ctr" anchorCtr="0"/>
          <a:lstStyle/>
          <a:p>
            <a:pPr algn="ctr" defTabSz="762000">
              <a:lnSpc>
                <a:spcPct val="90000"/>
              </a:lnSpc>
            </a:pPr>
            <a:r>
              <a:rPr lang="en-IN" sz="900" kern="0" dirty="0">
                <a:cs typeface="Arial" pitchFamily="34" charset="0"/>
              </a:rPr>
              <a:t>Environments established for advanced analytics and machine learning / AI.</a:t>
            </a:r>
          </a:p>
        </p:txBody>
      </p:sp>
      <p:sp>
        <p:nvSpPr>
          <p:cNvPr id="146" name="Rectangle 648"/>
          <p:cNvSpPr>
            <a:spLocks noChangeArrowheads="1"/>
          </p:cNvSpPr>
          <p:nvPr/>
        </p:nvSpPr>
        <p:spPr bwMode="auto">
          <a:xfrm>
            <a:off x="7261200" y="4623327"/>
            <a:ext cx="1021297" cy="542983"/>
          </a:xfrm>
          <a:prstGeom prst="rect">
            <a:avLst/>
          </a:prstGeom>
          <a:solidFill>
            <a:schemeClr val="bg2">
              <a:lumMod val="75000"/>
            </a:schemeClr>
          </a:solidFill>
          <a:ln w="6350" algn="ctr">
            <a:solidFill>
              <a:schemeClr val="tx1"/>
            </a:solidFill>
            <a:miter lim="800000"/>
            <a:headEnd/>
            <a:tailEnd/>
          </a:ln>
          <a:effectLst/>
        </p:spPr>
        <p:txBody>
          <a:bodyPr lIns="18000" tIns="18000" rIns="18000" bIns="18000" anchor="ctr" anchorCtr="0"/>
          <a:lstStyle/>
          <a:p>
            <a:pPr algn="ctr" defTabSz="762000">
              <a:lnSpc>
                <a:spcPct val="90000"/>
              </a:lnSpc>
            </a:pPr>
            <a:r>
              <a:rPr lang="en-IN" sz="900" kern="0" dirty="0">
                <a:solidFill>
                  <a:prstClr val="black"/>
                </a:solidFill>
                <a:cs typeface="Arial" pitchFamily="34" charset="0"/>
              </a:rPr>
              <a:t>New and existing data augmentation (includes JMLIT and law enforcement)</a:t>
            </a:r>
          </a:p>
        </p:txBody>
      </p:sp>
      <p:sp>
        <p:nvSpPr>
          <p:cNvPr id="147" name="Rectangle 648"/>
          <p:cNvSpPr>
            <a:spLocks noChangeArrowheads="1"/>
          </p:cNvSpPr>
          <p:nvPr/>
        </p:nvSpPr>
        <p:spPr bwMode="auto">
          <a:xfrm>
            <a:off x="4338534" y="4457793"/>
            <a:ext cx="958188" cy="518696"/>
          </a:xfrm>
          <a:prstGeom prst="rect">
            <a:avLst/>
          </a:prstGeom>
          <a:solidFill>
            <a:srgbClr val="92D050"/>
          </a:solidFill>
          <a:ln w="6350" algn="ctr">
            <a:solidFill>
              <a:srgbClr val="00B050"/>
            </a:solidFill>
            <a:miter lim="800000"/>
            <a:headEnd/>
            <a:tailEnd/>
          </a:ln>
          <a:effectLst/>
        </p:spPr>
        <p:txBody>
          <a:bodyPr lIns="18000" tIns="18000" rIns="18000" bIns="18000" anchor="ctr" anchorCtr="0"/>
          <a:lstStyle/>
          <a:p>
            <a:pPr algn="ctr" defTabSz="762000">
              <a:lnSpc>
                <a:spcPct val="90000"/>
              </a:lnSpc>
            </a:pPr>
            <a:r>
              <a:rPr lang="en-IN" sz="900" kern="0" dirty="0">
                <a:cs typeface="Arial" pitchFamily="34" charset="0"/>
              </a:rPr>
              <a:t>Effective governance forums (e.g. MLSCARF)</a:t>
            </a:r>
          </a:p>
        </p:txBody>
      </p:sp>
      <p:sp>
        <p:nvSpPr>
          <p:cNvPr id="149" name="Rectangle 648"/>
          <p:cNvSpPr>
            <a:spLocks noChangeArrowheads="1"/>
          </p:cNvSpPr>
          <p:nvPr/>
        </p:nvSpPr>
        <p:spPr bwMode="auto">
          <a:xfrm>
            <a:off x="5269366" y="2947598"/>
            <a:ext cx="879028" cy="473256"/>
          </a:xfrm>
          <a:prstGeom prst="rect">
            <a:avLst/>
          </a:prstGeom>
          <a:solidFill>
            <a:schemeClr val="bg2">
              <a:lumMod val="75000"/>
            </a:schemeClr>
          </a:solidFill>
          <a:ln w="6350" algn="ctr">
            <a:solidFill>
              <a:schemeClr val="tx1"/>
            </a:solidFill>
            <a:miter lim="800000"/>
            <a:headEnd/>
            <a:tailEnd/>
          </a:ln>
          <a:effectLst/>
        </p:spPr>
        <p:txBody>
          <a:bodyPr lIns="18000" tIns="18000" rIns="18000" bIns="18000" anchor="ctr" anchorCtr="0"/>
          <a:lstStyle/>
          <a:p>
            <a:pPr algn="ctr" defTabSz="762000">
              <a:lnSpc>
                <a:spcPct val="90000"/>
              </a:lnSpc>
            </a:pPr>
            <a:r>
              <a:rPr lang="en-IN" sz="900" kern="0" dirty="0">
                <a:solidFill>
                  <a:prstClr val="black"/>
                </a:solidFill>
                <a:cs typeface="Arial" pitchFamily="34" charset="0"/>
              </a:rPr>
              <a:t>TMS creates EDR for KYC / CDD / EDD</a:t>
            </a:r>
          </a:p>
        </p:txBody>
      </p:sp>
      <p:sp>
        <p:nvSpPr>
          <p:cNvPr id="150" name="Rectangle 648"/>
          <p:cNvSpPr>
            <a:spLocks noChangeArrowheads="1"/>
          </p:cNvSpPr>
          <p:nvPr/>
        </p:nvSpPr>
        <p:spPr bwMode="auto">
          <a:xfrm>
            <a:off x="3344253" y="3394588"/>
            <a:ext cx="964735" cy="527759"/>
          </a:xfrm>
          <a:prstGeom prst="rect">
            <a:avLst/>
          </a:prstGeom>
          <a:solidFill>
            <a:schemeClr val="bg2">
              <a:lumMod val="75000"/>
            </a:schemeClr>
          </a:solidFill>
          <a:ln w="28575" algn="ctr">
            <a:solidFill>
              <a:schemeClr val="tx1"/>
            </a:solidFill>
            <a:miter lim="800000"/>
            <a:headEnd/>
            <a:tailEnd/>
          </a:ln>
          <a:effectLst/>
        </p:spPr>
        <p:txBody>
          <a:bodyPr lIns="18000" tIns="18000" rIns="18000" bIns="18000" anchor="ctr" anchorCtr="0"/>
          <a:lstStyle/>
          <a:p>
            <a:pPr algn="ctr" defTabSz="762000">
              <a:lnSpc>
                <a:spcPct val="90000"/>
              </a:lnSpc>
            </a:pPr>
            <a:r>
              <a:rPr lang="en-IN" sz="900" kern="0" dirty="0">
                <a:cs typeface="Arial" pitchFamily="34" charset="0"/>
              </a:rPr>
              <a:t>Automated alert triage (prioritisation and allocation)</a:t>
            </a:r>
          </a:p>
        </p:txBody>
      </p:sp>
      <p:sp>
        <p:nvSpPr>
          <p:cNvPr id="151" name="Rectangle 648"/>
          <p:cNvSpPr>
            <a:spLocks noChangeArrowheads="1"/>
          </p:cNvSpPr>
          <p:nvPr/>
        </p:nvSpPr>
        <p:spPr bwMode="auto">
          <a:xfrm>
            <a:off x="824142" y="1624617"/>
            <a:ext cx="804397" cy="417888"/>
          </a:xfrm>
          <a:prstGeom prst="rect">
            <a:avLst/>
          </a:prstGeom>
          <a:solidFill>
            <a:srgbClr val="92D050"/>
          </a:solidFill>
          <a:ln w="28575" algn="ctr">
            <a:solidFill>
              <a:srgbClr val="00B050"/>
            </a:solidFill>
            <a:miter lim="800000"/>
            <a:headEnd/>
            <a:tailEnd/>
          </a:ln>
          <a:effectLst/>
        </p:spPr>
        <p:txBody>
          <a:bodyPr lIns="18000" tIns="18000" rIns="18000" bIns="18000" anchor="ctr" anchorCtr="0"/>
          <a:lstStyle/>
          <a:p>
            <a:pPr algn="ctr" defTabSz="762000">
              <a:lnSpc>
                <a:spcPct val="90000"/>
              </a:lnSpc>
            </a:pPr>
            <a:r>
              <a:rPr lang="en-IN" sz="900" kern="0" dirty="0">
                <a:solidFill>
                  <a:prstClr val="black"/>
                </a:solidFill>
                <a:cs typeface="Arial" pitchFamily="34" charset="0"/>
              </a:rPr>
              <a:t>Develop TM Op Model</a:t>
            </a:r>
          </a:p>
        </p:txBody>
      </p:sp>
      <p:sp>
        <p:nvSpPr>
          <p:cNvPr id="153" name="Rectangle 648"/>
          <p:cNvSpPr>
            <a:spLocks noChangeArrowheads="1"/>
          </p:cNvSpPr>
          <p:nvPr/>
        </p:nvSpPr>
        <p:spPr bwMode="auto">
          <a:xfrm>
            <a:off x="9566370" y="5004180"/>
            <a:ext cx="804397" cy="508771"/>
          </a:xfrm>
          <a:prstGeom prst="rect">
            <a:avLst/>
          </a:prstGeom>
          <a:solidFill>
            <a:srgbClr val="92D050"/>
          </a:solidFill>
          <a:ln w="6350" algn="ctr">
            <a:solidFill>
              <a:srgbClr val="00B050"/>
            </a:solidFill>
            <a:miter lim="800000"/>
            <a:headEnd/>
            <a:tailEnd/>
          </a:ln>
          <a:effectLst/>
        </p:spPr>
        <p:txBody>
          <a:bodyPr lIns="18000" tIns="18000" rIns="18000" bIns="18000" anchor="ctr" anchorCtr="0"/>
          <a:lstStyle/>
          <a:p>
            <a:pPr algn="ctr" defTabSz="762000">
              <a:lnSpc>
                <a:spcPct val="90000"/>
              </a:lnSpc>
            </a:pPr>
            <a:r>
              <a:rPr lang="en-IN" sz="900" kern="0" dirty="0">
                <a:solidFill>
                  <a:prstClr val="black"/>
                </a:solidFill>
                <a:cs typeface="Arial" pitchFamily="34" charset="0"/>
              </a:rPr>
              <a:t>Advanced Investigative training</a:t>
            </a:r>
          </a:p>
        </p:txBody>
      </p:sp>
      <p:sp>
        <p:nvSpPr>
          <p:cNvPr id="154" name="Rectangle 648"/>
          <p:cNvSpPr>
            <a:spLocks noChangeArrowheads="1"/>
          </p:cNvSpPr>
          <p:nvPr/>
        </p:nvSpPr>
        <p:spPr bwMode="auto">
          <a:xfrm>
            <a:off x="8871220" y="5686886"/>
            <a:ext cx="777105" cy="485222"/>
          </a:xfrm>
          <a:prstGeom prst="rect">
            <a:avLst/>
          </a:prstGeom>
          <a:solidFill>
            <a:srgbClr val="00B0F0"/>
          </a:solidFill>
          <a:ln w="28575" algn="ctr">
            <a:solidFill>
              <a:schemeClr val="accent1">
                <a:lumMod val="75000"/>
              </a:schemeClr>
            </a:solidFill>
            <a:miter lim="800000"/>
            <a:headEnd/>
            <a:tailEnd/>
          </a:ln>
          <a:effectLst/>
        </p:spPr>
        <p:txBody>
          <a:bodyPr lIns="18000" tIns="18000" rIns="18000" bIns="18000" anchor="ctr" anchorCtr="0"/>
          <a:lstStyle/>
          <a:p>
            <a:pPr algn="ctr" defTabSz="762000">
              <a:lnSpc>
                <a:spcPct val="90000"/>
              </a:lnSpc>
            </a:pPr>
            <a:r>
              <a:rPr lang="en-IN" sz="900" kern="0" dirty="0">
                <a:cs typeface="Arial" pitchFamily="34" charset="0"/>
              </a:rPr>
              <a:t>Statistical analysis –Segmentation</a:t>
            </a:r>
          </a:p>
        </p:txBody>
      </p:sp>
      <p:sp>
        <p:nvSpPr>
          <p:cNvPr id="155" name="Rectangle 648"/>
          <p:cNvSpPr>
            <a:spLocks noChangeArrowheads="1"/>
          </p:cNvSpPr>
          <p:nvPr/>
        </p:nvSpPr>
        <p:spPr bwMode="auto">
          <a:xfrm>
            <a:off x="8632648" y="4994343"/>
            <a:ext cx="848684" cy="479876"/>
          </a:xfrm>
          <a:prstGeom prst="rect">
            <a:avLst/>
          </a:prstGeom>
          <a:solidFill>
            <a:srgbClr val="92D050"/>
          </a:solidFill>
          <a:ln w="28575" algn="ctr">
            <a:solidFill>
              <a:srgbClr val="00B050"/>
            </a:solidFill>
            <a:miter lim="800000"/>
            <a:headEnd/>
            <a:tailEnd/>
          </a:ln>
          <a:effectLst/>
        </p:spPr>
        <p:txBody>
          <a:bodyPr lIns="18000" tIns="18000" rIns="18000" bIns="18000" anchor="ctr" anchorCtr="0"/>
          <a:lstStyle/>
          <a:p>
            <a:pPr algn="ctr" defTabSz="762000">
              <a:lnSpc>
                <a:spcPct val="90000"/>
              </a:lnSpc>
            </a:pPr>
            <a:r>
              <a:rPr lang="en-IN" sz="900" kern="0" dirty="0">
                <a:cs typeface="Arial" pitchFamily="34" charset="0"/>
              </a:rPr>
              <a:t>Machine learning basics (e.g. Python / R)</a:t>
            </a:r>
          </a:p>
        </p:txBody>
      </p:sp>
      <p:sp>
        <p:nvSpPr>
          <p:cNvPr id="156" name="Rectangle 648"/>
          <p:cNvSpPr>
            <a:spLocks noChangeArrowheads="1"/>
          </p:cNvSpPr>
          <p:nvPr/>
        </p:nvSpPr>
        <p:spPr bwMode="auto">
          <a:xfrm>
            <a:off x="9179633" y="4400548"/>
            <a:ext cx="989552" cy="525872"/>
          </a:xfrm>
          <a:prstGeom prst="rect">
            <a:avLst/>
          </a:prstGeom>
          <a:solidFill>
            <a:srgbClr val="92D050"/>
          </a:solidFill>
          <a:ln w="28575" algn="ctr">
            <a:solidFill>
              <a:srgbClr val="00B050"/>
            </a:solidFill>
            <a:miter lim="800000"/>
            <a:headEnd/>
            <a:tailEnd/>
          </a:ln>
          <a:effectLst/>
        </p:spPr>
        <p:txBody>
          <a:bodyPr lIns="18000" tIns="18000" rIns="18000" bIns="18000" anchor="ctr" anchorCtr="0"/>
          <a:lstStyle/>
          <a:p>
            <a:pPr algn="ctr" defTabSz="762000">
              <a:lnSpc>
                <a:spcPct val="90000"/>
              </a:lnSpc>
            </a:pPr>
            <a:r>
              <a:rPr lang="en-IN" sz="900" kern="0" dirty="0">
                <a:cs typeface="Arial" pitchFamily="34" charset="0"/>
              </a:rPr>
              <a:t>Machine learning intermediate</a:t>
            </a:r>
          </a:p>
          <a:p>
            <a:pPr algn="ctr" defTabSz="762000">
              <a:lnSpc>
                <a:spcPct val="90000"/>
              </a:lnSpc>
            </a:pPr>
            <a:r>
              <a:rPr lang="en-IN" sz="900" kern="0" dirty="0">
                <a:cs typeface="Arial" pitchFamily="34" charset="0"/>
              </a:rPr>
              <a:t>(e.g. anomaly detection)</a:t>
            </a:r>
          </a:p>
        </p:txBody>
      </p:sp>
      <p:sp>
        <p:nvSpPr>
          <p:cNvPr id="157" name="Rectangle 648"/>
          <p:cNvSpPr>
            <a:spLocks noChangeArrowheads="1"/>
          </p:cNvSpPr>
          <p:nvPr/>
        </p:nvSpPr>
        <p:spPr bwMode="auto">
          <a:xfrm>
            <a:off x="9021026" y="3860930"/>
            <a:ext cx="893156" cy="444114"/>
          </a:xfrm>
          <a:prstGeom prst="rect">
            <a:avLst/>
          </a:prstGeom>
          <a:solidFill>
            <a:srgbClr val="92D050"/>
          </a:solidFill>
          <a:ln w="28575" algn="ctr">
            <a:solidFill>
              <a:srgbClr val="00B050"/>
            </a:solidFill>
            <a:miter lim="800000"/>
            <a:headEnd/>
            <a:tailEnd/>
          </a:ln>
          <a:effectLst/>
        </p:spPr>
        <p:txBody>
          <a:bodyPr lIns="18000" tIns="18000" rIns="18000" bIns="18000" anchor="ctr" anchorCtr="0"/>
          <a:lstStyle/>
          <a:p>
            <a:pPr algn="ctr" defTabSz="762000">
              <a:lnSpc>
                <a:spcPct val="90000"/>
              </a:lnSpc>
            </a:pPr>
            <a:r>
              <a:rPr lang="en-IN" sz="900" kern="0" dirty="0">
                <a:cs typeface="Arial" pitchFamily="34" charset="0"/>
              </a:rPr>
              <a:t>Machine learning advanced (e.g. deploy models)</a:t>
            </a:r>
          </a:p>
        </p:txBody>
      </p:sp>
      <p:sp>
        <p:nvSpPr>
          <p:cNvPr id="160" name="Rectangle 648"/>
          <p:cNvSpPr>
            <a:spLocks noChangeArrowheads="1"/>
          </p:cNvSpPr>
          <p:nvPr/>
        </p:nvSpPr>
        <p:spPr bwMode="auto">
          <a:xfrm>
            <a:off x="6099731" y="1870763"/>
            <a:ext cx="930839" cy="512955"/>
          </a:xfrm>
          <a:prstGeom prst="rect">
            <a:avLst/>
          </a:prstGeom>
          <a:solidFill>
            <a:schemeClr val="bg2">
              <a:lumMod val="75000"/>
            </a:schemeClr>
          </a:solidFill>
          <a:ln w="6350" algn="ctr">
            <a:solidFill>
              <a:schemeClr val="tx1"/>
            </a:solidFill>
            <a:miter lim="800000"/>
            <a:headEnd/>
            <a:tailEnd/>
          </a:ln>
          <a:effectLst/>
        </p:spPr>
        <p:txBody>
          <a:bodyPr lIns="18000" tIns="18000" rIns="18000" bIns="18000" anchor="ctr" anchorCtr="0"/>
          <a:lstStyle/>
          <a:p>
            <a:pPr algn="ctr" defTabSz="762000">
              <a:lnSpc>
                <a:spcPct val="90000"/>
              </a:lnSpc>
            </a:pPr>
            <a:r>
              <a:rPr lang="en-IN" sz="900" kern="0" dirty="0">
                <a:solidFill>
                  <a:prstClr val="black"/>
                </a:solidFill>
                <a:cs typeface="Arial" pitchFamily="34" charset="0"/>
              </a:rPr>
              <a:t>Shift to proactive analytics</a:t>
            </a:r>
          </a:p>
        </p:txBody>
      </p:sp>
      <p:sp>
        <p:nvSpPr>
          <p:cNvPr id="162" name="Rectangle 648"/>
          <p:cNvSpPr>
            <a:spLocks noChangeArrowheads="1"/>
          </p:cNvSpPr>
          <p:nvPr/>
        </p:nvSpPr>
        <p:spPr bwMode="auto">
          <a:xfrm>
            <a:off x="4477288" y="2219728"/>
            <a:ext cx="1173222" cy="579671"/>
          </a:xfrm>
          <a:prstGeom prst="rect">
            <a:avLst/>
          </a:prstGeom>
          <a:solidFill>
            <a:schemeClr val="bg2">
              <a:lumMod val="75000"/>
            </a:schemeClr>
          </a:solidFill>
          <a:ln w="6350" algn="ctr">
            <a:solidFill>
              <a:schemeClr val="tx1"/>
            </a:solidFill>
            <a:miter lim="800000"/>
            <a:headEnd/>
            <a:tailEnd/>
          </a:ln>
          <a:effectLst/>
        </p:spPr>
        <p:txBody>
          <a:bodyPr lIns="18000" tIns="18000" rIns="18000" bIns="18000" anchor="ctr" anchorCtr="0"/>
          <a:lstStyle/>
          <a:p>
            <a:pPr algn="ctr" defTabSz="762000">
              <a:lnSpc>
                <a:spcPct val="90000"/>
              </a:lnSpc>
            </a:pPr>
            <a:r>
              <a:rPr lang="en-IN" sz="900" kern="0" dirty="0">
                <a:solidFill>
                  <a:prstClr val="black"/>
                </a:solidFill>
                <a:cs typeface="Arial" pitchFamily="34" charset="0"/>
              </a:rPr>
              <a:t>Policy  and Procedures meet requirements of advanced analytics and machine learning / AI</a:t>
            </a:r>
          </a:p>
        </p:txBody>
      </p:sp>
      <p:sp>
        <p:nvSpPr>
          <p:cNvPr id="163" name="Rectangle 648"/>
          <p:cNvSpPr>
            <a:spLocks noChangeArrowheads="1"/>
          </p:cNvSpPr>
          <p:nvPr/>
        </p:nvSpPr>
        <p:spPr bwMode="auto">
          <a:xfrm>
            <a:off x="4942227" y="5398183"/>
            <a:ext cx="804213" cy="606906"/>
          </a:xfrm>
          <a:prstGeom prst="rect">
            <a:avLst/>
          </a:prstGeom>
          <a:solidFill>
            <a:srgbClr val="00B0F0"/>
          </a:solidFill>
          <a:ln w="6350" algn="ctr">
            <a:solidFill>
              <a:schemeClr val="accent1">
                <a:lumMod val="75000"/>
              </a:schemeClr>
            </a:solidFill>
            <a:miter lim="800000"/>
            <a:headEnd/>
            <a:tailEnd/>
          </a:ln>
          <a:effectLst/>
        </p:spPr>
        <p:txBody>
          <a:bodyPr lIns="18000" tIns="18000" rIns="18000" bIns="18000" anchor="ctr" anchorCtr="0"/>
          <a:lstStyle/>
          <a:p>
            <a:pPr algn="ctr" defTabSz="762000">
              <a:lnSpc>
                <a:spcPct val="90000"/>
              </a:lnSpc>
            </a:pPr>
            <a:r>
              <a:rPr lang="en-IN" sz="900" kern="0" dirty="0">
                <a:cs typeface="Arial" pitchFamily="34" charset="0"/>
              </a:rPr>
              <a:t>TM risk assessment (TMRA) completed</a:t>
            </a:r>
          </a:p>
        </p:txBody>
      </p:sp>
      <p:sp>
        <p:nvSpPr>
          <p:cNvPr id="164" name="Rectangle 648"/>
          <p:cNvSpPr>
            <a:spLocks noChangeArrowheads="1"/>
          </p:cNvSpPr>
          <p:nvPr/>
        </p:nvSpPr>
        <p:spPr bwMode="auto">
          <a:xfrm>
            <a:off x="6105301" y="4371822"/>
            <a:ext cx="804397" cy="417888"/>
          </a:xfrm>
          <a:prstGeom prst="rect">
            <a:avLst/>
          </a:prstGeom>
          <a:solidFill>
            <a:srgbClr val="92D050"/>
          </a:solidFill>
          <a:ln w="6350" algn="ctr">
            <a:solidFill>
              <a:srgbClr val="00B050"/>
            </a:solidFill>
            <a:miter lim="800000"/>
            <a:headEnd/>
            <a:tailEnd/>
          </a:ln>
          <a:effectLst/>
        </p:spPr>
        <p:txBody>
          <a:bodyPr lIns="18000" tIns="18000" rIns="18000" bIns="18000" anchor="ctr" anchorCtr="0"/>
          <a:lstStyle/>
          <a:p>
            <a:pPr algn="ctr" defTabSz="762000">
              <a:lnSpc>
                <a:spcPct val="90000"/>
              </a:lnSpc>
            </a:pPr>
            <a:r>
              <a:rPr lang="en-GB" sz="900" kern="0" dirty="0">
                <a:solidFill>
                  <a:prstClr val="black"/>
                </a:solidFill>
                <a:cs typeface="Arial" pitchFamily="34" charset="0"/>
              </a:rPr>
              <a:t>TMRA review process implemented</a:t>
            </a:r>
          </a:p>
        </p:txBody>
      </p:sp>
      <p:sp>
        <p:nvSpPr>
          <p:cNvPr id="165" name="Rectangle 648"/>
          <p:cNvSpPr>
            <a:spLocks noChangeArrowheads="1"/>
          </p:cNvSpPr>
          <p:nvPr/>
        </p:nvSpPr>
        <p:spPr bwMode="auto">
          <a:xfrm>
            <a:off x="712606" y="3526995"/>
            <a:ext cx="983788" cy="555992"/>
          </a:xfrm>
          <a:prstGeom prst="rect">
            <a:avLst/>
          </a:prstGeom>
          <a:solidFill>
            <a:srgbClr val="00B0F0"/>
          </a:solidFill>
          <a:ln w="28575" algn="ctr">
            <a:solidFill>
              <a:schemeClr val="accent1">
                <a:lumMod val="75000"/>
              </a:schemeClr>
            </a:solidFill>
            <a:miter lim="800000"/>
            <a:headEnd/>
            <a:tailEnd/>
          </a:ln>
          <a:effectLst/>
        </p:spPr>
        <p:txBody>
          <a:bodyPr lIns="18000" tIns="18000" rIns="18000" bIns="18000" anchor="ctr" anchorCtr="0"/>
          <a:lstStyle/>
          <a:p>
            <a:pPr algn="ctr" defTabSz="762000">
              <a:lnSpc>
                <a:spcPct val="90000"/>
              </a:lnSpc>
            </a:pPr>
            <a:r>
              <a:rPr lang="en-IN" sz="900" kern="0" dirty="0">
                <a:cs typeface="Arial" pitchFamily="34" charset="0"/>
              </a:rPr>
              <a:t>POC for proactive analytics ‘hunter model’</a:t>
            </a:r>
          </a:p>
        </p:txBody>
      </p:sp>
      <p:sp>
        <p:nvSpPr>
          <p:cNvPr id="70" name="Title 1">
            <a:extLst>
              <a:ext uri="{FF2B5EF4-FFF2-40B4-BE49-F238E27FC236}">
                <a16:creationId xmlns:a16="http://schemas.microsoft.com/office/drawing/2014/main" id="{38BD8AD8-E7A1-40F1-A091-576CC6917E66}"/>
              </a:ext>
            </a:extLst>
          </p:cNvPr>
          <p:cNvSpPr txBox="1">
            <a:spLocks/>
          </p:cNvSpPr>
          <p:nvPr/>
        </p:nvSpPr>
        <p:spPr>
          <a:xfrm>
            <a:off x="364958" y="260852"/>
            <a:ext cx="10514030" cy="689897"/>
          </a:xfrm>
          <a:prstGeom prst="rect">
            <a:avLst/>
          </a:prstGeom>
        </p:spPr>
        <p:txBody>
          <a:bodyP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5100" dirty="0">
                <a:solidFill>
                  <a:srgbClr val="4472C4">
                    <a:lumMod val="75000"/>
                  </a:srgbClr>
                </a:solidFill>
                <a:latin typeface="Elephant" panose="02020904090505020303" pitchFamily="18" charset="0"/>
              </a:rPr>
              <a:t>Transaction Monitoring – How We Get There - </a:t>
            </a:r>
            <a:r>
              <a:rPr lang="en-GB" sz="5100" dirty="0">
                <a:solidFill>
                  <a:schemeClr val="accent1">
                    <a:lumMod val="75000"/>
                  </a:schemeClr>
                </a:solidFill>
                <a:latin typeface="Elephant" panose="02020904090505020303" pitchFamily="18" charset="0"/>
              </a:rPr>
              <a:t>as at 2021</a:t>
            </a:r>
          </a:p>
          <a:p>
            <a:r>
              <a:rPr lang="en-US" sz="2900" i="1" dirty="0">
                <a:solidFill>
                  <a:srgbClr val="C00000"/>
                </a:solidFill>
                <a:latin typeface="NBS Medium" panose="020B0603030303020204" pitchFamily="34" charset="0"/>
              </a:rPr>
              <a:t>Five Year outcomes focused product roadmap for enhancing transaction monitoring capabilities. The roadmap was provided by KPMG in 2019 and the </a:t>
            </a:r>
            <a:r>
              <a:rPr lang="en-US" sz="2900" i="1" dirty="0" err="1">
                <a:solidFill>
                  <a:srgbClr val="C00000"/>
                </a:solidFill>
                <a:latin typeface="NBS Medium" panose="020B0603030303020204" pitchFamily="34" charset="0"/>
              </a:rPr>
              <a:t>colour</a:t>
            </a:r>
            <a:r>
              <a:rPr lang="en-US" sz="2900" i="1" dirty="0">
                <a:solidFill>
                  <a:srgbClr val="C00000"/>
                </a:solidFill>
                <a:latin typeface="NBS Medium" panose="020B0603030303020204" pitchFamily="34" charset="0"/>
              </a:rPr>
              <a:t> coded amendments illustrate the progress made against the roadmap </a:t>
            </a:r>
          </a:p>
        </p:txBody>
      </p:sp>
      <p:sp>
        <p:nvSpPr>
          <p:cNvPr id="76" name="Rectangle 648"/>
          <p:cNvSpPr>
            <a:spLocks noChangeArrowheads="1"/>
          </p:cNvSpPr>
          <p:nvPr/>
        </p:nvSpPr>
        <p:spPr bwMode="auto">
          <a:xfrm>
            <a:off x="6456803" y="5523971"/>
            <a:ext cx="804397" cy="417888"/>
          </a:xfrm>
          <a:prstGeom prst="rect">
            <a:avLst/>
          </a:prstGeom>
          <a:solidFill>
            <a:srgbClr val="92D050"/>
          </a:solidFill>
          <a:ln w="28575" algn="ctr">
            <a:solidFill>
              <a:srgbClr val="00B050"/>
            </a:solidFill>
            <a:miter lim="800000"/>
            <a:headEnd/>
            <a:tailEnd/>
          </a:ln>
          <a:effectLst/>
        </p:spPr>
        <p:txBody>
          <a:bodyPr lIns="18000" tIns="18000" rIns="18000" bIns="18000" anchor="ctr" anchorCtr="0"/>
          <a:lstStyle/>
          <a:p>
            <a:pPr algn="ctr" defTabSz="762000">
              <a:lnSpc>
                <a:spcPct val="90000"/>
              </a:lnSpc>
            </a:pPr>
            <a:r>
              <a:rPr lang="en-IN" sz="900" kern="0" dirty="0">
                <a:cs typeface="Arial" pitchFamily="34" charset="0"/>
              </a:rPr>
              <a:t>False positive reduction (segmentation)</a:t>
            </a:r>
          </a:p>
        </p:txBody>
      </p:sp>
      <p:sp>
        <p:nvSpPr>
          <p:cNvPr id="79" name="Rectangle 648"/>
          <p:cNvSpPr>
            <a:spLocks noChangeArrowheads="1"/>
          </p:cNvSpPr>
          <p:nvPr/>
        </p:nvSpPr>
        <p:spPr bwMode="auto">
          <a:xfrm>
            <a:off x="1909864" y="2618589"/>
            <a:ext cx="804397" cy="417888"/>
          </a:xfrm>
          <a:prstGeom prst="rect">
            <a:avLst/>
          </a:prstGeom>
          <a:solidFill>
            <a:srgbClr val="92D050"/>
          </a:solidFill>
          <a:ln w="6350" algn="ctr">
            <a:solidFill>
              <a:srgbClr val="00B050"/>
            </a:solidFill>
            <a:miter lim="800000"/>
            <a:headEnd/>
            <a:tailEnd/>
          </a:ln>
          <a:effectLst/>
        </p:spPr>
        <p:txBody>
          <a:bodyPr lIns="18000" tIns="18000" rIns="18000" bIns="18000" anchor="ctr" anchorCtr="0"/>
          <a:lstStyle/>
          <a:p>
            <a:pPr algn="ctr" defTabSz="762000">
              <a:lnSpc>
                <a:spcPct val="90000"/>
              </a:lnSpc>
            </a:pPr>
            <a:r>
              <a:rPr lang="en-IN" sz="900" kern="0" dirty="0">
                <a:cs typeface="Arial" pitchFamily="34" charset="0"/>
              </a:rPr>
              <a:t>Rule set with full coverage of all known risks</a:t>
            </a:r>
          </a:p>
        </p:txBody>
      </p:sp>
      <p:sp>
        <p:nvSpPr>
          <p:cNvPr id="83" name="Rectangle 648"/>
          <p:cNvSpPr>
            <a:spLocks noChangeArrowheads="1"/>
          </p:cNvSpPr>
          <p:nvPr/>
        </p:nvSpPr>
        <p:spPr bwMode="auto">
          <a:xfrm>
            <a:off x="7740023" y="4145869"/>
            <a:ext cx="804397" cy="417888"/>
          </a:xfrm>
          <a:prstGeom prst="rect">
            <a:avLst/>
          </a:prstGeom>
          <a:solidFill>
            <a:srgbClr val="92D050"/>
          </a:solidFill>
          <a:ln w="6350" algn="ctr">
            <a:solidFill>
              <a:srgbClr val="00B050"/>
            </a:solidFill>
            <a:miter lim="800000"/>
            <a:headEnd/>
            <a:tailEnd/>
          </a:ln>
          <a:effectLst/>
        </p:spPr>
        <p:txBody>
          <a:bodyPr lIns="18000" tIns="18000" rIns="18000" bIns="18000" anchor="ctr" anchorCtr="0"/>
          <a:lstStyle/>
          <a:p>
            <a:pPr algn="ctr" defTabSz="762000">
              <a:lnSpc>
                <a:spcPct val="90000"/>
              </a:lnSpc>
            </a:pPr>
            <a:r>
              <a:rPr lang="en-IN" sz="900" kern="0" dirty="0">
                <a:cs typeface="Arial" pitchFamily="34" charset="0"/>
              </a:rPr>
              <a:t>Improved investigative capability</a:t>
            </a:r>
          </a:p>
        </p:txBody>
      </p:sp>
      <p:sp>
        <p:nvSpPr>
          <p:cNvPr id="84" name="Rectangle 648"/>
          <p:cNvSpPr>
            <a:spLocks noChangeArrowheads="1"/>
          </p:cNvSpPr>
          <p:nvPr/>
        </p:nvSpPr>
        <p:spPr bwMode="auto">
          <a:xfrm>
            <a:off x="4370909" y="3440570"/>
            <a:ext cx="804397" cy="483986"/>
          </a:xfrm>
          <a:prstGeom prst="rect">
            <a:avLst/>
          </a:prstGeom>
          <a:solidFill>
            <a:srgbClr val="92D050"/>
          </a:solidFill>
          <a:ln w="6350" algn="ctr">
            <a:solidFill>
              <a:srgbClr val="00B050"/>
            </a:solidFill>
            <a:miter lim="800000"/>
            <a:headEnd/>
            <a:tailEnd/>
          </a:ln>
          <a:effectLst/>
        </p:spPr>
        <p:txBody>
          <a:bodyPr lIns="18000" tIns="18000" rIns="18000" bIns="18000" anchor="ctr" anchorCtr="0"/>
          <a:lstStyle/>
          <a:p>
            <a:pPr algn="ctr" defTabSz="762000">
              <a:lnSpc>
                <a:spcPct val="90000"/>
              </a:lnSpc>
            </a:pPr>
            <a:r>
              <a:rPr lang="en-IN" sz="900" kern="0" dirty="0">
                <a:solidFill>
                  <a:prstClr val="black"/>
                </a:solidFill>
                <a:cs typeface="Arial" pitchFamily="34" charset="0"/>
              </a:rPr>
              <a:t>Improved reporting of SARs (EC90s)</a:t>
            </a:r>
          </a:p>
        </p:txBody>
      </p:sp>
      <p:sp>
        <p:nvSpPr>
          <p:cNvPr id="85" name="Rectangle 648"/>
          <p:cNvSpPr>
            <a:spLocks noChangeArrowheads="1"/>
          </p:cNvSpPr>
          <p:nvPr/>
        </p:nvSpPr>
        <p:spPr bwMode="auto">
          <a:xfrm>
            <a:off x="2506852" y="5395103"/>
            <a:ext cx="1292517" cy="622855"/>
          </a:xfrm>
          <a:prstGeom prst="rect">
            <a:avLst/>
          </a:prstGeom>
          <a:solidFill>
            <a:srgbClr val="92D050"/>
          </a:solidFill>
          <a:ln w="6350" algn="ctr">
            <a:solidFill>
              <a:srgbClr val="00B050"/>
            </a:solidFill>
            <a:miter lim="800000"/>
            <a:headEnd/>
            <a:tailEnd/>
          </a:ln>
          <a:effectLst/>
        </p:spPr>
        <p:txBody>
          <a:bodyPr lIns="18000" tIns="18000" rIns="18000" bIns="18000" anchor="ctr" anchorCtr="0"/>
          <a:lstStyle/>
          <a:p>
            <a:pPr algn="ctr" defTabSz="762000">
              <a:lnSpc>
                <a:spcPct val="90000"/>
              </a:lnSpc>
            </a:pPr>
            <a:r>
              <a:rPr lang="en-IN" sz="900" kern="0" dirty="0">
                <a:solidFill>
                  <a:prstClr val="black"/>
                </a:solidFill>
                <a:cs typeface="Arial" pitchFamily="34" charset="0"/>
              </a:rPr>
              <a:t>Comprehensive management information approach to track progress</a:t>
            </a:r>
          </a:p>
        </p:txBody>
      </p:sp>
      <p:sp>
        <p:nvSpPr>
          <p:cNvPr id="96" name="Rectangle 648"/>
          <p:cNvSpPr>
            <a:spLocks noChangeArrowheads="1"/>
          </p:cNvSpPr>
          <p:nvPr/>
        </p:nvSpPr>
        <p:spPr bwMode="auto">
          <a:xfrm>
            <a:off x="725689" y="2961084"/>
            <a:ext cx="907208" cy="464622"/>
          </a:xfrm>
          <a:prstGeom prst="rect">
            <a:avLst/>
          </a:prstGeom>
          <a:solidFill>
            <a:srgbClr val="00B0F0"/>
          </a:solidFill>
          <a:ln w="6350" algn="ctr">
            <a:solidFill>
              <a:schemeClr val="accent1">
                <a:lumMod val="75000"/>
              </a:schemeClr>
            </a:solidFill>
            <a:miter lim="800000"/>
            <a:headEnd/>
            <a:tailEnd/>
          </a:ln>
          <a:effectLst/>
        </p:spPr>
        <p:txBody>
          <a:bodyPr lIns="18000" tIns="18000" rIns="18000" bIns="18000" anchor="ctr" anchorCtr="0"/>
          <a:lstStyle/>
          <a:p>
            <a:pPr algn="ctr" defTabSz="762000">
              <a:lnSpc>
                <a:spcPct val="90000"/>
              </a:lnSpc>
            </a:pPr>
            <a:r>
              <a:rPr lang="en-IN" sz="900" kern="0" dirty="0">
                <a:cs typeface="Arial" pitchFamily="34" charset="0"/>
              </a:rPr>
              <a:t>Compliant TM capability (5MLD) </a:t>
            </a:r>
          </a:p>
        </p:txBody>
      </p:sp>
      <p:sp>
        <p:nvSpPr>
          <p:cNvPr id="97" name="Rectangle 648"/>
          <p:cNvSpPr>
            <a:spLocks noChangeArrowheads="1"/>
          </p:cNvSpPr>
          <p:nvPr/>
        </p:nvSpPr>
        <p:spPr bwMode="auto">
          <a:xfrm>
            <a:off x="3475539" y="4032396"/>
            <a:ext cx="804397" cy="417888"/>
          </a:xfrm>
          <a:prstGeom prst="rect">
            <a:avLst/>
          </a:prstGeom>
          <a:solidFill>
            <a:schemeClr val="bg2">
              <a:lumMod val="75000"/>
            </a:schemeClr>
          </a:solidFill>
          <a:ln w="6350" algn="ctr">
            <a:solidFill>
              <a:schemeClr val="tx1"/>
            </a:solidFill>
            <a:miter lim="800000"/>
            <a:headEnd/>
            <a:tailEnd/>
          </a:ln>
          <a:effectLst/>
        </p:spPr>
        <p:txBody>
          <a:bodyPr lIns="18000" tIns="18000" rIns="18000" bIns="18000" anchor="ctr" anchorCtr="0"/>
          <a:lstStyle/>
          <a:p>
            <a:pPr algn="ctr" defTabSz="762000">
              <a:lnSpc>
                <a:spcPct val="90000"/>
              </a:lnSpc>
            </a:pPr>
            <a:r>
              <a:rPr lang="en-IN" sz="900" kern="0" dirty="0">
                <a:cs typeface="Arial" pitchFamily="34" charset="0"/>
              </a:rPr>
              <a:t>Integrated case management</a:t>
            </a:r>
          </a:p>
        </p:txBody>
      </p:sp>
      <p:sp>
        <p:nvSpPr>
          <p:cNvPr id="80" name="Rectangle 648"/>
          <p:cNvSpPr>
            <a:spLocks noChangeArrowheads="1"/>
          </p:cNvSpPr>
          <p:nvPr/>
        </p:nvSpPr>
        <p:spPr bwMode="auto">
          <a:xfrm>
            <a:off x="2418293" y="1496576"/>
            <a:ext cx="4962405" cy="179888"/>
          </a:xfrm>
          <a:prstGeom prst="rect">
            <a:avLst/>
          </a:prstGeom>
          <a:solidFill>
            <a:srgbClr val="92D050"/>
          </a:solidFill>
          <a:ln w="28575" algn="ctr">
            <a:solidFill>
              <a:srgbClr val="00B050"/>
            </a:solidFill>
            <a:miter lim="800000"/>
            <a:headEnd/>
            <a:tailEnd/>
          </a:ln>
          <a:effectLst/>
        </p:spPr>
        <p:txBody>
          <a:bodyPr lIns="18000" tIns="18000" rIns="18000" bIns="18000" anchor="ctr" anchorCtr="0"/>
          <a:lstStyle/>
          <a:p>
            <a:pPr algn="ctr" defTabSz="762000">
              <a:lnSpc>
                <a:spcPct val="90000"/>
              </a:lnSpc>
            </a:pPr>
            <a:r>
              <a:rPr lang="en-IN" sz="900" kern="0" dirty="0">
                <a:solidFill>
                  <a:prstClr val="black"/>
                </a:solidFill>
                <a:cs typeface="Arial" pitchFamily="34" charset="0"/>
              </a:rPr>
              <a:t>Op Model continues to meet requirements of evolving TM capability</a:t>
            </a:r>
          </a:p>
        </p:txBody>
      </p:sp>
      <p:sp>
        <p:nvSpPr>
          <p:cNvPr id="106" name="Rectangle 648"/>
          <p:cNvSpPr>
            <a:spLocks noChangeArrowheads="1"/>
          </p:cNvSpPr>
          <p:nvPr/>
        </p:nvSpPr>
        <p:spPr bwMode="auto">
          <a:xfrm>
            <a:off x="7563290" y="1624617"/>
            <a:ext cx="804397" cy="417888"/>
          </a:xfrm>
          <a:prstGeom prst="rect">
            <a:avLst/>
          </a:prstGeom>
          <a:solidFill>
            <a:schemeClr val="bg2">
              <a:lumMod val="75000"/>
            </a:schemeClr>
          </a:solidFill>
          <a:ln w="6350" algn="ctr">
            <a:solidFill>
              <a:schemeClr val="tx1"/>
            </a:solidFill>
            <a:miter lim="800000"/>
            <a:headEnd/>
            <a:tailEnd/>
          </a:ln>
          <a:effectLst/>
        </p:spPr>
        <p:txBody>
          <a:bodyPr lIns="18000" tIns="18000" rIns="18000" bIns="18000" anchor="ctr" anchorCtr="0"/>
          <a:lstStyle/>
          <a:p>
            <a:pPr algn="ctr" defTabSz="762000">
              <a:lnSpc>
                <a:spcPct val="90000"/>
              </a:lnSpc>
            </a:pPr>
            <a:r>
              <a:rPr lang="en-IN" sz="900" kern="0" dirty="0">
                <a:solidFill>
                  <a:prstClr val="black"/>
                </a:solidFill>
                <a:cs typeface="Arial" pitchFamily="34" charset="0"/>
              </a:rPr>
              <a:t>Reduced reliance on static TM rules</a:t>
            </a:r>
          </a:p>
        </p:txBody>
      </p:sp>
      <p:sp>
        <p:nvSpPr>
          <p:cNvPr id="107" name="Rectangle 648"/>
          <p:cNvSpPr>
            <a:spLocks noChangeArrowheads="1"/>
          </p:cNvSpPr>
          <p:nvPr/>
        </p:nvSpPr>
        <p:spPr bwMode="auto">
          <a:xfrm>
            <a:off x="8282631" y="3169229"/>
            <a:ext cx="930839" cy="512955"/>
          </a:xfrm>
          <a:prstGeom prst="rect">
            <a:avLst/>
          </a:prstGeom>
          <a:solidFill>
            <a:schemeClr val="bg2">
              <a:lumMod val="75000"/>
            </a:schemeClr>
          </a:solidFill>
          <a:ln w="6350" algn="ctr">
            <a:solidFill>
              <a:schemeClr val="tx1"/>
            </a:solidFill>
            <a:miter lim="800000"/>
            <a:headEnd/>
            <a:tailEnd/>
          </a:ln>
          <a:effectLst/>
        </p:spPr>
        <p:txBody>
          <a:bodyPr lIns="18000" tIns="18000" rIns="18000" bIns="18000" anchor="ctr" anchorCtr="0"/>
          <a:lstStyle/>
          <a:p>
            <a:pPr algn="ctr" defTabSz="762000">
              <a:lnSpc>
                <a:spcPct val="90000"/>
              </a:lnSpc>
            </a:pPr>
            <a:r>
              <a:rPr lang="en-IN" sz="900" kern="0" dirty="0">
                <a:solidFill>
                  <a:prstClr val="black"/>
                </a:solidFill>
                <a:cs typeface="Arial" pitchFamily="34" charset="0"/>
              </a:rPr>
              <a:t>Shift to customer view of financial crime risk</a:t>
            </a:r>
          </a:p>
        </p:txBody>
      </p:sp>
      <p:sp>
        <p:nvSpPr>
          <p:cNvPr id="118" name="Rectangle 648"/>
          <p:cNvSpPr>
            <a:spLocks noChangeArrowheads="1"/>
          </p:cNvSpPr>
          <p:nvPr/>
        </p:nvSpPr>
        <p:spPr bwMode="auto">
          <a:xfrm>
            <a:off x="9345061" y="3095739"/>
            <a:ext cx="1025586" cy="550126"/>
          </a:xfrm>
          <a:prstGeom prst="rect">
            <a:avLst/>
          </a:prstGeom>
          <a:solidFill>
            <a:schemeClr val="bg2">
              <a:lumMod val="75000"/>
            </a:schemeClr>
          </a:solidFill>
          <a:ln w="6350" algn="ctr">
            <a:solidFill>
              <a:schemeClr val="tx1"/>
            </a:solidFill>
            <a:miter lim="800000"/>
            <a:headEnd/>
            <a:tailEnd/>
          </a:ln>
          <a:effectLst/>
        </p:spPr>
        <p:txBody>
          <a:bodyPr lIns="18000" tIns="18000" rIns="18000" bIns="18000" anchor="ctr" anchorCtr="0"/>
          <a:lstStyle/>
          <a:p>
            <a:pPr algn="ctr" defTabSz="762000">
              <a:lnSpc>
                <a:spcPct val="90000"/>
              </a:lnSpc>
            </a:pPr>
            <a:r>
              <a:rPr lang="en-IN" sz="900" kern="0" dirty="0">
                <a:solidFill>
                  <a:prstClr val="black"/>
                </a:solidFill>
                <a:cs typeface="Arial" pitchFamily="34" charset="0"/>
              </a:rPr>
              <a:t>Upskilled workforce to support TM capability of the future</a:t>
            </a:r>
          </a:p>
        </p:txBody>
      </p:sp>
      <p:sp>
        <p:nvSpPr>
          <p:cNvPr id="121" name="Rectangle 648"/>
          <p:cNvSpPr>
            <a:spLocks noChangeArrowheads="1"/>
          </p:cNvSpPr>
          <p:nvPr/>
        </p:nvSpPr>
        <p:spPr bwMode="auto">
          <a:xfrm>
            <a:off x="5540905" y="3646416"/>
            <a:ext cx="804397" cy="417888"/>
          </a:xfrm>
          <a:prstGeom prst="rect">
            <a:avLst/>
          </a:prstGeom>
          <a:solidFill>
            <a:schemeClr val="bg2">
              <a:lumMod val="75000"/>
            </a:schemeClr>
          </a:solidFill>
          <a:ln w="6350" algn="ctr">
            <a:solidFill>
              <a:schemeClr val="tx1"/>
            </a:solidFill>
            <a:miter lim="800000"/>
            <a:headEnd/>
            <a:tailEnd/>
          </a:ln>
          <a:effectLst/>
        </p:spPr>
        <p:txBody>
          <a:bodyPr lIns="18000" tIns="18000" rIns="18000" bIns="18000" anchor="ctr" anchorCtr="0"/>
          <a:lstStyle/>
          <a:p>
            <a:pPr algn="ctr" defTabSz="762000">
              <a:lnSpc>
                <a:spcPct val="90000"/>
              </a:lnSpc>
            </a:pPr>
            <a:r>
              <a:rPr lang="en-IN" sz="900" kern="0" dirty="0">
                <a:solidFill>
                  <a:prstClr val="black"/>
                </a:solidFill>
                <a:cs typeface="Arial" pitchFamily="34" charset="0"/>
              </a:rPr>
              <a:t>Governance forums remain fit for purpose</a:t>
            </a:r>
          </a:p>
        </p:txBody>
      </p:sp>
      <p:sp>
        <p:nvSpPr>
          <p:cNvPr id="65" name="Rectangle 648"/>
          <p:cNvSpPr>
            <a:spLocks noChangeArrowheads="1"/>
          </p:cNvSpPr>
          <p:nvPr/>
        </p:nvSpPr>
        <p:spPr bwMode="auto">
          <a:xfrm>
            <a:off x="9674409" y="5611085"/>
            <a:ext cx="804397" cy="508771"/>
          </a:xfrm>
          <a:prstGeom prst="rect">
            <a:avLst/>
          </a:prstGeom>
          <a:solidFill>
            <a:srgbClr val="00B0F0"/>
          </a:solidFill>
          <a:ln w="6350" algn="ctr">
            <a:solidFill>
              <a:schemeClr val="accent1">
                <a:lumMod val="75000"/>
              </a:schemeClr>
            </a:solidFill>
            <a:miter lim="800000"/>
            <a:headEnd/>
            <a:tailEnd/>
          </a:ln>
          <a:effectLst/>
        </p:spPr>
        <p:txBody>
          <a:bodyPr lIns="18000" tIns="18000" rIns="18000" bIns="18000" anchor="ctr" anchorCtr="0"/>
          <a:lstStyle/>
          <a:p>
            <a:pPr algn="ctr" defTabSz="762000">
              <a:lnSpc>
                <a:spcPct val="90000"/>
              </a:lnSpc>
            </a:pPr>
            <a:r>
              <a:rPr lang="en-IN" sz="900" kern="0" dirty="0">
                <a:cs typeface="Arial" pitchFamily="34" charset="0"/>
              </a:rPr>
              <a:t>Existing tools and technology (e.g. SAS)</a:t>
            </a:r>
          </a:p>
        </p:txBody>
      </p:sp>
      <p:sp>
        <p:nvSpPr>
          <p:cNvPr id="66" name="Rectangle 648"/>
          <p:cNvSpPr>
            <a:spLocks noChangeArrowheads="1"/>
          </p:cNvSpPr>
          <p:nvPr/>
        </p:nvSpPr>
        <p:spPr bwMode="auto">
          <a:xfrm>
            <a:off x="1800199" y="1775590"/>
            <a:ext cx="1217267" cy="639060"/>
          </a:xfrm>
          <a:prstGeom prst="rect">
            <a:avLst/>
          </a:prstGeom>
          <a:solidFill>
            <a:srgbClr val="92D050"/>
          </a:solidFill>
          <a:ln w="28575" algn="ctr">
            <a:solidFill>
              <a:srgbClr val="00B050"/>
            </a:solidFill>
            <a:miter lim="800000"/>
            <a:headEnd/>
            <a:tailEnd/>
          </a:ln>
          <a:effectLst/>
        </p:spPr>
        <p:txBody>
          <a:bodyPr lIns="18000" tIns="18000" rIns="18000" bIns="18000" anchor="ctr" anchorCtr="0"/>
          <a:lstStyle/>
          <a:p>
            <a:pPr algn="ctr" defTabSz="762000">
              <a:lnSpc>
                <a:spcPct val="90000"/>
              </a:lnSpc>
            </a:pPr>
            <a:r>
              <a:rPr lang="en-IN" sz="900" kern="0" dirty="0">
                <a:solidFill>
                  <a:prstClr val="black"/>
                </a:solidFill>
                <a:cs typeface="Arial" pitchFamily="34" charset="0"/>
              </a:rPr>
              <a:t>Create new ways of working for new capabilities e.g. scale up and deployment of hunter model</a:t>
            </a:r>
          </a:p>
        </p:txBody>
      </p:sp>
      <p:sp>
        <p:nvSpPr>
          <p:cNvPr id="2" name="Slide Number Placeholder 1"/>
          <p:cNvSpPr>
            <a:spLocks noGrp="1"/>
          </p:cNvSpPr>
          <p:nvPr>
            <p:ph type="sldNum" sz="quarter" idx="12"/>
          </p:nvPr>
        </p:nvSpPr>
        <p:spPr>
          <a:xfrm>
            <a:off x="9329031" y="6356350"/>
            <a:ext cx="2743200" cy="365125"/>
          </a:xfrm>
        </p:spPr>
        <p:txBody>
          <a:bodyPr/>
          <a:lstStyle/>
          <a:p>
            <a:fld id="{98881021-00F8-4550-B712-54190282C111}" type="slidenum">
              <a:rPr lang="en-GB" smtClean="0">
                <a:solidFill>
                  <a:prstClr val="black">
                    <a:tint val="75000"/>
                  </a:prstClr>
                </a:solidFill>
              </a:rPr>
              <a:pPr/>
              <a:t>12</a:t>
            </a:fld>
            <a:endParaRPr lang="en-GB" dirty="0">
              <a:solidFill>
                <a:prstClr val="black">
                  <a:tint val="75000"/>
                </a:prstClr>
              </a:solidFill>
            </a:endParaRPr>
          </a:p>
        </p:txBody>
      </p:sp>
      <p:sp>
        <p:nvSpPr>
          <p:cNvPr id="68" name="Rectangle 648"/>
          <p:cNvSpPr>
            <a:spLocks noChangeArrowheads="1"/>
          </p:cNvSpPr>
          <p:nvPr/>
        </p:nvSpPr>
        <p:spPr bwMode="auto">
          <a:xfrm>
            <a:off x="10756540" y="1820130"/>
            <a:ext cx="804397" cy="417888"/>
          </a:xfrm>
          <a:prstGeom prst="rect">
            <a:avLst/>
          </a:prstGeom>
          <a:solidFill>
            <a:srgbClr val="92D050"/>
          </a:solidFill>
          <a:ln w="6350" algn="ctr">
            <a:solidFill>
              <a:srgbClr val="00B050"/>
            </a:solidFill>
            <a:miter lim="800000"/>
            <a:headEnd/>
            <a:tailEnd/>
          </a:ln>
          <a:effectLst/>
        </p:spPr>
        <p:txBody>
          <a:bodyPr lIns="18000" tIns="18000" rIns="18000" bIns="18000" anchor="ctr" anchorCtr="0"/>
          <a:lstStyle/>
          <a:p>
            <a:pPr algn="ctr" defTabSz="762000">
              <a:lnSpc>
                <a:spcPct val="90000"/>
              </a:lnSpc>
            </a:pPr>
            <a:r>
              <a:rPr lang="en-IN" sz="900" kern="0" dirty="0">
                <a:cs typeface="Arial" pitchFamily="34" charset="0"/>
              </a:rPr>
              <a:t>In Progress – Ongoing</a:t>
            </a:r>
          </a:p>
        </p:txBody>
      </p:sp>
      <p:sp>
        <p:nvSpPr>
          <p:cNvPr id="77" name="Rectangle 648"/>
          <p:cNvSpPr>
            <a:spLocks noChangeArrowheads="1"/>
          </p:cNvSpPr>
          <p:nvPr/>
        </p:nvSpPr>
        <p:spPr bwMode="auto">
          <a:xfrm>
            <a:off x="10768276" y="2358109"/>
            <a:ext cx="804397" cy="417888"/>
          </a:xfrm>
          <a:prstGeom prst="rect">
            <a:avLst/>
          </a:prstGeom>
          <a:solidFill>
            <a:srgbClr val="00B0F0"/>
          </a:solidFill>
          <a:ln w="6350" algn="ctr">
            <a:solidFill>
              <a:schemeClr val="accent1">
                <a:lumMod val="75000"/>
              </a:schemeClr>
            </a:solidFill>
            <a:miter lim="800000"/>
            <a:headEnd/>
            <a:tailEnd/>
          </a:ln>
          <a:effectLst/>
        </p:spPr>
        <p:txBody>
          <a:bodyPr lIns="18000" tIns="18000" rIns="18000" bIns="18000" anchor="ctr" anchorCtr="0"/>
          <a:lstStyle/>
          <a:p>
            <a:pPr algn="ctr" defTabSz="762000">
              <a:lnSpc>
                <a:spcPct val="90000"/>
              </a:lnSpc>
            </a:pPr>
            <a:r>
              <a:rPr lang="en-IN" sz="900" kern="0" dirty="0">
                <a:cs typeface="Arial" pitchFamily="34" charset="0"/>
              </a:rPr>
              <a:t>Complete</a:t>
            </a:r>
          </a:p>
        </p:txBody>
      </p:sp>
      <p:sp>
        <p:nvSpPr>
          <p:cNvPr id="82" name="Rectangle 648"/>
          <p:cNvSpPr>
            <a:spLocks noChangeArrowheads="1"/>
          </p:cNvSpPr>
          <p:nvPr/>
        </p:nvSpPr>
        <p:spPr bwMode="auto">
          <a:xfrm>
            <a:off x="8124415" y="5816636"/>
            <a:ext cx="709079" cy="426527"/>
          </a:xfrm>
          <a:prstGeom prst="rect">
            <a:avLst/>
          </a:prstGeom>
          <a:solidFill>
            <a:srgbClr val="00B0F0"/>
          </a:solidFill>
          <a:ln w="28575" algn="ctr">
            <a:solidFill>
              <a:schemeClr val="accent1">
                <a:lumMod val="75000"/>
              </a:schemeClr>
            </a:solidFill>
            <a:miter lim="800000"/>
            <a:headEnd/>
            <a:tailEnd/>
          </a:ln>
          <a:effectLst/>
        </p:spPr>
        <p:txBody>
          <a:bodyPr lIns="18000" tIns="18000" rIns="18000" bIns="18000" anchor="ctr" anchorCtr="0"/>
          <a:lstStyle/>
          <a:p>
            <a:pPr algn="ctr" defTabSz="762000">
              <a:lnSpc>
                <a:spcPct val="90000"/>
              </a:lnSpc>
            </a:pPr>
            <a:r>
              <a:rPr lang="en-IN" sz="900" kern="0" dirty="0">
                <a:cs typeface="Arial" pitchFamily="34" charset="0"/>
              </a:rPr>
              <a:t>TM PO training</a:t>
            </a:r>
          </a:p>
        </p:txBody>
      </p:sp>
      <p:sp>
        <p:nvSpPr>
          <p:cNvPr id="81" name="Rectangle 648"/>
          <p:cNvSpPr>
            <a:spLocks noChangeArrowheads="1"/>
          </p:cNvSpPr>
          <p:nvPr/>
        </p:nvSpPr>
        <p:spPr bwMode="auto">
          <a:xfrm>
            <a:off x="2153568" y="3184226"/>
            <a:ext cx="907208" cy="464622"/>
          </a:xfrm>
          <a:prstGeom prst="rect">
            <a:avLst/>
          </a:prstGeom>
          <a:solidFill>
            <a:srgbClr val="00B0F0"/>
          </a:solidFill>
          <a:ln w="28575" algn="ctr">
            <a:solidFill>
              <a:schemeClr val="accent1">
                <a:lumMod val="75000"/>
              </a:schemeClr>
            </a:solidFill>
            <a:miter lim="800000"/>
            <a:headEnd/>
            <a:tailEnd/>
          </a:ln>
          <a:effectLst/>
        </p:spPr>
        <p:txBody>
          <a:bodyPr lIns="18000" tIns="18000" rIns="18000" bIns="18000" anchor="ctr" anchorCtr="0"/>
          <a:lstStyle/>
          <a:p>
            <a:pPr algn="ctr" defTabSz="762000">
              <a:lnSpc>
                <a:spcPct val="90000"/>
              </a:lnSpc>
            </a:pPr>
            <a:r>
              <a:rPr lang="en-IN" sz="900" kern="0" dirty="0">
                <a:cs typeface="Arial" pitchFamily="34" charset="0"/>
              </a:rPr>
              <a:t>Behavioural rules development and deployment</a:t>
            </a:r>
          </a:p>
        </p:txBody>
      </p:sp>
      <p:sp>
        <p:nvSpPr>
          <p:cNvPr id="127" name="TextBox 126">
            <a:extLst>
              <a:ext uri="{FF2B5EF4-FFF2-40B4-BE49-F238E27FC236}">
                <a16:creationId xmlns:a16="http://schemas.microsoft.com/office/drawing/2014/main" id="{76BEB59A-2ACC-4B61-B3D9-BE4A37905151}"/>
              </a:ext>
            </a:extLst>
          </p:cNvPr>
          <p:cNvSpPr txBox="1"/>
          <p:nvPr/>
        </p:nvSpPr>
        <p:spPr>
          <a:xfrm>
            <a:off x="10474666" y="1439349"/>
            <a:ext cx="1391128" cy="276999"/>
          </a:xfrm>
          <a:prstGeom prst="rect">
            <a:avLst/>
          </a:prstGeom>
          <a:noFill/>
        </p:spPr>
        <p:txBody>
          <a:bodyPr wrap="square" rtlCol="0">
            <a:spAutoFit/>
          </a:bodyPr>
          <a:lstStyle/>
          <a:p>
            <a:pPr algn="ctr"/>
            <a:r>
              <a:rPr lang="en-GB" sz="1200" b="1" dirty="0"/>
              <a:t>Delivery Position:</a:t>
            </a:r>
          </a:p>
        </p:txBody>
      </p:sp>
      <p:sp>
        <p:nvSpPr>
          <p:cNvPr id="98" name="Rectangle 648">
            <a:extLst>
              <a:ext uri="{FF2B5EF4-FFF2-40B4-BE49-F238E27FC236}">
                <a16:creationId xmlns:a16="http://schemas.microsoft.com/office/drawing/2014/main" id="{8F3354A4-E8CF-415E-8E76-22779A23AE1B}"/>
              </a:ext>
            </a:extLst>
          </p:cNvPr>
          <p:cNvSpPr>
            <a:spLocks noChangeArrowheads="1"/>
          </p:cNvSpPr>
          <p:nvPr/>
        </p:nvSpPr>
        <p:spPr bwMode="auto">
          <a:xfrm>
            <a:off x="10768276" y="2899414"/>
            <a:ext cx="804397" cy="417888"/>
          </a:xfrm>
          <a:prstGeom prst="rect">
            <a:avLst/>
          </a:prstGeom>
          <a:solidFill>
            <a:schemeClr val="bg2">
              <a:lumMod val="75000"/>
            </a:schemeClr>
          </a:solidFill>
          <a:ln w="6350" algn="ctr">
            <a:solidFill>
              <a:schemeClr val="tx1"/>
            </a:solidFill>
            <a:miter lim="800000"/>
            <a:headEnd/>
            <a:tailEnd/>
          </a:ln>
          <a:effectLst/>
        </p:spPr>
        <p:txBody>
          <a:bodyPr lIns="18000" tIns="18000" rIns="18000" bIns="18000" anchor="ctr" anchorCtr="0"/>
          <a:lstStyle/>
          <a:p>
            <a:pPr algn="ctr" defTabSz="762000">
              <a:lnSpc>
                <a:spcPct val="90000"/>
              </a:lnSpc>
            </a:pPr>
            <a:r>
              <a:rPr lang="en-IN" sz="900" kern="0" dirty="0">
                <a:cs typeface="Arial" pitchFamily="34" charset="0"/>
              </a:rPr>
              <a:t>Not Started</a:t>
            </a:r>
          </a:p>
        </p:txBody>
      </p:sp>
      <p:grpSp>
        <p:nvGrpSpPr>
          <p:cNvPr id="122" name="Group 121">
            <a:extLst>
              <a:ext uri="{FF2B5EF4-FFF2-40B4-BE49-F238E27FC236}">
                <a16:creationId xmlns:a16="http://schemas.microsoft.com/office/drawing/2014/main" id="{3B1EE2E1-79AA-4470-8E96-6D678F59EE24}"/>
              </a:ext>
            </a:extLst>
          </p:cNvPr>
          <p:cNvGrpSpPr/>
          <p:nvPr/>
        </p:nvGrpSpPr>
        <p:grpSpPr>
          <a:xfrm>
            <a:off x="10871810" y="275539"/>
            <a:ext cx="1005206" cy="479127"/>
            <a:chOff x="3236913" y="913342"/>
            <a:chExt cx="1740428" cy="712845"/>
          </a:xfrm>
        </p:grpSpPr>
        <p:pic>
          <p:nvPicPr>
            <p:cNvPr id="124" name="Picture 123" descr="Nationwide BS Logo sRGB.png">
              <a:extLst>
                <a:ext uri="{FF2B5EF4-FFF2-40B4-BE49-F238E27FC236}">
                  <a16:creationId xmlns:a16="http://schemas.microsoft.com/office/drawing/2014/main" id="{02D18641-B9DA-4B9A-9EFC-01E390322BB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938" t="18020" r="9268" b="14259"/>
            <a:stretch/>
          </p:blipFill>
          <p:spPr>
            <a:xfrm>
              <a:off x="3236913" y="913342"/>
              <a:ext cx="1740428" cy="712845"/>
            </a:xfrm>
            <a:prstGeom prst="rect">
              <a:avLst/>
            </a:prstGeom>
          </p:spPr>
        </p:pic>
        <p:sp>
          <p:nvSpPr>
            <p:cNvPr id="128" name="Rounded Rectangle 16">
              <a:extLst>
                <a:ext uri="{FF2B5EF4-FFF2-40B4-BE49-F238E27FC236}">
                  <a16:creationId xmlns:a16="http://schemas.microsoft.com/office/drawing/2014/main" id="{AD2E5EAD-9CFE-4D21-912C-E2F89E76DB5D}"/>
                </a:ext>
              </a:extLst>
            </p:cNvPr>
            <p:cNvSpPr/>
            <p:nvPr/>
          </p:nvSpPr>
          <p:spPr>
            <a:xfrm>
              <a:off x="3249341" y="919691"/>
              <a:ext cx="1728000" cy="480613"/>
            </a:xfrm>
            <a:prstGeom prst="roundRect">
              <a:avLst>
                <a:gd name="adj" fmla="val 13275"/>
              </a:avLst>
            </a:prstGeom>
            <a:noFill/>
            <a:ln w="6350" cap="flat" cmpd="sng" algn="ctr">
              <a:solidFill>
                <a:sysClr val="window" lastClr="FFFFFF"/>
              </a:solidFill>
              <a:prstDash val="solid"/>
            </a:ln>
            <a:effectLst/>
          </p:spPr>
          <p:txBody>
            <a:bodyPr rtlCol="0" anchor="ctr"/>
            <a:lstStyle/>
            <a:p>
              <a:pPr algn="ctr" defTabSz="257175">
                <a:defRPr/>
              </a:pPr>
              <a:endParaRPr lang="en-US" sz="1013" kern="0" dirty="0">
                <a:solidFill>
                  <a:prstClr val="white"/>
                </a:solidFill>
                <a:latin typeface="Calibri"/>
              </a:endParaRPr>
            </a:p>
          </p:txBody>
        </p:sp>
      </p:grpSp>
    </p:spTree>
    <p:extLst>
      <p:ext uri="{BB962C8B-B14F-4D97-AF65-F5344CB8AC3E}">
        <p14:creationId xmlns:p14="http://schemas.microsoft.com/office/powerpoint/2010/main" val="1755833481"/>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B677B79-D815-4E3A-9CB1-94373A757E09}"/>
              </a:ext>
            </a:extLst>
          </p:cNvPr>
          <p:cNvSpPr txBox="1">
            <a:spLocks/>
          </p:cNvSpPr>
          <p:nvPr/>
        </p:nvSpPr>
        <p:spPr>
          <a:xfrm>
            <a:off x="436459" y="394269"/>
            <a:ext cx="11644891" cy="40075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chemeClr val="accent1">
                    <a:lumMod val="75000"/>
                  </a:schemeClr>
                </a:solidFill>
                <a:latin typeface="Elephant" panose="02020904090505020303" pitchFamily="18" charset="0"/>
              </a:rPr>
              <a:t>Transaction Monitoring – Direction of  Travel</a:t>
            </a:r>
          </a:p>
          <a:p>
            <a:pPr algn="l"/>
            <a:r>
              <a:rPr lang="en-US" sz="1400" dirty="0">
                <a:solidFill>
                  <a:schemeClr val="accent1">
                    <a:lumMod val="75000"/>
                  </a:schemeClr>
                </a:solidFill>
                <a:latin typeface="NBS Medium" panose="020B0603030303020204" pitchFamily="34" charset="0"/>
              </a:rPr>
              <a:t>   </a:t>
            </a:r>
            <a:r>
              <a:rPr lang="en-US" sz="1400" i="1" dirty="0">
                <a:solidFill>
                  <a:srgbClr val="C00000"/>
                </a:solidFill>
                <a:latin typeface="NBS Medium" panose="020B0603030303020204" pitchFamily="34" charset="0"/>
              </a:rPr>
              <a:t>A view of Nationwide's transaction monitoring capabilities in comparison to peer financial institutions </a:t>
            </a:r>
            <a:r>
              <a:rPr lang="en-US" sz="1400" b="1" i="1" u="sng" dirty="0">
                <a:solidFill>
                  <a:srgbClr val="C00000"/>
                </a:solidFill>
                <a:latin typeface="NBS Medium" panose="020B0603030303020204" pitchFamily="34" charset="0"/>
              </a:rPr>
              <a:t>from 2019 KPMG Review  </a:t>
            </a:r>
          </a:p>
        </p:txBody>
      </p:sp>
      <p:sp>
        <p:nvSpPr>
          <p:cNvPr id="15" name="Flowchart: Manual Input 14">
            <a:extLst>
              <a:ext uri="{FF2B5EF4-FFF2-40B4-BE49-F238E27FC236}">
                <a16:creationId xmlns:a16="http://schemas.microsoft.com/office/drawing/2014/main" id="{8CFB30E6-F234-4166-A974-FC4361657A7E}"/>
              </a:ext>
            </a:extLst>
          </p:cNvPr>
          <p:cNvSpPr/>
          <p:nvPr/>
        </p:nvSpPr>
        <p:spPr>
          <a:xfrm>
            <a:off x="1603749" y="4589456"/>
            <a:ext cx="1620982" cy="1383108"/>
          </a:xfrm>
          <a:prstGeom prst="flowChartManualInput">
            <a:avLst/>
          </a:prstGeom>
          <a:solidFill>
            <a:schemeClr val="accent1">
              <a:lumMod val="20000"/>
              <a:lumOff val="80000"/>
              <a:alpha val="84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marL="87313" indent="-87313">
              <a:buFont typeface="Arial" panose="020B0604020202020204" pitchFamily="34" charset="0"/>
              <a:buChar char="•"/>
            </a:pPr>
            <a:r>
              <a:rPr lang="en-GB" sz="1000" dirty="0">
                <a:solidFill>
                  <a:schemeClr val="tx1"/>
                </a:solidFill>
                <a:latin typeface="NBS Light" panose="020B0303030303020204" pitchFamily="34" charset="0"/>
              </a:rPr>
              <a:t>Minimal or no defined procedures or standards.</a:t>
            </a:r>
          </a:p>
          <a:p>
            <a:pPr marL="87313" indent="-87313">
              <a:buFont typeface="Arial" panose="020B0604020202020204" pitchFamily="34" charset="0"/>
              <a:buChar char="•"/>
            </a:pPr>
            <a:r>
              <a:rPr lang="en-GB" sz="1000" dirty="0">
                <a:solidFill>
                  <a:schemeClr val="tx1"/>
                </a:solidFill>
                <a:latin typeface="NBS Light" panose="020B0303030303020204" pitchFamily="34" charset="0"/>
              </a:rPr>
              <a:t>Basic rule set, not mapped against risks.</a:t>
            </a:r>
          </a:p>
          <a:p>
            <a:pPr marL="87313" indent="-87313">
              <a:buFont typeface="Arial" panose="020B0604020202020204" pitchFamily="34" charset="0"/>
              <a:buChar char="•"/>
            </a:pPr>
            <a:r>
              <a:rPr lang="en-GB" sz="1000" dirty="0">
                <a:solidFill>
                  <a:schemeClr val="tx1"/>
                </a:solidFill>
                <a:latin typeface="NBS Light" panose="020B0303030303020204" pitchFamily="34" charset="0"/>
              </a:rPr>
              <a:t>Minimal / partial audit trails. </a:t>
            </a:r>
          </a:p>
          <a:p>
            <a:pPr marL="87313" indent="-87313">
              <a:buFont typeface="Arial" panose="020B0604020202020204" pitchFamily="34" charset="0"/>
              <a:buChar char="•"/>
            </a:pPr>
            <a:r>
              <a:rPr lang="en-GB" sz="1000" dirty="0">
                <a:solidFill>
                  <a:schemeClr val="tx1"/>
                </a:solidFill>
                <a:latin typeface="NBS Light" panose="020B0303030303020204" pitchFamily="34" charset="0"/>
              </a:rPr>
              <a:t>Limited evidence of decisions made.</a:t>
            </a:r>
          </a:p>
        </p:txBody>
      </p:sp>
      <p:sp>
        <p:nvSpPr>
          <p:cNvPr id="20" name="Arrow: Right 19">
            <a:extLst>
              <a:ext uri="{FF2B5EF4-FFF2-40B4-BE49-F238E27FC236}">
                <a16:creationId xmlns:a16="http://schemas.microsoft.com/office/drawing/2014/main" id="{662FC859-26F8-4A1F-9AFA-80F819F43A02}"/>
              </a:ext>
            </a:extLst>
          </p:cNvPr>
          <p:cNvSpPr/>
          <p:nvPr/>
        </p:nvSpPr>
        <p:spPr>
          <a:xfrm rot="16200000">
            <a:off x="-1443219" y="3482499"/>
            <a:ext cx="5349546" cy="265706"/>
          </a:xfrm>
          <a:prstGeom prst="rightArrow">
            <a:avLst>
              <a:gd name="adj1" fmla="val 24269"/>
              <a:gd name="adj2" fmla="val 116831"/>
            </a:avLst>
          </a:prstGeom>
          <a:solidFill>
            <a:schemeClr val="bg2">
              <a:lumMod val="2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Flowchart: Manual Input 21">
            <a:extLst>
              <a:ext uri="{FF2B5EF4-FFF2-40B4-BE49-F238E27FC236}">
                <a16:creationId xmlns:a16="http://schemas.microsoft.com/office/drawing/2014/main" id="{ADE51578-83D2-4AB1-AEDC-3B68FA232092}"/>
              </a:ext>
            </a:extLst>
          </p:cNvPr>
          <p:cNvSpPr/>
          <p:nvPr/>
        </p:nvSpPr>
        <p:spPr>
          <a:xfrm>
            <a:off x="3387780" y="3994640"/>
            <a:ext cx="1620982" cy="1977924"/>
          </a:xfrm>
          <a:prstGeom prst="flowChartManualInput">
            <a:avLst/>
          </a:prstGeom>
          <a:solidFill>
            <a:schemeClr val="accent1">
              <a:lumMod val="40000"/>
              <a:lumOff val="60000"/>
              <a:alpha val="84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marL="87313" indent="-87313">
              <a:buFont typeface="Arial" panose="020B0604020202020204" pitchFamily="34" charset="0"/>
              <a:buChar char="•"/>
            </a:pPr>
            <a:r>
              <a:rPr lang="en-GB" sz="1000" dirty="0">
                <a:solidFill>
                  <a:schemeClr val="tx1"/>
                </a:solidFill>
                <a:latin typeface="NBS Light" panose="020B0303030303020204" pitchFamily="34" charset="0"/>
              </a:rPr>
              <a:t>Standard rule set mapped against known risks</a:t>
            </a:r>
          </a:p>
          <a:p>
            <a:pPr marL="87313" indent="-87313">
              <a:buFont typeface="Arial" panose="020B0604020202020204" pitchFamily="34" charset="0"/>
              <a:buChar char="•"/>
            </a:pPr>
            <a:r>
              <a:rPr lang="en-GB" sz="1000" dirty="0">
                <a:solidFill>
                  <a:schemeClr val="tx1"/>
                </a:solidFill>
                <a:latin typeface="NBS Light" panose="020B0303030303020204" pitchFamily="34" charset="0"/>
              </a:rPr>
              <a:t>Basic case management and MI but with no grouping or prioritisation of cases.</a:t>
            </a:r>
          </a:p>
          <a:p>
            <a:pPr marL="87313" indent="-87313">
              <a:buFont typeface="Arial" panose="020B0604020202020204" pitchFamily="34" charset="0"/>
              <a:buChar char="•"/>
            </a:pPr>
            <a:r>
              <a:rPr lang="en-GB" sz="1000" dirty="0">
                <a:solidFill>
                  <a:schemeClr val="tx1"/>
                </a:solidFill>
                <a:latin typeface="NBS Light" panose="020B0303030303020204" pitchFamily="34" charset="0"/>
              </a:rPr>
              <a:t>Inability to search history, fragmented datasets. </a:t>
            </a:r>
          </a:p>
          <a:p>
            <a:pPr marL="87313" indent="-87313">
              <a:buFont typeface="Arial" panose="020B0604020202020204" pitchFamily="34" charset="0"/>
              <a:buChar char="•"/>
            </a:pPr>
            <a:r>
              <a:rPr lang="en-GB" sz="1000" dirty="0">
                <a:solidFill>
                  <a:schemeClr val="tx1"/>
                </a:solidFill>
                <a:latin typeface="NBS Light" panose="020B0303030303020204" pitchFamily="34" charset="0"/>
              </a:rPr>
              <a:t>Poor audit trails to support decisions.</a:t>
            </a:r>
          </a:p>
        </p:txBody>
      </p:sp>
      <p:sp>
        <p:nvSpPr>
          <p:cNvPr id="24" name="Flowchart: Manual Input 23">
            <a:extLst>
              <a:ext uri="{FF2B5EF4-FFF2-40B4-BE49-F238E27FC236}">
                <a16:creationId xmlns:a16="http://schemas.microsoft.com/office/drawing/2014/main" id="{152930B3-A115-4AE9-B1E8-64CD6710796F}"/>
              </a:ext>
            </a:extLst>
          </p:cNvPr>
          <p:cNvSpPr/>
          <p:nvPr/>
        </p:nvSpPr>
        <p:spPr>
          <a:xfrm>
            <a:off x="5177461" y="2921299"/>
            <a:ext cx="1620982" cy="3051265"/>
          </a:xfrm>
          <a:prstGeom prst="flowChartManualInput">
            <a:avLst/>
          </a:prstGeom>
          <a:solidFill>
            <a:schemeClr val="accent1">
              <a:lumMod val="60000"/>
              <a:lumOff val="40000"/>
              <a:alpha val="84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marL="87313" indent="-87313">
              <a:buFont typeface="Arial" panose="020B0604020202020204" pitchFamily="34" charset="0"/>
              <a:buChar char="•"/>
            </a:pPr>
            <a:r>
              <a:rPr lang="en-GB" sz="1000" dirty="0">
                <a:solidFill>
                  <a:schemeClr val="tx1"/>
                </a:solidFill>
                <a:latin typeface="NBS Light" panose="020B0303030303020204" pitchFamily="34" charset="0"/>
              </a:rPr>
              <a:t>Defined TM procedures, training and standardised decision-making.</a:t>
            </a:r>
          </a:p>
          <a:p>
            <a:pPr marL="87313" indent="-87313">
              <a:buFont typeface="Arial" panose="020B0604020202020204" pitchFamily="34" charset="0"/>
              <a:buChar char="•"/>
            </a:pPr>
            <a:r>
              <a:rPr lang="en-GB" sz="1000" dirty="0">
                <a:solidFill>
                  <a:schemeClr val="tx1"/>
                </a:solidFill>
                <a:latin typeface="NBS Light" panose="020B0303030303020204" pitchFamily="34" charset="0"/>
              </a:rPr>
              <a:t>Rules mapped to known risks and rule thresholds tuned to customer segments. Some feedback for system tuning and emerging trends.</a:t>
            </a:r>
          </a:p>
          <a:p>
            <a:pPr marL="87313" indent="-87313">
              <a:buFont typeface="Arial" panose="020B0604020202020204" pitchFamily="34" charset="0"/>
              <a:buChar char="•"/>
            </a:pPr>
            <a:r>
              <a:rPr lang="en-GB" sz="1000" dirty="0">
                <a:solidFill>
                  <a:schemeClr val="tx1"/>
                </a:solidFill>
                <a:latin typeface="NBS Light" panose="020B0303030303020204" pitchFamily="34" charset="0"/>
              </a:rPr>
              <a:t>Case management system includes alert MI and workflow capability. </a:t>
            </a:r>
          </a:p>
          <a:p>
            <a:pPr marL="87313" indent="-87313">
              <a:buFont typeface="Arial" panose="020B0604020202020204" pitchFamily="34" charset="0"/>
              <a:buChar char="•"/>
            </a:pPr>
            <a:r>
              <a:rPr lang="en-GB" sz="1000" dirty="0">
                <a:solidFill>
                  <a:schemeClr val="tx1"/>
                </a:solidFill>
                <a:latin typeface="NBS Light" panose="020B0303030303020204" pitchFamily="34" charset="0"/>
              </a:rPr>
              <a:t>Multi-stage alert processing, with offshore/outsource options used to reduce cost.</a:t>
            </a:r>
          </a:p>
          <a:p>
            <a:pPr marL="87313" indent="-87313">
              <a:buFont typeface="Arial" panose="020B0604020202020204" pitchFamily="34" charset="0"/>
              <a:buChar char="•"/>
            </a:pPr>
            <a:r>
              <a:rPr lang="en-GB" sz="1000" dirty="0">
                <a:solidFill>
                  <a:schemeClr val="tx1"/>
                </a:solidFill>
                <a:latin typeface="NBS Light" panose="020B0303030303020204" pitchFamily="34" charset="0"/>
              </a:rPr>
              <a:t>Rationale documented but not always evidenced. </a:t>
            </a:r>
          </a:p>
        </p:txBody>
      </p:sp>
      <p:sp>
        <p:nvSpPr>
          <p:cNvPr id="25" name="Flowchart: Manual Input 24">
            <a:extLst>
              <a:ext uri="{FF2B5EF4-FFF2-40B4-BE49-F238E27FC236}">
                <a16:creationId xmlns:a16="http://schemas.microsoft.com/office/drawing/2014/main" id="{EF19E303-1121-4E2A-AD66-B3856DCA96F1}"/>
              </a:ext>
            </a:extLst>
          </p:cNvPr>
          <p:cNvSpPr/>
          <p:nvPr/>
        </p:nvSpPr>
        <p:spPr>
          <a:xfrm>
            <a:off x="6955842" y="2144111"/>
            <a:ext cx="1620982" cy="3828454"/>
          </a:xfrm>
          <a:prstGeom prst="flowChartManualInput">
            <a:avLst/>
          </a:prstGeom>
          <a:solidFill>
            <a:schemeClr val="accent1">
              <a:lumMod val="75000"/>
              <a:alpha val="84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marL="87313" indent="-87313">
              <a:buFont typeface="Arial" panose="020B0604020202020204" pitchFamily="34" charset="0"/>
              <a:buChar char="•"/>
            </a:pPr>
            <a:r>
              <a:rPr lang="en-GB" sz="1000" dirty="0">
                <a:solidFill>
                  <a:schemeClr val="bg1"/>
                </a:solidFill>
                <a:latin typeface="NBS Light" panose="020B0303030303020204" pitchFamily="34" charset="0"/>
              </a:rPr>
              <a:t>Dynamic rule set incorporating behavioural rules to improve efficiency of TM control.</a:t>
            </a:r>
          </a:p>
          <a:p>
            <a:pPr marL="87313" indent="-87313">
              <a:buFont typeface="Arial" panose="020B0604020202020204" pitchFamily="34" charset="0"/>
              <a:buChar char="•"/>
            </a:pPr>
            <a:r>
              <a:rPr lang="en-GB" sz="1000" dirty="0">
                <a:solidFill>
                  <a:schemeClr val="bg1"/>
                </a:solidFill>
                <a:latin typeface="NBS Light" panose="020B0303030303020204" pitchFamily="34" charset="0"/>
              </a:rPr>
              <a:t>Automated case management incorporating alert prioritisation </a:t>
            </a:r>
          </a:p>
          <a:p>
            <a:pPr marL="87313" indent="-87313">
              <a:buFont typeface="Arial" panose="020B0604020202020204" pitchFamily="34" charset="0"/>
              <a:buChar char="•"/>
            </a:pPr>
            <a:r>
              <a:rPr lang="en-GB" sz="1000" dirty="0">
                <a:solidFill>
                  <a:schemeClr val="bg1"/>
                </a:solidFill>
                <a:latin typeface="NBS Light" panose="020B0303030303020204" pitchFamily="34" charset="0"/>
              </a:rPr>
              <a:t>Some automation of Level 1 / 2 alert review processes</a:t>
            </a:r>
          </a:p>
          <a:p>
            <a:pPr marL="87313" indent="-87313">
              <a:buFont typeface="Arial" panose="020B0604020202020204" pitchFamily="34" charset="0"/>
              <a:buChar char="•"/>
            </a:pPr>
            <a:r>
              <a:rPr lang="en-GB" sz="1000" dirty="0">
                <a:solidFill>
                  <a:schemeClr val="bg1"/>
                </a:solidFill>
                <a:latin typeface="NBS Light" panose="020B0303030303020204" pitchFamily="34" charset="0"/>
              </a:rPr>
              <a:t>Centralisation of data to support any investigation.</a:t>
            </a:r>
          </a:p>
          <a:p>
            <a:pPr marL="87313" indent="-87313">
              <a:buFont typeface="Arial" panose="020B0604020202020204" pitchFamily="34" charset="0"/>
              <a:buChar char="•"/>
            </a:pPr>
            <a:r>
              <a:rPr lang="en-GB" sz="1000" dirty="0">
                <a:solidFill>
                  <a:schemeClr val="bg1"/>
                </a:solidFill>
                <a:latin typeface="NBS Light" panose="020B0303030303020204" pitchFamily="34" charset="0"/>
              </a:rPr>
              <a:t>Robust audit trails and rationale, supported by evidence which is accessible and searchable. </a:t>
            </a:r>
          </a:p>
          <a:p>
            <a:pPr marL="87313" indent="-87313">
              <a:buFont typeface="Arial" panose="020B0604020202020204" pitchFamily="34" charset="0"/>
              <a:buChar char="•"/>
            </a:pPr>
            <a:r>
              <a:rPr lang="en-GB" sz="1000" dirty="0">
                <a:solidFill>
                  <a:schemeClr val="bg1"/>
                </a:solidFill>
                <a:latin typeface="NBS Light" panose="020B0303030303020204" pitchFamily="34" charset="0"/>
              </a:rPr>
              <a:t>Flexible workforce planning and overspill capacity. </a:t>
            </a:r>
          </a:p>
        </p:txBody>
      </p:sp>
      <p:sp>
        <p:nvSpPr>
          <p:cNvPr id="32" name="Flowchart: Manual Input 31">
            <a:extLst>
              <a:ext uri="{FF2B5EF4-FFF2-40B4-BE49-F238E27FC236}">
                <a16:creationId xmlns:a16="http://schemas.microsoft.com/office/drawing/2014/main" id="{93D00365-15DF-47A0-94D5-F7A0AFD45BCA}"/>
              </a:ext>
            </a:extLst>
          </p:cNvPr>
          <p:cNvSpPr/>
          <p:nvPr/>
        </p:nvSpPr>
        <p:spPr>
          <a:xfrm>
            <a:off x="8739873" y="1181502"/>
            <a:ext cx="1620982" cy="4791062"/>
          </a:xfrm>
          <a:prstGeom prst="flowChartManualInput">
            <a:avLst/>
          </a:prstGeom>
          <a:solidFill>
            <a:schemeClr val="accent1">
              <a:lumMod val="50000"/>
              <a:alpha val="84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b"/>
          <a:lstStyle/>
          <a:p>
            <a:pPr marL="87313" indent="-87313">
              <a:buFont typeface="Arial" panose="020B0604020202020204" pitchFamily="34" charset="0"/>
              <a:buChar char="•"/>
            </a:pPr>
            <a:endParaRPr lang="en-GB" sz="1000" dirty="0">
              <a:solidFill>
                <a:schemeClr val="bg1"/>
              </a:solidFill>
              <a:latin typeface="NBS Light" panose="020B0303030303020204" pitchFamily="34" charset="0"/>
            </a:endParaRPr>
          </a:p>
          <a:p>
            <a:pPr marL="87313" indent="-87313">
              <a:buFont typeface="Arial" panose="020B0604020202020204" pitchFamily="34" charset="0"/>
              <a:buChar char="•"/>
            </a:pPr>
            <a:r>
              <a:rPr lang="en-GB" sz="1000" dirty="0">
                <a:solidFill>
                  <a:schemeClr val="bg1"/>
                </a:solidFill>
                <a:latin typeface="NBS Light" panose="020B0303030303020204" pitchFamily="34" charset="0"/>
              </a:rPr>
              <a:t>Dynamic rule set that informs machine learning feedback loop for system tuning.</a:t>
            </a:r>
          </a:p>
          <a:p>
            <a:pPr marL="87313" indent="-87313">
              <a:buFont typeface="Arial" panose="020B0604020202020204" pitchFamily="34" charset="0"/>
              <a:buChar char="•"/>
            </a:pPr>
            <a:r>
              <a:rPr lang="en-GB" sz="1000" dirty="0">
                <a:solidFill>
                  <a:schemeClr val="bg1"/>
                </a:solidFill>
                <a:latin typeface="NBS Light" panose="020B0303030303020204" pitchFamily="34" charset="0"/>
              </a:rPr>
              <a:t>Grouping of alerts for efficiency gains </a:t>
            </a:r>
          </a:p>
          <a:p>
            <a:pPr marL="87313" indent="-87313">
              <a:buFont typeface="Arial" panose="020B0604020202020204" pitchFamily="34" charset="0"/>
              <a:buChar char="•"/>
            </a:pPr>
            <a:r>
              <a:rPr lang="en-GB" sz="1000" dirty="0">
                <a:solidFill>
                  <a:schemeClr val="bg1"/>
                </a:solidFill>
                <a:latin typeface="NBS Light" panose="020B0303030303020204" pitchFamily="34" charset="0"/>
              </a:rPr>
              <a:t>Automated case management incorporating pre-population of alert review files with signposts for missing data points.</a:t>
            </a:r>
          </a:p>
          <a:p>
            <a:pPr marL="87313" indent="-87313">
              <a:buFont typeface="Arial" panose="020B0604020202020204" pitchFamily="34" charset="0"/>
              <a:buChar char="•"/>
            </a:pPr>
            <a:r>
              <a:rPr lang="en-GB" sz="1000" dirty="0">
                <a:solidFill>
                  <a:schemeClr val="bg1"/>
                </a:solidFill>
                <a:latin typeface="NBS Light" panose="020B0303030303020204" pitchFamily="34" charset="0"/>
              </a:rPr>
              <a:t>Automation of Level 1 processes (retrieval and decisioning) in many cases with adaptive techniques to address emerging patterns of alerts. </a:t>
            </a:r>
          </a:p>
          <a:p>
            <a:pPr marL="87313" indent="-87313">
              <a:buFont typeface="Arial" panose="020B0604020202020204" pitchFamily="34" charset="0"/>
              <a:buChar char="•"/>
            </a:pPr>
            <a:r>
              <a:rPr lang="en-GB" sz="1000" dirty="0">
                <a:solidFill>
                  <a:schemeClr val="bg1"/>
                </a:solidFill>
                <a:latin typeface="NBS Light" panose="020B0303030303020204" pitchFamily="34" charset="0"/>
              </a:rPr>
              <a:t>Audit trail , rationale and evidence, linked to customer data in one place. </a:t>
            </a:r>
          </a:p>
          <a:p>
            <a:pPr marL="87313" indent="-87313">
              <a:buFont typeface="Arial" panose="020B0604020202020204" pitchFamily="34" charset="0"/>
              <a:buChar char="•"/>
            </a:pPr>
            <a:r>
              <a:rPr lang="en-GB" sz="1000" dirty="0">
                <a:solidFill>
                  <a:schemeClr val="bg1"/>
                </a:solidFill>
                <a:latin typeface="NBS Light" panose="020B0303030303020204" pitchFamily="34" charset="0"/>
              </a:rPr>
              <a:t>Flexible workforce planning across silos.</a:t>
            </a:r>
          </a:p>
        </p:txBody>
      </p:sp>
      <p:sp>
        <p:nvSpPr>
          <p:cNvPr id="33" name="Arrow: Right 32">
            <a:extLst>
              <a:ext uri="{FF2B5EF4-FFF2-40B4-BE49-F238E27FC236}">
                <a16:creationId xmlns:a16="http://schemas.microsoft.com/office/drawing/2014/main" id="{18CF1028-9F36-4337-8912-538E43BB0418}"/>
              </a:ext>
            </a:extLst>
          </p:cNvPr>
          <p:cNvSpPr/>
          <p:nvPr/>
        </p:nvSpPr>
        <p:spPr>
          <a:xfrm>
            <a:off x="1349843" y="6325362"/>
            <a:ext cx="9088276" cy="265706"/>
          </a:xfrm>
          <a:prstGeom prst="rightArrow">
            <a:avLst>
              <a:gd name="adj1" fmla="val 24269"/>
              <a:gd name="adj2" fmla="val 116831"/>
            </a:avLst>
          </a:prstGeom>
          <a:solidFill>
            <a:schemeClr val="bg2">
              <a:lumMod val="2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6" name="TextBox 35">
            <a:extLst>
              <a:ext uri="{FF2B5EF4-FFF2-40B4-BE49-F238E27FC236}">
                <a16:creationId xmlns:a16="http://schemas.microsoft.com/office/drawing/2014/main" id="{8197DB93-8D15-4C5E-9846-360B0E6AB0CA}"/>
              </a:ext>
            </a:extLst>
          </p:cNvPr>
          <p:cNvSpPr txBox="1"/>
          <p:nvPr/>
        </p:nvSpPr>
        <p:spPr>
          <a:xfrm>
            <a:off x="5056263" y="6435998"/>
            <a:ext cx="2870712" cy="307777"/>
          </a:xfrm>
          <a:prstGeom prst="rect">
            <a:avLst/>
          </a:prstGeom>
          <a:noFill/>
        </p:spPr>
        <p:txBody>
          <a:bodyPr wrap="square" rtlCol="0">
            <a:spAutoFit/>
          </a:bodyPr>
          <a:lstStyle/>
          <a:p>
            <a:r>
              <a:rPr lang="en-GB" sz="1400" b="1" dirty="0">
                <a:latin typeface="NBS Medium" panose="020B0603030303020204" pitchFamily="34" charset="0"/>
              </a:rPr>
              <a:t>Technological Maturity</a:t>
            </a:r>
          </a:p>
        </p:txBody>
      </p:sp>
      <p:sp>
        <p:nvSpPr>
          <p:cNvPr id="37" name="TextBox 36">
            <a:extLst>
              <a:ext uri="{FF2B5EF4-FFF2-40B4-BE49-F238E27FC236}">
                <a16:creationId xmlns:a16="http://schemas.microsoft.com/office/drawing/2014/main" id="{026230BD-992C-453B-817D-354A563951EB}"/>
              </a:ext>
            </a:extLst>
          </p:cNvPr>
          <p:cNvSpPr txBox="1"/>
          <p:nvPr/>
        </p:nvSpPr>
        <p:spPr>
          <a:xfrm>
            <a:off x="-66371" y="3260593"/>
            <a:ext cx="1396300" cy="523220"/>
          </a:xfrm>
          <a:prstGeom prst="rect">
            <a:avLst/>
          </a:prstGeom>
          <a:noFill/>
        </p:spPr>
        <p:txBody>
          <a:bodyPr wrap="square" rtlCol="0">
            <a:spAutoFit/>
          </a:bodyPr>
          <a:lstStyle/>
          <a:p>
            <a:pPr algn="ctr"/>
            <a:r>
              <a:rPr lang="en-GB" sz="1400" b="1" dirty="0">
                <a:latin typeface="NBS Medium" panose="020B0603030303020204" pitchFamily="34" charset="0"/>
              </a:rPr>
              <a:t>Operational Maturity </a:t>
            </a:r>
          </a:p>
        </p:txBody>
      </p:sp>
      <p:sp>
        <p:nvSpPr>
          <p:cNvPr id="38" name="Rectangle 37">
            <a:extLst>
              <a:ext uri="{FF2B5EF4-FFF2-40B4-BE49-F238E27FC236}">
                <a16:creationId xmlns:a16="http://schemas.microsoft.com/office/drawing/2014/main" id="{DA36AC4E-F1C6-4C70-9E14-BD7F7FB89259}"/>
              </a:ext>
            </a:extLst>
          </p:cNvPr>
          <p:cNvSpPr>
            <a:spLocks/>
          </p:cNvSpPr>
          <p:nvPr/>
        </p:nvSpPr>
        <p:spPr>
          <a:xfrm>
            <a:off x="1603749" y="5988466"/>
            <a:ext cx="1620982" cy="338106"/>
          </a:xfrm>
          <a:prstGeom prst="rect">
            <a:avLst/>
          </a:prstGeom>
          <a:solidFill>
            <a:schemeClr val="bg2">
              <a:lumMod val="2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00" dirty="0">
                <a:latin typeface="NBS Medium" panose="020B0603030303020204" pitchFamily="34" charset="0"/>
              </a:rPr>
              <a:t>Manual processes</a:t>
            </a:r>
          </a:p>
        </p:txBody>
      </p:sp>
      <p:sp>
        <p:nvSpPr>
          <p:cNvPr id="39" name="Rectangle 38">
            <a:extLst>
              <a:ext uri="{FF2B5EF4-FFF2-40B4-BE49-F238E27FC236}">
                <a16:creationId xmlns:a16="http://schemas.microsoft.com/office/drawing/2014/main" id="{31DB5F13-69E6-47A1-A8EF-2E6ADE8FE7EC}"/>
              </a:ext>
            </a:extLst>
          </p:cNvPr>
          <p:cNvSpPr>
            <a:spLocks/>
          </p:cNvSpPr>
          <p:nvPr/>
        </p:nvSpPr>
        <p:spPr>
          <a:xfrm>
            <a:off x="3387779" y="5988466"/>
            <a:ext cx="1620982" cy="338106"/>
          </a:xfrm>
          <a:prstGeom prst="rect">
            <a:avLst/>
          </a:prstGeom>
          <a:solidFill>
            <a:schemeClr val="bg2">
              <a:lumMod val="2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00" dirty="0">
                <a:latin typeface="NBS Medium" panose="020B0603030303020204" pitchFamily="34" charset="0"/>
              </a:rPr>
              <a:t>Standard rule set and case management</a:t>
            </a:r>
          </a:p>
        </p:txBody>
      </p:sp>
      <p:sp>
        <p:nvSpPr>
          <p:cNvPr id="40" name="Rectangle 39">
            <a:extLst>
              <a:ext uri="{FF2B5EF4-FFF2-40B4-BE49-F238E27FC236}">
                <a16:creationId xmlns:a16="http://schemas.microsoft.com/office/drawing/2014/main" id="{C51EE20D-33EE-4825-9218-A566352C8CF2}"/>
              </a:ext>
            </a:extLst>
          </p:cNvPr>
          <p:cNvSpPr>
            <a:spLocks/>
          </p:cNvSpPr>
          <p:nvPr/>
        </p:nvSpPr>
        <p:spPr>
          <a:xfrm>
            <a:off x="5177461" y="5988466"/>
            <a:ext cx="1620982" cy="338106"/>
          </a:xfrm>
          <a:prstGeom prst="rect">
            <a:avLst/>
          </a:prstGeom>
          <a:solidFill>
            <a:schemeClr val="bg2">
              <a:lumMod val="2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00" dirty="0">
                <a:latin typeface="NBS Medium" panose="020B0603030303020204" pitchFamily="34" charset="0"/>
              </a:rPr>
              <a:t>Simple automation</a:t>
            </a:r>
          </a:p>
        </p:txBody>
      </p:sp>
      <p:sp>
        <p:nvSpPr>
          <p:cNvPr id="41" name="Rectangle 40">
            <a:extLst>
              <a:ext uri="{FF2B5EF4-FFF2-40B4-BE49-F238E27FC236}">
                <a16:creationId xmlns:a16="http://schemas.microsoft.com/office/drawing/2014/main" id="{BC0AD8F7-BD20-404B-9246-2D9B0A4A672F}"/>
              </a:ext>
            </a:extLst>
          </p:cNvPr>
          <p:cNvSpPr>
            <a:spLocks/>
          </p:cNvSpPr>
          <p:nvPr/>
        </p:nvSpPr>
        <p:spPr>
          <a:xfrm>
            <a:off x="6955841" y="5988466"/>
            <a:ext cx="1620982" cy="338106"/>
          </a:xfrm>
          <a:prstGeom prst="rect">
            <a:avLst/>
          </a:prstGeom>
          <a:solidFill>
            <a:schemeClr val="bg2">
              <a:lumMod val="2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00" dirty="0">
                <a:latin typeface="NBS Medium" panose="020B0603030303020204" pitchFamily="34" charset="0"/>
              </a:rPr>
              <a:t>Intelligent automation</a:t>
            </a:r>
          </a:p>
        </p:txBody>
      </p:sp>
      <p:sp>
        <p:nvSpPr>
          <p:cNvPr id="42" name="Rectangle 41">
            <a:extLst>
              <a:ext uri="{FF2B5EF4-FFF2-40B4-BE49-F238E27FC236}">
                <a16:creationId xmlns:a16="http://schemas.microsoft.com/office/drawing/2014/main" id="{B609C70F-9F27-48F0-8689-895BEDB253B5}"/>
              </a:ext>
            </a:extLst>
          </p:cNvPr>
          <p:cNvSpPr>
            <a:spLocks/>
          </p:cNvSpPr>
          <p:nvPr/>
        </p:nvSpPr>
        <p:spPr>
          <a:xfrm>
            <a:off x="8739873" y="5988466"/>
            <a:ext cx="1620982" cy="338106"/>
          </a:xfrm>
          <a:prstGeom prst="rect">
            <a:avLst/>
          </a:prstGeom>
          <a:solidFill>
            <a:schemeClr val="bg2">
              <a:lumMod val="2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00" dirty="0">
                <a:latin typeface="NBS Medium" panose="020B0603030303020204" pitchFamily="34" charset="0"/>
              </a:rPr>
              <a:t>Machine learning and advanced analytics</a:t>
            </a:r>
          </a:p>
        </p:txBody>
      </p:sp>
      <p:sp>
        <p:nvSpPr>
          <p:cNvPr id="62" name="Freeform: Shape 61">
            <a:extLst>
              <a:ext uri="{FF2B5EF4-FFF2-40B4-BE49-F238E27FC236}">
                <a16:creationId xmlns:a16="http://schemas.microsoft.com/office/drawing/2014/main" id="{2FCCF710-894D-4E90-B9C9-23C5C6997FD6}"/>
              </a:ext>
            </a:extLst>
          </p:cNvPr>
          <p:cNvSpPr/>
          <p:nvPr/>
        </p:nvSpPr>
        <p:spPr>
          <a:xfrm rot="21302302">
            <a:off x="1419111" y="1486242"/>
            <a:ext cx="9005029" cy="2696483"/>
          </a:xfrm>
          <a:custGeom>
            <a:avLst/>
            <a:gdLst>
              <a:gd name="connsiteX0" fmla="*/ 0 w 8761445"/>
              <a:gd name="connsiteY0" fmla="*/ 3200400 h 3200400"/>
              <a:gd name="connsiteX1" fmla="*/ 3200400 w 8761445"/>
              <a:gd name="connsiteY1" fmla="*/ 2519265 h 3200400"/>
              <a:gd name="connsiteX2" fmla="*/ 5122506 w 8761445"/>
              <a:gd name="connsiteY2" fmla="*/ 1184988 h 3200400"/>
              <a:gd name="connsiteX3" fmla="*/ 8462865 w 8761445"/>
              <a:gd name="connsiteY3" fmla="*/ 102637 h 3200400"/>
              <a:gd name="connsiteX4" fmla="*/ 8462865 w 8761445"/>
              <a:gd name="connsiteY4" fmla="*/ 102637 h 3200400"/>
              <a:gd name="connsiteX5" fmla="*/ 8761445 w 8761445"/>
              <a:gd name="connsiteY5" fmla="*/ 0 h 320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1445" h="3200400">
                <a:moveTo>
                  <a:pt x="0" y="3200400"/>
                </a:moveTo>
                <a:cubicBezTo>
                  <a:pt x="1173324" y="3027783"/>
                  <a:pt x="2346649" y="2855167"/>
                  <a:pt x="3200400" y="2519265"/>
                </a:cubicBezTo>
                <a:cubicBezTo>
                  <a:pt x="4054151" y="2183363"/>
                  <a:pt x="4245429" y="1587759"/>
                  <a:pt x="5122506" y="1184988"/>
                </a:cubicBezTo>
                <a:cubicBezTo>
                  <a:pt x="5999584" y="782217"/>
                  <a:pt x="8462865" y="102637"/>
                  <a:pt x="8462865" y="102637"/>
                </a:cubicBezTo>
                <a:lnTo>
                  <a:pt x="8462865" y="102637"/>
                </a:lnTo>
                <a:lnTo>
                  <a:pt x="8761445" y="0"/>
                </a:lnTo>
              </a:path>
            </a:pathLst>
          </a:cu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2" name="Oval 71">
            <a:extLst>
              <a:ext uri="{FF2B5EF4-FFF2-40B4-BE49-F238E27FC236}">
                <a16:creationId xmlns:a16="http://schemas.microsoft.com/office/drawing/2014/main" id="{EDB51419-8CF6-409A-8F61-419880D1B4E9}"/>
              </a:ext>
            </a:extLst>
          </p:cNvPr>
          <p:cNvSpPr/>
          <p:nvPr/>
        </p:nvSpPr>
        <p:spPr>
          <a:xfrm>
            <a:off x="1557384" y="4434242"/>
            <a:ext cx="195919" cy="221832"/>
          </a:xfrm>
          <a:prstGeom prst="ellipse">
            <a:avLst/>
          </a:prstGeom>
          <a:solidFill>
            <a:srgbClr val="005EB8"/>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900" b="1" dirty="0">
                <a:solidFill>
                  <a:schemeClr val="bg1"/>
                </a:solidFill>
                <a:latin typeface="NBS Medium" panose="020B0603030303020204" pitchFamily="34" charset="0"/>
              </a:rPr>
              <a:t>1</a:t>
            </a:r>
            <a:endParaRPr lang="en-GB" sz="1500" b="1" dirty="0">
              <a:solidFill>
                <a:schemeClr val="bg1"/>
              </a:solidFill>
              <a:latin typeface="NBS Medium" panose="020B0603030303020204" pitchFamily="34" charset="0"/>
            </a:endParaRPr>
          </a:p>
        </p:txBody>
      </p:sp>
      <p:sp>
        <p:nvSpPr>
          <p:cNvPr id="73" name="Oval 72">
            <a:extLst>
              <a:ext uri="{FF2B5EF4-FFF2-40B4-BE49-F238E27FC236}">
                <a16:creationId xmlns:a16="http://schemas.microsoft.com/office/drawing/2014/main" id="{048D9748-52AE-464A-80A6-5C2FA9193CD0}"/>
              </a:ext>
            </a:extLst>
          </p:cNvPr>
          <p:cNvSpPr/>
          <p:nvPr/>
        </p:nvSpPr>
        <p:spPr>
          <a:xfrm>
            <a:off x="3518484" y="3980793"/>
            <a:ext cx="195919" cy="221832"/>
          </a:xfrm>
          <a:prstGeom prst="ellipse">
            <a:avLst/>
          </a:prstGeom>
          <a:solidFill>
            <a:srgbClr val="005EB8"/>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900" b="1" dirty="0">
                <a:solidFill>
                  <a:schemeClr val="bg1"/>
                </a:solidFill>
                <a:latin typeface="NBS Medium" panose="020B0603030303020204" pitchFamily="34" charset="0"/>
              </a:rPr>
              <a:t>2</a:t>
            </a:r>
            <a:endParaRPr lang="en-GB" sz="1500" b="1" dirty="0">
              <a:solidFill>
                <a:schemeClr val="bg1"/>
              </a:solidFill>
              <a:latin typeface="NBS Medium" panose="020B0603030303020204" pitchFamily="34" charset="0"/>
            </a:endParaRPr>
          </a:p>
        </p:txBody>
      </p:sp>
      <p:sp>
        <p:nvSpPr>
          <p:cNvPr id="74" name="Oval 73">
            <a:extLst>
              <a:ext uri="{FF2B5EF4-FFF2-40B4-BE49-F238E27FC236}">
                <a16:creationId xmlns:a16="http://schemas.microsoft.com/office/drawing/2014/main" id="{68F33959-9884-4D5D-890A-6FA4D54A2C69}"/>
              </a:ext>
            </a:extLst>
          </p:cNvPr>
          <p:cNvSpPr/>
          <p:nvPr/>
        </p:nvSpPr>
        <p:spPr>
          <a:xfrm>
            <a:off x="5799164" y="2802100"/>
            <a:ext cx="195919" cy="221832"/>
          </a:xfrm>
          <a:prstGeom prst="ellipse">
            <a:avLst/>
          </a:prstGeom>
          <a:solidFill>
            <a:srgbClr val="005EB8"/>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900" b="1" dirty="0">
                <a:solidFill>
                  <a:schemeClr val="bg1"/>
                </a:solidFill>
                <a:latin typeface="NBS Medium" panose="020B0603030303020204" pitchFamily="34" charset="0"/>
              </a:rPr>
              <a:t>3</a:t>
            </a:r>
            <a:endParaRPr lang="en-GB" sz="1500" b="1" dirty="0">
              <a:solidFill>
                <a:schemeClr val="bg1"/>
              </a:solidFill>
              <a:latin typeface="NBS Medium" panose="020B0603030303020204" pitchFamily="34" charset="0"/>
            </a:endParaRPr>
          </a:p>
        </p:txBody>
      </p:sp>
      <p:sp>
        <p:nvSpPr>
          <p:cNvPr id="75" name="Oval 74">
            <a:extLst>
              <a:ext uri="{FF2B5EF4-FFF2-40B4-BE49-F238E27FC236}">
                <a16:creationId xmlns:a16="http://schemas.microsoft.com/office/drawing/2014/main" id="{4FC29712-5852-4D37-A3E7-159F45622B72}"/>
              </a:ext>
            </a:extLst>
          </p:cNvPr>
          <p:cNvSpPr/>
          <p:nvPr/>
        </p:nvSpPr>
        <p:spPr>
          <a:xfrm>
            <a:off x="7538141" y="1886519"/>
            <a:ext cx="195919" cy="221832"/>
          </a:xfrm>
          <a:prstGeom prst="ellipse">
            <a:avLst/>
          </a:prstGeom>
          <a:solidFill>
            <a:srgbClr val="005EB8"/>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900" b="1" dirty="0">
                <a:solidFill>
                  <a:schemeClr val="bg1"/>
                </a:solidFill>
                <a:latin typeface="NBS Medium" panose="020B0603030303020204" pitchFamily="34" charset="0"/>
              </a:rPr>
              <a:t>4</a:t>
            </a:r>
            <a:endParaRPr lang="en-GB" sz="1500" b="1" dirty="0">
              <a:solidFill>
                <a:schemeClr val="bg1"/>
              </a:solidFill>
              <a:latin typeface="NBS Medium" panose="020B0603030303020204" pitchFamily="34" charset="0"/>
            </a:endParaRPr>
          </a:p>
        </p:txBody>
      </p:sp>
      <p:sp>
        <p:nvSpPr>
          <p:cNvPr id="76" name="Oval 75">
            <a:extLst>
              <a:ext uri="{FF2B5EF4-FFF2-40B4-BE49-F238E27FC236}">
                <a16:creationId xmlns:a16="http://schemas.microsoft.com/office/drawing/2014/main" id="{2E96B2C5-F817-4E77-AB9C-ADACBE29ABF7}"/>
              </a:ext>
            </a:extLst>
          </p:cNvPr>
          <p:cNvSpPr/>
          <p:nvPr/>
        </p:nvSpPr>
        <p:spPr>
          <a:xfrm>
            <a:off x="10127724" y="990607"/>
            <a:ext cx="195919" cy="221832"/>
          </a:xfrm>
          <a:prstGeom prst="ellipse">
            <a:avLst/>
          </a:prstGeom>
          <a:solidFill>
            <a:srgbClr val="005EB8"/>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900" b="1" dirty="0">
                <a:solidFill>
                  <a:schemeClr val="bg1"/>
                </a:solidFill>
                <a:latin typeface="NBS Medium" panose="020B0603030303020204" pitchFamily="34" charset="0"/>
              </a:rPr>
              <a:t>5</a:t>
            </a:r>
            <a:endParaRPr lang="en-GB" sz="1500" b="1" dirty="0">
              <a:solidFill>
                <a:schemeClr val="bg1"/>
              </a:solidFill>
              <a:latin typeface="NBS Medium" panose="020B0603030303020204" pitchFamily="34" charset="0"/>
            </a:endParaRPr>
          </a:p>
        </p:txBody>
      </p:sp>
      <p:sp>
        <p:nvSpPr>
          <p:cNvPr id="77" name="TextBox 76">
            <a:extLst>
              <a:ext uri="{FF2B5EF4-FFF2-40B4-BE49-F238E27FC236}">
                <a16:creationId xmlns:a16="http://schemas.microsoft.com/office/drawing/2014/main" id="{F357FC2A-5C65-41F2-821A-DADAD00F8DF0}"/>
              </a:ext>
            </a:extLst>
          </p:cNvPr>
          <p:cNvSpPr txBox="1"/>
          <p:nvPr/>
        </p:nvSpPr>
        <p:spPr>
          <a:xfrm>
            <a:off x="3069084" y="2892109"/>
            <a:ext cx="1709490" cy="253916"/>
          </a:xfrm>
          <a:prstGeom prst="rect">
            <a:avLst/>
          </a:prstGeom>
          <a:noFill/>
          <a:ln w="19050">
            <a:noFill/>
          </a:ln>
        </p:spPr>
        <p:txBody>
          <a:bodyPr wrap="square" rtlCol="0">
            <a:spAutoFit/>
          </a:bodyPr>
          <a:lstStyle/>
          <a:p>
            <a:pPr algn="ctr"/>
            <a:r>
              <a:rPr lang="en-GB" sz="1050" b="1" dirty="0">
                <a:solidFill>
                  <a:schemeClr val="bg1">
                    <a:lumMod val="50000"/>
                  </a:schemeClr>
                </a:solidFill>
                <a:latin typeface="NBS Medium" panose="020B0603030303020204" pitchFamily="34" charset="0"/>
              </a:rPr>
              <a:t>Nationwide 2019</a:t>
            </a:r>
            <a:endParaRPr lang="en-GB" sz="1050" i="1" dirty="0">
              <a:solidFill>
                <a:schemeClr val="bg1">
                  <a:lumMod val="50000"/>
                </a:schemeClr>
              </a:solidFill>
              <a:latin typeface="NBS Medium" panose="020B0603030303020204" pitchFamily="34" charset="0"/>
            </a:endParaRPr>
          </a:p>
        </p:txBody>
      </p:sp>
      <p:sp>
        <p:nvSpPr>
          <p:cNvPr id="82" name="Arrow: Right 81">
            <a:extLst>
              <a:ext uri="{FF2B5EF4-FFF2-40B4-BE49-F238E27FC236}">
                <a16:creationId xmlns:a16="http://schemas.microsoft.com/office/drawing/2014/main" id="{8A1509DE-F181-40FD-8A63-4FB6C221109D}"/>
              </a:ext>
            </a:extLst>
          </p:cNvPr>
          <p:cNvSpPr/>
          <p:nvPr/>
        </p:nvSpPr>
        <p:spPr>
          <a:xfrm rot="5400000">
            <a:off x="3621945" y="3525965"/>
            <a:ext cx="610261" cy="265706"/>
          </a:xfrm>
          <a:prstGeom prst="rightArrow">
            <a:avLst>
              <a:gd name="adj1" fmla="val 24269"/>
              <a:gd name="adj2" fmla="val 71179"/>
            </a:avLst>
          </a:prstGeom>
          <a:solidFill>
            <a:schemeClr val="bg2">
              <a:lumMod val="2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3" name="TextBox 82">
            <a:extLst>
              <a:ext uri="{FF2B5EF4-FFF2-40B4-BE49-F238E27FC236}">
                <a16:creationId xmlns:a16="http://schemas.microsoft.com/office/drawing/2014/main" id="{94D2465E-9DD6-4610-BA52-24D6CD019F42}"/>
              </a:ext>
            </a:extLst>
          </p:cNvPr>
          <p:cNvSpPr txBox="1"/>
          <p:nvPr/>
        </p:nvSpPr>
        <p:spPr>
          <a:xfrm>
            <a:off x="6759198" y="869820"/>
            <a:ext cx="1736889" cy="461665"/>
          </a:xfrm>
          <a:prstGeom prst="rect">
            <a:avLst/>
          </a:prstGeom>
          <a:noFill/>
          <a:ln w="19050">
            <a:noFill/>
          </a:ln>
        </p:spPr>
        <p:txBody>
          <a:bodyPr wrap="square" rtlCol="0">
            <a:spAutoFit/>
          </a:bodyPr>
          <a:lstStyle/>
          <a:p>
            <a:pPr algn="ctr"/>
            <a:r>
              <a:rPr lang="en-GB" sz="1200" b="1" dirty="0">
                <a:solidFill>
                  <a:schemeClr val="accent1">
                    <a:lumMod val="75000"/>
                  </a:schemeClr>
                </a:solidFill>
                <a:latin typeface="NBS Medium" panose="020B0603030303020204" pitchFamily="34" charset="0"/>
              </a:rPr>
              <a:t>Peers – </a:t>
            </a:r>
            <a:r>
              <a:rPr lang="en-GB" sz="1200" b="1" i="1" dirty="0">
                <a:solidFill>
                  <a:schemeClr val="accent1">
                    <a:lumMod val="75000"/>
                  </a:schemeClr>
                </a:solidFill>
                <a:latin typeface="NBS Medium" panose="020B0603030303020204" pitchFamily="34" charset="0"/>
              </a:rPr>
              <a:t>current position (amalgamated view)</a:t>
            </a:r>
          </a:p>
        </p:txBody>
      </p:sp>
      <p:sp>
        <p:nvSpPr>
          <p:cNvPr id="87" name="Arrow: Right 86">
            <a:extLst>
              <a:ext uri="{FF2B5EF4-FFF2-40B4-BE49-F238E27FC236}">
                <a16:creationId xmlns:a16="http://schemas.microsoft.com/office/drawing/2014/main" id="{E6D41B37-0608-4D1C-886F-F59CBCC8C301}"/>
              </a:ext>
            </a:extLst>
          </p:cNvPr>
          <p:cNvSpPr/>
          <p:nvPr/>
        </p:nvSpPr>
        <p:spPr>
          <a:xfrm rot="5400000">
            <a:off x="7406789" y="1406003"/>
            <a:ext cx="454366" cy="265706"/>
          </a:xfrm>
          <a:prstGeom prst="rightArrow">
            <a:avLst>
              <a:gd name="adj1" fmla="val 24269"/>
              <a:gd name="adj2" fmla="val 71179"/>
            </a:avLst>
          </a:prstGeom>
          <a:solidFill>
            <a:schemeClr val="bg2">
              <a:lumMod val="2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1" name="TextBox 90">
            <a:extLst>
              <a:ext uri="{FF2B5EF4-FFF2-40B4-BE49-F238E27FC236}">
                <a16:creationId xmlns:a16="http://schemas.microsoft.com/office/drawing/2014/main" id="{EAEF038E-B677-46C3-865E-1613A3265587}"/>
              </a:ext>
            </a:extLst>
          </p:cNvPr>
          <p:cNvSpPr txBox="1"/>
          <p:nvPr/>
        </p:nvSpPr>
        <p:spPr>
          <a:xfrm>
            <a:off x="-66371" y="5079268"/>
            <a:ext cx="1396300" cy="707886"/>
          </a:xfrm>
          <a:prstGeom prst="rect">
            <a:avLst/>
          </a:prstGeom>
          <a:noFill/>
        </p:spPr>
        <p:txBody>
          <a:bodyPr wrap="square" rtlCol="0">
            <a:spAutoFit/>
          </a:bodyPr>
          <a:lstStyle/>
          <a:p>
            <a:pPr algn="ctr"/>
            <a:r>
              <a:rPr lang="en-GB" sz="1000" i="1" dirty="0">
                <a:latin typeface="NBS Light" panose="020B0303030303020204" pitchFamily="34" charset="0"/>
              </a:rPr>
              <a:t>Disparate, localised operations with inconsistent implementation</a:t>
            </a:r>
          </a:p>
        </p:txBody>
      </p:sp>
      <p:sp>
        <p:nvSpPr>
          <p:cNvPr id="92" name="TextBox 91">
            <a:extLst>
              <a:ext uri="{FF2B5EF4-FFF2-40B4-BE49-F238E27FC236}">
                <a16:creationId xmlns:a16="http://schemas.microsoft.com/office/drawing/2014/main" id="{22D06AE2-9870-4FD5-A101-AD7123D33C9C}"/>
              </a:ext>
            </a:extLst>
          </p:cNvPr>
          <p:cNvSpPr txBox="1"/>
          <p:nvPr/>
        </p:nvSpPr>
        <p:spPr>
          <a:xfrm>
            <a:off x="146628" y="1260959"/>
            <a:ext cx="967784" cy="1323439"/>
          </a:xfrm>
          <a:prstGeom prst="rect">
            <a:avLst/>
          </a:prstGeom>
          <a:noFill/>
        </p:spPr>
        <p:txBody>
          <a:bodyPr wrap="square" rtlCol="0">
            <a:spAutoFit/>
          </a:bodyPr>
          <a:lstStyle/>
          <a:p>
            <a:pPr algn="ctr"/>
            <a:r>
              <a:rPr lang="en-GB" sz="1000" i="1" dirty="0">
                <a:latin typeface="NBS Light" panose="020B0303030303020204" pitchFamily="34" charset="0"/>
              </a:rPr>
              <a:t>Optimised centres of excellence implementing standardised processes with clear accountability</a:t>
            </a:r>
          </a:p>
        </p:txBody>
      </p:sp>
      <p:sp>
        <p:nvSpPr>
          <p:cNvPr id="93" name="TextBox 92">
            <a:extLst>
              <a:ext uri="{FF2B5EF4-FFF2-40B4-BE49-F238E27FC236}">
                <a16:creationId xmlns:a16="http://schemas.microsoft.com/office/drawing/2014/main" id="{FADDF296-EB00-4467-8437-37002568D6AD}"/>
              </a:ext>
            </a:extLst>
          </p:cNvPr>
          <p:cNvSpPr txBox="1"/>
          <p:nvPr/>
        </p:nvSpPr>
        <p:spPr>
          <a:xfrm>
            <a:off x="1394602" y="6456266"/>
            <a:ext cx="1993177" cy="400110"/>
          </a:xfrm>
          <a:prstGeom prst="rect">
            <a:avLst/>
          </a:prstGeom>
          <a:noFill/>
        </p:spPr>
        <p:txBody>
          <a:bodyPr wrap="square" rtlCol="0">
            <a:spAutoFit/>
          </a:bodyPr>
          <a:lstStyle/>
          <a:p>
            <a:pPr algn="ctr"/>
            <a:r>
              <a:rPr lang="en-GB" sz="1000" i="1" dirty="0">
                <a:latin typeface="NBS Light" panose="020B0303030303020204" pitchFamily="34" charset="0"/>
              </a:rPr>
              <a:t>Multiple platforms and disparate technology</a:t>
            </a:r>
          </a:p>
        </p:txBody>
      </p:sp>
      <p:sp>
        <p:nvSpPr>
          <p:cNvPr id="94" name="TextBox 93">
            <a:extLst>
              <a:ext uri="{FF2B5EF4-FFF2-40B4-BE49-F238E27FC236}">
                <a16:creationId xmlns:a16="http://schemas.microsoft.com/office/drawing/2014/main" id="{7F8A0E3C-0B19-468B-8A54-DE8DAC000544}"/>
              </a:ext>
            </a:extLst>
          </p:cNvPr>
          <p:cNvSpPr txBox="1"/>
          <p:nvPr/>
        </p:nvSpPr>
        <p:spPr>
          <a:xfrm>
            <a:off x="8134547" y="6445095"/>
            <a:ext cx="1993177" cy="400110"/>
          </a:xfrm>
          <a:prstGeom prst="rect">
            <a:avLst/>
          </a:prstGeom>
          <a:noFill/>
        </p:spPr>
        <p:txBody>
          <a:bodyPr wrap="square" rtlCol="0">
            <a:spAutoFit/>
          </a:bodyPr>
          <a:lstStyle/>
          <a:p>
            <a:pPr algn="ctr"/>
            <a:r>
              <a:rPr lang="en-GB" sz="1000" i="1" dirty="0">
                <a:latin typeface="NBS Light" panose="020B0303030303020204" pitchFamily="34" charset="0"/>
              </a:rPr>
              <a:t>A streamlined set of strategic platforms and technology</a:t>
            </a:r>
          </a:p>
        </p:txBody>
      </p:sp>
      <p:sp>
        <p:nvSpPr>
          <p:cNvPr id="98" name="Arrow: Right 97">
            <a:extLst>
              <a:ext uri="{FF2B5EF4-FFF2-40B4-BE49-F238E27FC236}">
                <a16:creationId xmlns:a16="http://schemas.microsoft.com/office/drawing/2014/main" id="{A4B5A89A-5AC7-4461-A7BC-5C380F54242E}"/>
              </a:ext>
            </a:extLst>
          </p:cNvPr>
          <p:cNvSpPr/>
          <p:nvPr/>
        </p:nvSpPr>
        <p:spPr>
          <a:xfrm rot="5400000">
            <a:off x="4996768" y="2953434"/>
            <a:ext cx="610261" cy="265706"/>
          </a:xfrm>
          <a:prstGeom prst="rightArrow">
            <a:avLst>
              <a:gd name="adj1" fmla="val 24269"/>
              <a:gd name="adj2" fmla="val 71179"/>
            </a:avLst>
          </a:prstGeom>
          <a:solidFill>
            <a:schemeClr val="bg2">
              <a:lumMod val="2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9" name="TextBox 98">
            <a:extLst>
              <a:ext uri="{FF2B5EF4-FFF2-40B4-BE49-F238E27FC236}">
                <a16:creationId xmlns:a16="http://schemas.microsoft.com/office/drawing/2014/main" id="{A7CC27FB-5A64-44ED-B8DB-3A3EF4415DF2}"/>
              </a:ext>
            </a:extLst>
          </p:cNvPr>
          <p:cNvSpPr txBox="1"/>
          <p:nvPr/>
        </p:nvSpPr>
        <p:spPr>
          <a:xfrm>
            <a:off x="4447153" y="2359691"/>
            <a:ext cx="1709490" cy="415498"/>
          </a:xfrm>
          <a:prstGeom prst="rect">
            <a:avLst/>
          </a:prstGeom>
          <a:noFill/>
          <a:ln w="19050">
            <a:noFill/>
          </a:ln>
        </p:spPr>
        <p:txBody>
          <a:bodyPr wrap="square" rtlCol="0">
            <a:spAutoFit/>
          </a:bodyPr>
          <a:lstStyle/>
          <a:p>
            <a:pPr algn="ctr"/>
            <a:r>
              <a:rPr lang="en-GB" sz="1050" b="1" dirty="0">
                <a:solidFill>
                  <a:srgbClr val="FFC9C9"/>
                </a:solidFill>
                <a:latin typeface="NBS Medium" panose="020B0603030303020204" pitchFamily="34" charset="0"/>
              </a:rPr>
              <a:t>Nationwide – current position</a:t>
            </a:r>
            <a:endParaRPr lang="en-GB" sz="1050" i="1" dirty="0">
              <a:solidFill>
                <a:srgbClr val="FFC9C9"/>
              </a:solidFill>
              <a:latin typeface="NBS Medium" panose="020B0603030303020204" pitchFamily="34" charset="0"/>
            </a:endParaRPr>
          </a:p>
        </p:txBody>
      </p:sp>
      <p:sp>
        <p:nvSpPr>
          <p:cNvPr id="108" name="Arrow: Right 107">
            <a:extLst>
              <a:ext uri="{FF2B5EF4-FFF2-40B4-BE49-F238E27FC236}">
                <a16:creationId xmlns:a16="http://schemas.microsoft.com/office/drawing/2014/main" id="{CA0A550E-5723-43B8-A703-DD0206538699}"/>
              </a:ext>
            </a:extLst>
          </p:cNvPr>
          <p:cNvSpPr/>
          <p:nvPr/>
        </p:nvSpPr>
        <p:spPr>
          <a:xfrm rot="5400000">
            <a:off x="8806225" y="1207419"/>
            <a:ext cx="415498" cy="265706"/>
          </a:xfrm>
          <a:prstGeom prst="rightArrow">
            <a:avLst>
              <a:gd name="adj1" fmla="val 24269"/>
              <a:gd name="adj2" fmla="val 53621"/>
            </a:avLst>
          </a:prstGeom>
          <a:solidFill>
            <a:schemeClr val="bg2">
              <a:lumMod val="2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0" name="TextBox 109">
            <a:extLst>
              <a:ext uri="{FF2B5EF4-FFF2-40B4-BE49-F238E27FC236}">
                <a16:creationId xmlns:a16="http://schemas.microsoft.com/office/drawing/2014/main" id="{083CA0C8-D956-4A6F-8CFC-3686BE134926}"/>
              </a:ext>
            </a:extLst>
          </p:cNvPr>
          <p:cNvSpPr txBox="1"/>
          <p:nvPr/>
        </p:nvSpPr>
        <p:spPr>
          <a:xfrm>
            <a:off x="8452137" y="829359"/>
            <a:ext cx="1546423" cy="253916"/>
          </a:xfrm>
          <a:prstGeom prst="rect">
            <a:avLst/>
          </a:prstGeom>
          <a:noFill/>
          <a:ln w="19050">
            <a:noFill/>
          </a:ln>
        </p:spPr>
        <p:txBody>
          <a:bodyPr wrap="square" rtlCol="0">
            <a:spAutoFit/>
          </a:bodyPr>
          <a:lstStyle/>
          <a:p>
            <a:pPr algn="ctr"/>
            <a:r>
              <a:rPr lang="en-GB" sz="1050" b="1" dirty="0">
                <a:solidFill>
                  <a:schemeClr val="accent6"/>
                </a:solidFill>
                <a:latin typeface="NBS Medium" panose="020B0603030303020204" pitchFamily="34" charset="0"/>
              </a:rPr>
              <a:t>Nationwide – </a:t>
            </a:r>
            <a:r>
              <a:rPr lang="en-GB" sz="1050" i="1" dirty="0">
                <a:solidFill>
                  <a:schemeClr val="accent6"/>
                </a:solidFill>
                <a:latin typeface="NBS Medium" panose="020B0603030303020204" pitchFamily="34" charset="0"/>
              </a:rPr>
              <a:t>future state</a:t>
            </a:r>
          </a:p>
        </p:txBody>
      </p:sp>
      <p:sp>
        <p:nvSpPr>
          <p:cNvPr id="2" name="Rectangle: Rounded Corners 1">
            <a:extLst>
              <a:ext uri="{FF2B5EF4-FFF2-40B4-BE49-F238E27FC236}">
                <a16:creationId xmlns:a16="http://schemas.microsoft.com/office/drawing/2014/main" id="{5477B8F1-6460-430C-8A81-858623230900}"/>
              </a:ext>
            </a:extLst>
          </p:cNvPr>
          <p:cNvSpPr/>
          <p:nvPr/>
        </p:nvSpPr>
        <p:spPr>
          <a:xfrm>
            <a:off x="10515382" y="1320880"/>
            <a:ext cx="1555385" cy="5115118"/>
          </a:xfrm>
          <a:prstGeom prst="roundRect">
            <a:avLst>
              <a:gd name="adj" fmla="val 1806"/>
            </a:avLst>
          </a:prstGeom>
          <a:solidFill>
            <a:schemeClr val="bg1"/>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00" b="1" dirty="0">
                <a:solidFill>
                  <a:srgbClr val="FFABAB"/>
                </a:solidFill>
                <a:latin typeface="NBS Medium" panose="020B0603030303020204" pitchFamily="34" charset="0"/>
              </a:rPr>
              <a:t>Nationwide is placed at Stage 2 -3  due to:</a:t>
            </a:r>
          </a:p>
          <a:p>
            <a:pPr marL="171450" indent="-171450">
              <a:buFont typeface="Arial" panose="020B0604020202020204" pitchFamily="34" charset="0"/>
              <a:buChar char="•"/>
            </a:pPr>
            <a:r>
              <a:rPr lang="en-GB" sz="1000" b="1" dirty="0">
                <a:solidFill>
                  <a:srgbClr val="FFABAB"/>
                </a:solidFill>
                <a:latin typeface="NBS Medium" panose="020B0603030303020204" pitchFamily="34" charset="0"/>
              </a:rPr>
              <a:t>TM risk assessment </a:t>
            </a:r>
          </a:p>
          <a:p>
            <a:pPr marL="171450" indent="-171450">
              <a:buFont typeface="Arial" panose="020B0604020202020204" pitchFamily="34" charset="0"/>
              <a:buChar char="•"/>
            </a:pPr>
            <a:r>
              <a:rPr lang="en-GB" sz="1000" b="1" dirty="0">
                <a:solidFill>
                  <a:srgbClr val="FFABAB"/>
                </a:solidFill>
                <a:latin typeface="NBS Medium" panose="020B0603030303020204" pitchFamily="34" charset="0"/>
              </a:rPr>
              <a:t>Some rules managing behaviour risks</a:t>
            </a:r>
          </a:p>
          <a:p>
            <a:pPr marL="171450" indent="-171450">
              <a:buFont typeface="Arial" panose="020B0604020202020204" pitchFamily="34" charset="0"/>
              <a:buChar char="•"/>
            </a:pPr>
            <a:r>
              <a:rPr lang="en-GB" sz="1000" b="1" dirty="0">
                <a:solidFill>
                  <a:srgbClr val="FFABAB"/>
                </a:solidFill>
                <a:latin typeface="NBS Medium" panose="020B0603030303020204" pitchFamily="34" charset="0"/>
              </a:rPr>
              <a:t>Segmentation in place </a:t>
            </a:r>
          </a:p>
          <a:p>
            <a:pPr marL="171450" indent="-171450">
              <a:buFont typeface="Arial" panose="020B0604020202020204" pitchFamily="34" charset="0"/>
              <a:buChar char="•"/>
            </a:pPr>
            <a:r>
              <a:rPr lang="en-GB" sz="1000" b="1" dirty="0">
                <a:solidFill>
                  <a:srgbClr val="FFABAB"/>
                </a:solidFill>
                <a:latin typeface="NBS Medium" panose="020B0603030303020204" pitchFamily="34" charset="0"/>
              </a:rPr>
              <a:t>Basic case management processes</a:t>
            </a:r>
          </a:p>
          <a:p>
            <a:endParaRPr lang="en-GB" sz="500" b="1" dirty="0">
              <a:solidFill>
                <a:schemeClr val="tx1"/>
              </a:solidFill>
              <a:latin typeface="NBS Medium" panose="020B0603030303020204" pitchFamily="34" charset="0"/>
            </a:endParaRPr>
          </a:p>
          <a:p>
            <a:r>
              <a:rPr lang="en-GB" sz="1000" b="1" dirty="0">
                <a:solidFill>
                  <a:srgbClr val="FFC000"/>
                </a:solidFill>
                <a:latin typeface="NBS Medium" panose="020B0603030303020204" pitchFamily="34" charset="0"/>
              </a:rPr>
              <a:t>Progress to stage 3 will be achieved through:</a:t>
            </a:r>
          </a:p>
          <a:p>
            <a:pPr marL="171450" indent="-171450">
              <a:buFont typeface="Arial" panose="020B0604020202020204" pitchFamily="34" charset="0"/>
              <a:buChar char="•"/>
            </a:pPr>
            <a:r>
              <a:rPr lang="en-GB" sz="1000" b="1" dirty="0">
                <a:solidFill>
                  <a:srgbClr val="FFC000"/>
                </a:solidFill>
                <a:latin typeface="NBS Medium" panose="020B0603030303020204" pitchFamily="34" charset="0"/>
              </a:rPr>
              <a:t>TM risk assessment</a:t>
            </a:r>
          </a:p>
          <a:p>
            <a:pPr marL="171450" indent="-171450">
              <a:buFont typeface="Arial" panose="020B0604020202020204" pitchFamily="34" charset="0"/>
              <a:buChar char="•"/>
            </a:pPr>
            <a:r>
              <a:rPr lang="en-GB" sz="1000" b="1" dirty="0">
                <a:solidFill>
                  <a:srgbClr val="FFC000"/>
                </a:solidFill>
                <a:latin typeface="NBS Medium" panose="020B0603030303020204" pitchFamily="34" charset="0"/>
              </a:rPr>
              <a:t>Existing rule review and threshold tuning</a:t>
            </a:r>
          </a:p>
          <a:p>
            <a:pPr marL="171450" indent="-171450">
              <a:buFont typeface="Arial" panose="020B0604020202020204" pitchFamily="34" charset="0"/>
              <a:buChar char="•"/>
            </a:pPr>
            <a:r>
              <a:rPr lang="en-GB" sz="1000" b="1" dirty="0">
                <a:solidFill>
                  <a:srgbClr val="FFC000"/>
                </a:solidFill>
                <a:latin typeface="NBS Medium" panose="020B0603030303020204" pitchFamily="34" charset="0"/>
              </a:rPr>
              <a:t>Behavioural rules development</a:t>
            </a:r>
          </a:p>
          <a:p>
            <a:pPr marL="171450" indent="-171450">
              <a:buFont typeface="Arial" panose="020B0604020202020204" pitchFamily="34" charset="0"/>
              <a:buChar char="•"/>
            </a:pPr>
            <a:r>
              <a:rPr lang="en-GB" sz="1000" b="1" dirty="0">
                <a:solidFill>
                  <a:srgbClr val="FFC000"/>
                </a:solidFill>
                <a:latin typeface="NBS Medium" panose="020B0603030303020204" pitchFamily="34" charset="0"/>
              </a:rPr>
              <a:t>Data integrity</a:t>
            </a:r>
          </a:p>
          <a:p>
            <a:pPr marL="171450" indent="-171450">
              <a:buFont typeface="Arial" panose="020B0604020202020204" pitchFamily="34" charset="0"/>
              <a:buChar char="•"/>
            </a:pPr>
            <a:r>
              <a:rPr lang="en-GB" sz="1000" b="1" dirty="0">
                <a:solidFill>
                  <a:srgbClr val="FFC000"/>
                </a:solidFill>
                <a:latin typeface="NBS Medium" panose="020B0603030303020204" pitchFamily="34" charset="0"/>
              </a:rPr>
              <a:t>Customer segmentation</a:t>
            </a:r>
          </a:p>
          <a:p>
            <a:endParaRPr lang="en-GB" sz="500" b="1" dirty="0">
              <a:solidFill>
                <a:schemeClr val="tx1"/>
              </a:solidFill>
              <a:latin typeface="NBS Medium" panose="020B0603030303020204" pitchFamily="34" charset="0"/>
            </a:endParaRPr>
          </a:p>
          <a:p>
            <a:r>
              <a:rPr lang="en-GB" sz="1000" b="1" dirty="0">
                <a:solidFill>
                  <a:srgbClr val="00B050"/>
                </a:solidFill>
                <a:latin typeface="NBS Medium" panose="020B0603030303020204" pitchFamily="34" charset="0"/>
              </a:rPr>
              <a:t>Progress to stage 4 will be achieved through:</a:t>
            </a:r>
          </a:p>
          <a:p>
            <a:pPr marL="171450" indent="-171450">
              <a:buFont typeface="Arial" panose="020B0604020202020204" pitchFamily="34" charset="0"/>
              <a:buChar char="•"/>
            </a:pPr>
            <a:r>
              <a:rPr lang="en-GB" sz="1000" b="1" dirty="0">
                <a:solidFill>
                  <a:srgbClr val="00B050"/>
                </a:solidFill>
                <a:latin typeface="NBS Medium" panose="020B0603030303020204" pitchFamily="34" charset="0"/>
              </a:rPr>
              <a:t>Deployment of the Hunter Model</a:t>
            </a:r>
          </a:p>
          <a:p>
            <a:pPr marL="171450" indent="-171450">
              <a:buFont typeface="Arial" panose="020B0604020202020204" pitchFamily="34" charset="0"/>
              <a:buChar char="•"/>
            </a:pPr>
            <a:r>
              <a:rPr lang="en-GB" sz="1000" b="1" dirty="0">
                <a:solidFill>
                  <a:srgbClr val="00B050"/>
                </a:solidFill>
                <a:latin typeface="NBS Medium" panose="020B0603030303020204" pitchFamily="34" charset="0"/>
              </a:rPr>
              <a:t>Automated alert triage, prioritisation and basic L1 decisioning</a:t>
            </a:r>
          </a:p>
          <a:p>
            <a:endParaRPr lang="en-GB" sz="500" b="1" dirty="0">
              <a:solidFill>
                <a:srgbClr val="00B050"/>
              </a:solidFill>
              <a:latin typeface="NBS Medium" panose="020B0603030303020204" pitchFamily="34" charset="0"/>
            </a:endParaRPr>
          </a:p>
          <a:p>
            <a:r>
              <a:rPr lang="en-GB" sz="1000" b="1" dirty="0">
                <a:solidFill>
                  <a:srgbClr val="00B050"/>
                </a:solidFill>
                <a:latin typeface="NBS Medium" panose="020B0603030303020204" pitchFamily="34" charset="0"/>
              </a:rPr>
              <a:t>Progress to stage 5:</a:t>
            </a:r>
          </a:p>
          <a:p>
            <a:pPr marL="171450" indent="-171450">
              <a:buFont typeface="Arial" panose="020B0604020202020204" pitchFamily="34" charset="0"/>
              <a:buChar char="•"/>
            </a:pPr>
            <a:r>
              <a:rPr lang="en-GB" sz="1000" b="1" dirty="0">
                <a:solidFill>
                  <a:srgbClr val="00B050"/>
                </a:solidFill>
                <a:latin typeface="NBS Medium" panose="020B0603030303020204" pitchFamily="34" charset="0"/>
              </a:rPr>
              <a:t>Fully adopt machine learning</a:t>
            </a:r>
          </a:p>
        </p:txBody>
      </p:sp>
      <p:sp>
        <p:nvSpPr>
          <p:cNvPr id="50" name="Rectangle: Rounded Corners 49">
            <a:extLst>
              <a:ext uri="{FF2B5EF4-FFF2-40B4-BE49-F238E27FC236}">
                <a16:creationId xmlns:a16="http://schemas.microsoft.com/office/drawing/2014/main" id="{7500BEB5-0CC5-4522-8CED-A16B6969892C}"/>
              </a:ext>
            </a:extLst>
          </p:cNvPr>
          <p:cNvSpPr/>
          <p:nvPr/>
        </p:nvSpPr>
        <p:spPr>
          <a:xfrm>
            <a:off x="10513992" y="1079925"/>
            <a:ext cx="1555385" cy="270978"/>
          </a:xfrm>
          <a:prstGeom prst="roundRect">
            <a:avLst>
              <a:gd name="adj" fmla="val 4089"/>
            </a:avLst>
          </a:prstGeom>
          <a:solidFill>
            <a:schemeClr val="accent1">
              <a:lumMod val="75000"/>
            </a:schemeClr>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b="1" dirty="0">
                <a:solidFill>
                  <a:schemeClr val="bg1"/>
                </a:solidFill>
                <a:latin typeface="NBS Medium" panose="020B0603030303020204" pitchFamily="34" charset="0"/>
              </a:rPr>
              <a:t>Nationwide TM Maturity</a:t>
            </a:r>
            <a:endParaRPr lang="en-GB" sz="1050" dirty="0">
              <a:solidFill>
                <a:schemeClr val="tx1"/>
              </a:solidFill>
              <a:latin typeface="NBS Light" panose="020B0303030303020204" pitchFamily="34" charset="0"/>
            </a:endParaRPr>
          </a:p>
        </p:txBody>
      </p:sp>
      <p:sp>
        <p:nvSpPr>
          <p:cNvPr id="5" name="Slide Number Placeholder 4"/>
          <p:cNvSpPr>
            <a:spLocks noGrp="1"/>
          </p:cNvSpPr>
          <p:nvPr>
            <p:ph type="sldNum" sz="quarter" idx="12"/>
          </p:nvPr>
        </p:nvSpPr>
        <p:spPr>
          <a:xfrm>
            <a:off x="9146827" y="6443742"/>
            <a:ext cx="2743200" cy="365125"/>
          </a:xfrm>
        </p:spPr>
        <p:txBody>
          <a:bodyPr/>
          <a:lstStyle/>
          <a:p>
            <a:fld id="{6E3DE0C3-6A41-4858-9ACB-225A2E48AA1E}" type="slidenum">
              <a:rPr lang="en-GB" smtClean="0"/>
              <a:t>13</a:t>
            </a:fld>
            <a:endParaRPr lang="en-GB" dirty="0"/>
          </a:p>
        </p:txBody>
      </p:sp>
      <p:sp>
        <p:nvSpPr>
          <p:cNvPr id="43" name="TextBox 42">
            <a:extLst>
              <a:ext uri="{FF2B5EF4-FFF2-40B4-BE49-F238E27FC236}">
                <a16:creationId xmlns:a16="http://schemas.microsoft.com/office/drawing/2014/main" id="{8DB98DB3-6678-4435-A15C-1E126B4CE6C7}"/>
              </a:ext>
            </a:extLst>
          </p:cNvPr>
          <p:cNvSpPr txBox="1"/>
          <p:nvPr/>
        </p:nvSpPr>
        <p:spPr>
          <a:xfrm>
            <a:off x="1403407" y="852344"/>
            <a:ext cx="4626529" cy="1446550"/>
          </a:xfrm>
          <a:prstGeom prst="rect">
            <a:avLst/>
          </a:prstGeom>
          <a:solidFill>
            <a:schemeClr val="accent1">
              <a:lumMod val="75000"/>
            </a:schemeClr>
          </a:solidFill>
          <a:ln w="19050">
            <a:solidFill>
              <a:srgbClr val="C00000"/>
            </a:solidFill>
          </a:ln>
        </p:spPr>
        <p:txBody>
          <a:bodyPr wrap="square" rtlCol="0">
            <a:spAutoFit/>
          </a:bodyPr>
          <a:lstStyle/>
          <a:p>
            <a:pPr algn="just"/>
            <a:r>
              <a:rPr lang="en-GB" sz="1100" u="sng" dirty="0">
                <a:solidFill>
                  <a:schemeClr val="bg1"/>
                </a:solidFill>
                <a:latin typeface="NBS Medium" panose="020B0603030303020204" pitchFamily="34" charset="0"/>
              </a:rPr>
              <a:t>What are the benefits for AML? </a:t>
            </a:r>
          </a:p>
          <a:p>
            <a:pPr marL="171450" indent="-171450" algn="just">
              <a:buFont typeface="Arial" panose="020B0604020202020204" pitchFamily="34" charset="0"/>
              <a:buChar char="•"/>
            </a:pPr>
            <a:r>
              <a:rPr lang="en-GB" sz="1100" dirty="0">
                <a:solidFill>
                  <a:schemeClr val="bg1"/>
                </a:solidFill>
                <a:latin typeface="NBS Medium" panose="020B0603030303020204" pitchFamily="34" charset="0"/>
              </a:rPr>
              <a:t>Enhanced Controls – </a:t>
            </a:r>
            <a:r>
              <a:rPr lang="en-GB" sz="1100" i="1" dirty="0">
                <a:solidFill>
                  <a:schemeClr val="bg1"/>
                </a:solidFill>
                <a:latin typeface="NBS Light" panose="020B0303030303020204" pitchFamily="34" charset="0"/>
              </a:rPr>
              <a:t>more tailored approach to detecting ML/TF with greater risk compliance and a shift towards more proactive detection controls </a:t>
            </a:r>
          </a:p>
          <a:p>
            <a:pPr marL="171450" indent="-171450" algn="just">
              <a:buFont typeface="Arial" panose="020B0604020202020204" pitchFamily="34" charset="0"/>
              <a:buChar char="•"/>
            </a:pPr>
            <a:r>
              <a:rPr lang="en-GB" sz="1100" dirty="0">
                <a:solidFill>
                  <a:schemeClr val="bg1"/>
                </a:solidFill>
                <a:latin typeface="NBS Medium" panose="020B0603030303020204" pitchFamily="34" charset="0"/>
              </a:rPr>
              <a:t>Improved investigations – </a:t>
            </a:r>
            <a:r>
              <a:rPr lang="en-GB" sz="1100" i="1" dirty="0">
                <a:solidFill>
                  <a:schemeClr val="bg1"/>
                </a:solidFill>
                <a:latin typeface="NBS Light" panose="020B0303030303020204" pitchFamily="34" charset="0"/>
              </a:rPr>
              <a:t>More interesting work with staff focusing on complex investigations and advanced analytics, introducing new skills across AML   </a:t>
            </a:r>
          </a:p>
          <a:p>
            <a:pPr marL="171450" indent="-171450" algn="just">
              <a:buFont typeface="Arial" panose="020B0604020202020204" pitchFamily="34" charset="0"/>
              <a:buChar char="•"/>
            </a:pPr>
            <a:r>
              <a:rPr lang="en-GB" sz="1100" dirty="0">
                <a:solidFill>
                  <a:schemeClr val="bg1"/>
                </a:solidFill>
                <a:latin typeface="NBS Medium" panose="020B0603030303020204" pitchFamily="34" charset="0"/>
              </a:rPr>
              <a:t>Reduction in False Positives - </a:t>
            </a:r>
            <a:r>
              <a:rPr lang="en-GB" sz="1100" i="1" dirty="0">
                <a:solidFill>
                  <a:schemeClr val="bg1"/>
                </a:solidFill>
                <a:latin typeface="NBS Light" panose="020B0303030303020204" pitchFamily="34" charset="0"/>
              </a:rPr>
              <a:t>fewer alerts generated that are not suspicious due to segmentation, rule review and thresholds. However, potential for more alerts due to enhanced risk coverage</a:t>
            </a:r>
          </a:p>
        </p:txBody>
      </p:sp>
      <p:grpSp>
        <p:nvGrpSpPr>
          <p:cNvPr id="44" name="Group 43">
            <a:extLst>
              <a:ext uri="{FF2B5EF4-FFF2-40B4-BE49-F238E27FC236}">
                <a16:creationId xmlns:a16="http://schemas.microsoft.com/office/drawing/2014/main" id="{77ABAAFC-0CA1-4AFF-BF36-75BC98136C56}"/>
              </a:ext>
            </a:extLst>
          </p:cNvPr>
          <p:cNvGrpSpPr/>
          <p:nvPr/>
        </p:nvGrpSpPr>
        <p:grpSpPr>
          <a:xfrm>
            <a:off x="10916377" y="257841"/>
            <a:ext cx="1005206" cy="479127"/>
            <a:chOff x="3236913" y="913342"/>
            <a:chExt cx="1740428" cy="712845"/>
          </a:xfrm>
        </p:grpSpPr>
        <p:pic>
          <p:nvPicPr>
            <p:cNvPr id="46" name="Picture 45" descr="Nationwide BS Logo sRGB.png">
              <a:extLst>
                <a:ext uri="{FF2B5EF4-FFF2-40B4-BE49-F238E27FC236}">
                  <a16:creationId xmlns:a16="http://schemas.microsoft.com/office/drawing/2014/main" id="{342F6EE4-33FF-4060-B0C1-722A7B0CC9E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938" t="18020" r="9268" b="14259"/>
            <a:stretch/>
          </p:blipFill>
          <p:spPr>
            <a:xfrm>
              <a:off x="3236913" y="913342"/>
              <a:ext cx="1740428" cy="712845"/>
            </a:xfrm>
            <a:prstGeom prst="rect">
              <a:avLst/>
            </a:prstGeom>
          </p:spPr>
        </p:pic>
        <p:sp>
          <p:nvSpPr>
            <p:cNvPr id="47" name="Rounded Rectangle 16">
              <a:extLst>
                <a:ext uri="{FF2B5EF4-FFF2-40B4-BE49-F238E27FC236}">
                  <a16:creationId xmlns:a16="http://schemas.microsoft.com/office/drawing/2014/main" id="{42B31C9E-5DA5-493A-923E-59CDA9FBCD9A}"/>
                </a:ext>
              </a:extLst>
            </p:cNvPr>
            <p:cNvSpPr/>
            <p:nvPr/>
          </p:nvSpPr>
          <p:spPr>
            <a:xfrm>
              <a:off x="3249341" y="919691"/>
              <a:ext cx="1728000" cy="480613"/>
            </a:xfrm>
            <a:prstGeom prst="roundRect">
              <a:avLst>
                <a:gd name="adj" fmla="val 13275"/>
              </a:avLst>
            </a:prstGeom>
            <a:noFill/>
            <a:ln w="6350" cap="flat" cmpd="sng" algn="ctr">
              <a:solidFill>
                <a:sysClr val="window" lastClr="FFFFFF"/>
              </a:solidFill>
              <a:prstDash val="solid"/>
            </a:ln>
            <a:effectLst/>
          </p:spPr>
          <p:txBody>
            <a:bodyPr rtlCol="0" anchor="ctr"/>
            <a:lstStyle/>
            <a:p>
              <a:pPr algn="ctr" defTabSz="257175">
                <a:defRPr/>
              </a:pPr>
              <a:endParaRPr lang="en-US" sz="1013" kern="0" dirty="0">
                <a:solidFill>
                  <a:prstClr val="white"/>
                </a:solidFill>
                <a:latin typeface="Calibri"/>
              </a:endParaRPr>
            </a:p>
          </p:txBody>
        </p:sp>
      </p:grpSp>
    </p:spTree>
    <p:extLst>
      <p:ext uri="{BB962C8B-B14F-4D97-AF65-F5344CB8AC3E}">
        <p14:creationId xmlns:p14="http://schemas.microsoft.com/office/powerpoint/2010/main" val="37946925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70" name="Title 1">
            <a:extLst>
              <a:ext uri="{FF2B5EF4-FFF2-40B4-BE49-F238E27FC236}">
                <a16:creationId xmlns:a16="http://schemas.microsoft.com/office/drawing/2014/main" id="{38BD8AD8-E7A1-40F1-A091-576CC6917E66}"/>
              </a:ext>
            </a:extLst>
          </p:cNvPr>
          <p:cNvSpPr txBox="1">
            <a:spLocks/>
          </p:cNvSpPr>
          <p:nvPr/>
        </p:nvSpPr>
        <p:spPr>
          <a:xfrm>
            <a:off x="364958" y="260852"/>
            <a:ext cx="10329062" cy="203629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5100" b="0" i="0" u="none" strike="noStrike" kern="1200" cap="none" spc="0" normalizeH="0" baseline="0" noProof="0" dirty="0">
                <a:ln>
                  <a:noFill/>
                </a:ln>
                <a:solidFill>
                  <a:prstClr val="white"/>
                </a:solidFill>
                <a:effectLst/>
                <a:uLnTx/>
                <a:uFillTx/>
                <a:latin typeface="Elephant" panose="02020904090505020303" pitchFamily="18" charset="0"/>
                <a:ea typeface="+mj-ea"/>
                <a:cs typeface="+mj-cs"/>
              </a:rPr>
              <a:t>Transaction Monitoring –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5100" b="0" i="0" u="none" strike="noStrike" kern="1200" cap="none" spc="0" normalizeH="0" baseline="0" noProof="0" dirty="0">
                <a:ln>
                  <a:noFill/>
                </a:ln>
                <a:solidFill>
                  <a:prstClr val="white"/>
                </a:solidFill>
                <a:effectLst/>
                <a:uLnTx/>
                <a:uFillTx/>
                <a:latin typeface="Elephant" panose="02020904090505020303" pitchFamily="18" charset="0"/>
                <a:ea typeface="+mj-ea"/>
                <a:cs typeface="+mj-cs"/>
              </a:rPr>
              <a:t>Appendix 1 </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5100" b="0" i="0" u="none" strike="noStrike" kern="1200" cap="none" spc="0" normalizeH="0" baseline="0" noProof="0" dirty="0">
              <a:ln>
                <a:noFill/>
              </a:ln>
              <a:solidFill>
                <a:prstClr val="white"/>
              </a:solidFill>
              <a:effectLst/>
              <a:uLnTx/>
              <a:uFillTx/>
              <a:latin typeface="Elephant" panose="02020904090505020303" pitchFamily="18" charset="0"/>
              <a:ea typeface="+mj-ea"/>
              <a:cs typeface="+mj-cs"/>
            </a:endParaRP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2900" b="0" i="1" u="none" strike="noStrike" kern="1200" cap="none" spc="0" normalizeH="0" baseline="0" noProof="0" dirty="0">
              <a:ln>
                <a:noFill/>
              </a:ln>
              <a:solidFill>
                <a:srgbClr val="C00000"/>
              </a:solidFill>
              <a:effectLst/>
              <a:uLnTx/>
              <a:uFillTx/>
              <a:latin typeface="NBS Medium" panose="020B0603030303020204" pitchFamily="34" charset="0"/>
              <a:ea typeface="+mj-ea"/>
              <a:cs typeface="+mj-cs"/>
            </a:endParaRPr>
          </a:p>
        </p:txBody>
      </p:sp>
      <p:grpSp>
        <p:nvGrpSpPr>
          <p:cNvPr id="122" name="Group 121">
            <a:extLst>
              <a:ext uri="{FF2B5EF4-FFF2-40B4-BE49-F238E27FC236}">
                <a16:creationId xmlns:a16="http://schemas.microsoft.com/office/drawing/2014/main" id="{3B1EE2E1-79AA-4470-8E96-6D678F59EE24}"/>
              </a:ext>
            </a:extLst>
          </p:cNvPr>
          <p:cNvGrpSpPr/>
          <p:nvPr/>
        </p:nvGrpSpPr>
        <p:grpSpPr>
          <a:xfrm>
            <a:off x="10871810" y="275539"/>
            <a:ext cx="1005206" cy="479127"/>
            <a:chOff x="3236913" y="913342"/>
            <a:chExt cx="1740428" cy="712845"/>
          </a:xfrm>
        </p:grpSpPr>
        <p:pic>
          <p:nvPicPr>
            <p:cNvPr id="124" name="Picture 123" descr="Nationwide BS Logo sRGB.png">
              <a:extLst>
                <a:ext uri="{FF2B5EF4-FFF2-40B4-BE49-F238E27FC236}">
                  <a16:creationId xmlns:a16="http://schemas.microsoft.com/office/drawing/2014/main" id="{02D18641-B9DA-4B9A-9EFC-01E390322BB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938" t="18020" r="9268" b="14259"/>
            <a:stretch/>
          </p:blipFill>
          <p:spPr>
            <a:xfrm>
              <a:off x="3236913" y="913342"/>
              <a:ext cx="1740428" cy="712845"/>
            </a:xfrm>
            <a:prstGeom prst="rect">
              <a:avLst/>
            </a:prstGeom>
          </p:spPr>
        </p:pic>
        <p:sp>
          <p:nvSpPr>
            <p:cNvPr id="128" name="Rounded Rectangle 16">
              <a:extLst>
                <a:ext uri="{FF2B5EF4-FFF2-40B4-BE49-F238E27FC236}">
                  <a16:creationId xmlns:a16="http://schemas.microsoft.com/office/drawing/2014/main" id="{AD2E5EAD-9CFE-4D21-912C-E2F89E76DB5D}"/>
                </a:ext>
              </a:extLst>
            </p:cNvPr>
            <p:cNvSpPr/>
            <p:nvPr/>
          </p:nvSpPr>
          <p:spPr>
            <a:xfrm>
              <a:off x="3249341" y="919691"/>
              <a:ext cx="1728000" cy="480613"/>
            </a:xfrm>
            <a:prstGeom prst="roundRect">
              <a:avLst>
                <a:gd name="adj" fmla="val 13275"/>
              </a:avLst>
            </a:prstGeom>
            <a:noFill/>
            <a:ln w="6350" cap="flat" cmpd="sng" algn="ctr">
              <a:solidFill>
                <a:sysClr val="window" lastClr="FFFFFF"/>
              </a:solidFill>
              <a:prstDash val="solid"/>
            </a:ln>
            <a:effectLst/>
          </p:spPr>
          <p:txBody>
            <a:bodyPr rtlCol="0" anchor="ctr"/>
            <a:lstStyle/>
            <a:p>
              <a:pPr marL="0" marR="0" lvl="0" indent="0" algn="ctr" defTabSz="257175" rtl="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extBox 1">
            <a:extLst>
              <a:ext uri="{FF2B5EF4-FFF2-40B4-BE49-F238E27FC236}">
                <a16:creationId xmlns:a16="http://schemas.microsoft.com/office/drawing/2014/main" id="{2F14CFF9-5803-420A-BEF0-F2F050E99BEB}"/>
              </a:ext>
            </a:extLst>
          </p:cNvPr>
          <p:cNvSpPr txBox="1"/>
          <p:nvPr/>
        </p:nvSpPr>
        <p:spPr>
          <a:xfrm>
            <a:off x="507146" y="2415882"/>
            <a:ext cx="9630767" cy="61555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400" b="1" i="1" u="none" strike="noStrike" kern="1200" cap="none" spc="0" normalizeH="0" baseline="0" noProof="0" dirty="0">
                <a:ln>
                  <a:noFill/>
                </a:ln>
                <a:solidFill>
                  <a:prstClr val="black"/>
                </a:solidFill>
                <a:effectLst/>
                <a:uLnTx/>
                <a:uFillTx/>
                <a:latin typeface="NBS Medium" panose="020B0603030303020204" pitchFamily="34" charset="0"/>
                <a:ea typeface="+mn-ea"/>
                <a:cs typeface="+mn-cs"/>
              </a:rPr>
              <a:t>Gap Analysis, validated by KPMG in 2019 </a:t>
            </a:r>
            <a:r>
              <a:rPr kumimoji="0" lang="en-GB" sz="3400" b="0" i="1" u="none" strike="noStrike" kern="1200" cap="none" spc="0" normalizeH="0" baseline="0" noProof="0" dirty="0">
                <a:ln>
                  <a:noFill/>
                </a:ln>
                <a:solidFill>
                  <a:prstClr val="black"/>
                </a:solidFill>
                <a:effectLst/>
                <a:uLnTx/>
                <a:uFillTx/>
                <a:latin typeface="NBS Medium" panose="020B0603030303020204" pitchFamily="34" charset="0"/>
                <a:ea typeface="+mn-ea"/>
                <a:cs typeface="+mn-cs"/>
              </a:rPr>
              <a:t>– </a:t>
            </a:r>
            <a:r>
              <a:rPr kumimoji="0" lang="en-GB" sz="3400" b="0" i="1" u="sng" strike="noStrike" kern="1200" cap="none" spc="0" normalizeH="0" baseline="0" noProof="0" dirty="0">
                <a:ln>
                  <a:noFill/>
                </a:ln>
                <a:solidFill>
                  <a:prstClr val="black"/>
                </a:solidFill>
                <a:effectLst/>
                <a:uLnTx/>
                <a:uFillTx/>
                <a:latin typeface="NBS Medium" panose="020B0603030303020204" pitchFamily="34" charset="0"/>
                <a:ea typeface="+mn-ea"/>
                <a:cs typeface="+mn-cs"/>
              </a:rPr>
              <a:t>updated 2021 </a:t>
            </a:r>
          </a:p>
        </p:txBody>
      </p:sp>
    </p:spTree>
    <p:extLst>
      <p:ext uri="{BB962C8B-B14F-4D97-AF65-F5344CB8AC3E}">
        <p14:creationId xmlns:p14="http://schemas.microsoft.com/office/powerpoint/2010/main" val="3393422588"/>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B677B79-D815-4E3A-9CB1-94373A757E09}"/>
              </a:ext>
            </a:extLst>
          </p:cNvPr>
          <p:cNvSpPr txBox="1">
            <a:spLocks/>
          </p:cNvSpPr>
          <p:nvPr/>
        </p:nvSpPr>
        <p:spPr>
          <a:xfrm>
            <a:off x="436459" y="394269"/>
            <a:ext cx="11644891" cy="40075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chemeClr val="accent1">
                    <a:lumMod val="75000"/>
                  </a:schemeClr>
                </a:solidFill>
                <a:latin typeface="Elephant" panose="02020904090505020303" pitchFamily="18" charset="0"/>
              </a:rPr>
              <a:t>Transaction Monitoring – Gap Analysis Review </a:t>
            </a:r>
          </a:p>
          <a:p>
            <a:pPr algn="l"/>
            <a:r>
              <a:rPr lang="en-US" sz="1400" dirty="0">
                <a:solidFill>
                  <a:schemeClr val="accent1">
                    <a:lumMod val="75000"/>
                  </a:schemeClr>
                </a:solidFill>
                <a:latin typeface="NBS Medium" panose="020B0603030303020204" pitchFamily="34" charset="0"/>
              </a:rPr>
              <a:t>   </a:t>
            </a:r>
            <a:r>
              <a:rPr lang="en-US" sz="1400" i="1" dirty="0">
                <a:solidFill>
                  <a:srgbClr val="C00000"/>
                </a:solidFill>
                <a:latin typeface="NBS Medium" panose="020B0603030303020204" pitchFamily="34" charset="0"/>
              </a:rPr>
              <a:t>A review of Nationwide's AML TM Gap Analysis completed in 2019 and validate by KPMG. This slides provides a progress update against the gaps</a:t>
            </a:r>
          </a:p>
        </p:txBody>
      </p:sp>
      <p:graphicFrame>
        <p:nvGraphicFramePr>
          <p:cNvPr id="2" name="Table 2">
            <a:extLst>
              <a:ext uri="{FF2B5EF4-FFF2-40B4-BE49-F238E27FC236}">
                <a16:creationId xmlns:a16="http://schemas.microsoft.com/office/drawing/2014/main" id="{F8089F2B-F95E-4090-838B-AC19C0FBC7FE}"/>
              </a:ext>
            </a:extLst>
          </p:cNvPr>
          <p:cNvGraphicFramePr>
            <a:graphicFrameLocks noGrp="1"/>
          </p:cNvGraphicFramePr>
          <p:nvPr>
            <p:extLst>
              <p:ext uri="{D42A27DB-BD31-4B8C-83A1-F6EECF244321}">
                <p14:modId xmlns:p14="http://schemas.microsoft.com/office/powerpoint/2010/main" val="3920391689"/>
              </p:ext>
            </p:extLst>
          </p:nvPr>
        </p:nvGraphicFramePr>
        <p:xfrm>
          <a:off x="647114" y="907069"/>
          <a:ext cx="11055174" cy="6339840"/>
        </p:xfrm>
        <a:graphic>
          <a:graphicData uri="http://schemas.openxmlformats.org/drawingml/2006/table">
            <a:tbl>
              <a:tblPr firstRow="1" bandRow="1">
                <a:tableStyleId>{5C22544A-7EE6-4342-B048-85BDC9FD1C3A}</a:tableStyleId>
              </a:tblPr>
              <a:tblGrid>
                <a:gridCol w="1461981">
                  <a:extLst>
                    <a:ext uri="{9D8B030D-6E8A-4147-A177-3AD203B41FA5}">
                      <a16:colId xmlns:a16="http://schemas.microsoft.com/office/drawing/2014/main" val="3182536640"/>
                    </a:ext>
                  </a:extLst>
                </a:gridCol>
                <a:gridCol w="5730087">
                  <a:extLst>
                    <a:ext uri="{9D8B030D-6E8A-4147-A177-3AD203B41FA5}">
                      <a16:colId xmlns:a16="http://schemas.microsoft.com/office/drawing/2014/main" val="3372796699"/>
                    </a:ext>
                  </a:extLst>
                </a:gridCol>
                <a:gridCol w="1099312">
                  <a:extLst>
                    <a:ext uri="{9D8B030D-6E8A-4147-A177-3AD203B41FA5}">
                      <a16:colId xmlns:a16="http://schemas.microsoft.com/office/drawing/2014/main" val="1040161657"/>
                    </a:ext>
                  </a:extLst>
                </a:gridCol>
                <a:gridCol w="2763794">
                  <a:extLst>
                    <a:ext uri="{9D8B030D-6E8A-4147-A177-3AD203B41FA5}">
                      <a16:colId xmlns:a16="http://schemas.microsoft.com/office/drawing/2014/main" val="1975886072"/>
                    </a:ext>
                  </a:extLst>
                </a:gridCol>
              </a:tblGrid>
              <a:tr h="239380">
                <a:tc>
                  <a:txBody>
                    <a:bodyPr/>
                    <a:lstStyle/>
                    <a:p>
                      <a:r>
                        <a:rPr lang="en-GB" sz="1400" b="1" u="sng" dirty="0">
                          <a:latin typeface="NBS Medium" panose="020B0603030303020204" pitchFamily="34" charset="0"/>
                        </a:rPr>
                        <a:t>Source </a:t>
                      </a:r>
                    </a:p>
                  </a:txBody>
                  <a:tcPr/>
                </a:tc>
                <a:tc>
                  <a:txBody>
                    <a:bodyPr/>
                    <a:lstStyle/>
                    <a:p>
                      <a:r>
                        <a:rPr lang="en-GB" sz="1400" u="sng" dirty="0">
                          <a:latin typeface="NBS Medium" panose="020B0603030303020204" pitchFamily="34" charset="0"/>
                        </a:rPr>
                        <a:t>Gaps - 2019 </a:t>
                      </a:r>
                      <a:r>
                        <a:rPr lang="en-GB" sz="1400" i="1" u="sng" dirty="0">
                          <a:latin typeface="NBS Medium" panose="020B0603030303020204" pitchFamily="34" charset="0"/>
                        </a:rPr>
                        <a:t>validated by KPMG</a:t>
                      </a:r>
                    </a:p>
                  </a:txBody>
                  <a:tcPr/>
                </a:tc>
                <a:tc>
                  <a:txBody>
                    <a:bodyPr/>
                    <a:lstStyle/>
                    <a:p>
                      <a:r>
                        <a:rPr lang="en-GB" sz="1400" u="sng" dirty="0">
                          <a:latin typeface="NBS Medium" panose="020B0603030303020204" pitchFamily="34" charset="0"/>
                        </a:rPr>
                        <a:t>Status</a:t>
                      </a:r>
                    </a:p>
                  </a:txBody>
                  <a:tcPr/>
                </a:tc>
                <a:tc>
                  <a:txBody>
                    <a:bodyPr/>
                    <a:lstStyle/>
                    <a:p>
                      <a:r>
                        <a:rPr lang="en-GB" sz="1400" u="sng" dirty="0">
                          <a:latin typeface="NBS Medium" panose="020B0603030303020204" pitchFamily="34" charset="0"/>
                        </a:rPr>
                        <a:t>Evidence </a:t>
                      </a:r>
                    </a:p>
                  </a:txBody>
                  <a:tcPr/>
                </a:tc>
                <a:extLst>
                  <a:ext uri="{0D108BD9-81ED-4DB2-BD59-A6C34878D82A}">
                    <a16:rowId xmlns:a16="http://schemas.microsoft.com/office/drawing/2014/main" val="1957275512"/>
                  </a:ext>
                </a:extLst>
              </a:tr>
              <a:tr h="359070">
                <a:tc>
                  <a:txBody>
                    <a:bodyPr/>
                    <a:lstStyle/>
                    <a:p>
                      <a:r>
                        <a:rPr lang="en-GB" sz="1200" b="1" dirty="0" err="1">
                          <a:latin typeface="NBS Medium" panose="020B0603030303020204" pitchFamily="34" charset="0"/>
                        </a:rPr>
                        <a:t>FCA</a:t>
                      </a:r>
                      <a:r>
                        <a:rPr lang="en-GB" sz="1200" b="1" dirty="0">
                          <a:latin typeface="NBS Medium" panose="020B0603030303020204" pitchFamily="34" charset="0"/>
                        </a:rPr>
                        <a:t> Systems &amp; Controls </a:t>
                      </a:r>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dirty="0">
                          <a:latin typeface="NBS Light" panose="020B0303030303020204" pitchFamily="34" charset="0"/>
                          <a:cs typeface="Agency FB"/>
                        </a:rPr>
                        <a:t>Cannot</a:t>
                      </a:r>
                      <a:r>
                        <a:rPr lang="en-GB" sz="1200" spc="-40" dirty="0">
                          <a:latin typeface="NBS Light" panose="020B0303030303020204" pitchFamily="34" charset="0"/>
                          <a:cs typeface="Agency FB"/>
                        </a:rPr>
                        <a:t> </a:t>
                      </a:r>
                      <a:r>
                        <a:rPr lang="en-GB" sz="1200" spc="-5" dirty="0">
                          <a:latin typeface="NBS Light" panose="020B0303030303020204" pitchFamily="34" charset="0"/>
                          <a:cs typeface="Agency FB"/>
                        </a:rPr>
                        <a:t>evidence</a:t>
                      </a:r>
                      <a:r>
                        <a:rPr lang="en-GB" sz="1200" spc="-35" dirty="0">
                          <a:latin typeface="NBS Light" panose="020B0303030303020204" pitchFamily="34" charset="0"/>
                          <a:cs typeface="Agency FB"/>
                        </a:rPr>
                        <a:t> </a:t>
                      </a:r>
                      <a:r>
                        <a:rPr lang="en-GB" sz="1200" dirty="0">
                          <a:latin typeface="NBS Light" panose="020B0303030303020204" pitchFamily="34" charset="0"/>
                          <a:cs typeface="Agency FB"/>
                        </a:rPr>
                        <a:t>or </a:t>
                      </a:r>
                      <a:r>
                        <a:rPr lang="en-GB" sz="1200" spc="-5" dirty="0">
                          <a:latin typeface="NBS Light" panose="020B0303030303020204" pitchFamily="34" charset="0"/>
                          <a:cs typeface="Agency FB"/>
                        </a:rPr>
                        <a:t>demonstrate</a:t>
                      </a:r>
                      <a:r>
                        <a:rPr lang="en-GB" sz="1200" spc="-35" dirty="0">
                          <a:latin typeface="NBS Light" panose="020B0303030303020204" pitchFamily="34" charset="0"/>
                          <a:cs typeface="Agency FB"/>
                        </a:rPr>
                        <a:t> </a:t>
                      </a:r>
                      <a:r>
                        <a:rPr lang="en-GB" sz="1200" dirty="0">
                          <a:latin typeface="NBS Light" panose="020B0303030303020204" pitchFamily="34" charset="0"/>
                          <a:cs typeface="Agency FB"/>
                        </a:rPr>
                        <a:t>that</a:t>
                      </a:r>
                      <a:r>
                        <a:rPr lang="en-GB" sz="1200" spc="-25" dirty="0">
                          <a:latin typeface="NBS Light" panose="020B0303030303020204" pitchFamily="34" charset="0"/>
                          <a:cs typeface="Agency FB"/>
                        </a:rPr>
                        <a:t> </a:t>
                      </a:r>
                      <a:r>
                        <a:rPr lang="en-GB" sz="1200" dirty="0">
                          <a:latin typeface="NBS Light" panose="020B0303030303020204" pitchFamily="34" charset="0"/>
                          <a:cs typeface="Agency FB"/>
                        </a:rPr>
                        <a:t>existing</a:t>
                      </a:r>
                      <a:r>
                        <a:rPr lang="en-GB" sz="1200" spc="-40" dirty="0">
                          <a:latin typeface="NBS Light" panose="020B0303030303020204" pitchFamily="34" charset="0"/>
                          <a:cs typeface="Agency FB"/>
                        </a:rPr>
                        <a:t> </a:t>
                      </a:r>
                      <a:r>
                        <a:rPr lang="en-GB" sz="1200" spc="-20" dirty="0">
                          <a:latin typeface="NBS Light" panose="020B0303030303020204" pitchFamily="34" charset="0"/>
                          <a:cs typeface="Agency FB"/>
                        </a:rPr>
                        <a:t>TM</a:t>
                      </a:r>
                      <a:r>
                        <a:rPr lang="en-GB" sz="1200" spc="35" dirty="0">
                          <a:latin typeface="NBS Light" panose="020B0303030303020204" pitchFamily="34" charset="0"/>
                          <a:cs typeface="Agency FB"/>
                        </a:rPr>
                        <a:t> </a:t>
                      </a:r>
                      <a:r>
                        <a:rPr lang="en-GB" sz="1200" dirty="0">
                          <a:latin typeface="NBS Light" panose="020B0303030303020204" pitchFamily="34" charset="0"/>
                          <a:cs typeface="Agency FB"/>
                        </a:rPr>
                        <a:t>systems</a:t>
                      </a:r>
                      <a:r>
                        <a:rPr lang="en-GB" sz="1200" spc="-30" dirty="0">
                          <a:latin typeface="NBS Light" panose="020B0303030303020204" pitchFamily="34" charset="0"/>
                          <a:cs typeface="Agency FB"/>
                        </a:rPr>
                        <a:t> </a:t>
                      </a:r>
                      <a:r>
                        <a:rPr lang="en-GB" sz="1200" dirty="0">
                          <a:latin typeface="NBS Light" panose="020B0303030303020204" pitchFamily="34" charset="0"/>
                          <a:cs typeface="Agency FB"/>
                        </a:rPr>
                        <a:t>and</a:t>
                      </a:r>
                      <a:r>
                        <a:rPr lang="en-GB" sz="1200" spc="-20" dirty="0">
                          <a:latin typeface="NBS Light" panose="020B0303030303020204" pitchFamily="34" charset="0"/>
                          <a:cs typeface="Agency FB"/>
                        </a:rPr>
                        <a:t> </a:t>
                      </a:r>
                      <a:r>
                        <a:rPr lang="en-GB" sz="1200" spc="-5" dirty="0">
                          <a:latin typeface="NBS Light" panose="020B0303030303020204" pitchFamily="34" charset="0"/>
                          <a:cs typeface="Agency FB"/>
                        </a:rPr>
                        <a:t>controls</a:t>
                      </a:r>
                      <a:r>
                        <a:rPr lang="en-GB" sz="1200" spc="-20" dirty="0">
                          <a:latin typeface="NBS Light" panose="020B0303030303020204" pitchFamily="34" charset="0"/>
                          <a:cs typeface="Agency FB"/>
                        </a:rPr>
                        <a:t> </a:t>
                      </a:r>
                      <a:r>
                        <a:rPr lang="en-GB" sz="1200" dirty="0">
                          <a:latin typeface="NBS Light" panose="020B0303030303020204" pitchFamily="34" charset="0"/>
                          <a:cs typeface="Agency FB"/>
                        </a:rPr>
                        <a:t>(</a:t>
                      </a:r>
                      <a:r>
                        <a:rPr lang="en-GB" sz="1200" dirty="0" err="1">
                          <a:latin typeface="NBS Light" panose="020B0303030303020204" pitchFamily="34" charset="0"/>
                          <a:cs typeface="Agency FB"/>
                        </a:rPr>
                        <a:t>SYSC</a:t>
                      </a:r>
                      <a:r>
                        <a:rPr lang="en-GB" sz="1200" dirty="0">
                          <a:latin typeface="NBS Light" panose="020B0303030303020204" pitchFamily="34" charset="0"/>
                          <a:cs typeface="Agency FB"/>
                        </a:rPr>
                        <a:t>)</a:t>
                      </a:r>
                      <a:r>
                        <a:rPr lang="en-GB" sz="1200" spc="-50" dirty="0">
                          <a:latin typeface="NBS Light" panose="020B0303030303020204" pitchFamily="34" charset="0"/>
                          <a:cs typeface="Agency FB"/>
                        </a:rPr>
                        <a:t> </a:t>
                      </a:r>
                      <a:r>
                        <a:rPr lang="en-GB" sz="1200" dirty="0">
                          <a:latin typeface="NBS Light" panose="020B0303030303020204" pitchFamily="34" charset="0"/>
                          <a:cs typeface="Agency FB"/>
                        </a:rPr>
                        <a:t>are </a:t>
                      </a:r>
                      <a:r>
                        <a:rPr lang="en-GB" sz="1200" spc="-5" dirty="0">
                          <a:latin typeface="NBS Light" panose="020B0303030303020204" pitchFamily="34" charset="0"/>
                          <a:cs typeface="Agency FB"/>
                        </a:rPr>
                        <a:t>comprehensive</a:t>
                      </a:r>
                      <a:r>
                        <a:rPr lang="en-GB" sz="1200" spc="-25" dirty="0">
                          <a:latin typeface="NBS Light" panose="020B0303030303020204" pitchFamily="34" charset="0"/>
                          <a:cs typeface="Agency FB"/>
                        </a:rPr>
                        <a:t> </a:t>
                      </a:r>
                      <a:r>
                        <a:rPr lang="en-GB" sz="1200" dirty="0">
                          <a:latin typeface="NBS Light" panose="020B0303030303020204" pitchFamily="34" charset="0"/>
                          <a:cs typeface="Agency FB"/>
                        </a:rPr>
                        <a:t>or</a:t>
                      </a:r>
                      <a:r>
                        <a:rPr lang="en-GB" sz="1200" spc="-10" dirty="0">
                          <a:latin typeface="NBS Light" panose="020B0303030303020204" pitchFamily="34" charset="0"/>
                          <a:cs typeface="Agency FB"/>
                        </a:rPr>
                        <a:t> </a:t>
                      </a:r>
                      <a:r>
                        <a:rPr lang="en-GB" sz="1200" spc="-5" dirty="0">
                          <a:latin typeface="NBS Light" panose="020B0303030303020204" pitchFamily="34" charset="0"/>
                          <a:cs typeface="Agency FB"/>
                        </a:rPr>
                        <a:t>proportionate</a:t>
                      </a:r>
                      <a:r>
                        <a:rPr lang="en-GB" sz="1200" spc="-35" dirty="0">
                          <a:latin typeface="NBS Light" panose="020B0303030303020204" pitchFamily="34" charset="0"/>
                          <a:cs typeface="Agency FB"/>
                        </a:rPr>
                        <a:t> </a:t>
                      </a:r>
                      <a:r>
                        <a:rPr lang="en-GB" sz="1200" dirty="0">
                          <a:latin typeface="NBS Light" panose="020B0303030303020204" pitchFamily="34" charset="0"/>
                          <a:cs typeface="Agency FB"/>
                        </a:rPr>
                        <a:t>to</a:t>
                      </a:r>
                      <a:r>
                        <a:rPr lang="en-GB" sz="1200" spc="-10" dirty="0">
                          <a:latin typeface="NBS Light" panose="020B0303030303020204" pitchFamily="34" charset="0"/>
                          <a:cs typeface="Agency FB"/>
                        </a:rPr>
                        <a:t> </a:t>
                      </a:r>
                      <a:r>
                        <a:rPr lang="en-GB" sz="1200" dirty="0">
                          <a:latin typeface="NBS Light" panose="020B0303030303020204" pitchFamily="34" charset="0"/>
                          <a:cs typeface="Agency FB"/>
                        </a:rPr>
                        <a:t>the</a:t>
                      </a:r>
                      <a:r>
                        <a:rPr lang="en-GB" sz="1200" spc="-25" dirty="0">
                          <a:latin typeface="NBS Light" panose="020B0303030303020204" pitchFamily="34" charset="0"/>
                          <a:cs typeface="Agency FB"/>
                        </a:rPr>
                        <a:t> </a:t>
                      </a:r>
                      <a:r>
                        <a:rPr lang="en-GB" sz="1200" dirty="0">
                          <a:latin typeface="NBS Light" panose="020B0303030303020204" pitchFamily="34" charset="0"/>
                          <a:cs typeface="Agency FB"/>
                        </a:rPr>
                        <a:t>risks</a:t>
                      </a:r>
                      <a:r>
                        <a:rPr lang="en-GB" sz="1200" spc="-20" dirty="0">
                          <a:latin typeface="NBS Light" panose="020B0303030303020204" pitchFamily="34" charset="0"/>
                          <a:cs typeface="Agency FB"/>
                        </a:rPr>
                        <a:t> </a:t>
                      </a:r>
                      <a:r>
                        <a:rPr lang="en-GB" sz="1200" dirty="0">
                          <a:latin typeface="NBS Light" panose="020B0303030303020204" pitchFamily="34" charset="0"/>
                          <a:cs typeface="Agency FB"/>
                        </a:rPr>
                        <a:t>NBS</a:t>
                      </a:r>
                      <a:r>
                        <a:rPr lang="en-GB" sz="1200" spc="-20" dirty="0">
                          <a:latin typeface="NBS Light" panose="020B0303030303020204" pitchFamily="34" charset="0"/>
                          <a:cs typeface="Agency FB"/>
                        </a:rPr>
                        <a:t> </a:t>
                      </a:r>
                      <a:r>
                        <a:rPr lang="en-GB" sz="1200" dirty="0">
                          <a:latin typeface="NBS Light" panose="020B0303030303020204" pitchFamily="34" charset="0"/>
                          <a:cs typeface="Agency FB"/>
                        </a:rPr>
                        <a:t>are</a:t>
                      </a:r>
                      <a:r>
                        <a:rPr lang="en-GB" sz="1200" spc="-15" dirty="0">
                          <a:latin typeface="NBS Light" panose="020B0303030303020204" pitchFamily="34" charset="0"/>
                          <a:cs typeface="Agency FB"/>
                        </a:rPr>
                        <a:t> </a:t>
                      </a:r>
                      <a:r>
                        <a:rPr lang="en-GB" sz="1200" dirty="0">
                          <a:latin typeface="NBS Light" panose="020B0303030303020204" pitchFamily="34" charset="0"/>
                          <a:cs typeface="Agency FB"/>
                        </a:rPr>
                        <a:t>exposed</a:t>
                      </a:r>
                      <a:r>
                        <a:rPr lang="en-GB" sz="1200" spc="-40" dirty="0">
                          <a:latin typeface="NBS Light" panose="020B0303030303020204" pitchFamily="34" charset="0"/>
                          <a:cs typeface="Agency FB"/>
                        </a:rPr>
                        <a:t> </a:t>
                      </a:r>
                      <a:r>
                        <a:rPr lang="en-GB" sz="1200" dirty="0">
                          <a:latin typeface="NBS Light" panose="020B0303030303020204" pitchFamily="34" charset="0"/>
                          <a:cs typeface="Agency FB"/>
                        </a:rPr>
                        <a:t>to.</a:t>
                      </a:r>
                    </a:p>
                  </a:txBody>
                  <a:tcPr/>
                </a:tc>
                <a:tc>
                  <a:txBody>
                    <a:bodyPr/>
                    <a:lstStyle/>
                    <a:p>
                      <a:pPr algn="ctr"/>
                      <a:r>
                        <a:rPr lang="en-GB" sz="1200" b="0" dirty="0">
                          <a:latin typeface="NBS Light" panose="020B0303030303020204" pitchFamily="34" charset="0"/>
                        </a:rPr>
                        <a:t>Complete </a:t>
                      </a:r>
                    </a:p>
                  </a:txBody>
                  <a:tcPr anchor="ctr">
                    <a:solidFill>
                      <a:srgbClr val="00B0F0"/>
                    </a:solidFill>
                  </a:tcPr>
                </a:tc>
                <a:tc>
                  <a:txBody>
                    <a:bodyPr/>
                    <a:lstStyle/>
                    <a:p>
                      <a:pPr marL="171450" indent="-171450">
                        <a:buFont typeface="Arial" panose="020B0604020202020204" pitchFamily="34" charset="0"/>
                        <a:buChar char="•"/>
                      </a:pPr>
                      <a:r>
                        <a:rPr lang="en-GB" sz="1200" dirty="0">
                          <a:latin typeface="NBS Light" panose="020B0303030303020204" pitchFamily="34" charset="0"/>
                        </a:rPr>
                        <a:t>TM Risk Assessment</a:t>
                      </a:r>
                    </a:p>
                    <a:p>
                      <a:pPr marL="171450" indent="-171450">
                        <a:buFont typeface="Arial" panose="020B0604020202020204" pitchFamily="34" charset="0"/>
                        <a:buChar char="•"/>
                      </a:pPr>
                      <a:r>
                        <a:rPr lang="en-GB" sz="1200" dirty="0">
                          <a:latin typeface="NBS Light" panose="020B0303030303020204" pitchFamily="34" charset="0"/>
                        </a:rPr>
                        <a:t>TM Gap Analysis</a:t>
                      </a:r>
                    </a:p>
                  </a:txBody>
                  <a:tcPr/>
                </a:tc>
                <a:extLst>
                  <a:ext uri="{0D108BD9-81ED-4DB2-BD59-A6C34878D82A}">
                    <a16:rowId xmlns:a16="http://schemas.microsoft.com/office/drawing/2014/main" val="391089382"/>
                  </a:ext>
                </a:extLst>
              </a:tr>
              <a:tr h="359070">
                <a:tc rowSpan="7">
                  <a:txBody>
                    <a:bodyPr/>
                    <a:lstStyle/>
                    <a:p>
                      <a:r>
                        <a:rPr lang="en-GB" sz="1200" b="1" dirty="0">
                          <a:latin typeface="NBS Medium" panose="020B0603030303020204" pitchFamily="34" charset="0"/>
                        </a:rPr>
                        <a:t>Money Laundering Regulations </a:t>
                      </a:r>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spc="-5" dirty="0">
                          <a:latin typeface="NBS Light" panose="020B0303030303020204" pitchFamily="34" charset="0"/>
                          <a:cs typeface="Agency FB"/>
                        </a:rPr>
                        <a:t>Lack </a:t>
                      </a:r>
                      <a:r>
                        <a:rPr lang="en-GB" sz="1200" dirty="0">
                          <a:latin typeface="NBS Light" panose="020B0303030303020204" pitchFamily="34" charset="0"/>
                          <a:cs typeface="Agency FB"/>
                        </a:rPr>
                        <a:t>of data </a:t>
                      </a:r>
                      <a:r>
                        <a:rPr lang="en-GB" sz="1200" spc="-5" dirty="0">
                          <a:latin typeface="NBS Light" panose="020B0303030303020204" pitchFamily="34" charset="0"/>
                          <a:cs typeface="Agency FB"/>
                        </a:rPr>
                        <a:t>governance </a:t>
                      </a:r>
                      <a:r>
                        <a:rPr lang="en-GB" sz="1200" dirty="0">
                          <a:latin typeface="NBS Light" panose="020B0303030303020204" pitchFamily="34" charset="0"/>
                          <a:cs typeface="Agency FB"/>
                        </a:rPr>
                        <a:t>means NBS cannot </a:t>
                      </a:r>
                      <a:r>
                        <a:rPr lang="en-GB" sz="1200" spc="-5" dirty="0">
                          <a:latin typeface="NBS Light" panose="020B0303030303020204" pitchFamily="34" charset="0"/>
                          <a:cs typeface="Agency FB"/>
                        </a:rPr>
                        <a:t>demonstrate </a:t>
                      </a:r>
                      <a:r>
                        <a:rPr lang="en-GB" sz="1200" dirty="0">
                          <a:latin typeface="NBS Light" panose="020B0303030303020204" pitchFamily="34" charset="0"/>
                          <a:cs typeface="Agency FB"/>
                        </a:rPr>
                        <a:t>that </a:t>
                      </a:r>
                      <a:r>
                        <a:rPr lang="en-GB" sz="1200" spc="5" dirty="0">
                          <a:latin typeface="NBS Light" panose="020B0303030303020204" pitchFamily="34" charset="0"/>
                          <a:cs typeface="Agency FB"/>
                        </a:rPr>
                        <a:t>we </a:t>
                      </a:r>
                      <a:r>
                        <a:rPr lang="en-GB" sz="1200" spc="-5" dirty="0">
                          <a:latin typeface="NBS Light" panose="020B0303030303020204" pitchFamily="34" charset="0"/>
                          <a:cs typeface="Agency FB"/>
                        </a:rPr>
                        <a:t>review </a:t>
                      </a:r>
                      <a:r>
                        <a:rPr lang="en-GB" sz="1200" dirty="0">
                          <a:latin typeface="NBS Light" panose="020B0303030303020204" pitchFamily="34" charset="0"/>
                          <a:cs typeface="Agency FB"/>
                        </a:rPr>
                        <a:t>any / every </a:t>
                      </a:r>
                      <a:r>
                        <a:rPr lang="en-GB" sz="1200" spc="-5" dirty="0">
                          <a:latin typeface="NBS Light" panose="020B0303030303020204" pitchFamily="34" charset="0"/>
                          <a:cs typeface="Agency FB"/>
                        </a:rPr>
                        <a:t>instance </a:t>
                      </a:r>
                      <a:r>
                        <a:rPr lang="en-GB" sz="1200" dirty="0">
                          <a:latin typeface="NBS Light" panose="020B0303030303020204" pitchFamily="34" charset="0"/>
                          <a:cs typeface="Agency FB"/>
                        </a:rPr>
                        <a:t>of </a:t>
                      </a:r>
                      <a:r>
                        <a:rPr lang="en-GB" sz="1200" spc="-5" dirty="0">
                          <a:latin typeface="NBS Light" panose="020B0303030303020204" pitchFamily="34" charset="0"/>
                          <a:cs typeface="Agency FB"/>
                        </a:rPr>
                        <a:t>complex, unusual </a:t>
                      </a:r>
                      <a:r>
                        <a:rPr lang="en-GB" sz="1200" dirty="0">
                          <a:latin typeface="NBS Light" panose="020B0303030303020204" pitchFamily="34" charset="0"/>
                          <a:cs typeface="Agency FB"/>
                        </a:rPr>
                        <a:t>and / or </a:t>
                      </a:r>
                      <a:r>
                        <a:rPr lang="en-GB" sz="1200" spc="-5" dirty="0">
                          <a:latin typeface="NBS Light" panose="020B0303030303020204" pitchFamily="34" charset="0"/>
                          <a:cs typeface="Agency FB"/>
                        </a:rPr>
                        <a:t>large transactions.  </a:t>
                      </a:r>
                      <a:r>
                        <a:rPr lang="en-GB" sz="1200" dirty="0">
                          <a:latin typeface="NBS Light" panose="020B0303030303020204" pitchFamily="34" charset="0"/>
                          <a:cs typeface="Agency FB"/>
                        </a:rPr>
                        <a:t>or </a:t>
                      </a:r>
                      <a:r>
                        <a:rPr lang="en-GB" sz="1200" spc="-5" dirty="0">
                          <a:latin typeface="NBS Light" panose="020B0303030303020204" pitchFamily="34" charset="0"/>
                          <a:cs typeface="Agency FB"/>
                        </a:rPr>
                        <a:t>large</a:t>
                      </a:r>
                      <a:r>
                        <a:rPr lang="en-GB" sz="1200" spc="-20" dirty="0">
                          <a:latin typeface="NBS Light" panose="020B0303030303020204" pitchFamily="34" charset="0"/>
                          <a:cs typeface="Agency FB"/>
                        </a:rPr>
                        <a:t> </a:t>
                      </a:r>
                      <a:r>
                        <a:rPr lang="en-GB" sz="1200" spc="-5" dirty="0">
                          <a:latin typeface="NBS Light" panose="020B0303030303020204" pitchFamily="34" charset="0"/>
                          <a:cs typeface="Agency FB"/>
                        </a:rPr>
                        <a:t>transactions.</a:t>
                      </a:r>
                      <a:endParaRPr lang="en-GB" sz="1200" dirty="0">
                        <a:latin typeface="NBS Light" panose="020B0303030303020204" pitchFamily="34" charset="0"/>
                        <a:cs typeface="Agency FB"/>
                      </a:endParaRPr>
                    </a:p>
                  </a:txBody>
                  <a:tcPr/>
                </a:tc>
                <a:tc rowSpan="2">
                  <a:txBody>
                    <a:bodyPr/>
                    <a:lstStyle/>
                    <a:p>
                      <a:pPr algn="ctr"/>
                      <a:r>
                        <a:rPr lang="en-GB" sz="1200" b="0" dirty="0">
                          <a:latin typeface="NBS Light" panose="020B0303030303020204" pitchFamily="34" charset="0"/>
                        </a:rPr>
                        <a:t>In progress /Not Started</a:t>
                      </a:r>
                    </a:p>
                    <a:p>
                      <a:pPr algn="ctr"/>
                      <a:endParaRPr lang="en-GB" sz="1200" b="0" dirty="0">
                        <a:latin typeface="NBS Light" panose="020B0303030303020204" pitchFamily="34" charset="0"/>
                      </a:endParaRPr>
                    </a:p>
                  </a:txBody>
                  <a:tcPr anchor="ctr">
                    <a:gradFill flip="none" rotWithShape="1">
                      <a:gsLst>
                        <a:gs pos="12000">
                          <a:srgbClr val="92D050"/>
                        </a:gs>
                        <a:gs pos="72000">
                          <a:srgbClr val="FED3CA"/>
                        </a:gs>
                      </a:gsLst>
                      <a:lin ang="0" scaled="1"/>
                      <a:tileRect/>
                    </a:gradFill>
                  </a:tcPr>
                </a:tc>
                <a:tc rowSpan="2">
                  <a:txBody>
                    <a:bodyPr/>
                    <a:lstStyle/>
                    <a:p>
                      <a:pPr marL="171450" indent="-171450">
                        <a:buFont typeface="Arial" panose="020B0604020202020204" pitchFamily="34" charset="0"/>
                        <a:buChar char="•"/>
                      </a:pPr>
                      <a:r>
                        <a:rPr lang="en-GB" sz="1200" dirty="0">
                          <a:latin typeface="NBS Light" panose="020B0303030303020204" pitchFamily="34" charset="0"/>
                        </a:rPr>
                        <a:t>Data Integrity workstream – lineage complete, data quality &amp; data governance ongoing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dirty="0">
                          <a:latin typeface="NBS Light" panose="020B0303030303020204" pitchFamily="34" charset="0"/>
                        </a:rPr>
                        <a:t>TM System governance, testing and assurance processes to be defined</a:t>
                      </a:r>
                    </a:p>
                  </a:txBody>
                  <a:tcPr/>
                </a:tc>
                <a:extLst>
                  <a:ext uri="{0D108BD9-81ED-4DB2-BD59-A6C34878D82A}">
                    <a16:rowId xmlns:a16="http://schemas.microsoft.com/office/drawing/2014/main" val="1001373062"/>
                  </a:ext>
                </a:extLst>
              </a:tr>
              <a:tr h="502698">
                <a:tc vMerge="1">
                  <a:txBody>
                    <a:bodyPr/>
                    <a:lstStyle/>
                    <a:p>
                      <a:endParaRPr lang="en-GB"/>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spc="0" dirty="0">
                          <a:latin typeface="NBS Light" panose="020B0303030303020204" pitchFamily="34" charset="0"/>
                          <a:cs typeface="Agency FB"/>
                        </a:rPr>
                        <a:t>All </a:t>
                      </a:r>
                      <a:r>
                        <a:rPr lang="en-GB" sz="1200" spc="-5" dirty="0">
                          <a:latin typeface="NBS Light" panose="020B0303030303020204" pitchFamily="34" charset="0"/>
                          <a:cs typeface="Agency FB"/>
                        </a:rPr>
                        <a:t>relevant customer transactions/interaction </a:t>
                      </a:r>
                      <a:r>
                        <a:rPr lang="en-GB" sz="1200" dirty="0">
                          <a:latin typeface="NBS Light" panose="020B0303030303020204" pitchFamily="34" charset="0"/>
                          <a:cs typeface="Agency FB"/>
                        </a:rPr>
                        <a:t>data are not </a:t>
                      </a:r>
                      <a:r>
                        <a:rPr lang="en-GB" sz="1200" spc="-5" dirty="0">
                          <a:latin typeface="NBS Light" panose="020B0303030303020204" pitchFamily="34" charset="0"/>
                          <a:cs typeface="Agency FB"/>
                        </a:rPr>
                        <a:t>considered </a:t>
                      </a:r>
                      <a:r>
                        <a:rPr lang="en-GB" sz="1200" dirty="0">
                          <a:latin typeface="NBS Light" panose="020B0303030303020204" pitchFamily="34" charset="0"/>
                          <a:cs typeface="Agency FB"/>
                        </a:rPr>
                        <a:t>by the </a:t>
                      </a:r>
                      <a:r>
                        <a:rPr lang="en-GB" sz="1200" spc="-5" dirty="0">
                          <a:latin typeface="NBS Light" panose="020B0303030303020204" pitchFamily="34" charset="0"/>
                          <a:cs typeface="Agency FB"/>
                        </a:rPr>
                        <a:t>automated rules </a:t>
                      </a:r>
                      <a:r>
                        <a:rPr lang="en-GB" sz="1200" dirty="0">
                          <a:latin typeface="NBS Light" panose="020B0303030303020204" pitchFamily="34" charset="0"/>
                          <a:cs typeface="Agency FB"/>
                        </a:rPr>
                        <a:t>and </a:t>
                      </a:r>
                      <a:r>
                        <a:rPr lang="en-GB" sz="1200" spc="-5" dirty="0">
                          <a:latin typeface="NBS Light" panose="020B0303030303020204" pitchFamily="34" charset="0"/>
                          <a:cs typeface="Agency FB"/>
                        </a:rPr>
                        <a:t>therefore </a:t>
                      </a:r>
                      <a:r>
                        <a:rPr lang="en-GB" sz="1200" dirty="0">
                          <a:latin typeface="NBS Light" panose="020B0303030303020204" pitchFamily="34" charset="0"/>
                          <a:cs typeface="Agency FB"/>
                        </a:rPr>
                        <a:t>NBS are </a:t>
                      </a:r>
                      <a:r>
                        <a:rPr lang="en-GB" sz="1200" spc="-5" dirty="0">
                          <a:latin typeface="NBS Light" panose="020B0303030303020204" pitchFamily="34" charset="0"/>
                          <a:cs typeface="Agency FB"/>
                        </a:rPr>
                        <a:t>unable </a:t>
                      </a:r>
                      <a:r>
                        <a:rPr lang="en-GB" sz="1200" dirty="0">
                          <a:latin typeface="NBS Light" panose="020B0303030303020204" pitchFamily="34" charset="0"/>
                          <a:cs typeface="Agency FB"/>
                        </a:rPr>
                        <a:t>to </a:t>
                      </a:r>
                      <a:r>
                        <a:rPr lang="en-GB" sz="1200" spc="-5" dirty="0">
                          <a:latin typeface="NBS Light" panose="020B0303030303020204" pitchFamily="34" charset="0"/>
                          <a:cs typeface="Agency FB"/>
                        </a:rPr>
                        <a:t>identify </a:t>
                      </a:r>
                      <a:r>
                        <a:rPr lang="en-GB" sz="1200" dirty="0">
                          <a:latin typeface="NBS Light" panose="020B0303030303020204" pitchFamily="34" charset="0"/>
                          <a:cs typeface="Agency FB"/>
                        </a:rPr>
                        <a:t>other </a:t>
                      </a:r>
                      <a:r>
                        <a:rPr lang="en-GB" sz="1200" spc="-5" dirty="0">
                          <a:latin typeface="NBS Light" panose="020B0303030303020204" pitchFamily="34" charset="0"/>
                          <a:cs typeface="Agency FB"/>
                        </a:rPr>
                        <a:t>activity/scenarios </a:t>
                      </a:r>
                      <a:r>
                        <a:rPr lang="en-GB" sz="1200" dirty="0">
                          <a:latin typeface="NBS Light" panose="020B0303030303020204" pitchFamily="34" charset="0"/>
                          <a:cs typeface="Agency FB"/>
                        </a:rPr>
                        <a:t>which may be  </a:t>
                      </a:r>
                      <a:r>
                        <a:rPr lang="en-GB" sz="1200" spc="-5" dirty="0">
                          <a:latin typeface="NBS Light" panose="020B0303030303020204" pitchFamily="34" charset="0"/>
                          <a:cs typeface="Agency FB"/>
                        </a:rPr>
                        <a:t>unable</a:t>
                      </a:r>
                      <a:r>
                        <a:rPr lang="en-GB" sz="1200" spc="-15" dirty="0">
                          <a:latin typeface="NBS Light" panose="020B0303030303020204" pitchFamily="34" charset="0"/>
                          <a:cs typeface="Agency FB"/>
                        </a:rPr>
                        <a:t> </a:t>
                      </a:r>
                      <a:r>
                        <a:rPr lang="en-GB" sz="1200" dirty="0">
                          <a:latin typeface="NBS Light" panose="020B0303030303020204" pitchFamily="34" charset="0"/>
                          <a:cs typeface="Agency FB"/>
                        </a:rPr>
                        <a:t>to</a:t>
                      </a:r>
                      <a:r>
                        <a:rPr lang="en-GB" sz="1200" spc="-20" dirty="0">
                          <a:latin typeface="NBS Light" panose="020B0303030303020204" pitchFamily="34" charset="0"/>
                          <a:cs typeface="Agency FB"/>
                        </a:rPr>
                        <a:t> </a:t>
                      </a:r>
                      <a:r>
                        <a:rPr lang="en-GB" sz="1200" spc="-5" dirty="0">
                          <a:latin typeface="NBS Light" panose="020B0303030303020204" pitchFamily="34" charset="0"/>
                          <a:cs typeface="Agency FB"/>
                        </a:rPr>
                        <a:t>identify</a:t>
                      </a:r>
                      <a:r>
                        <a:rPr lang="en-GB" sz="1200" spc="-30" dirty="0">
                          <a:latin typeface="NBS Light" panose="020B0303030303020204" pitchFamily="34" charset="0"/>
                          <a:cs typeface="Agency FB"/>
                        </a:rPr>
                        <a:t> </a:t>
                      </a:r>
                      <a:r>
                        <a:rPr lang="en-GB" sz="1200" dirty="0">
                          <a:latin typeface="NBS Light" panose="020B0303030303020204" pitchFamily="34" charset="0"/>
                          <a:cs typeface="Agency FB"/>
                        </a:rPr>
                        <a:t>other</a:t>
                      </a:r>
                      <a:r>
                        <a:rPr lang="en-GB" sz="1200" spc="-25" dirty="0">
                          <a:latin typeface="NBS Light" panose="020B0303030303020204" pitchFamily="34" charset="0"/>
                          <a:cs typeface="Agency FB"/>
                        </a:rPr>
                        <a:t> </a:t>
                      </a:r>
                      <a:r>
                        <a:rPr lang="en-GB" sz="1200" spc="-5" dirty="0">
                          <a:latin typeface="NBS Light" panose="020B0303030303020204" pitchFamily="34" charset="0"/>
                          <a:cs typeface="Agency FB"/>
                        </a:rPr>
                        <a:t>activity/scenarios</a:t>
                      </a:r>
                      <a:r>
                        <a:rPr lang="en-GB" sz="1200" spc="-30" dirty="0">
                          <a:latin typeface="NBS Light" panose="020B0303030303020204" pitchFamily="34" charset="0"/>
                          <a:cs typeface="Agency FB"/>
                        </a:rPr>
                        <a:t> </a:t>
                      </a:r>
                      <a:r>
                        <a:rPr lang="en-GB" sz="1200" dirty="0">
                          <a:latin typeface="NBS Light" panose="020B0303030303020204" pitchFamily="34" charset="0"/>
                          <a:cs typeface="Agency FB"/>
                        </a:rPr>
                        <a:t>which</a:t>
                      </a:r>
                      <a:r>
                        <a:rPr lang="en-GB" sz="1200" spc="-45" dirty="0">
                          <a:latin typeface="NBS Light" panose="020B0303030303020204" pitchFamily="34" charset="0"/>
                          <a:cs typeface="Agency FB"/>
                        </a:rPr>
                        <a:t> </a:t>
                      </a:r>
                      <a:r>
                        <a:rPr lang="en-GB" sz="1200" dirty="0">
                          <a:latin typeface="NBS Light" panose="020B0303030303020204" pitchFamily="34" charset="0"/>
                          <a:cs typeface="Agency FB"/>
                        </a:rPr>
                        <a:t>may</a:t>
                      </a:r>
                      <a:r>
                        <a:rPr lang="en-GB" sz="1200" spc="-20" dirty="0">
                          <a:latin typeface="NBS Light" panose="020B0303030303020204" pitchFamily="34" charset="0"/>
                          <a:cs typeface="Agency FB"/>
                        </a:rPr>
                        <a:t> </a:t>
                      </a:r>
                      <a:r>
                        <a:rPr lang="en-GB" sz="1200" dirty="0">
                          <a:latin typeface="NBS Light" panose="020B0303030303020204" pitchFamily="34" charset="0"/>
                          <a:cs typeface="Agency FB"/>
                        </a:rPr>
                        <a:t>be </a:t>
                      </a:r>
                      <a:r>
                        <a:rPr lang="en-GB" sz="1200" spc="-5" dirty="0">
                          <a:latin typeface="NBS Light" panose="020B0303030303020204" pitchFamily="34" charset="0"/>
                          <a:cs typeface="Agency FB"/>
                        </a:rPr>
                        <a:t>related</a:t>
                      </a:r>
                      <a:r>
                        <a:rPr lang="en-GB" sz="1200" spc="-30" dirty="0">
                          <a:latin typeface="NBS Light" panose="020B0303030303020204" pitchFamily="34" charset="0"/>
                          <a:cs typeface="Agency FB"/>
                        </a:rPr>
                        <a:t> </a:t>
                      </a:r>
                      <a:r>
                        <a:rPr lang="en-GB" sz="1200" dirty="0">
                          <a:latin typeface="NBS Light" panose="020B0303030303020204" pitchFamily="34" charset="0"/>
                          <a:cs typeface="Agency FB"/>
                        </a:rPr>
                        <a:t>to</a:t>
                      </a:r>
                      <a:r>
                        <a:rPr lang="en-GB" sz="1200" spc="-20" dirty="0">
                          <a:latin typeface="NBS Light" panose="020B0303030303020204" pitchFamily="34" charset="0"/>
                          <a:cs typeface="Agency FB"/>
                        </a:rPr>
                        <a:t> </a:t>
                      </a:r>
                      <a:r>
                        <a:rPr lang="en-GB" sz="1200" spc="-10" dirty="0">
                          <a:latin typeface="NBS Light" panose="020B0303030303020204" pitchFamily="34" charset="0"/>
                          <a:cs typeface="Agency FB"/>
                        </a:rPr>
                        <a:t>ML/TF</a:t>
                      </a:r>
                      <a:endParaRPr lang="en-GB" sz="1200" dirty="0">
                        <a:latin typeface="NBS Light" panose="020B0303030303020204" pitchFamily="34" charset="0"/>
                        <a:cs typeface="Agency FB"/>
                      </a:endParaRPr>
                    </a:p>
                  </a:txBody>
                  <a:tcPr/>
                </a:tc>
                <a:tc vMerge="1">
                  <a:txBody>
                    <a:bodyPr/>
                    <a:lstStyle/>
                    <a:p>
                      <a:endParaRPr lang="en-GB" sz="1400" b="0" dirty="0">
                        <a:latin typeface="NBS Light" panose="020B0303030303020204" pitchFamily="34" charset="0"/>
                      </a:endParaRPr>
                    </a:p>
                  </a:txBody>
                  <a:tcPr>
                    <a:solidFill>
                      <a:srgbClr val="92D050"/>
                    </a:solidFill>
                  </a:tcPr>
                </a:tc>
                <a:tc vMerge="1">
                  <a:txBody>
                    <a:bodyPr/>
                    <a:lstStyle/>
                    <a:p>
                      <a:endParaRPr lang="en-GB" dirty="0"/>
                    </a:p>
                  </a:txBody>
                  <a:tcPr/>
                </a:tc>
                <a:extLst>
                  <a:ext uri="{0D108BD9-81ED-4DB2-BD59-A6C34878D82A}">
                    <a16:rowId xmlns:a16="http://schemas.microsoft.com/office/drawing/2014/main" val="2685363599"/>
                  </a:ext>
                </a:extLst>
              </a:tr>
              <a:tr h="359070">
                <a:tc vMerge="1">
                  <a:txBody>
                    <a:bodyPr/>
                    <a:lstStyle/>
                    <a:p>
                      <a:endParaRPr lang="en-GB"/>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spc="-5" dirty="0">
                          <a:latin typeface="NBS Light" panose="020B0303030303020204" pitchFamily="34" charset="0"/>
                          <a:cs typeface="Agency FB"/>
                        </a:rPr>
                        <a:t>Significant</a:t>
                      </a:r>
                      <a:r>
                        <a:rPr lang="en-GB" sz="1200" spc="-40" dirty="0">
                          <a:latin typeface="NBS Light" panose="020B0303030303020204" pitchFamily="34" charset="0"/>
                          <a:cs typeface="Agency FB"/>
                        </a:rPr>
                        <a:t> </a:t>
                      </a:r>
                      <a:r>
                        <a:rPr lang="en-GB" sz="1200" dirty="0">
                          <a:latin typeface="NBS Light" panose="020B0303030303020204" pitchFamily="34" charset="0"/>
                          <a:cs typeface="Agency FB"/>
                        </a:rPr>
                        <a:t>gaps</a:t>
                      </a:r>
                      <a:r>
                        <a:rPr lang="en-GB" sz="1200" spc="-20" dirty="0">
                          <a:latin typeface="NBS Light" panose="020B0303030303020204" pitchFamily="34" charset="0"/>
                          <a:cs typeface="Agency FB"/>
                        </a:rPr>
                        <a:t> </a:t>
                      </a:r>
                      <a:r>
                        <a:rPr lang="en-GB" sz="1200" spc="-5" dirty="0">
                          <a:latin typeface="NBS Light" panose="020B0303030303020204" pitchFamily="34" charset="0"/>
                          <a:cs typeface="Agency FB"/>
                        </a:rPr>
                        <a:t>in</a:t>
                      </a:r>
                      <a:r>
                        <a:rPr lang="en-GB" sz="1200" spc="0" dirty="0">
                          <a:latin typeface="NBS Light" panose="020B0303030303020204" pitchFamily="34" charset="0"/>
                          <a:cs typeface="Agency FB"/>
                        </a:rPr>
                        <a:t> </a:t>
                      </a:r>
                      <a:r>
                        <a:rPr lang="en-GB" sz="1200" dirty="0">
                          <a:latin typeface="NBS Light" panose="020B0303030303020204" pitchFamily="34" charset="0"/>
                          <a:cs typeface="Agency FB"/>
                        </a:rPr>
                        <a:t>our</a:t>
                      </a:r>
                      <a:r>
                        <a:rPr lang="en-GB" sz="1200" spc="-10" dirty="0">
                          <a:latin typeface="NBS Light" panose="020B0303030303020204" pitchFamily="34" charset="0"/>
                          <a:cs typeface="Agency FB"/>
                        </a:rPr>
                        <a:t> </a:t>
                      </a:r>
                      <a:r>
                        <a:rPr lang="en-GB" sz="1200" spc="-5" dirty="0">
                          <a:latin typeface="NBS Light" panose="020B0303030303020204" pitchFamily="34" charset="0"/>
                          <a:cs typeface="Agency FB"/>
                        </a:rPr>
                        <a:t>ability </a:t>
                      </a:r>
                      <a:r>
                        <a:rPr lang="en-GB" sz="1200" dirty="0">
                          <a:latin typeface="NBS Light" panose="020B0303030303020204" pitchFamily="34" charset="0"/>
                          <a:cs typeface="Agency FB"/>
                        </a:rPr>
                        <a:t>to</a:t>
                      </a:r>
                      <a:r>
                        <a:rPr lang="en-GB" sz="1200" spc="-20" dirty="0">
                          <a:latin typeface="NBS Light" panose="020B0303030303020204" pitchFamily="34" charset="0"/>
                          <a:cs typeface="Agency FB"/>
                        </a:rPr>
                        <a:t> </a:t>
                      </a:r>
                      <a:r>
                        <a:rPr lang="en-GB" sz="1200" spc="-5" dirty="0">
                          <a:latin typeface="NBS Light" panose="020B0303030303020204" pitchFamily="34" charset="0"/>
                          <a:cs typeface="Agency FB"/>
                        </a:rPr>
                        <a:t>identify</a:t>
                      </a:r>
                      <a:r>
                        <a:rPr lang="en-GB" sz="1200" spc="-30" dirty="0">
                          <a:latin typeface="NBS Light" panose="020B0303030303020204" pitchFamily="34" charset="0"/>
                          <a:cs typeface="Agency FB"/>
                        </a:rPr>
                        <a:t> </a:t>
                      </a:r>
                      <a:r>
                        <a:rPr lang="en-GB" sz="1200" spc="-5" dirty="0">
                          <a:latin typeface="NBS Light" panose="020B0303030303020204" pitchFamily="34" charset="0"/>
                          <a:cs typeface="Agency FB"/>
                        </a:rPr>
                        <a:t>activities/scenarios</a:t>
                      </a:r>
                      <a:r>
                        <a:rPr lang="en-GB" sz="1200" spc="-20" dirty="0">
                          <a:latin typeface="NBS Light" panose="020B0303030303020204" pitchFamily="34" charset="0"/>
                          <a:cs typeface="Agency FB"/>
                        </a:rPr>
                        <a:t> </a:t>
                      </a:r>
                      <a:r>
                        <a:rPr lang="en-GB" sz="1200" dirty="0">
                          <a:latin typeface="NBS Light" panose="020B0303030303020204" pitchFamily="34" charset="0"/>
                          <a:cs typeface="Agency FB"/>
                        </a:rPr>
                        <a:t>which</a:t>
                      </a:r>
                      <a:r>
                        <a:rPr lang="en-GB" sz="1200" spc="-30" dirty="0">
                          <a:latin typeface="NBS Light" panose="020B0303030303020204" pitchFamily="34" charset="0"/>
                          <a:cs typeface="Agency FB"/>
                        </a:rPr>
                        <a:t> </a:t>
                      </a:r>
                      <a:r>
                        <a:rPr lang="en-GB" sz="1200" dirty="0">
                          <a:latin typeface="NBS Light" panose="020B0303030303020204" pitchFamily="34" charset="0"/>
                          <a:cs typeface="Agency FB"/>
                        </a:rPr>
                        <a:t>may</a:t>
                      </a:r>
                      <a:r>
                        <a:rPr lang="en-GB" sz="1200" spc="-20" dirty="0">
                          <a:latin typeface="NBS Light" panose="020B0303030303020204" pitchFamily="34" charset="0"/>
                          <a:cs typeface="Agency FB"/>
                        </a:rPr>
                        <a:t> </a:t>
                      </a:r>
                      <a:r>
                        <a:rPr lang="en-GB" sz="1200" dirty="0">
                          <a:latin typeface="NBS Light" panose="020B0303030303020204" pitchFamily="34" charset="0"/>
                          <a:cs typeface="Agency FB"/>
                        </a:rPr>
                        <a:t>be</a:t>
                      </a:r>
                      <a:r>
                        <a:rPr lang="en-GB" sz="1200" spc="-15" dirty="0">
                          <a:latin typeface="NBS Light" panose="020B0303030303020204" pitchFamily="34" charset="0"/>
                          <a:cs typeface="Agency FB"/>
                        </a:rPr>
                        <a:t> </a:t>
                      </a:r>
                      <a:r>
                        <a:rPr lang="en-GB" sz="1200" spc="-5" dirty="0">
                          <a:latin typeface="NBS Light" panose="020B0303030303020204" pitchFamily="34" charset="0"/>
                          <a:cs typeface="Agency FB"/>
                        </a:rPr>
                        <a:t>related</a:t>
                      </a:r>
                      <a:r>
                        <a:rPr lang="en-GB" sz="1200" spc="-30" dirty="0">
                          <a:latin typeface="NBS Light" panose="020B0303030303020204" pitchFamily="34" charset="0"/>
                          <a:cs typeface="Agency FB"/>
                        </a:rPr>
                        <a:t> </a:t>
                      </a:r>
                      <a:r>
                        <a:rPr lang="en-GB" sz="1200" dirty="0">
                          <a:latin typeface="NBS Light" panose="020B0303030303020204" pitchFamily="34" charset="0"/>
                          <a:cs typeface="Agency FB"/>
                        </a:rPr>
                        <a:t>to</a:t>
                      </a:r>
                      <a:r>
                        <a:rPr lang="en-GB" sz="1200" spc="-10" dirty="0">
                          <a:latin typeface="NBS Light" panose="020B0303030303020204" pitchFamily="34" charset="0"/>
                          <a:cs typeface="Agency FB"/>
                        </a:rPr>
                        <a:t> TF/ML</a:t>
                      </a:r>
                      <a:endParaRPr lang="en-GB" sz="1200" dirty="0">
                        <a:latin typeface="NBS Light" panose="020B0303030303020204" pitchFamily="34" charset="0"/>
                        <a:cs typeface="Agency FB"/>
                      </a:endParaRPr>
                    </a:p>
                  </a:txBody>
                  <a:tcPr/>
                </a:tc>
                <a:tc>
                  <a:txBody>
                    <a:bodyPr/>
                    <a:lstStyle/>
                    <a:p>
                      <a:pPr algn="ctr"/>
                      <a:r>
                        <a:rPr lang="en-GB" sz="1200" dirty="0">
                          <a:latin typeface="NBS Light" panose="020B0303030303020204" pitchFamily="34" charset="0"/>
                        </a:rPr>
                        <a:t>In Progress</a:t>
                      </a:r>
                    </a:p>
                  </a:txBody>
                  <a:tcPr>
                    <a:solidFill>
                      <a:srgbClr val="92D050"/>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dirty="0">
                          <a:latin typeface="NBS Light" panose="020B0303030303020204" pitchFamily="34" charset="0"/>
                        </a:rPr>
                        <a:t>Rule development plan in place to deliver TM scenarios to manage NBS risks</a:t>
                      </a:r>
                    </a:p>
                  </a:txBody>
                  <a:tcPr/>
                </a:tc>
                <a:extLst>
                  <a:ext uri="{0D108BD9-81ED-4DB2-BD59-A6C34878D82A}">
                    <a16:rowId xmlns:a16="http://schemas.microsoft.com/office/drawing/2014/main" val="3011031460"/>
                  </a:ext>
                </a:extLst>
              </a:tr>
              <a:tr h="933583">
                <a:tc vMerge="1">
                  <a:txBody>
                    <a:bodyPr/>
                    <a:lstStyle/>
                    <a:p>
                      <a:endParaRPr lang="en-GB"/>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dirty="0">
                          <a:latin typeface="NBS Light" panose="020B0303030303020204" pitchFamily="34" charset="0"/>
                          <a:cs typeface="Agency FB"/>
                        </a:rPr>
                        <a:t>Our current </a:t>
                      </a:r>
                      <a:r>
                        <a:rPr lang="en-GB" sz="1200" spc="-5" dirty="0">
                          <a:latin typeface="NBS Light" panose="020B0303030303020204" pitchFamily="34" charset="0"/>
                          <a:cs typeface="Agency FB"/>
                        </a:rPr>
                        <a:t>prescriptive rules </a:t>
                      </a:r>
                      <a:r>
                        <a:rPr lang="en-GB" sz="1200" dirty="0">
                          <a:latin typeface="NBS Light" panose="020B0303030303020204" pitchFamily="34" charset="0"/>
                          <a:cs typeface="Agency FB"/>
                        </a:rPr>
                        <a:t>and </a:t>
                      </a:r>
                      <a:r>
                        <a:rPr lang="en-GB" sz="1200" spc="-5" dirty="0">
                          <a:latin typeface="NBS Light" panose="020B0303030303020204" pitchFamily="34" charset="0"/>
                          <a:cs typeface="Agency FB"/>
                        </a:rPr>
                        <a:t>limited </a:t>
                      </a:r>
                      <a:r>
                        <a:rPr lang="en-GB" sz="1200" spc="-5" dirty="0" err="1">
                          <a:latin typeface="NBS Light" panose="020B0303030303020204" pitchFamily="34" charset="0"/>
                          <a:cs typeface="Agency FB"/>
                        </a:rPr>
                        <a:t>CDD</a:t>
                      </a:r>
                      <a:r>
                        <a:rPr lang="en-GB" sz="1200" spc="-5" dirty="0">
                          <a:latin typeface="NBS Light" panose="020B0303030303020204" pitchFamily="34" charset="0"/>
                          <a:cs typeface="Agency FB"/>
                        </a:rPr>
                        <a:t> information means </a:t>
                      </a:r>
                      <a:r>
                        <a:rPr lang="en-GB" sz="1200" dirty="0">
                          <a:latin typeface="NBS Light" panose="020B0303030303020204" pitchFamily="34" charset="0"/>
                          <a:cs typeface="Agency FB"/>
                        </a:rPr>
                        <a:t>NBS do </a:t>
                      </a:r>
                      <a:r>
                        <a:rPr lang="en-GB" sz="1200" spc="-5" dirty="0">
                          <a:latin typeface="NBS Light" panose="020B0303030303020204" pitchFamily="34" charset="0"/>
                          <a:cs typeface="Agency FB"/>
                        </a:rPr>
                        <a:t>not/cannot effectively determine if </a:t>
                      </a:r>
                      <a:r>
                        <a:rPr lang="en-GB" sz="1200" dirty="0">
                          <a:latin typeface="NBS Light" panose="020B0303030303020204" pitchFamily="34" charset="0"/>
                          <a:cs typeface="Agency FB"/>
                        </a:rPr>
                        <a:t>the </a:t>
                      </a:r>
                      <a:r>
                        <a:rPr lang="en-GB" sz="1200" spc="-5" dirty="0">
                          <a:latin typeface="NBS Light" panose="020B0303030303020204" pitchFamily="34" charset="0"/>
                          <a:cs typeface="Agency FB"/>
                        </a:rPr>
                        <a:t>transactions </a:t>
                      </a:r>
                      <a:r>
                        <a:rPr lang="en-GB" sz="1200" dirty="0">
                          <a:latin typeface="NBS Light" panose="020B0303030303020204" pitchFamily="34" charset="0"/>
                          <a:cs typeface="Agency FB"/>
                        </a:rPr>
                        <a:t>are </a:t>
                      </a:r>
                      <a:r>
                        <a:rPr lang="en-GB" sz="1200" spc="-5" dirty="0">
                          <a:latin typeface="NBS Light" panose="020B0303030303020204" pitchFamily="34" charset="0"/>
                          <a:cs typeface="Agency FB"/>
                        </a:rPr>
                        <a:t>consistent </a:t>
                      </a:r>
                      <a:r>
                        <a:rPr lang="en-GB" sz="1200" dirty="0">
                          <a:latin typeface="NBS Light" panose="020B0303030303020204" pitchFamily="34" charset="0"/>
                          <a:cs typeface="Agency FB"/>
                        </a:rPr>
                        <a:t>with the </a:t>
                      </a:r>
                      <a:r>
                        <a:rPr lang="en-GB" sz="1200" spc="-5" dirty="0">
                          <a:latin typeface="NBS Light" panose="020B0303030303020204" pitchFamily="34" charset="0"/>
                          <a:cs typeface="Agency FB"/>
                        </a:rPr>
                        <a:t>customer, business, </a:t>
                      </a:r>
                      <a:r>
                        <a:rPr lang="en-GB" sz="1200" dirty="0">
                          <a:latin typeface="NBS Light" panose="020B0303030303020204" pitchFamily="34" charset="0"/>
                          <a:cs typeface="Agency FB"/>
                        </a:rPr>
                        <a:t>risk  </a:t>
                      </a:r>
                      <a:r>
                        <a:rPr lang="en-GB" sz="1200" spc="-5" dirty="0">
                          <a:latin typeface="NBS Light" panose="020B0303030303020204" pitchFamily="34" charset="0"/>
                          <a:cs typeface="Agency FB"/>
                        </a:rPr>
                        <a:t>transactions</a:t>
                      </a:r>
                      <a:r>
                        <a:rPr lang="en-GB" sz="1200" spc="-30" dirty="0">
                          <a:latin typeface="NBS Light" panose="020B0303030303020204" pitchFamily="34" charset="0"/>
                          <a:cs typeface="Agency FB"/>
                        </a:rPr>
                        <a:t> </a:t>
                      </a:r>
                      <a:r>
                        <a:rPr lang="en-GB" sz="1200" dirty="0">
                          <a:latin typeface="NBS Light" panose="020B0303030303020204" pitchFamily="34" charset="0"/>
                          <a:cs typeface="Agency FB"/>
                        </a:rPr>
                        <a:t>are</a:t>
                      </a:r>
                      <a:r>
                        <a:rPr lang="en-GB" sz="1200" spc="-15" dirty="0">
                          <a:latin typeface="NBS Light" panose="020B0303030303020204" pitchFamily="34" charset="0"/>
                          <a:cs typeface="Agency FB"/>
                        </a:rPr>
                        <a:t> </a:t>
                      </a:r>
                      <a:r>
                        <a:rPr lang="en-GB" sz="1200" spc="-5" dirty="0">
                          <a:latin typeface="NBS Light" panose="020B0303030303020204" pitchFamily="34" charset="0"/>
                          <a:cs typeface="Agency FB"/>
                        </a:rPr>
                        <a:t>consistent</a:t>
                      </a:r>
                      <a:r>
                        <a:rPr lang="en-GB" sz="1200" spc="-40" dirty="0">
                          <a:latin typeface="NBS Light" panose="020B0303030303020204" pitchFamily="34" charset="0"/>
                          <a:cs typeface="Agency FB"/>
                        </a:rPr>
                        <a:t> </a:t>
                      </a:r>
                      <a:r>
                        <a:rPr lang="en-GB" sz="1200" dirty="0">
                          <a:latin typeface="NBS Light" panose="020B0303030303020204" pitchFamily="34" charset="0"/>
                          <a:cs typeface="Agency FB"/>
                        </a:rPr>
                        <a:t>with</a:t>
                      </a:r>
                      <a:r>
                        <a:rPr lang="en-GB" sz="1200" spc="-30" dirty="0">
                          <a:latin typeface="NBS Light" panose="020B0303030303020204" pitchFamily="34" charset="0"/>
                          <a:cs typeface="Agency FB"/>
                        </a:rPr>
                        <a:t> </a:t>
                      </a:r>
                      <a:r>
                        <a:rPr lang="en-GB" sz="1200" dirty="0">
                          <a:latin typeface="NBS Light" panose="020B0303030303020204" pitchFamily="34" charset="0"/>
                          <a:cs typeface="Agency FB"/>
                        </a:rPr>
                        <a:t>the</a:t>
                      </a:r>
                      <a:r>
                        <a:rPr lang="en-GB" sz="1200" spc="-25" dirty="0">
                          <a:latin typeface="NBS Light" panose="020B0303030303020204" pitchFamily="34" charset="0"/>
                          <a:cs typeface="Agency FB"/>
                        </a:rPr>
                        <a:t> </a:t>
                      </a:r>
                      <a:r>
                        <a:rPr lang="en-GB" sz="1200" spc="-5" dirty="0">
                          <a:latin typeface="NBS Light" panose="020B0303030303020204" pitchFamily="34" charset="0"/>
                          <a:cs typeface="Agency FB"/>
                        </a:rPr>
                        <a:t>customer,</a:t>
                      </a:r>
                      <a:r>
                        <a:rPr lang="en-GB" sz="1200" spc="-30" dirty="0">
                          <a:latin typeface="NBS Light" panose="020B0303030303020204" pitchFamily="34" charset="0"/>
                          <a:cs typeface="Agency FB"/>
                        </a:rPr>
                        <a:t> </a:t>
                      </a:r>
                      <a:r>
                        <a:rPr lang="en-GB" sz="1200" spc="-5" dirty="0">
                          <a:latin typeface="NBS Light" panose="020B0303030303020204" pitchFamily="34" charset="0"/>
                          <a:cs typeface="Agency FB"/>
                        </a:rPr>
                        <a:t>business,</a:t>
                      </a:r>
                      <a:r>
                        <a:rPr lang="en-GB" sz="1200" spc="-40" dirty="0">
                          <a:latin typeface="NBS Light" panose="020B0303030303020204" pitchFamily="34" charset="0"/>
                          <a:cs typeface="Agency FB"/>
                        </a:rPr>
                        <a:t> </a:t>
                      </a:r>
                      <a:r>
                        <a:rPr lang="en-GB" sz="1200" dirty="0">
                          <a:latin typeface="NBS Light" panose="020B0303030303020204" pitchFamily="34" charset="0"/>
                          <a:cs typeface="Agency FB"/>
                        </a:rPr>
                        <a:t>risk</a:t>
                      </a:r>
                      <a:r>
                        <a:rPr lang="en-GB" sz="1200" spc="-25" dirty="0">
                          <a:latin typeface="NBS Light" panose="020B0303030303020204" pitchFamily="34" charset="0"/>
                          <a:cs typeface="Agency FB"/>
                        </a:rPr>
                        <a:t> </a:t>
                      </a:r>
                      <a:r>
                        <a:rPr lang="en-GB" sz="1200" spc="-5" dirty="0">
                          <a:latin typeface="NBS Light" panose="020B0303030303020204" pitchFamily="34" charset="0"/>
                          <a:cs typeface="Agency FB"/>
                        </a:rPr>
                        <a:t>profile.</a:t>
                      </a:r>
                      <a:endParaRPr lang="en-GB" sz="1200" dirty="0">
                        <a:latin typeface="NBS Light" panose="020B0303030303020204" pitchFamily="34" charset="0"/>
                        <a:cs typeface="Agency FB"/>
                      </a:endParaRPr>
                    </a:p>
                  </a:txBody>
                  <a:tcPr/>
                </a:tc>
                <a:tc>
                  <a:txBody>
                    <a:bodyPr/>
                    <a:lstStyle/>
                    <a:p>
                      <a:pPr algn="ctr"/>
                      <a:r>
                        <a:rPr lang="en-GB" sz="1200" dirty="0">
                          <a:latin typeface="NBS Light" panose="020B0303030303020204" pitchFamily="34" charset="0"/>
                        </a:rPr>
                        <a:t>Complete</a:t>
                      </a:r>
                    </a:p>
                  </a:txBody>
                  <a:tcPr>
                    <a:solidFill>
                      <a:srgbClr val="00B0F0"/>
                    </a:solidFill>
                  </a:tcPr>
                </a:tc>
                <a:tc>
                  <a:txBody>
                    <a:bodyPr/>
                    <a:lstStyle/>
                    <a:p>
                      <a:pPr marL="171450" indent="-171450">
                        <a:buFont typeface="Arial" panose="020B0604020202020204" pitchFamily="34" charset="0"/>
                        <a:buChar char="•"/>
                      </a:pPr>
                      <a:r>
                        <a:rPr lang="en-GB" sz="1200" dirty="0">
                          <a:latin typeface="NBS Light" panose="020B0303030303020204" pitchFamily="34" charset="0"/>
                        </a:rPr>
                        <a:t>Behaviour rules delivered in phase 1, include detecting activity that is inconsistent with expected, historic and peer based activity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dirty="0" err="1">
                          <a:latin typeface="NBS Light" panose="020B0303030303020204" pitchFamily="34" charset="0"/>
                        </a:rPr>
                        <a:t>CDD</a:t>
                      </a:r>
                      <a:r>
                        <a:rPr lang="en-GB" sz="1200" dirty="0">
                          <a:latin typeface="NBS Light" panose="020B0303030303020204" pitchFamily="34" charset="0"/>
                        </a:rPr>
                        <a:t> Triggers and refresh project to deliver </a:t>
                      </a:r>
                      <a:r>
                        <a:rPr lang="en-GB" sz="1200" dirty="0" err="1">
                          <a:latin typeface="NBS Light" panose="020B0303030303020204" pitchFamily="34" charset="0"/>
                        </a:rPr>
                        <a:t>CDD</a:t>
                      </a:r>
                      <a:r>
                        <a:rPr lang="en-GB" sz="1200" dirty="0">
                          <a:latin typeface="NBS Light" panose="020B0303030303020204" pitchFamily="34" charset="0"/>
                        </a:rPr>
                        <a:t> data to be utilised by TM </a:t>
                      </a:r>
                    </a:p>
                  </a:txBody>
                  <a:tcPr/>
                </a:tc>
                <a:extLst>
                  <a:ext uri="{0D108BD9-81ED-4DB2-BD59-A6C34878D82A}">
                    <a16:rowId xmlns:a16="http://schemas.microsoft.com/office/drawing/2014/main" val="3514580104"/>
                  </a:ext>
                </a:extLst>
              </a:tr>
              <a:tr h="359567">
                <a:tc vMerge="1">
                  <a:txBody>
                    <a:bodyPr/>
                    <a:lstStyle/>
                    <a:p>
                      <a:endParaRPr lang="en-GB"/>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dirty="0">
                          <a:latin typeface="NBS Light" panose="020B0303030303020204" pitchFamily="34" charset="0"/>
                          <a:cs typeface="Agency FB"/>
                        </a:rPr>
                        <a:t>Not </a:t>
                      </a:r>
                      <a:r>
                        <a:rPr lang="en-GB" sz="1200" spc="-5" dirty="0">
                          <a:latin typeface="NBS Light" panose="020B0303030303020204" pitchFamily="34" charset="0"/>
                          <a:cs typeface="Agency FB"/>
                        </a:rPr>
                        <a:t>all </a:t>
                      </a:r>
                      <a:r>
                        <a:rPr lang="en-GB" sz="1200" dirty="0">
                          <a:latin typeface="NBS Light" panose="020B0303030303020204" pitchFamily="34" charset="0"/>
                          <a:cs typeface="Agency FB"/>
                        </a:rPr>
                        <a:t>of NBS product </a:t>
                      </a:r>
                      <a:r>
                        <a:rPr lang="en-GB" sz="1200" spc="-5" dirty="0">
                          <a:latin typeface="NBS Light" panose="020B0303030303020204" pitchFamily="34" charset="0"/>
                          <a:cs typeface="Agency FB"/>
                        </a:rPr>
                        <a:t>application </a:t>
                      </a:r>
                      <a:r>
                        <a:rPr lang="en-GB" sz="1200" dirty="0">
                          <a:latin typeface="NBS Light" panose="020B0303030303020204" pitchFamily="34" charset="0"/>
                          <a:cs typeface="Agency FB"/>
                        </a:rPr>
                        <a:t>forms </a:t>
                      </a:r>
                      <a:r>
                        <a:rPr lang="en-GB" sz="1200" spc="0" dirty="0">
                          <a:latin typeface="NBS Light" panose="020B0303030303020204" pitchFamily="34" charset="0"/>
                          <a:cs typeface="Agency FB"/>
                        </a:rPr>
                        <a:t>ask </a:t>
                      </a:r>
                      <a:r>
                        <a:rPr lang="en-GB" sz="1200" dirty="0">
                          <a:latin typeface="NBS Light" panose="020B0303030303020204" pitchFamily="34" charset="0"/>
                          <a:cs typeface="Agency FB"/>
                        </a:rPr>
                        <a:t>for </a:t>
                      </a:r>
                      <a:r>
                        <a:rPr lang="en-GB" sz="1200" spc="-5" dirty="0" err="1">
                          <a:latin typeface="NBS Light" panose="020B0303030303020204" pitchFamily="34" charset="0"/>
                          <a:cs typeface="Agency FB"/>
                        </a:rPr>
                        <a:t>SoF</a:t>
                      </a:r>
                      <a:r>
                        <a:rPr lang="en-GB" sz="1200" spc="-5" dirty="0">
                          <a:latin typeface="NBS Light" panose="020B0303030303020204" pitchFamily="34" charset="0"/>
                          <a:cs typeface="Agency FB"/>
                        </a:rPr>
                        <a:t>/turnover </a:t>
                      </a:r>
                      <a:r>
                        <a:rPr lang="en-GB" sz="1200" dirty="0">
                          <a:latin typeface="NBS Light" panose="020B0303030303020204" pitchFamily="34" charset="0"/>
                          <a:cs typeface="Agency FB"/>
                        </a:rPr>
                        <a:t>etc. which </a:t>
                      </a:r>
                      <a:r>
                        <a:rPr lang="en-GB" sz="1200" spc="-5" dirty="0">
                          <a:latin typeface="NBS Light" panose="020B0303030303020204" pitchFamily="34" charset="0"/>
                          <a:cs typeface="Agency FB"/>
                        </a:rPr>
                        <a:t>adversely affects </a:t>
                      </a:r>
                      <a:r>
                        <a:rPr lang="en-GB" sz="1200" dirty="0">
                          <a:latin typeface="NBS Light" panose="020B0303030303020204" pitchFamily="34" charset="0"/>
                          <a:cs typeface="Agency FB"/>
                        </a:rPr>
                        <a:t>our </a:t>
                      </a:r>
                      <a:r>
                        <a:rPr lang="en-GB" sz="1200" spc="-5" dirty="0">
                          <a:latin typeface="NBS Light" panose="020B0303030303020204" pitchFamily="34" charset="0"/>
                          <a:cs typeface="Agency FB"/>
                        </a:rPr>
                        <a:t>ability </a:t>
                      </a:r>
                      <a:r>
                        <a:rPr lang="en-GB" sz="1200" dirty="0">
                          <a:latin typeface="NBS Light" panose="020B0303030303020204" pitchFamily="34" charset="0"/>
                          <a:cs typeface="Agency FB"/>
                        </a:rPr>
                        <a:t>to </a:t>
                      </a:r>
                      <a:r>
                        <a:rPr lang="en-GB" sz="1200" spc="-5" dirty="0">
                          <a:latin typeface="NBS Light" panose="020B0303030303020204" pitchFamily="34" charset="0"/>
                          <a:cs typeface="Agency FB"/>
                        </a:rPr>
                        <a:t>effectively </a:t>
                      </a:r>
                      <a:r>
                        <a:rPr lang="en-GB" sz="1200" dirty="0">
                          <a:latin typeface="NBS Light" panose="020B0303030303020204" pitchFamily="34" charset="0"/>
                          <a:cs typeface="Agency FB"/>
                        </a:rPr>
                        <a:t>perform </a:t>
                      </a:r>
                      <a:r>
                        <a:rPr lang="en-GB" sz="1200" spc="-5" dirty="0">
                          <a:latin typeface="NBS Light" panose="020B0303030303020204" pitchFamily="34" charset="0"/>
                          <a:cs typeface="Agency FB"/>
                        </a:rPr>
                        <a:t>transaction monitoring.</a:t>
                      </a:r>
                      <a:endParaRPr lang="en-GB" sz="1200" dirty="0">
                        <a:latin typeface="NBS Light" panose="020B0303030303020204" pitchFamily="34" charset="0"/>
                        <a:cs typeface="Agency FB"/>
                      </a:endParaRPr>
                    </a:p>
                  </a:txBody>
                  <a:tcPr/>
                </a:tc>
                <a:tc>
                  <a:txBody>
                    <a:bodyPr/>
                    <a:lstStyle/>
                    <a:p>
                      <a:pPr algn="ctr"/>
                      <a:r>
                        <a:rPr lang="en-GB" sz="1200" dirty="0">
                          <a:latin typeface="NBS Light" panose="020B0303030303020204" pitchFamily="34" charset="0"/>
                        </a:rPr>
                        <a:t>Complete</a:t>
                      </a:r>
                    </a:p>
                  </a:txBody>
                  <a:tcPr>
                    <a:solidFill>
                      <a:srgbClr val="00B0F0"/>
                    </a:solidFill>
                  </a:tcPr>
                </a:tc>
                <a:tc>
                  <a:txBody>
                    <a:bodyPr/>
                    <a:lstStyle/>
                    <a:p>
                      <a:pPr marL="171450" indent="-171450">
                        <a:buFont typeface="Arial" panose="020B0604020202020204" pitchFamily="34" charset="0"/>
                        <a:buChar char="•"/>
                      </a:pPr>
                      <a:r>
                        <a:rPr lang="en-GB" sz="1200" dirty="0" err="1">
                          <a:latin typeface="NBS Light" panose="020B0303030303020204" pitchFamily="34" charset="0"/>
                        </a:rPr>
                        <a:t>MLR</a:t>
                      </a:r>
                      <a:r>
                        <a:rPr lang="en-GB" sz="1200" dirty="0">
                          <a:latin typeface="NBS Light" panose="020B0303030303020204" pitchFamily="34" charset="0"/>
                        </a:rPr>
                        <a:t> Changes delivered this requirement </a:t>
                      </a:r>
                    </a:p>
                  </a:txBody>
                  <a:tcPr/>
                </a:tc>
                <a:extLst>
                  <a:ext uri="{0D108BD9-81ED-4DB2-BD59-A6C34878D82A}">
                    <a16:rowId xmlns:a16="http://schemas.microsoft.com/office/drawing/2014/main" val="717664695"/>
                  </a:ext>
                </a:extLst>
              </a:tr>
              <a:tr h="646326">
                <a:tc vMerge="1">
                  <a:txBody>
                    <a:bodyPr/>
                    <a:lstStyle/>
                    <a:p>
                      <a:endParaRPr lang="en-GB"/>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dirty="0">
                          <a:latin typeface="NBS Light" panose="020B0303030303020204" pitchFamily="34" charset="0"/>
                          <a:cs typeface="Agency FB"/>
                        </a:rPr>
                        <a:t>With</a:t>
                      </a:r>
                      <a:r>
                        <a:rPr lang="en-GB" sz="1200" spc="-30" dirty="0">
                          <a:latin typeface="NBS Light" panose="020B0303030303020204" pitchFamily="34" charset="0"/>
                          <a:cs typeface="Agency FB"/>
                        </a:rPr>
                        <a:t> </a:t>
                      </a:r>
                      <a:r>
                        <a:rPr lang="en-GB" sz="1200" spc="-5" dirty="0">
                          <a:latin typeface="NBS Light" panose="020B0303030303020204" pitchFamily="34" charset="0"/>
                          <a:cs typeface="Agency FB"/>
                        </a:rPr>
                        <a:t>limited </a:t>
                      </a:r>
                      <a:r>
                        <a:rPr lang="en-GB" sz="1200" spc="-5" dirty="0" err="1">
                          <a:latin typeface="NBS Light" panose="020B0303030303020204" pitchFamily="34" charset="0"/>
                          <a:cs typeface="Agency FB"/>
                        </a:rPr>
                        <a:t>CDD</a:t>
                      </a:r>
                      <a:r>
                        <a:rPr lang="en-GB" sz="1200" spc="5" dirty="0">
                          <a:latin typeface="NBS Light" panose="020B0303030303020204" pitchFamily="34" charset="0"/>
                          <a:cs typeface="Agency FB"/>
                        </a:rPr>
                        <a:t> </a:t>
                      </a:r>
                      <a:r>
                        <a:rPr lang="en-GB" sz="1200" dirty="0">
                          <a:latin typeface="NBS Light" panose="020B0303030303020204" pitchFamily="34" charset="0"/>
                          <a:cs typeface="Agency FB"/>
                        </a:rPr>
                        <a:t>data</a:t>
                      </a:r>
                      <a:r>
                        <a:rPr lang="en-GB" sz="1200" spc="-15" dirty="0">
                          <a:latin typeface="NBS Light" panose="020B0303030303020204" pitchFamily="34" charset="0"/>
                          <a:cs typeface="Agency FB"/>
                        </a:rPr>
                        <a:t> </a:t>
                      </a:r>
                      <a:r>
                        <a:rPr lang="en-GB" sz="1200" spc="5" dirty="0">
                          <a:latin typeface="NBS Light" panose="020B0303030303020204" pitchFamily="34" charset="0"/>
                          <a:cs typeface="Agency FB"/>
                        </a:rPr>
                        <a:t>we</a:t>
                      </a:r>
                      <a:r>
                        <a:rPr lang="en-GB" sz="1200" spc="-35" dirty="0">
                          <a:latin typeface="NBS Light" panose="020B0303030303020204" pitchFamily="34" charset="0"/>
                          <a:cs typeface="Agency FB"/>
                        </a:rPr>
                        <a:t> </a:t>
                      </a:r>
                      <a:r>
                        <a:rPr lang="en-GB" sz="1200" spc="-5" dirty="0">
                          <a:latin typeface="NBS Light" panose="020B0303030303020204" pitchFamily="34" charset="0"/>
                          <a:cs typeface="Agency FB"/>
                        </a:rPr>
                        <a:t>cannot</a:t>
                      </a:r>
                      <a:r>
                        <a:rPr lang="en-GB" sz="1200" spc="-40" dirty="0">
                          <a:latin typeface="NBS Light" panose="020B0303030303020204" pitchFamily="34" charset="0"/>
                          <a:cs typeface="Agency FB"/>
                        </a:rPr>
                        <a:t> </a:t>
                      </a:r>
                      <a:r>
                        <a:rPr lang="en-GB" sz="1200" spc="-5" dirty="0">
                          <a:latin typeface="NBS Light" panose="020B0303030303020204" pitchFamily="34" charset="0"/>
                          <a:cs typeface="Agency FB"/>
                        </a:rPr>
                        <a:t>effectively</a:t>
                      </a:r>
                      <a:r>
                        <a:rPr lang="en-GB" sz="1200" spc="-30" dirty="0">
                          <a:latin typeface="NBS Light" panose="020B0303030303020204" pitchFamily="34" charset="0"/>
                          <a:cs typeface="Agency FB"/>
                        </a:rPr>
                        <a:t> </a:t>
                      </a:r>
                      <a:r>
                        <a:rPr lang="en-GB" sz="1200" spc="-5" dirty="0">
                          <a:latin typeface="NBS Light" panose="020B0303030303020204" pitchFamily="34" charset="0"/>
                          <a:cs typeface="Agency FB"/>
                        </a:rPr>
                        <a:t>identify</a:t>
                      </a:r>
                      <a:r>
                        <a:rPr lang="en-GB" sz="1200" spc="-30" dirty="0">
                          <a:latin typeface="NBS Light" panose="020B0303030303020204" pitchFamily="34" charset="0"/>
                          <a:cs typeface="Agency FB"/>
                        </a:rPr>
                        <a:t> </a:t>
                      </a:r>
                      <a:r>
                        <a:rPr lang="en-GB" sz="1200" spc="-5" dirty="0">
                          <a:latin typeface="NBS Light" panose="020B0303030303020204" pitchFamily="34" charset="0"/>
                          <a:cs typeface="Agency FB"/>
                        </a:rPr>
                        <a:t>transactions</a:t>
                      </a:r>
                      <a:r>
                        <a:rPr lang="en-GB" sz="1200" spc="-30" dirty="0">
                          <a:latin typeface="NBS Light" panose="020B0303030303020204" pitchFamily="34" charset="0"/>
                          <a:cs typeface="Agency FB"/>
                        </a:rPr>
                        <a:t> </a:t>
                      </a:r>
                      <a:r>
                        <a:rPr lang="en-GB" sz="1200" dirty="0">
                          <a:latin typeface="NBS Light" panose="020B0303030303020204" pitchFamily="34" charset="0"/>
                          <a:cs typeface="Agency FB"/>
                        </a:rPr>
                        <a:t>which</a:t>
                      </a:r>
                      <a:r>
                        <a:rPr lang="en-GB" sz="1200" spc="-30" dirty="0">
                          <a:latin typeface="NBS Light" panose="020B0303030303020204" pitchFamily="34" charset="0"/>
                          <a:cs typeface="Agency FB"/>
                        </a:rPr>
                        <a:t> </a:t>
                      </a:r>
                      <a:r>
                        <a:rPr lang="en-GB" sz="1200" dirty="0">
                          <a:latin typeface="NBS Light" panose="020B0303030303020204" pitchFamily="34" charset="0"/>
                          <a:cs typeface="Agency FB"/>
                        </a:rPr>
                        <a:t>have</a:t>
                      </a:r>
                      <a:r>
                        <a:rPr lang="en-GB" sz="1200" spc="-25" dirty="0">
                          <a:latin typeface="NBS Light" panose="020B0303030303020204" pitchFamily="34" charset="0"/>
                          <a:cs typeface="Agency FB"/>
                        </a:rPr>
                        <a:t> </a:t>
                      </a:r>
                      <a:r>
                        <a:rPr lang="en-GB" sz="1200" dirty="0">
                          <a:latin typeface="NBS Light" panose="020B0303030303020204" pitchFamily="34" charset="0"/>
                          <a:cs typeface="Agency FB"/>
                        </a:rPr>
                        <a:t>no</a:t>
                      </a:r>
                      <a:r>
                        <a:rPr lang="en-GB" sz="1200" spc="-10" dirty="0">
                          <a:latin typeface="NBS Light" panose="020B0303030303020204" pitchFamily="34" charset="0"/>
                          <a:cs typeface="Agency FB"/>
                        </a:rPr>
                        <a:t> </a:t>
                      </a:r>
                      <a:r>
                        <a:rPr lang="en-GB" sz="1200" spc="-5" dirty="0">
                          <a:latin typeface="NBS Light" panose="020B0303030303020204" pitchFamily="34" charset="0"/>
                          <a:cs typeface="Agency FB"/>
                        </a:rPr>
                        <a:t>economic</a:t>
                      </a:r>
                      <a:r>
                        <a:rPr lang="en-GB" sz="1200" spc="-35" dirty="0">
                          <a:latin typeface="NBS Light" panose="020B0303030303020204" pitchFamily="34" charset="0"/>
                          <a:cs typeface="Agency FB"/>
                        </a:rPr>
                        <a:t> </a:t>
                      </a:r>
                      <a:r>
                        <a:rPr lang="en-GB" sz="1200" dirty="0">
                          <a:latin typeface="NBS Light" panose="020B0303030303020204" pitchFamily="34" charset="0"/>
                          <a:cs typeface="Agency FB"/>
                        </a:rPr>
                        <a:t>or </a:t>
                      </a:r>
                      <a:r>
                        <a:rPr lang="en-GB" sz="1200" spc="-5" dirty="0">
                          <a:latin typeface="NBS Light" panose="020B0303030303020204" pitchFamily="34" charset="0"/>
                          <a:cs typeface="Agency FB"/>
                        </a:rPr>
                        <a:t>legal</a:t>
                      </a:r>
                      <a:r>
                        <a:rPr lang="en-GB" sz="1200" spc="-20" dirty="0">
                          <a:latin typeface="NBS Light" panose="020B0303030303020204" pitchFamily="34" charset="0"/>
                          <a:cs typeface="Agency FB"/>
                        </a:rPr>
                        <a:t> </a:t>
                      </a:r>
                      <a:r>
                        <a:rPr lang="en-GB" sz="1200" spc="-5" dirty="0">
                          <a:latin typeface="NBS Light" panose="020B0303030303020204" pitchFamily="34" charset="0"/>
                          <a:cs typeface="Agency FB"/>
                        </a:rPr>
                        <a:t>purpose.</a:t>
                      </a:r>
                      <a:endParaRPr lang="en-GB" sz="1200" dirty="0">
                        <a:latin typeface="NBS Light" panose="020B0303030303020204" pitchFamily="34" charset="0"/>
                        <a:cs typeface="Agency FB"/>
                      </a:endParaRPr>
                    </a:p>
                  </a:txBody>
                  <a:tcPr/>
                </a:tc>
                <a:tc>
                  <a:txBody>
                    <a:bodyPr/>
                    <a:lstStyle/>
                    <a:p>
                      <a:pPr algn="ctr"/>
                      <a:r>
                        <a:rPr lang="en-GB" sz="1200" dirty="0">
                          <a:latin typeface="NBS Light" panose="020B0303030303020204" pitchFamily="34" charset="0"/>
                        </a:rPr>
                        <a:t>In Progress </a:t>
                      </a:r>
                    </a:p>
                  </a:txBody>
                  <a:tcPr>
                    <a:solidFill>
                      <a:srgbClr val="92D050"/>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dirty="0" err="1">
                          <a:latin typeface="NBS Light" panose="020B0303030303020204" pitchFamily="34" charset="0"/>
                        </a:rPr>
                        <a:t>CDD</a:t>
                      </a:r>
                      <a:r>
                        <a:rPr lang="en-GB" sz="1200" dirty="0">
                          <a:latin typeface="NBS Light" panose="020B0303030303020204" pitchFamily="34" charset="0"/>
                        </a:rPr>
                        <a:t> Triggers and refresh project to deliver </a:t>
                      </a:r>
                      <a:r>
                        <a:rPr lang="en-GB" sz="1200" dirty="0" err="1">
                          <a:latin typeface="NBS Light" panose="020B0303030303020204" pitchFamily="34" charset="0"/>
                        </a:rPr>
                        <a:t>CDD</a:t>
                      </a:r>
                      <a:r>
                        <a:rPr lang="en-GB" sz="1200" dirty="0">
                          <a:latin typeface="NBS Light" panose="020B0303030303020204" pitchFamily="34" charset="0"/>
                        </a:rPr>
                        <a:t> data to be utilised by TM </a:t>
                      </a:r>
                    </a:p>
                    <a:p>
                      <a:pPr marL="171450" indent="-171450">
                        <a:buFont typeface="Arial" panose="020B0604020202020204" pitchFamily="34" charset="0"/>
                        <a:buChar char="•"/>
                      </a:pPr>
                      <a:r>
                        <a:rPr lang="en-GB" sz="1200" dirty="0">
                          <a:latin typeface="NBS Light" panose="020B0303030303020204" pitchFamily="34" charset="0"/>
                        </a:rPr>
                        <a:t>TM includes what currently exists for income data</a:t>
                      </a:r>
                    </a:p>
                  </a:txBody>
                  <a:tcPr/>
                </a:tc>
                <a:extLst>
                  <a:ext uri="{0D108BD9-81ED-4DB2-BD59-A6C34878D82A}">
                    <a16:rowId xmlns:a16="http://schemas.microsoft.com/office/drawing/2014/main" val="1750634499"/>
                  </a:ext>
                </a:extLst>
              </a:tr>
              <a:tr h="933583">
                <a:tc vMerge="1">
                  <a:txBody>
                    <a:bodyPr/>
                    <a:lstStyle/>
                    <a:p>
                      <a:endParaRPr lang="en-GB"/>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spc="-5" dirty="0">
                          <a:latin typeface="NBS Light" panose="020B0303030303020204" pitchFamily="34" charset="0"/>
                          <a:cs typeface="Agency FB"/>
                        </a:rPr>
                        <a:t>Rules </a:t>
                      </a:r>
                      <a:r>
                        <a:rPr lang="en-GB" sz="1200" dirty="0">
                          <a:latin typeface="NBS Light" panose="020B0303030303020204" pitchFamily="34" charset="0"/>
                          <a:cs typeface="Agency FB"/>
                        </a:rPr>
                        <a:t>to</a:t>
                      </a:r>
                      <a:r>
                        <a:rPr lang="en-GB" sz="1200" spc="-15" dirty="0">
                          <a:latin typeface="NBS Light" panose="020B0303030303020204" pitchFamily="34" charset="0"/>
                          <a:cs typeface="Agency FB"/>
                        </a:rPr>
                        <a:t> </a:t>
                      </a:r>
                      <a:r>
                        <a:rPr lang="en-GB" sz="1200" spc="-5" dirty="0">
                          <a:latin typeface="NBS Light" panose="020B0303030303020204" pitchFamily="34" charset="0"/>
                          <a:cs typeface="Agency FB"/>
                        </a:rPr>
                        <a:t>specifically</a:t>
                      </a:r>
                      <a:r>
                        <a:rPr lang="en-GB" sz="1200" spc="-15" dirty="0">
                          <a:latin typeface="NBS Light" panose="020B0303030303020204" pitchFamily="34" charset="0"/>
                          <a:cs typeface="Agency FB"/>
                        </a:rPr>
                        <a:t> </a:t>
                      </a:r>
                      <a:r>
                        <a:rPr lang="en-GB" sz="1200" spc="-5" dirty="0">
                          <a:latin typeface="NBS Light" panose="020B0303030303020204" pitchFamily="34" charset="0"/>
                          <a:cs typeface="Agency FB"/>
                        </a:rPr>
                        <a:t>monitor</a:t>
                      </a:r>
                      <a:r>
                        <a:rPr lang="en-GB" sz="1200" spc="-30" dirty="0">
                          <a:latin typeface="NBS Light" panose="020B0303030303020204" pitchFamily="34" charset="0"/>
                          <a:cs typeface="Agency FB"/>
                        </a:rPr>
                        <a:t> </a:t>
                      </a:r>
                      <a:r>
                        <a:rPr lang="en-GB" sz="1200" spc="-5" dirty="0">
                          <a:latin typeface="NBS Light" panose="020B0303030303020204" pitchFamily="34" charset="0"/>
                          <a:cs typeface="Agency FB"/>
                        </a:rPr>
                        <a:t>transactions</a:t>
                      </a:r>
                      <a:r>
                        <a:rPr lang="en-GB" sz="1200" spc="-25" dirty="0">
                          <a:latin typeface="NBS Light" panose="020B0303030303020204" pitchFamily="34" charset="0"/>
                          <a:cs typeface="Agency FB"/>
                        </a:rPr>
                        <a:t> </a:t>
                      </a:r>
                      <a:r>
                        <a:rPr lang="en-GB" sz="1200" spc="-5" dirty="0">
                          <a:latin typeface="NBS Light" panose="020B0303030303020204" pitchFamily="34" charset="0"/>
                          <a:cs typeface="Agency FB"/>
                        </a:rPr>
                        <a:t>(inbound</a:t>
                      </a:r>
                      <a:r>
                        <a:rPr lang="en-GB" sz="1200" spc="-15" dirty="0">
                          <a:latin typeface="NBS Light" panose="020B0303030303020204" pitchFamily="34" charset="0"/>
                          <a:cs typeface="Agency FB"/>
                        </a:rPr>
                        <a:t> </a:t>
                      </a:r>
                      <a:r>
                        <a:rPr lang="en-GB" sz="1200" dirty="0">
                          <a:latin typeface="NBS Light" panose="020B0303030303020204" pitchFamily="34" charset="0"/>
                          <a:cs typeface="Agency FB"/>
                        </a:rPr>
                        <a:t>/</a:t>
                      </a:r>
                      <a:r>
                        <a:rPr lang="en-GB" sz="1200" spc="-5" dirty="0">
                          <a:latin typeface="NBS Light" panose="020B0303030303020204" pitchFamily="34" charset="0"/>
                          <a:cs typeface="Agency FB"/>
                        </a:rPr>
                        <a:t> outbound)</a:t>
                      </a:r>
                      <a:r>
                        <a:rPr lang="en-GB" sz="1200" spc="-45" dirty="0">
                          <a:latin typeface="NBS Light" panose="020B0303030303020204" pitchFamily="34" charset="0"/>
                          <a:cs typeface="Agency FB"/>
                        </a:rPr>
                        <a:t> </a:t>
                      </a:r>
                      <a:r>
                        <a:rPr lang="en-GB" sz="1200" dirty="0">
                          <a:latin typeface="NBS Light" panose="020B0303030303020204" pitchFamily="34" charset="0"/>
                          <a:cs typeface="Agency FB"/>
                        </a:rPr>
                        <a:t>with</a:t>
                      </a:r>
                      <a:r>
                        <a:rPr lang="en-GB" sz="1200" spc="-40" dirty="0">
                          <a:latin typeface="NBS Light" panose="020B0303030303020204" pitchFamily="34" charset="0"/>
                          <a:cs typeface="Agency FB"/>
                        </a:rPr>
                        <a:t> </a:t>
                      </a:r>
                      <a:r>
                        <a:rPr lang="en-GB" sz="1200" spc="-5" dirty="0">
                          <a:latin typeface="NBS Light" panose="020B0303030303020204" pitchFamily="34" charset="0"/>
                          <a:cs typeface="Agency FB"/>
                        </a:rPr>
                        <a:t>countries</a:t>
                      </a:r>
                      <a:r>
                        <a:rPr lang="en-GB" sz="1200" spc="-25" dirty="0">
                          <a:latin typeface="NBS Light" panose="020B0303030303020204" pitchFamily="34" charset="0"/>
                          <a:cs typeface="Agency FB"/>
                        </a:rPr>
                        <a:t> </a:t>
                      </a:r>
                      <a:r>
                        <a:rPr lang="en-GB" sz="1200" dirty="0">
                          <a:latin typeface="NBS Light" panose="020B0303030303020204" pitchFamily="34" charset="0"/>
                          <a:cs typeface="Agency FB"/>
                        </a:rPr>
                        <a:t>of concern</a:t>
                      </a:r>
                      <a:r>
                        <a:rPr lang="en-GB" sz="1200" spc="-40" dirty="0">
                          <a:latin typeface="NBS Light" panose="020B0303030303020204" pitchFamily="34" charset="0"/>
                          <a:cs typeface="Agency FB"/>
                        </a:rPr>
                        <a:t> </a:t>
                      </a:r>
                      <a:r>
                        <a:rPr lang="en-GB" sz="1200" dirty="0">
                          <a:latin typeface="NBS Light" panose="020B0303030303020204" pitchFamily="34" charset="0"/>
                          <a:cs typeface="Agency FB"/>
                        </a:rPr>
                        <a:t>are</a:t>
                      </a:r>
                      <a:r>
                        <a:rPr lang="en-GB" sz="1200" spc="5" dirty="0">
                          <a:latin typeface="NBS Light" panose="020B0303030303020204" pitchFamily="34" charset="0"/>
                          <a:cs typeface="Agency FB"/>
                        </a:rPr>
                        <a:t> </a:t>
                      </a:r>
                      <a:r>
                        <a:rPr lang="en-GB" sz="1200" spc="-5" dirty="0">
                          <a:latin typeface="NBS Light" panose="020B0303030303020204" pitchFamily="34" charset="0"/>
                          <a:cs typeface="Agency FB"/>
                        </a:rPr>
                        <a:t>complex</a:t>
                      </a:r>
                      <a:r>
                        <a:rPr lang="en-GB" sz="1200" spc="-20" dirty="0">
                          <a:latin typeface="NBS Light" panose="020B0303030303020204" pitchFamily="34" charset="0"/>
                          <a:cs typeface="Agency FB"/>
                        </a:rPr>
                        <a:t> </a:t>
                      </a:r>
                      <a:r>
                        <a:rPr lang="en-GB" sz="1200" dirty="0">
                          <a:latin typeface="NBS Light" panose="020B0303030303020204" pitchFamily="34" charset="0"/>
                          <a:cs typeface="Agency FB"/>
                        </a:rPr>
                        <a:t>and</a:t>
                      </a:r>
                      <a:r>
                        <a:rPr lang="en-GB" sz="1200" spc="-15" dirty="0">
                          <a:latin typeface="NBS Light" panose="020B0303030303020204" pitchFamily="34" charset="0"/>
                          <a:cs typeface="Agency FB"/>
                        </a:rPr>
                        <a:t> </a:t>
                      </a:r>
                      <a:r>
                        <a:rPr lang="en-GB" sz="1200" spc="-5" dirty="0">
                          <a:latin typeface="NBS Light" panose="020B0303030303020204" pitchFamily="34" charset="0"/>
                          <a:cs typeface="Agency FB"/>
                        </a:rPr>
                        <a:t>dependent</a:t>
                      </a:r>
                      <a:r>
                        <a:rPr lang="en-GB" sz="1200" spc="-35" dirty="0">
                          <a:latin typeface="NBS Light" panose="020B0303030303020204" pitchFamily="34" charset="0"/>
                          <a:cs typeface="Agency FB"/>
                        </a:rPr>
                        <a:t> </a:t>
                      </a:r>
                      <a:r>
                        <a:rPr lang="en-GB" sz="1200" dirty="0">
                          <a:latin typeface="NBS Light" panose="020B0303030303020204" pitchFamily="34" charset="0"/>
                          <a:cs typeface="Agency FB"/>
                        </a:rPr>
                        <a:t>on a number</a:t>
                      </a:r>
                      <a:r>
                        <a:rPr lang="en-GB" sz="1200" spc="-30" dirty="0">
                          <a:latin typeface="NBS Light" panose="020B0303030303020204" pitchFamily="34" charset="0"/>
                          <a:cs typeface="Agency FB"/>
                        </a:rPr>
                        <a:t> </a:t>
                      </a:r>
                      <a:r>
                        <a:rPr lang="en-GB" sz="1200" dirty="0">
                          <a:latin typeface="NBS Light" panose="020B0303030303020204" pitchFamily="34" charset="0"/>
                          <a:cs typeface="Agency FB"/>
                        </a:rPr>
                        <a:t>of</a:t>
                      </a:r>
                      <a:r>
                        <a:rPr lang="en-GB" sz="1200" spc="10" dirty="0">
                          <a:latin typeface="NBS Light" panose="020B0303030303020204" pitchFamily="34" charset="0"/>
                          <a:cs typeface="Agency FB"/>
                        </a:rPr>
                        <a:t> </a:t>
                      </a:r>
                      <a:r>
                        <a:rPr lang="en-GB" sz="1200" spc="-5" dirty="0">
                          <a:latin typeface="NBS Light" panose="020B0303030303020204" pitchFamily="34" charset="0"/>
                          <a:cs typeface="Agency FB"/>
                        </a:rPr>
                        <a:t>thresholds</a:t>
                      </a:r>
                      <a:r>
                        <a:rPr lang="en-GB" sz="1200" spc="-15" dirty="0">
                          <a:latin typeface="NBS Light" panose="020B0303030303020204" pitchFamily="34" charset="0"/>
                          <a:cs typeface="Agency FB"/>
                        </a:rPr>
                        <a:t> </a:t>
                      </a:r>
                      <a:r>
                        <a:rPr lang="en-GB" sz="1200" spc="-5" dirty="0">
                          <a:latin typeface="NBS Light" panose="020B0303030303020204" pitchFamily="34" charset="0"/>
                          <a:cs typeface="Agency FB"/>
                        </a:rPr>
                        <a:t>being</a:t>
                      </a:r>
                      <a:r>
                        <a:rPr lang="en-GB" sz="1200" spc="-15" dirty="0">
                          <a:latin typeface="NBS Light" panose="020B0303030303020204" pitchFamily="34" charset="0"/>
                          <a:cs typeface="Agency FB"/>
                        </a:rPr>
                        <a:t> </a:t>
                      </a:r>
                      <a:r>
                        <a:rPr lang="en-GB" sz="1200" spc="-5" dirty="0">
                          <a:latin typeface="NBS Light" panose="020B0303030303020204" pitchFamily="34" charset="0"/>
                          <a:cs typeface="Agency FB"/>
                        </a:rPr>
                        <a:t>hit</a:t>
                      </a:r>
                      <a:r>
                        <a:rPr lang="en-GB" sz="1200" spc="5" dirty="0">
                          <a:latin typeface="NBS Light" panose="020B0303030303020204" pitchFamily="34" charset="0"/>
                          <a:cs typeface="Agency FB"/>
                        </a:rPr>
                        <a:t> </a:t>
                      </a:r>
                      <a:r>
                        <a:rPr lang="en-GB" sz="1200" dirty="0">
                          <a:latin typeface="NBS Light" panose="020B0303030303020204" pitchFamily="34" charset="0"/>
                          <a:cs typeface="Agency FB"/>
                        </a:rPr>
                        <a:t>to</a:t>
                      </a:r>
                      <a:r>
                        <a:rPr lang="en-GB" sz="1200" spc="-15" dirty="0">
                          <a:latin typeface="NBS Light" panose="020B0303030303020204" pitchFamily="34" charset="0"/>
                          <a:cs typeface="Agency FB"/>
                        </a:rPr>
                        <a:t> </a:t>
                      </a:r>
                      <a:r>
                        <a:rPr lang="en-GB" sz="1200" dirty="0">
                          <a:latin typeface="NBS Light" panose="020B0303030303020204" pitchFamily="34" charset="0"/>
                          <a:cs typeface="Agency FB"/>
                        </a:rPr>
                        <a:t>generate</a:t>
                      </a:r>
                      <a:r>
                        <a:rPr lang="en-GB" sz="1200" spc="-20" dirty="0">
                          <a:latin typeface="NBS Light" panose="020B0303030303020204" pitchFamily="34" charset="0"/>
                          <a:cs typeface="Agency FB"/>
                        </a:rPr>
                        <a:t> </a:t>
                      </a:r>
                      <a:r>
                        <a:rPr lang="en-GB" sz="1200" dirty="0">
                          <a:latin typeface="NBS Light" panose="020B0303030303020204" pitchFamily="34" charset="0"/>
                          <a:cs typeface="Agency FB"/>
                        </a:rPr>
                        <a:t>an</a:t>
                      </a:r>
                      <a:r>
                        <a:rPr lang="en-GB" sz="1200" spc="-15" dirty="0">
                          <a:latin typeface="NBS Light" panose="020B0303030303020204" pitchFamily="34" charset="0"/>
                          <a:cs typeface="Agency FB"/>
                        </a:rPr>
                        <a:t> </a:t>
                      </a:r>
                      <a:r>
                        <a:rPr lang="en-GB" sz="1200" spc="-5" dirty="0">
                          <a:latin typeface="NBS Light" panose="020B0303030303020204" pitchFamily="34" charset="0"/>
                          <a:cs typeface="Agency FB"/>
                        </a:rPr>
                        <a:t>alert </a:t>
                      </a:r>
                      <a:r>
                        <a:rPr lang="en-GB" sz="1200" dirty="0">
                          <a:latin typeface="NBS Light" panose="020B0303030303020204" pitchFamily="34" charset="0"/>
                          <a:cs typeface="Agency FB"/>
                        </a:rPr>
                        <a:t>a number of </a:t>
                      </a:r>
                      <a:r>
                        <a:rPr lang="en-GB" sz="1200" spc="-5" dirty="0">
                          <a:latin typeface="NBS Light" panose="020B0303030303020204" pitchFamily="34" charset="0"/>
                          <a:cs typeface="Agency FB"/>
                        </a:rPr>
                        <a:t>thresholds being hit </a:t>
                      </a:r>
                      <a:r>
                        <a:rPr lang="en-GB" sz="1200" dirty="0">
                          <a:latin typeface="NBS Light" panose="020B0303030303020204" pitchFamily="34" charset="0"/>
                          <a:cs typeface="Agency FB"/>
                        </a:rPr>
                        <a:t>to generate an </a:t>
                      </a:r>
                      <a:r>
                        <a:rPr lang="en-GB" sz="1200" spc="-5" dirty="0">
                          <a:latin typeface="NBS Light" panose="020B0303030303020204" pitchFamily="34" charset="0"/>
                          <a:cs typeface="Agency FB"/>
                        </a:rPr>
                        <a:t>alert meaning </a:t>
                      </a:r>
                      <a:r>
                        <a:rPr lang="en-GB" sz="1200" dirty="0">
                          <a:latin typeface="NBS Light" panose="020B0303030303020204" pitchFamily="34" charset="0"/>
                          <a:cs typeface="Agency FB"/>
                        </a:rPr>
                        <a:t>NBS </a:t>
                      </a:r>
                      <a:r>
                        <a:rPr lang="en-GB" sz="1200" spc="-5" dirty="0">
                          <a:latin typeface="NBS Light" panose="020B0303030303020204" pitchFamily="34" charset="0"/>
                          <a:cs typeface="Agency FB"/>
                        </a:rPr>
                        <a:t>might </a:t>
                      </a:r>
                      <a:r>
                        <a:rPr lang="en-GB" sz="1200" dirty="0">
                          <a:latin typeface="NBS Light" panose="020B0303030303020204" pitchFamily="34" charset="0"/>
                          <a:cs typeface="Agency FB"/>
                        </a:rPr>
                        <a:t>not </a:t>
                      </a:r>
                      <a:r>
                        <a:rPr lang="en-GB" sz="1200" spc="0" dirty="0">
                          <a:latin typeface="NBS Light" panose="020B0303030303020204" pitchFamily="34" charset="0"/>
                          <a:cs typeface="Agency FB"/>
                        </a:rPr>
                        <a:t>see </a:t>
                      </a:r>
                      <a:r>
                        <a:rPr lang="en-GB" sz="1200" spc="-5" dirty="0">
                          <a:latin typeface="NBS Light" panose="020B0303030303020204" pitchFamily="34" charset="0"/>
                          <a:cs typeface="Agency FB"/>
                        </a:rPr>
                        <a:t>all business relationships </a:t>
                      </a:r>
                      <a:r>
                        <a:rPr lang="en-GB" sz="1200" dirty="0">
                          <a:latin typeface="NBS Light" panose="020B0303030303020204" pitchFamily="34" charset="0"/>
                          <a:cs typeface="Agency FB"/>
                        </a:rPr>
                        <a:t>/ </a:t>
                      </a:r>
                      <a:r>
                        <a:rPr lang="en-GB" sz="1200" spc="-5" dirty="0">
                          <a:latin typeface="NBS Light" panose="020B0303030303020204" pitchFamily="34" charset="0"/>
                          <a:cs typeface="Agency FB"/>
                        </a:rPr>
                        <a:t>transactions </a:t>
                      </a:r>
                      <a:r>
                        <a:rPr lang="en-GB" sz="1200" dirty="0">
                          <a:latin typeface="NBS Light" panose="020B0303030303020204" pitchFamily="34" charset="0"/>
                          <a:cs typeface="Agency FB"/>
                        </a:rPr>
                        <a:t>with a person </a:t>
                      </a:r>
                      <a:r>
                        <a:rPr lang="en-GB" sz="1200" spc="-5" dirty="0">
                          <a:latin typeface="NBS Light" panose="020B0303030303020204" pitchFamily="34" charset="0"/>
                          <a:cs typeface="Agency FB"/>
                        </a:rPr>
                        <a:t>in </a:t>
                      </a:r>
                      <a:r>
                        <a:rPr lang="en-GB" sz="1200" dirty="0">
                          <a:latin typeface="NBS Light" panose="020B0303030303020204" pitchFamily="34" charset="0"/>
                          <a:cs typeface="Agency FB"/>
                        </a:rPr>
                        <a:t>a </a:t>
                      </a:r>
                      <a:r>
                        <a:rPr lang="en-GB" sz="1200" spc="-5" dirty="0">
                          <a:latin typeface="NBS Light" panose="020B0303030303020204" pitchFamily="34" charset="0"/>
                          <a:cs typeface="Agency FB"/>
                        </a:rPr>
                        <a:t>high-risk </a:t>
                      </a:r>
                      <a:r>
                        <a:rPr lang="en-GB" sz="1200" dirty="0">
                          <a:latin typeface="NBS Light" panose="020B0303030303020204" pitchFamily="34" charset="0"/>
                          <a:cs typeface="Agency FB"/>
                        </a:rPr>
                        <a:t>country and </a:t>
                      </a:r>
                      <a:r>
                        <a:rPr lang="en-GB" sz="1200" spc="-5" dirty="0">
                          <a:latin typeface="NBS Light" panose="020B0303030303020204" pitchFamily="34" charset="0"/>
                          <a:cs typeface="Agency FB"/>
                        </a:rPr>
                        <a:t>therefore cannot  transactions</a:t>
                      </a:r>
                      <a:r>
                        <a:rPr lang="en-GB" sz="1200" spc="-55" dirty="0">
                          <a:latin typeface="NBS Light" panose="020B0303030303020204" pitchFamily="34" charset="0"/>
                          <a:cs typeface="Agency FB"/>
                        </a:rPr>
                        <a:t> </a:t>
                      </a:r>
                      <a:r>
                        <a:rPr lang="en-GB" sz="1200" dirty="0">
                          <a:latin typeface="NBS Light" panose="020B0303030303020204" pitchFamily="34" charset="0"/>
                          <a:cs typeface="Agency FB"/>
                        </a:rPr>
                        <a:t>with a person </a:t>
                      </a:r>
                      <a:r>
                        <a:rPr lang="en-GB" sz="1200" spc="-5" dirty="0">
                          <a:latin typeface="NBS Light" panose="020B0303030303020204" pitchFamily="34" charset="0"/>
                          <a:cs typeface="Agency FB"/>
                        </a:rPr>
                        <a:t>in </a:t>
                      </a:r>
                      <a:r>
                        <a:rPr lang="en-GB" sz="1200" dirty="0">
                          <a:latin typeface="NBS Light" panose="020B0303030303020204" pitchFamily="34" charset="0"/>
                          <a:cs typeface="Agency FB"/>
                        </a:rPr>
                        <a:t>a </a:t>
                      </a:r>
                      <a:r>
                        <a:rPr lang="en-GB" sz="1200" spc="-5" dirty="0">
                          <a:latin typeface="NBS Light" panose="020B0303030303020204" pitchFamily="34" charset="0"/>
                          <a:cs typeface="Agency FB"/>
                        </a:rPr>
                        <a:t>high-risk country </a:t>
                      </a:r>
                      <a:r>
                        <a:rPr lang="en-GB" sz="1200" dirty="0">
                          <a:latin typeface="NBS Light" panose="020B0303030303020204" pitchFamily="34" charset="0"/>
                          <a:cs typeface="Agency FB"/>
                        </a:rPr>
                        <a:t>and therefore cannot </a:t>
                      </a:r>
                      <a:r>
                        <a:rPr lang="en-GB" sz="1200" spc="-5" dirty="0">
                          <a:latin typeface="NBS Light" panose="020B0303030303020204" pitchFamily="34" charset="0"/>
                          <a:cs typeface="Agency FB"/>
                        </a:rPr>
                        <a:t>undertake </a:t>
                      </a:r>
                      <a:r>
                        <a:rPr lang="en-GB" sz="1200" dirty="0">
                          <a:latin typeface="NBS Light" panose="020B0303030303020204" pitchFamily="34" charset="0"/>
                          <a:cs typeface="Agency FB"/>
                        </a:rPr>
                        <a:t>the required </a:t>
                      </a:r>
                      <a:r>
                        <a:rPr lang="en-GB" sz="1200" spc="-5" dirty="0">
                          <a:latin typeface="NBS Light" panose="020B0303030303020204" pitchFamily="34" charset="0"/>
                          <a:cs typeface="Agency FB"/>
                        </a:rPr>
                        <a:t>EDD </a:t>
                      </a:r>
                      <a:r>
                        <a:rPr lang="en-GB" sz="1200" dirty="0">
                          <a:latin typeface="NBS Light" panose="020B0303030303020204" pitchFamily="34" charset="0"/>
                          <a:cs typeface="Agency FB"/>
                        </a:rPr>
                        <a:t>on the </a:t>
                      </a:r>
                      <a:r>
                        <a:rPr lang="en-GB" sz="1200" spc="-5" dirty="0">
                          <a:latin typeface="NBS Light" panose="020B0303030303020204" pitchFamily="34" charset="0"/>
                          <a:cs typeface="Agency FB"/>
                        </a:rPr>
                        <a:t>customer</a:t>
                      </a:r>
                      <a:endParaRPr lang="en-GB" sz="1200" dirty="0">
                        <a:latin typeface="NBS Light" panose="020B0303030303020204" pitchFamily="34" charset="0"/>
                        <a:cs typeface="Agency FB"/>
                      </a:endParaRPr>
                    </a:p>
                  </a:txBody>
                  <a:tcPr/>
                </a:tc>
                <a:tc>
                  <a:txBody>
                    <a:bodyPr/>
                    <a:lstStyle/>
                    <a:p>
                      <a:pPr algn="ctr"/>
                      <a:r>
                        <a:rPr lang="en-GB" sz="1200" dirty="0">
                          <a:latin typeface="NBS Light" panose="020B0303030303020204" pitchFamily="34" charset="0"/>
                        </a:rPr>
                        <a:t>In Progress</a:t>
                      </a:r>
                    </a:p>
                  </a:txBody>
                  <a:tcPr>
                    <a:solidFill>
                      <a:srgbClr val="92D050"/>
                    </a:solidFill>
                  </a:tcPr>
                </a:tc>
                <a:tc>
                  <a:txBody>
                    <a:bodyPr/>
                    <a:lstStyle/>
                    <a:p>
                      <a:pPr marL="171450" indent="-171450">
                        <a:buFont typeface="Arial" panose="020B0604020202020204" pitchFamily="34" charset="0"/>
                        <a:buChar char="•"/>
                      </a:pPr>
                      <a:r>
                        <a:rPr lang="en-GB" sz="1200" dirty="0">
                          <a:latin typeface="NBS Light" panose="020B0303030303020204" pitchFamily="34" charset="0"/>
                        </a:rPr>
                        <a:t>Rule development phase 2 commenced in July and high risk jurisdiction rules are in phase 2 due to be delivered by Dec-21</a:t>
                      </a:r>
                    </a:p>
                  </a:txBody>
                  <a:tcPr/>
                </a:tc>
                <a:extLst>
                  <a:ext uri="{0D108BD9-81ED-4DB2-BD59-A6C34878D82A}">
                    <a16:rowId xmlns:a16="http://schemas.microsoft.com/office/drawing/2014/main" val="1865801621"/>
                  </a:ext>
                </a:extLst>
              </a:tr>
            </a:tbl>
          </a:graphicData>
        </a:graphic>
      </p:graphicFrame>
      <p:grpSp>
        <p:nvGrpSpPr>
          <p:cNvPr id="18" name="Group 17">
            <a:extLst>
              <a:ext uri="{FF2B5EF4-FFF2-40B4-BE49-F238E27FC236}">
                <a16:creationId xmlns:a16="http://schemas.microsoft.com/office/drawing/2014/main" id="{38CF6D83-5D36-4D32-BF2D-D4299772F9AE}"/>
              </a:ext>
            </a:extLst>
          </p:cNvPr>
          <p:cNvGrpSpPr/>
          <p:nvPr/>
        </p:nvGrpSpPr>
        <p:grpSpPr>
          <a:xfrm>
            <a:off x="10750335" y="159099"/>
            <a:ext cx="1005206" cy="479127"/>
            <a:chOff x="3236913" y="913342"/>
            <a:chExt cx="1740428" cy="712845"/>
          </a:xfrm>
        </p:grpSpPr>
        <p:pic>
          <p:nvPicPr>
            <p:cNvPr id="19" name="Picture 18" descr="Nationwide BS Logo sRGB.png">
              <a:extLst>
                <a:ext uri="{FF2B5EF4-FFF2-40B4-BE49-F238E27FC236}">
                  <a16:creationId xmlns:a16="http://schemas.microsoft.com/office/drawing/2014/main" id="{F7A79F01-D040-4523-A30B-CBFA2124D75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938" t="18020" r="9268" b="14259"/>
            <a:stretch/>
          </p:blipFill>
          <p:spPr>
            <a:xfrm>
              <a:off x="3236913" y="913342"/>
              <a:ext cx="1740428" cy="712845"/>
            </a:xfrm>
            <a:prstGeom prst="rect">
              <a:avLst/>
            </a:prstGeom>
          </p:spPr>
        </p:pic>
        <p:sp>
          <p:nvSpPr>
            <p:cNvPr id="20" name="Rounded Rectangle 16">
              <a:extLst>
                <a:ext uri="{FF2B5EF4-FFF2-40B4-BE49-F238E27FC236}">
                  <a16:creationId xmlns:a16="http://schemas.microsoft.com/office/drawing/2014/main" id="{D3353DFE-871A-4977-A8B0-15E4A0771B71}"/>
                </a:ext>
              </a:extLst>
            </p:cNvPr>
            <p:cNvSpPr/>
            <p:nvPr/>
          </p:nvSpPr>
          <p:spPr>
            <a:xfrm>
              <a:off x="3249341" y="919691"/>
              <a:ext cx="1728000" cy="480613"/>
            </a:xfrm>
            <a:prstGeom prst="roundRect">
              <a:avLst>
                <a:gd name="adj" fmla="val 13275"/>
              </a:avLst>
            </a:prstGeom>
            <a:noFill/>
            <a:ln w="6350" cap="flat" cmpd="sng" algn="ctr">
              <a:solidFill>
                <a:sysClr val="window" lastClr="FFFFFF"/>
              </a:solidFill>
              <a:prstDash val="solid"/>
            </a:ln>
            <a:effectLst/>
          </p:spPr>
          <p:txBody>
            <a:bodyPr rtlCol="0" anchor="ctr"/>
            <a:lstStyle/>
            <a:p>
              <a:pPr algn="ctr" defTabSz="257175">
                <a:defRPr/>
              </a:pPr>
              <a:endParaRPr lang="en-US" sz="1013" kern="0" dirty="0">
                <a:solidFill>
                  <a:prstClr val="white"/>
                </a:solidFill>
                <a:latin typeface="Calibri"/>
              </a:endParaRPr>
            </a:p>
          </p:txBody>
        </p:sp>
      </p:grpSp>
    </p:spTree>
    <p:extLst>
      <p:ext uri="{BB962C8B-B14F-4D97-AF65-F5344CB8AC3E}">
        <p14:creationId xmlns:p14="http://schemas.microsoft.com/office/powerpoint/2010/main" val="15502110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B677B79-D815-4E3A-9CB1-94373A757E09}"/>
              </a:ext>
            </a:extLst>
          </p:cNvPr>
          <p:cNvSpPr txBox="1">
            <a:spLocks/>
          </p:cNvSpPr>
          <p:nvPr/>
        </p:nvSpPr>
        <p:spPr>
          <a:xfrm>
            <a:off x="436459" y="394269"/>
            <a:ext cx="11644891" cy="40075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chemeClr val="accent1">
                    <a:lumMod val="75000"/>
                  </a:schemeClr>
                </a:solidFill>
                <a:latin typeface="Elephant" panose="02020904090505020303" pitchFamily="18" charset="0"/>
              </a:rPr>
              <a:t>Transaction Monitoring – Gap Analysis Review </a:t>
            </a:r>
          </a:p>
          <a:p>
            <a:pPr algn="l"/>
            <a:r>
              <a:rPr lang="en-US" sz="1400" dirty="0">
                <a:solidFill>
                  <a:schemeClr val="accent1">
                    <a:lumMod val="75000"/>
                  </a:schemeClr>
                </a:solidFill>
                <a:latin typeface="NBS Medium" panose="020B0603030303020204" pitchFamily="34" charset="0"/>
              </a:rPr>
              <a:t>   </a:t>
            </a:r>
            <a:r>
              <a:rPr lang="en-US" sz="1400" i="1" dirty="0">
                <a:solidFill>
                  <a:srgbClr val="C00000"/>
                </a:solidFill>
                <a:latin typeface="NBS Medium" panose="020B0603030303020204" pitchFamily="34" charset="0"/>
              </a:rPr>
              <a:t>A review of Nationwide's AML TM Gap Analysis completed in 2019 and validate by KPMG. This slides provides a progress update against the gaps</a:t>
            </a:r>
          </a:p>
        </p:txBody>
      </p:sp>
      <p:graphicFrame>
        <p:nvGraphicFramePr>
          <p:cNvPr id="2" name="Table 2">
            <a:extLst>
              <a:ext uri="{FF2B5EF4-FFF2-40B4-BE49-F238E27FC236}">
                <a16:creationId xmlns:a16="http://schemas.microsoft.com/office/drawing/2014/main" id="{F8089F2B-F95E-4090-838B-AC19C0FBC7FE}"/>
              </a:ext>
            </a:extLst>
          </p:cNvPr>
          <p:cNvGraphicFramePr>
            <a:graphicFrameLocks noGrp="1"/>
          </p:cNvGraphicFramePr>
          <p:nvPr>
            <p:extLst>
              <p:ext uri="{D42A27DB-BD31-4B8C-83A1-F6EECF244321}">
                <p14:modId xmlns:p14="http://schemas.microsoft.com/office/powerpoint/2010/main" val="2576194745"/>
              </p:ext>
            </p:extLst>
          </p:nvPr>
        </p:nvGraphicFramePr>
        <p:xfrm>
          <a:off x="604911" y="907070"/>
          <a:ext cx="11097379" cy="5882640"/>
        </p:xfrm>
        <a:graphic>
          <a:graphicData uri="http://schemas.openxmlformats.org/drawingml/2006/table">
            <a:tbl>
              <a:tblPr firstRow="1" bandRow="1">
                <a:tableStyleId>{5C22544A-7EE6-4342-B048-85BDC9FD1C3A}</a:tableStyleId>
              </a:tblPr>
              <a:tblGrid>
                <a:gridCol w="1467563">
                  <a:extLst>
                    <a:ext uri="{9D8B030D-6E8A-4147-A177-3AD203B41FA5}">
                      <a16:colId xmlns:a16="http://schemas.microsoft.com/office/drawing/2014/main" val="3182536640"/>
                    </a:ext>
                  </a:extLst>
                </a:gridCol>
                <a:gridCol w="5144252">
                  <a:extLst>
                    <a:ext uri="{9D8B030D-6E8A-4147-A177-3AD203B41FA5}">
                      <a16:colId xmlns:a16="http://schemas.microsoft.com/office/drawing/2014/main" val="3372796699"/>
                    </a:ext>
                  </a:extLst>
                </a:gridCol>
                <a:gridCol w="1139483">
                  <a:extLst>
                    <a:ext uri="{9D8B030D-6E8A-4147-A177-3AD203B41FA5}">
                      <a16:colId xmlns:a16="http://schemas.microsoft.com/office/drawing/2014/main" val="1040161657"/>
                    </a:ext>
                  </a:extLst>
                </a:gridCol>
                <a:gridCol w="3346081">
                  <a:extLst>
                    <a:ext uri="{9D8B030D-6E8A-4147-A177-3AD203B41FA5}">
                      <a16:colId xmlns:a16="http://schemas.microsoft.com/office/drawing/2014/main" val="1975886072"/>
                    </a:ext>
                  </a:extLst>
                </a:gridCol>
              </a:tblGrid>
              <a:tr h="231531">
                <a:tc>
                  <a:txBody>
                    <a:bodyPr/>
                    <a:lstStyle/>
                    <a:p>
                      <a:r>
                        <a:rPr lang="en-GB" sz="1400" b="1" u="sng" dirty="0">
                          <a:latin typeface="NBS Medium" panose="020B0603030303020204" pitchFamily="34" charset="0"/>
                        </a:rPr>
                        <a:t>Source </a:t>
                      </a:r>
                    </a:p>
                  </a:txBody>
                  <a:tcPr/>
                </a:tc>
                <a:tc>
                  <a:txBody>
                    <a:bodyPr/>
                    <a:lstStyle/>
                    <a:p>
                      <a:r>
                        <a:rPr lang="en-GB" sz="1400" u="sng" dirty="0">
                          <a:latin typeface="NBS Medium" panose="020B0603030303020204" pitchFamily="34" charset="0"/>
                        </a:rPr>
                        <a:t>Gaps - 2019 </a:t>
                      </a:r>
                      <a:r>
                        <a:rPr lang="en-GB" sz="1400" i="1" u="sng" dirty="0">
                          <a:latin typeface="NBS Medium" panose="020B0603030303020204" pitchFamily="34" charset="0"/>
                        </a:rPr>
                        <a:t>validated by KPMG</a:t>
                      </a:r>
                    </a:p>
                  </a:txBody>
                  <a:tcPr/>
                </a:tc>
                <a:tc>
                  <a:txBody>
                    <a:bodyPr/>
                    <a:lstStyle/>
                    <a:p>
                      <a:pPr algn="ctr"/>
                      <a:r>
                        <a:rPr lang="en-GB" sz="1400" b="0" u="sng" dirty="0">
                          <a:latin typeface="NBS Medium" panose="020B0603030303020204" pitchFamily="34" charset="0"/>
                        </a:rPr>
                        <a:t>Status</a:t>
                      </a:r>
                    </a:p>
                  </a:txBody>
                  <a:tcPr anchor="ctr"/>
                </a:tc>
                <a:tc>
                  <a:txBody>
                    <a:bodyPr/>
                    <a:lstStyle/>
                    <a:p>
                      <a:r>
                        <a:rPr lang="en-GB" sz="1400" u="sng" dirty="0">
                          <a:latin typeface="NBS Medium" panose="020B0603030303020204" pitchFamily="34" charset="0"/>
                        </a:rPr>
                        <a:t>Evidence </a:t>
                      </a:r>
                    </a:p>
                  </a:txBody>
                  <a:tcPr/>
                </a:tc>
                <a:extLst>
                  <a:ext uri="{0D108BD9-81ED-4DB2-BD59-A6C34878D82A}">
                    <a16:rowId xmlns:a16="http://schemas.microsoft.com/office/drawing/2014/main" val="1957275512"/>
                  </a:ext>
                </a:extLst>
              </a:tr>
              <a:tr h="638911">
                <a:tc>
                  <a:txBody>
                    <a:bodyPr/>
                    <a:lstStyle/>
                    <a:p>
                      <a:r>
                        <a:rPr lang="en-GB" sz="1200" b="1" dirty="0" err="1">
                          <a:latin typeface="NBS Medium" panose="020B0603030303020204" pitchFamily="34" charset="0"/>
                          <a:cs typeface="Agency FB"/>
                        </a:rPr>
                        <a:t>FCA</a:t>
                      </a:r>
                      <a:r>
                        <a:rPr lang="en-GB" sz="1200" b="1" dirty="0">
                          <a:latin typeface="NBS Medium" panose="020B0603030303020204" pitchFamily="34" charset="0"/>
                          <a:cs typeface="Agency FB"/>
                        </a:rPr>
                        <a:t> </a:t>
                      </a:r>
                      <a:r>
                        <a:rPr lang="en-GB" sz="1200" b="1" spc="-5" dirty="0">
                          <a:latin typeface="NBS Medium" panose="020B0603030303020204" pitchFamily="34" charset="0"/>
                          <a:cs typeface="Agency FB"/>
                        </a:rPr>
                        <a:t>financial </a:t>
                      </a:r>
                      <a:r>
                        <a:rPr lang="en-GB" sz="1200" b="1" dirty="0">
                          <a:latin typeface="NBS Medium" panose="020B0603030303020204" pitchFamily="34" charset="0"/>
                          <a:cs typeface="Agency FB"/>
                        </a:rPr>
                        <a:t>crime </a:t>
                      </a:r>
                      <a:r>
                        <a:rPr lang="en-GB" sz="1200" b="1" spc="-5" dirty="0">
                          <a:latin typeface="NBS Medium" panose="020B0603030303020204" pitchFamily="34" charset="0"/>
                          <a:cs typeface="Agency FB"/>
                        </a:rPr>
                        <a:t>guide – April 2019</a:t>
                      </a:r>
                      <a:endParaRPr lang="en-GB" sz="1200" b="1" dirty="0">
                        <a:latin typeface="NBS Medium" panose="020B0603030303020204" pitchFamily="34" charset="0"/>
                      </a:endParaRPr>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spc="0" dirty="0">
                          <a:latin typeface="NBS Light" panose="020B0303030303020204" pitchFamily="34" charset="0"/>
                          <a:cs typeface="Agency FB"/>
                        </a:rPr>
                        <a:t>As </a:t>
                      </a:r>
                      <a:r>
                        <a:rPr lang="en-GB" sz="1200" dirty="0">
                          <a:latin typeface="NBS Light" panose="020B0303030303020204" pitchFamily="34" charset="0"/>
                          <a:cs typeface="Agency FB"/>
                        </a:rPr>
                        <a:t>per </a:t>
                      </a:r>
                      <a:r>
                        <a:rPr lang="en-GB" sz="1200" spc="-5" dirty="0">
                          <a:latin typeface="NBS Light" panose="020B0303030303020204" pitchFamily="34" charset="0"/>
                          <a:cs typeface="Agency FB"/>
                        </a:rPr>
                        <a:t>legal </a:t>
                      </a:r>
                      <a:r>
                        <a:rPr lang="en-GB" sz="1200" dirty="0">
                          <a:latin typeface="NBS Light" panose="020B0303030303020204" pitchFamily="34" charset="0"/>
                          <a:cs typeface="Agency FB"/>
                        </a:rPr>
                        <a:t>and </a:t>
                      </a:r>
                      <a:r>
                        <a:rPr lang="en-GB" sz="1200" spc="-5" dirty="0">
                          <a:latin typeface="NBS Light" panose="020B0303030303020204" pitchFamily="34" charset="0"/>
                          <a:cs typeface="Agency FB"/>
                        </a:rPr>
                        <a:t>regulatory </a:t>
                      </a:r>
                      <a:r>
                        <a:rPr lang="en-GB" sz="1200" dirty="0">
                          <a:latin typeface="NBS Light" panose="020B0303030303020204" pitchFamily="34" charset="0"/>
                          <a:cs typeface="Agency FB"/>
                        </a:rPr>
                        <a:t>gap </a:t>
                      </a:r>
                      <a:r>
                        <a:rPr lang="en-GB" sz="1200" spc="-5" dirty="0">
                          <a:latin typeface="NBS Light" panose="020B0303030303020204" pitchFamily="34" charset="0"/>
                          <a:cs typeface="Agency FB"/>
                        </a:rPr>
                        <a:t>analysis, insufficient documentation, evidence </a:t>
                      </a:r>
                      <a:r>
                        <a:rPr lang="en-GB" sz="1200" dirty="0">
                          <a:latin typeface="NBS Light" panose="020B0303030303020204" pitchFamily="34" charset="0"/>
                          <a:cs typeface="Agency FB"/>
                        </a:rPr>
                        <a:t>and </a:t>
                      </a:r>
                      <a:r>
                        <a:rPr lang="en-GB" sz="1200" spc="-5" dirty="0" err="1">
                          <a:latin typeface="NBS Light" panose="020B0303030303020204" pitchFamily="34" charset="0"/>
                          <a:cs typeface="Agency FB"/>
                        </a:rPr>
                        <a:t>CDD</a:t>
                      </a:r>
                      <a:r>
                        <a:rPr lang="en-GB" sz="1200" spc="-5" dirty="0">
                          <a:latin typeface="NBS Light" panose="020B0303030303020204" pitchFamily="34" charset="0"/>
                          <a:cs typeface="Agency FB"/>
                        </a:rPr>
                        <a:t> information </a:t>
                      </a:r>
                      <a:r>
                        <a:rPr lang="en-GB" sz="1200" dirty="0">
                          <a:latin typeface="NBS Light" panose="020B0303030303020204" pitchFamily="34" charset="0"/>
                          <a:cs typeface="Agency FB"/>
                        </a:rPr>
                        <a:t>to </a:t>
                      </a:r>
                      <a:r>
                        <a:rPr lang="en-GB" sz="1200" spc="-5" dirty="0">
                          <a:latin typeface="NBS Light" panose="020B0303030303020204" pitchFamily="34" charset="0"/>
                          <a:cs typeface="Agency FB"/>
                        </a:rPr>
                        <a:t>determine </a:t>
                      </a:r>
                      <a:r>
                        <a:rPr lang="en-GB" sz="1200" dirty="0">
                          <a:latin typeface="NBS Light" panose="020B0303030303020204" pitchFamily="34" charset="0"/>
                          <a:cs typeface="Agency FB"/>
                        </a:rPr>
                        <a:t>that </a:t>
                      </a:r>
                      <a:r>
                        <a:rPr lang="en-GB" sz="1200" spc="-5" dirty="0">
                          <a:latin typeface="NBS Light" panose="020B0303030303020204" pitchFamily="34" charset="0"/>
                          <a:cs typeface="Agency FB"/>
                        </a:rPr>
                        <a:t>all transactions </a:t>
                      </a:r>
                      <a:r>
                        <a:rPr lang="en-GB" sz="1200" dirty="0">
                          <a:latin typeface="NBS Light" panose="020B0303030303020204" pitchFamily="34" charset="0"/>
                          <a:cs typeface="Agency FB"/>
                        </a:rPr>
                        <a:t>are </a:t>
                      </a:r>
                      <a:r>
                        <a:rPr lang="en-GB" sz="1200" spc="-5" dirty="0">
                          <a:latin typeface="NBS Light" panose="020B0303030303020204" pitchFamily="34" charset="0"/>
                          <a:cs typeface="Agency FB"/>
                        </a:rPr>
                        <a:t>being scrutinised </a:t>
                      </a:r>
                      <a:r>
                        <a:rPr lang="en-GB" sz="1200" dirty="0">
                          <a:latin typeface="NBS Light" panose="020B0303030303020204" pitchFamily="34" charset="0"/>
                          <a:cs typeface="Agency FB"/>
                        </a:rPr>
                        <a:t>to ensure that they are  </a:t>
                      </a:r>
                      <a:r>
                        <a:rPr lang="en-GB" sz="1200" spc="-5" dirty="0">
                          <a:latin typeface="NBS Light" panose="020B0303030303020204" pitchFamily="34" charset="0"/>
                          <a:cs typeface="Agency FB"/>
                        </a:rPr>
                        <a:t>transactions</a:t>
                      </a:r>
                      <a:r>
                        <a:rPr lang="en-GB" sz="1200" spc="-30" dirty="0">
                          <a:latin typeface="NBS Light" panose="020B0303030303020204" pitchFamily="34" charset="0"/>
                          <a:cs typeface="Agency FB"/>
                        </a:rPr>
                        <a:t> </a:t>
                      </a:r>
                      <a:r>
                        <a:rPr lang="en-GB" sz="1200" dirty="0">
                          <a:latin typeface="NBS Light" panose="020B0303030303020204" pitchFamily="34" charset="0"/>
                          <a:cs typeface="Agency FB"/>
                        </a:rPr>
                        <a:t>are</a:t>
                      </a:r>
                      <a:r>
                        <a:rPr lang="en-GB" sz="1200" spc="-15" dirty="0">
                          <a:latin typeface="NBS Light" panose="020B0303030303020204" pitchFamily="34" charset="0"/>
                          <a:cs typeface="Agency FB"/>
                        </a:rPr>
                        <a:t> </a:t>
                      </a:r>
                      <a:r>
                        <a:rPr lang="en-GB" sz="1200" spc="-5" dirty="0">
                          <a:latin typeface="NBS Light" panose="020B0303030303020204" pitchFamily="34" charset="0"/>
                          <a:cs typeface="Agency FB"/>
                        </a:rPr>
                        <a:t>being</a:t>
                      </a:r>
                      <a:r>
                        <a:rPr lang="en-GB" sz="1200" spc="-20" dirty="0">
                          <a:latin typeface="NBS Light" panose="020B0303030303020204" pitchFamily="34" charset="0"/>
                          <a:cs typeface="Agency FB"/>
                        </a:rPr>
                        <a:t> </a:t>
                      </a:r>
                      <a:r>
                        <a:rPr lang="en-GB" sz="1200" spc="-5" dirty="0">
                          <a:latin typeface="NBS Light" panose="020B0303030303020204" pitchFamily="34" charset="0"/>
                          <a:cs typeface="Agency FB"/>
                        </a:rPr>
                        <a:t>scrutinised</a:t>
                      </a:r>
                      <a:r>
                        <a:rPr lang="en-GB" sz="1200" spc="-40" dirty="0">
                          <a:latin typeface="NBS Light" panose="020B0303030303020204" pitchFamily="34" charset="0"/>
                          <a:cs typeface="Agency FB"/>
                        </a:rPr>
                        <a:t> </a:t>
                      </a:r>
                      <a:r>
                        <a:rPr lang="en-GB" sz="1200" dirty="0">
                          <a:latin typeface="NBS Light" panose="020B0303030303020204" pitchFamily="34" charset="0"/>
                          <a:cs typeface="Agency FB"/>
                        </a:rPr>
                        <a:t>to</a:t>
                      </a:r>
                      <a:r>
                        <a:rPr lang="en-GB" sz="1200" spc="-20" dirty="0">
                          <a:latin typeface="NBS Light" panose="020B0303030303020204" pitchFamily="34" charset="0"/>
                          <a:cs typeface="Agency FB"/>
                        </a:rPr>
                        <a:t> </a:t>
                      </a:r>
                      <a:r>
                        <a:rPr lang="en-GB" sz="1200" dirty="0">
                          <a:latin typeface="NBS Light" panose="020B0303030303020204" pitchFamily="34" charset="0"/>
                          <a:cs typeface="Agency FB"/>
                        </a:rPr>
                        <a:t>ensure</a:t>
                      </a:r>
                      <a:r>
                        <a:rPr lang="en-GB" sz="1200" spc="-35" dirty="0">
                          <a:latin typeface="NBS Light" panose="020B0303030303020204" pitchFamily="34" charset="0"/>
                          <a:cs typeface="Agency FB"/>
                        </a:rPr>
                        <a:t> </a:t>
                      </a:r>
                      <a:r>
                        <a:rPr lang="en-GB" sz="1200" dirty="0">
                          <a:latin typeface="NBS Light" panose="020B0303030303020204" pitchFamily="34" charset="0"/>
                          <a:cs typeface="Agency FB"/>
                        </a:rPr>
                        <a:t>that</a:t>
                      </a:r>
                      <a:r>
                        <a:rPr lang="en-GB" sz="1200" spc="-25" dirty="0">
                          <a:latin typeface="NBS Light" panose="020B0303030303020204" pitchFamily="34" charset="0"/>
                          <a:cs typeface="Agency FB"/>
                        </a:rPr>
                        <a:t> </a:t>
                      </a:r>
                      <a:r>
                        <a:rPr lang="en-GB" sz="1200" dirty="0">
                          <a:latin typeface="NBS Light" panose="020B0303030303020204" pitchFamily="34" charset="0"/>
                          <a:cs typeface="Agency FB"/>
                        </a:rPr>
                        <a:t>they</a:t>
                      </a:r>
                      <a:r>
                        <a:rPr lang="en-GB" sz="1200" spc="-30" dirty="0">
                          <a:latin typeface="NBS Light" panose="020B0303030303020204" pitchFamily="34" charset="0"/>
                          <a:cs typeface="Agency FB"/>
                        </a:rPr>
                        <a:t> </a:t>
                      </a:r>
                      <a:r>
                        <a:rPr lang="en-GB" sz="1200" dirty="0">
                          <a:latin typeface="NBS Light" panose="020B0303030303020204" pitchFamily="34" charset="0"/>
                          <a:cs typeface="Agency FB"/>
                        </a:rPr>
                        <a:t>are</a:t>
                      </a:r>
                      <a:r>
                        <a:rPr lang="en-GB" sz="1200" spc="-15" dirty="0">
                          <a:latin typeface="NBS Light" panose="020B0303030303020204" pitchFamily="34" charset="0"/>
                          <a:cs typeface="Agency FB"/>
                        </a:rPr>
                        <a:t> </a:t>
                      </a:r>
                      <a:r>
                        <a:rPr lang="en-GB" sz="1200" spc="-5" dirty="0">
                          <a:latin typeface="NBS Light" panose="020B0303030303020204" pitchFamily="34" charset="0"/>
                          <a:cs typeface="Agency FB"/>
                        </a:rPr>
                        <a:t>consistent</a:t>
                      </a:r>
                      <a:r>
                        <a:rPr lang="en-GB" sz="1200" spc="-40" dirty="0">
                          <a:latin typeface="NBS Light" panose="020B0303030303020204" pitchFamily="34" charset="0"/>
                          <a:cs typeface="Agency FB"/>
                        </a:rPr>
                        <a:t> </a:t>
                      </a:r>
                      <a:r>
                        <a:rPr lang="en-GB" sz="1200" dirty="0">
                          <a:latin typeface="NBS Light" panose="020B0303030303020204" pitchFamily="34" charset="0"/>
                          <a:cs typeface="Agency FB"/>
                        </a:rPr>
                        <a:t>with</a:t>
                      </a:r>
                      <a:r>
                        <a:rPr lang="en-GB" sz="1200" spc="-45" dirty="0">
                          <a:latin typeface="NBS Light" panose="020B0303030303020204" pitchFamily="34" charset="0"/>
                          <a:cs typeface="Agency FB"/>
                        </a:rPr>
                        <a:t> </a:t>
                      </a:r>
                      <a:r>
                        <a:rPr lang="en-GB" sz="1200" dirty="0">
                          <a:latin typeface="NBS Light" panose="020B0303030303020204" pitchFamily="34" charset="0"/>
                          <a:cs typeface="Agency FB"/>
                        </a:rPr>
                        <a:t>what</a:t>
                      </a:r>
                      <a:r>
                        <a:rPr lang="en-GB" sz="1200" spc="-40" dirty="0">
                          <a:latin typeface="NBS Light" panose="020B0303030303020204" pitchFamily="34" charset="0"/>
                          <a:cs typeface="Agency FB"/>
                        </a:rPr>
                        <a:t> </a:t>
                      </a:r>
                      <a:r>
                        <a:rPr lang="en-GB" sz="1200" dirty="0">
                          <a:latin typeface="NBS Light" panose="020B0303030303020204" pitchFamily="34" charset="0"/>
                          <a:cs typeface="Agency FB"/>
                        </a:rPr>
                        <a:t>NBS</a:t>
                      </a:r>
                      <a:r>
                        <a:rPr lang="en-GB" sz="1200" spc="-20" dirty="0">
                          <a:latin typeface="NBS Light" panose="020B0303030303020204" pitchFamily="34" charset="0"/>
                          <a:cs typeface="Agency FB"/>
                        </a:rPr>
                        <a:t> </a:t>
                      </a:r>
                      <a:r>
                        <a:rPr lang="en-GB" sz="1200" spc="-5" dirty="0">
                          <a:latin typeface="NBS Light" panose="020B0303030303020204" pitchFamily="34" charset="0"/>
                          <a:cs typeface="Agency FB"/>
                        </a:rPr>
                        <a:t>knows</a:t>
                      </a:r>
                      <a:r>
                        <a:rPr lang="en-GB" sz="1200" spc="-30" dirty="0">
                          <a:latin typeface="NBS Light" panose="020B0303030303020204" pitchFamily="34" charset="0"/>
                          <a:cs typeface="Agency FB"/>
                        </a:rPr>
                        <a:t> </a:t>
                      </a:r>
                      <a:r>
                        <a:rPr lang="en-GB" sz="1200" dirty="0">
                          <a:latin typeface="NBS Light" panose="020B0303030303020204" pitchFamily="34" charset="0"/>
                          <a:cs typeface="Agency FB"/>
                        </a:rPr>
                        <a:t>about</a:t>
                      </a:r>
                      <a:r>
                        <a:rPr lang="en-GB" sz="1200" spc="-25" dirty="0">
                          <a:latin typeface="NBS Light" panose="020B0303030303020204" pitchFamily="34" charset="0"/>
                          <a:cs typeface="Agency FB"/>
                        </a:rPr>
                        <a:t> </a:t>
                      </a:r>
                      <a:r>
                        <a:rPr lang="en-GB" sz="1200" dirty="0">
                          <a:latin typeface="NBS Light" panose="020B0303030303020204" pitchFamily="34" charset="0"/>
                          <a:cs typeface="Agency FB"/>
                        </a:rPr>
                        <a:t>the</a:t>
                      </a:r>
                      <a:r>
                        <a:rPr lang="en-GB" sz="1200" spc="-15" dirty="0">
                          <a:latin typeface="NBS Light" panose="020B0303030303020204" pitchFamily="34" charset="0"/>
                          <a:cs typeface="Agency FB"/>
                        </a:rPr>
                        <a:t> </a:t>
                      </a:r>
                      <a:r>
                        <a:rPr lang="en-GB" sz="1200" spc="-5" dirty="0">
                          <a:latin typeface="NBS Light" panose="020B0303030303020204" pitchFamily="34" charset="0"/>
                          <a:cs typeface="Agency FB"/>
                        </a:rPr>
                        <a:t>customer</a:t>
                      </a:r>
                      <a:endParaRPr lang="en-GB" sz="1200" dirty="0">
                        <a:latin typeface="NBS Light" panose="020B0303030303020204" pitchFamily="34" charset="0"/>
                      </a:endParaRPr>
                    </a:p>
                  </a:txBody>
                  <a:tcPr/>
                </a:tc>
                <a:tc>
                  <a:txBody>
                    <a:bodyPr/>
                    <a:lstStyle/>
                    <a:p>
                      <a:pPr algn="ctr"/>
                      <a:r>
                        <a:rPr lang="en-GB" sz="1200" b="0" dirty="0">
                          <a:latin typeface="NBS Light" panose="020B0303030303020204" pitchFamily="34" charset="0"/>
                        </a:rPr>
                        <a:t>In Progress  </a:t>
                      </a:r>
                    </a:p>
                  </a:txBody>
                  <a:tcPr anchor="ctr">
                    <a:solidFill>
                      <a:srgbClr val="92D050"/>
                    </a:solidFill>
                  </a:tcPr>
                </a:tc>
                <a:tc>
                  <a:txBody>
                    <a:bodyPr/>
                    <a:lstStyle/>
                    <a:p>
                      <a:pPr marL="171450" lvl="0" indent="-171450">
                        <a:buFont typeface="Arial" panose="020B0604020202020204" pitchFamily="34" charset="0"/>
                        <a:buChar char="•"/>
                        <a:defRPr/>
                      </a:pPr>
                      <a:r>
                        <a:rPr lang="en-GB" sz="1200" dirty="0" err="1">
                          <a:latin typeface="NBS Light" panose="020B0303030303020204" pitchFamily="34" charset="0"/>
                        </a:rPr>
                        <a:t>CDD</a:t>
                      </a:r>
                      <a:r>
                        <a:rPr lang="en-GB" sz="1200" dirty="0">
                          <a:latin typeface="NBS Light" panose="020B0303030303020204" pitchFamily="34" charset="0"/>
                        </a:rPr>
                        <a:t> Triggers and refresh project to deliver </a:t>
                      </a:r>
                      <a:r>
                        <a:rPr lang="en-GB" sz="1200" dirty="0" err="1">
                          <a:latin typeface="NBS Light" panose="020B0303030303020204" pitchFamily="34" charset="0"/>
                        </a:rPr>
                        <a:t>CDD</a:t>
                      </a:r>
                      <a:r>
                        <a:rPr lang="en-GB" sz="1200" dirty="0">
                          <a:latin typeface="NBS Light" panose="020B0303030303020204" pitchFamily="34" charset="0"/>
                        </a:rPr>
                        <a:t> data to be utilised by TM </a:t>
                      </a:r>
                    </a:p>
                    <a:p>
                      <a:pPr marL="171450" indent="-171450">
                        <a:buFont typeface="Arial" panose="020B0604020202020204" pitchFamily="34" charset="0"/>
                        <a:buChar char="•"/>
                      </a:pPr>
                      <a:r>
                        <a:rPr lang="en-GB" sz="1200" dirty="0">
                          <a:latin typeface="NBS Light" panose="020B0303030303020204" pitchFamily="34" charset="0"/>
                        </a:rPr>
                        <a:t>TM Phase 1 rules delivered and include customer income to compare account activity to expected usage </a:t>
                      </a:r>
                    </a:p>
                  </a:txBody>
                  <a:tcPr/>
                </a:tc>
                <a:extLst>
                  <a:ext uri="{0D108BD9-81ED-4DB2-BD59-A6C34878D82A}">
                    <a16:rowId xmlns:a16="http://schemas.microsoft.com/office/drawing/2014/main" val="391089382"/>
                  </a:ext>
                </a:extLst>
              </a:tr>
              <a:tr h="625133">
                <a:tc rowSpan="6">
                  <a:txBody>
                    <a:bodyPr/>
                    <a:lstStyle/>
                    <a:p>
                      <a:r>
                        <a:rPr lang="en-GB" sz="1200" b="1" dirty="0" err="1">
                          <a:latin typeface="NBS Medium" panose="020B0603030303020204" pitchFamily="34" charset="0"/>
                        </a:rPr>
                        <a:t>JMLSG</a:t>
                      </a:r>
                      <a:r>
                        <a:rPr lang="en-GB" sz="1200" b="1" dirty="0">
                          <a:latin typeface="NBS Medium" panose="020B0603030303020204" pitchFamily="34" charset="0"/>
                        </a:rPr>
                        <a:t> (2017)</a:t>
                      </a:r>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spc="-5" dirty="0">
                          <a:latin typeface="NBS Light" panose="020B0303030303020204" pitchFamily="34" charset="0"/>
                          <a:cs typeface="Agency FB"/>
                        </a:rPr>
                        <a:t>Data: knowledge </a:t>
                      </a:r>
                      <a:r>
                        <a:rPr lang="en-GB" sz="1200" dirty="0">
                          <a:latin typeface="NBS Light" panose="020B0303030303020204" pitchFamily="34" charset="0"/>
                          <a:cs typeface="Agency FB"/>
                        </a:rPr>
                        <a:t>of the </a:t>
                      </a:r>
                      <a:r>
                        <a:rPr lang="en-GB" sz="1200" spc="-5" dirty="0">
                          <a:latin typeface="NBS Light" panose="020B0303030303020204" pitchFamily="34" charset="0"/>
                          <a:cs typeface="Agency FB"/>
                        </a:rPr>
                        <a:t>customer (geographic, </a:t>
                      </a:r>
                      <a:r>
                        <a:rPr lang="en-GB" sz="1200" dirty="0" err="1">
                          <a:latin typeface="NBS Light" panose="020B0303030303020204" pitchFamily="34" charset="0"/>
                          <a:cs typeface="Agency FB"/>
                        </a:rPr>
                        <a:t>SoF</a:t>
                      </a:r>
                      <a:r>
                        <a:rPr lang="en-GB" sz="1200" dirty="0">
                          <a:latin typeface="NBS Light" panose="020B0303030303020204" pitchFamily="34" charset="0"/>
                          <a:cs typeface="Agency FB"/>
                        </a:rPr>
                        <a:t>), data </a:t>
                      </a:r>
                      <a:r>
                        <a:rPr lang="en-GB" sz="1200" spc="-5" dirty="0">
                          <a:latin typeface="NBS Light" panose="020B0303030303020204" pitchFamily="34" charset="0"/>
                          <a:cs typeface="Agency FB"/>
                        </a:rPr>
                        <a:t>lineage </a:t>
                      </a:r>
                      <a:r>
                        <a:rPr lang="en-GB" sz="1200" dirty="0">
                          <a:latin typeface="NBS Light" panose="020B0303030303020204" pitchFamily="34" charset="0"/>
                          <a:cs typeface="Agency FB"/>
                        </a:rPr>
                        <a:t>and </a:t>
                      </a:r>
                      <a:r>
                        <a:rPr lang="en-GB" sz="1200" spc="-5" dirty="0">
                          <a:latin typeface="NBS Light" panose="020B0303030303020204" pitchFamily="34" charset="0"/>
                          <a:cs typeface="Agency FB"/>
                        </a:rPr>
                        <a:t>integrity, </a:t>
                      </a:r>
                      <a:r>
                        <a:rPr lang="en-GB" sz="1200" dirty="0">
                          <a:latin typeface="NBS Light" panose="020B0303030303020204" pitchFamily="34" charset="0"/>
                          <a:cs typeface="Agency FB"/>
                        </a:rPr>
                        <a:t>and </a:t>
                      </a:r>
                      <a:r>
                        <a:rPr lang="en-GB" sz="1200" spc="-5" dirty="0">
                          <a:latin typeface="NBS Light" panose="020B0303030303020204" pitchFamily="34" charset="0"/>
                          <a:cs typeface="Agency FB"/>
                        </a:rPr>
                        <a:t>management </a:t>
                      </a:r>
                      <a:r>
                        <a:rPr lang="en-GB" sz="1200" dirty="0">
                          <a:latin typeface="NBS Light" panose="020B0303030303020204" pitchFamily="34" charset="0"/>
                          <a:cs typeface="Agency FB"/>
                        </a:rPr>
                        <a:t>of </a:t>
                      </a:r>
                      <a:r>
                        <a:rPr lang="en-GB" sz="1200" spc="-5" dirty="0" err="1">
                          <a:latin typeface="NBS Light" panose="020B0303030303020204" pitchFamily="34" charset="0"/>
                          <a:cs typeface="Agency FB"/>
                        </a:rPr>
                        <a:t>CDD</a:t>
                      </a:r>
                      <a:r>
                        <a:rPr lang="en-GB" sz="1200" spc="-5" dirty="0">
                          <a:latin typeface="NBS Light" panose="020B0303030303020204" pitchFamily="34" charset="0"/>
                          <a:cs typeface="Agency FB"/>
                        </a:rPr>
                        <a:t> </a:t>
                      </a:r>
                      <a:r>
                        <a:rPr lang="en-GB" sz="1200" dirty="0">
                          <a:latin typeface="NBS Light" panose="020B0303030303020204" pitchFamily="34" charset="0"/>
                          <a:cs typeface="Agency FB"/>
                        </a:rPr>
                        <a:t>data </a:t>
                      </a:r>
                      <a:r>
                        <a:rPr lang="en-GB" sz="1200" spc="5" dirty="0">
                          <a:latin typeface="NBS Light" panose="020B0303030303020204" pitchFamily="34" charset="0"/>
                          <a:cs typeface="Agency FB"/>
                        </a:rPr>
                        <a:t>so </a:t>
                      </a:r>
                      <a:r>
                        <a:rPr lang="en-GB" sz="1200" dirty="0">
                          <a:latin typeface="NBS Light" panose="020B0303030303020204" pitchFamily="34" charset="0"/>
                          <a:cs typeface="Agency FB"/>
                        </a:rPr>
                        <a:t>that </a:t>
                      </a:r>
                      <a:r>
                        <a:rPr lang="en-GB" sz="1200" spc="-5" dirty="0">
                          <a:latin typeface="NBS Light" panose="020B0303030303020204" pitchFamily="34" charset="0"/>
                          <a:cs typeface="Agency FB"/>
                        </a:rPr>
                        <a:t>it is </a:t>
                      </a:r>
                      <a:r>
                        <a:rPr lang="en-GB" sz="1200" dirty="0">
                          <a:latin typeface="NBS Light" panose="020B0303030303020204" pitchFamily="34" charset="0"/>
                          <a:cs typeface="Agency FB"/>
                        </a:rPr>
                        <a:t>up to date and </a:t>
                      </a:r>
                      <a:r>
                        <a:rPr lang="en-GB" sz="1200" spc="-5" dirty="0">
                          <a:latin typeface="NBS Light" panose="020B0303030303020204" pitchFamily="34" charset="0"/>
                          <a:cs typeface="Agency FB"/>
                        </a:rPr>
                        <a:t>available.  </a:t>
                      </a:r>
                      <a:endParaRPr lang="en-GB" sz="1200" dirty="0">
                        <a:latin typeface="NBS Light" panose="020B0303030303020204" pitchFamily="34" charset="0"/>
                        <a:cs typeface="Agency FB"/>
                      </a:endParaRPr>
                    </a:p>
                  </a:txBody>
                  <a:tcPr/>
                </a:tc>
                <a:tc>
                  <a:txBody>
                    <a:bodyPr/>
                    <a:lstStyle/>
                    <a:p>
                      <a:pPr algn="ctr"/>
                      <a:r>
                        <a:rPr lang="en-GB" sz="1200" b="0" dirty="0">
                          <a:latin typeface="NBS Light" panose="020B0303030303020204" pitchFamily="34" charset="0"/>
                        </a:rPr>
                        <a:t>In Progress</a:t>
                      </a:r>
                    </a:p>
                  </a:txBody>
                  <a:tcPr anchor="ctr">
                    <a:solidFill>
                      <a:srgbClr val="92D050"/>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dirty="0">
                          <a:latin typeface="NBS Light" panose="020B0303030303020204" pitchFamily="34" charset="0"/>
                        </a:rPr>
                        <a:t>Data Integrity workstream – lineage complete, data quality &amp; data governance ongoing</a:t>
                      </a:r>
                    </a:p>
                    <a:p>
                      <a:pPr marL="171450" lvl="0" indent="-171450">
                        <a:buFont typeface="Arial" panose="020B0604020202020204" pitchFamily="34" charset="0"/>
                        <a:buChar char="•"/>
                        <a:defRPr/>
                      </a:pPr>
                      <a:r>
                        <a:rPr lang="en-GB" sz="1200" dirty="0" err="1">
                          <a:latin typeface="NBS Light" panose="020B0303030303020204" pitchFamily="34" charset="0"/>
                        </a:rPr>
                        <a:t>CDD</a:t>
                      </a:r>
                      <a:r>
                        <a:rPr lang="en-GB" sz="1200" dirty="0">
                          <a:latin typeface="NBS Light" panose="020B0303030303020204" pitchFamily="34" charset="0"/>
                        </a:rPr>
                        <a:t> Triggers and refresh project to deliver </a:t>
                      </a:r>
                      <a:r>
                        <a:rPr lang="en-GB" sz="1200" dirty="0" err="1">
                          <a:latin typeface="NBS Light" panose="020B0303030303020204" pitchFamily="34" charset="0"/>
                        </a:rPr>
                        <a:t>CDD</a:t>
                      </a:r>
                      <a:r>
                        <a:rPr lang="en-GB" sz="1200" dirty="0">
                          <a:latin typeface="NBS Light" panose="020B0303030303020204" pitchFamily="34" charset="0"/>
                        </a:rPr>
                        <a:t> data to be utilised by TM </a:t>
                      </a:r>
                    </a:p>
                  </a:txBody>
                  <a:tcPr/>
                </a:tc>
                <a:extLst>
                  <a:ext uri="{0D108BD9-81ED-4DB2-BD59-A6C34878D82A}">
                    <a16:rowId xmlns:a16="http://schemas.microsoft.com/office/drawing/2014/main" val="1001373062"/>
                  </a:ext>
                </a:extLst>
              </a:tr>
              <a:tr h="902971">
                <a:tc vMerge="1">
                  <a:txBody>
                    <a:bodyPr/>
                    <a:lstStyle/>
                    <a:p>
                      <a:endParaRPr lang="en-GB" sz="1200" b="1" dirty="0">
                        <a:latin typeface="NBS Medium" panose="020B0603030303020204" pitchFamily="34" charset="0"/>
                      </a:endParaRPr>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spc="-5" dirty="0">
                          <a:latin typeface="NBS Light" panose="020B0303030303020204" pitchFamily="34" charset="0"/>
                          <a:cs typeface="Agency FB"/>
                        </a:rPr>
                        <a:t>Governance: documentation </a:t>
                      </a:r>
                      <a:r>
                        <a:rPr lang="en-GB" sz="1200" dirty="0">
                          <a:latin typeface="NBS Light" panose="020B0303030303020204" pitchFamily="34" charset="0"/>
                          <a:cs typeface="Agency FB"/>
                        </a:rPr>
                        <a:t>required to </a:t>
                      </a:r>
                      <a:r>
                        <a:rPr lang="en-GB" sz="1200" spc="-5" dirty="0">
                          <a:latin typeface="NBS Light" panose="020B0303030303020204" pitchFamily="34" charset="0"/>
                          <a:cs typeface="Agency FB"/>
                        </a:rPr>
                        <a:t>provide rationale </a:t>
                      </a:r>
                      <a:r>
                        <a:rPr lang="en-GB" sz="1200" dirty="0">
                          <a:latin typeface="NBS Light" panose="020B0303030303020204" pitchFamily="34" charset="0"/>
                          <a:cs typeface="Agency FB"/>
                        </a:rPr>
                        <a:t>for </a:t>
                      </a:r>
                      <a:r>
                        <a:rPr lang="en-GB" sz="1200" spc="-5" dirty="0">
                          <a:latin typeface="NBS Light" panose="020B0303030303020204" pitchFamily="34" charset="0"/>
                          <a:cs typeface="Agency FB"/>
                        </a:rPr>
                        <a:t>risk-based approach including definitions </a:t>
                      </a:r>
                      <a:r>
                        <a:rPr lang="en-GB" sz="1200" dirty="0">
                          <a:latin typeface="NBS Light" panose="020B0303030303020204" pitchFamily="34" charset="0"/>
                          <a:cs typeface="Agency FB"/>
                        </a:rPr>
                        <a:t>of </a:t>
                      </a:r>
                      <a:r>
                        <a:rPr lang="en-GB" sz="1200" spc="-5" dirty="0">
                          <a:latin typeface="NBS Light" panose="020B0303030303020204" pitchFamily="34" charset="0"/>
                          <a:cs typeface="Agency FB"/>
                        </a:rPr>
                        <a:t>“unusual </a:t>
                      </a:r>
                      <a:r>
                        <a:rPr lang="en-GB" sz="1200" dirty="0">
                          <a:latin typeface="NBS Light" panose="020B0303030303020204" pitchFamily="34" charset="0"/>
                          <a:cs typeface="Agency FB"/>
                        </a:rPr>
                        <a:t>/ </a:t>
                      </a:r>
                      <a:r>
                        <a:rPr lang="en-GB" sz="1200" spc="-5" dirty="0">
                          <a:latin typeface="NBS Light" panose="020B0303030303020204" pitchFamily="34" charset="0"/>
                          <a:cs typeface="Agency FB"/>
                        </a:rPr>
                        <a:t>characteristic”, </a:t>
                      </a:r>
                      <a:r>
                        <a:rPr lang="en-GB" sz="1200" dirty="0">
                          <a:latin typeface="NBS Light" panose="020B0303030303020204" pitchFamily="34" charset="0"/>
                          <a:cs typeface="Agency FB"/>
                        </a:rPr>
                        <a:t>and </a:t>
                      </a:r>
                      <a:r>
                        <a:rPr lang="en-GB" sz="1200" spc="-5" dirty="0" err="1">
                          <a:latin typeface="NBS Light" panose="020B0303030303020204" pitchFamily="34" charset="0"/>
                          <a:cs typeface="Agency FB"/>
                        </a:rPr>
                        <a:t>TMRA</a:t>
                      </a:r>
                      <a:r>
                        <a:rPr lang="en-GB" sz="1200" spc="-5" dirty="0">
                          <a:latin typeface="NBS Light" panose="020B0303030303020204" pitchFamily="34" charset="0"/>
                          <a:cs typeface="Agency FB"/>
                        </a:rPr>
                        <a:t>, regular review </a:t>
                      </a:r>
                      <a:r>
                        <a:rPr lang="en-GB" sz="1200" dirty="0">
                          <a:latin typeface="NBS Light" panose="020B0303030303020204" pitchFamily="34" charset="0"/>
                          <a:cs typeface="Agency FB"/>
                        </a:rPr>
                        <a:t>of </a:t>
                      </a:r>
                      <a:r>
                        <a:rPr lang="en-GB" sz="1200" spc="-5" dirty="0">
                          <a:latin typeface="NBS Light" panose="020B0303030303020204" pitchFamily="34" charset="0"/>
                          <a:cs typeface="Agency FB"/>
                        </a:rPr>
                        <a:t>documentation, </a:t>
                      </a:r>
                      <a:r>
                        <a:rPr lang="en-GB" sz="1200" dirty="0">
                          <a:latin typeface="NBS Light" panose="020B0303030303020204" pitchFamily="34" charset="0"/>
                          <a:cs typeface="Agency FB"/>
                        </a:rPr>
                        <a:t>and  </a:t>
                      </a:r>
                      <a:r>
                        <a:rPr lang="en-GB" sz="1200" spc="-5" dirty="0">
                          <a:latin typeface="NBS Light" panose="020B0303030303020204" pitchFamily="34" charset="0"/>
                          <a:cs typeface="Agency FB"/>
                        </a:rPr>
                        <a:t>characteristic”, </a:t>
                      </a:r>
                      <a:r>
                        <a:rPr lang="en-GB" sz="1200" dirty="0">
                          <a:latin typeface="NBS Light" panose="020B0303030303020204" pitchFamily="34" charset="0"/>
                          <a:cs typeface="Agency FB"/>
                        </a:rPr>
                        <a:t>and </a:t>
                      </a:r>
                      <a:r>
                        <a:rPr lang="en-GB" sz="1200" spc="-5" dirty="0" err="1">
                          <a:latin typeface="NBS Light" panose="020B0303030303020204" pitchFamily="34" charset="0"/>
                          <a:cs typeface="Agency FB"/>
                        </a:rPr>
                        <a:t>TMRA</a:t>
                      </a:r>
                      <a:r>
                        <a:rPr lang="en-GB" sz="1200" spc="-5" dirty="0">
                          <a:latin typeface="NBS Light" panose="020B0303030303020204" pitchFamily="34" charset="0"/>
                          <a:cs typeface="Agency FB"/>
                        </a:rPr>
                        <a:t>, regular review </a:t>
                      </a:r>
                      <a:r>
                        <a:rPr lang="en-GB" sz="1200" dirty="0">
                          <a:latin typeface="NBS Light" panose="020B0303030303020204" pitchFamily="34" charset="0"/>
                          <a:cs typeface="Agency FB"/>
                        </a:rPr>
                        <a:t>of </a:t>
                      </a:r>
                      <a:r>
                        <a:rPr lang="en-GB" sz="1200" spc="-5" dirty="0">
                          <a:latin typeface="NBS Light" panose="020B0303030303020204" pitchFamily="34" charset="0"/>
                          <a:cs typeface="Agency FB"/>
                        </a:rPr>
                        <a:t>documentation, </a:t>
                      </a:r>
                      <a:r>
                        <a:rPr lang="en-GB" sz="1200" dirty="0">
                          <a:latin typeface="NBS Light" panose="020B0303030303020204" pitchFamily="34" charset="0"/>
                          <a:cs typeface="Agency FB"/>
                        </a:rPr>
                        <a:t>and </a:t>
                      </a:r>
                      <a:r>
                        <a:rPr lang="en-GB" sz="1200" spc="-5" dirty="0">
                          <a:latin typeface="NBS Light" panose="020B0303030303020204" pitchFamily="34" charset="0"/>
                          <a:cs typeface="Agency FB"/>
                        </a:rPr>
                        <a:t>management information </a:t>
                      </a:r>
                      <a:r>
                        <a:rPr lang="en-GB" sz="1200" dirty="0">
                          <a:latin typeface="NBS Light" panose="020B0303030303020204" pitchFamily="34" charset="0"/>
                          <a:cs typeface="Agency FB"/>
                        </a:rPr>
                        <a:t>to </a:t>
                      </a:r>
                      <a:r>
                        <a:rPr lang="en-GB" sz="1200" spc="-5" dirty="0">
                          <a:latin typeface="NBS Light" panose="020B0303030303020204" pitchFamily="34" charset="0"/>
                          <a:cs typeface="Agency FB"/>
                        </a:rPr>
                        <a:t>include rule tuning, reporting </a:t>
                      </a:r>
                      <a:r>
                        <a:rPr lang="en-GB" sz="1200" dirty="0">
                          <a:latin typeface="NBS Light" panose="020B0303030303020204" pitchFamily="34" charset="0"/>
                          <a:cs typeface="Agency FB"/>
                        </a:rPr>
                        <a:t>rates, SLAs for rules, false </a:t>
                      </a:r>
                      <a:r>
                        <a:rPr lang="en-GB" sz="1200" spc="-5" dirty="0">
                          <a:latin typeface="NBS Light" panose="020B0303030303020204" pitchFamily="34" charset="0"/>
                          <a:cs typeface="Agency FB"/>
                        </a:rPr>
                        <a:t>positive management </a:t>
                      </a:r>
                      <a:r>
                        <a:rPr lang="en-GB" sz="1200" dirty="0">
                          <a:latin typeface="NBS Light" panose="020B0303030303020204" pitchFamily="34" charset="0"/>
                          <a:cs typeface="Agency FB"/>
                        </a:rPr>
                        <a:t>and  </a:t>
                      </a:r>
                      <a:r>
                        <a:rPr lang="en-GB" sz="1200" spc="-5" dirty="0">
                          <a:latin typeface="NBS Light" panose="020B0303030303020204" pitchFamily="34" charset="0"/>
                          <a:cs typeface="Agency FB"/>
                        </a:rPr>
                        <a:t>reporting</a:t>
                      </a:r>
                      <a:r>
                        <a:rPr lang="en-GB" sz="1200" spc="-30" dirty="0">
                          <a:latin typeface="NBS Light" panose="020B0303030303020204" pitchFamily="34" charset="0"/>
                          <a:cs typeface="Agency FB"/>
                        </a:rPr>
                        <a:t> </a:t>
                      </a:r>
                      <a:r>
                        <a:rPr lang="en-GB" sz="1200" dirty="0">
                          <a:latin typeface="NBS Light" panose="020B0303030303020204" pitchFamily="34" charset="0"/>
                          <a:cs typeface="Agency FB"/>
                        </a:rPr>
                        <a:t>rates,</a:t>
                      </a:r>
                      <a:r>
                        <a:rPr lang="en-GB" sz="1200" spc="-30" dirty="0">
                          <a:latin typeface="NBS Light" panose="020B0303030303020204" pitchFamily="34" charset="0"/>
                          <a:cs typeface="Agency FB"/>
                        </a:rPr>
                        <a:t> </a:t>
                      </a:r>
                      <a:r>
                        <a:rPr lang="en-GB" sz="1200" spc="-5" dirty="0">
                          <a:latin typeface="NBS Light" panose="020B0303030303020204" pitchFamily="34" charset="0"/>
                          <a:cs typeface="Agency FB"/>
                        </a:rPr>
                        <a:t>SLAs</a:t>
                      </a:r>
                      <a:r>
                        <a:rPr lang="en-GB" sz="1200" spc="-30" dirty="0">
                          <a:latin typeface="NBS Light" panose="020B0303030303020204" pitchFamily="34" charset="0"/>
                          <a:cs typeface="Agency FB"/>
                        </a:rPr>
                        <a:t> </a:t>
                      </a:r>
                      <a:r>
                        <a:rPr lang="en-GB" sz="1200" dirty="0">
                          <a:latin typeface="NBS Light" panose="020B0303030303020204" pitchFamily="34" charset="0"/>
                          <a:cs typeface="Agency FB"/>
                        </a:rPr>
                        <a:t>for</a:t>
                      </a:r>
                      <a:r>
                        <a:rPr lang="en-GB" sz="1200" spc="-25" dirty="0">
                          <a:latin typeface="NBS Light" panose="020B0303030303020204" pitchFamily="34" charset="0"/>
                          <a:cs typeface="Agency FB"/>
                        </a:rPr>
                        <a:t> </a:t>
                      </a:r>
                      <a:r>
                        <a:rPr lang="en-GB" sz="1200" dirty="0">
                          <a:latin typeface="NBS Light" panose="020B0303030303020204" pitchFamily="34" charset="0"/>
                          <a:cs typeface="Agency FB"/>
                        </a:rPr>
                        <a:t>rules,</a:t>
                      </a:r>
                      <a:r>
                        <a:rPr lang="en-GB" sz="1200" spc="-40" dirty="0">
                          <a:latin typeface="NBS Light" panose="020B0303030303020204" pitchFamily="34" charset="0"/>
                          <a:cs typeface="Agency FB"/>
                        </a:rPr>
                        <a:t> </a:t>
                      </a:r>
                      <a:r>
                        <a:rPr lang="en-GB" sz="1200" dirty="0">
                          <a:latin typeface="NBS Light" panose="020B0303030303020204" pitchFamily="34" charset="0"/>
                          <a:cs typeface="Agency FB"/>
                        </a:rPr>
                        <a:t>false</a:t>
                      </a:r>
                      <a:r>
                        <a:rPr lang="en-GB" sz="1200" spc="-35" dirty="0">
                          <a:latin typeface="NBS Light" panose="020B0303030303020204" pitchFamily="34" charset="0"/>
                          <a:cs typeface="Agency FB"/>
                        </a:rPr>
                        <a:t> </a:t>
                      </a:r>
                      <a:r>
                        <a:rPr lang="en-GB" sz="1200" spc="-5" dirty="0">
                          <a:latin typeface="NBS Light" panose="020B0303030303020204" pitchFamily="34" charset="0"/>
                          <a:cs typeface="Agency FB"/>
                        </a:rPr>
                        <a:t>positive</a:t>
                      </a:r>
                      <a:r>
                        <a:rPr lang="en-GB" sz="1200" spc="-25" dirty="0">
                          <a:latin typeface="NBS Light" panose="020B0303030303020204" pitchFamily="34" charset="0"/>
                          <a:cs typeface="Agency FB"/>
                        </a:rPr>
                        <a:t> </a:t>
                      </a:r>
                      <a:r>
                        <a:rPr lang="en-GB" sz="1200" spc="-5" dirty="0">
                          <a:latin typeface="NBS Light" panose="020B0303030303020204" pitchFamily="34" charset="0"/>
                          <a:cs typeface="Agency FB"/>
                        </a:rPr>
                        <a:t>management</a:t>
                      </a:r>
                      <a:r>
                        <a:rPr lang="en-GB" sz="1200" spc="-40" dirty="0">
                          <a:latin typeface="NBS Light" panose="020B0303030303020204" pitchFamily="34" charset="0"/>
                          <a:cs typeface="Agency FB"/>
                        </a:rPr>
                        <a:t> </a:t>
                      </a:r>
                      <a:r>
                        <a:rPr lang="en-GB" sz="1200" dirty="0">
                          <a:latin typeface="NBS Light" panose="020B0303030303020204" pitchFamily="34" charset="0"/>
                          <a:cs typeface="Agency FB"/>
                        </a:rPr>
                        <a:t>and</a:t>
                      </a:r>
                      <a:r>
                        <a:rPr lang="en-GB" sz="1200" spc="-20" dirty="0">
                          <a:latin typeface="NBS Light" panose="020B0303030303020204" pitchFamily="34" charset="0"/>
                          <a:cs typeface="Agency FB"/>
                        </a:rPr>
                        <a:t> </a:t>
                      </a:r>
                      <a:r>
                        <a:rPr lang="en-GB" sz="1200" spc="-5" dirty="0">
                          <a:latin typeface="NBS Light" panose="020B0303030303020204" pitchFamily="34" charset="0"/>
                          <a:cs typeface="Agency FB"/>
                        </a:rPr>
                        <a:t>resource.</a:t>
                      </a:r>
                      <a:endParaRPr lang="en-GB" sz="1200" dirty="0">
                        <a:latin typeface="NBS Light" panose="020B0303030303020204" pitchFamily="34" charset="0"/>
                        <a:cs typeface="Agency FB"/>
                      </a:endParaRPr>
                    </a:p>
                  </a:txBody>
                  <a:tcPr/>
                </a:tc>
                <a:tc>
                  <a:txBody>
                    <a:bodyPr/>
                    <a:lstStyle/>
                    <a:p>
                      <a:pPr algn="ctr"/>
                      <a:r>
                        <a:rPr lang="en-GB" sz="1200" b="0" dirty="0">
                          <a:latin typeface="NBS Light" panose="020B0303030303020204" pitchFamily="34" charset="0"/>
                        </a:rPr>
                        <a:t>In Progress</a:t>
                      </a:r>
                    </a:p>
                  </a:txBody>
                  <a:tcPr anchor="ctr">
                    <a:solidFill>
                      <a:srgbClr val="92D050"/>
                    </a:solidFill>
                  </a:tcPr>
                </a:tc>
                <a:tc>
                  <a:txBody>
                    <a:bodyPr/>
                    <a:lstStyle/>
                    <a:p>
                      <a:pPr marL="171450" indent="-171450">
                        <a:buFont typeface="Arial" panose="020B0604020202020204" pitchFamily="34" charset="0"/>
                        <a:buChar char="•"/>
                      </a:pPr>
                      <a:r>
                        <a:rPr lang="en-GB" sz="1200" dirty="0">
                          <a:latin typeface="NBS Light" panose="020B0303030303020204" pitchFamily="34" charset="0"/>
                        </a:rPr>
                        <a:t>TM risk assessment complete and periodically reviewed </a:t>
                      </a:r>
                    </a:p>
                    <a:p>
                      <a:pPr marL="171450" indent="-171450">
                        <a:buFont typeface="Arial" panose="020B0604020202020204" pitchFamily="34" charset="0"/>
                        <a:buChar char="•"/>
                      </a:pPr>
                      <a:r>
                        <a:rPr lang="en-GB" sz="1200" dirty="0">
                          <a:latin typeface="NBS Light" panose="020B0303030303020204" pitchFamily="34" charset="0"/>
                        </a:rPr>
                        <a:t>Rule documentation significantly improved as part of phase 1 rule development </a:t>
                      </a:r>
                    </a:p>
                    <a:p>
                      <a:pPr marL="171450" indent="-171450">
                        <a:buFont typeface="Arial" panose="020B0604020202020204" pitchFamily="34" charset="0"/>
                        <a:buChar char="•"/>
                      </a:pPr>
                      <a:r>
                        <a:rPr lang="en-GB" sz="1200" dirty="0">
                          <a:latin typeface="NBS Light" panose="020B0303030303020204" pitchFamily="34" charset="0"/>
                        </a:rPr>
                        <a:t>Risk appetite documentation required to define NBS risk appetite for Transaction Monitoring </a:t>
                      </a:r>
                    </a:p>
                  </a:txBody>
                  <a:tcPr/>
                </a:tc>
                <a:extLst>
                  <a:ext uri="{0D108BD9-81ED-4DB2-BD59-A6C34878D82A}">
                    <a16:rowId xmlns:a16="http://schemas.microsoft.com/office/drawing/2014/main" val="15046522"/>
                  </a:ext>
                </a:extLst>
              </a:tr>
              <a:tr h="486215">
                <a:tc vMerge="1">
                  <a:txBody>
                    <a:bodyPr/>
                    <a:lstStyle/>
                    <a:p>
                      <a:endParaRPr lang="en-GB" sz="1200" b="1" dirty="0">
                        <a:latin typeface="NBS Medium" panose="020B0603030303020204" pitchFamily="34" charset="0"/>
                      </a:endParaRPr>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baseline="0" dirty="0">
                          <a:solidFill>
                            <a:schemeClr val="tx1"/>
                          </a:solidFill>
                          <a:latin typeface="NBS Light" panose="020B0303030303020204" pitchFamily="34" charset="0"/>
                          <a:ea typeface="+mn-ea"/>
                          <a:cs typeface="+mn-cs"/>
                        </a:rPr>
                        <a:t>Existing rules are run after the event on a (minimum of a) monthly basis. We cannot prove / evidence that current monitoring arrangements are commensurate to the risks</a:t>
                      </a:r>
                      <a:endParaRPr lang="en-GB" sz="1200" dirty="0">
                        <a:solidFill>
                          <a:schemeClr val="tx1"/>
                        </a:solidFill>
                        <a:latin typeface="NBS Light" panose="020B0303030303020204" pitchFamily="34" charset="0"/>
                      </a:endParaRPr>
                    </a:p>
                  </a:txBody>
                  <a:tcPr/>
                </a:tc>
                <a:tc>
                  <a:txBody>
                    <a:bodyPr/>
                    <a:lstStyle/>
                    <a:p>
                      <a:pPr algn="ctr"/>
                      <a:r>
                        <a:rPr lang="en-GB" sz="1200" b="0" dirty="0">
                          <a:latin typeface="NBS Light" panose="020B0303030303020204" pitchFamily="34" charset="0"/>
                        </a:rPr>
                        <a:t>Not Addressed  </a:t>
                      </a:r>
                    </a:p>
                  </a:txBody>
                  <a:tcPr anchor="ctr">
                    <a:solidFill>
                      <a:srgbClr val="FED3CA"/>
                    </a:solidFill>
                  </a:tcPr>
                </a:tc>
                <a:tc>
                  <a:txBody>
                    <a:bodyPr/>
                    <a:lstStyle/>
                    <a:p>
                      <a:pPr marL="171450" indent="-171450">
                        <a:buFont typeface="Arial" panose="020B0604020202020204" pitchFamily="34" charset="0"/>
                        <a:buChar char="•"/>
                      </a:pPr>
                      <a:r>
                        <a:rPr lang="en-GB" sz="1200" dirty="0">
                          <a:latin typeface="NBS Light" panose="020B0303030303020204" pitchFamily="34" charset="0"/>
                        </a:rPr>
                        <a:t>TM Alert Frequency to be determined to ensure NBS appropriately manage transactional risks </a:t>
                      </a:r>
                    </a:p>
                  </a:txBody>
                  <a:tcPr>
                    <a:solidFill>
                      <a:srgbClr val="CFD5EA"/>
                    </a:solidFill>
                  </a:tcPr>
                </a:tc>
                <a:extLst>
                  <a:ext uri="{0D108BD9-81ED-4DB2-BD59-A6C34878D82A}">
                    <a16:rowId xmlns:a16="http://schemas.microsoft.com/office/drawing/2014/main" val="2947906603"/>
                  </a:ext>
                </a:extLst>
              </a:tr>
              <a:tr h="764052">
                <a:tc vMerge="1">
                  <a:txBody>
                    <a:bodyPr/>
                    <a:lstStyle/>
                    <a:p>
                      <a:endParaRPr lang="en-GB"/>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baseline="0" dirty="0">
                          <a:solidFill>
                            <a:schemeClr val="tx1"/>
                          </a:solidFill>
                          <a:latin typeface="NBS Light" panose="020B0303030303020204" pitchFamily="34" charset="0"/>
                          <a:ea typeface="+mn-ea"/>
                          <a:cs typeface="+mn-cs"/>
                        </a:rPr>
                        <a:t>Existing rules consider some types / volume / value of transactions however we are unable to evidence / demonstrate that we receive / see all transactions necessary to undertake effective TM.</a:t>
                      </a:r>
                    </a:p>
                  </a:txBody>
                  <a:tcPr/>
                </a:tc>
                <a:tc>
                  <a:txBody>
                    <a:bodyPr/>
                    <a:lstStyle/>
                    <a:p>
                      <a:pPr algn="ctr"/>
                      <a:r>
                        <a:rPr lang="en-GB" sz="1200" b="0" dirty="0">
                          <a:latin typeface="NBS Light" panose="020B0303030303020204" pitchFamily="34" charset="0"/>
                        </a:rPr>
                        <a:t> In Progress </a:t>
                      </a:r>
                    </a:p>
                  </a:txBody>
                  <a:tcPr anchor="ctr">
                    <a:solidFill>
                      <a:srgbClr val="92D050"/>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dirty="0">
                          <a:latin typeface="NBS Light" panose="020B0303030303020204" pitchFamily="34" charset="0"/>
                        </a:rPr>
                        <a:t>Data Integrity workstream – lineage complete, data quality &amp; data governance ongoing</a:t>
                      </a:r>
                    </a:p>
                    <a:p>
                      <a:pPr marL="171450" indent="-171450">
                        <a:buFont typeface="Arial" panose="020B0604020202020204" pitchFamily="34" charset="0"/>
                        <a:buChar char="•"/>
                      </a:pPr>
                      <a:r>
                        <a:rPr lang="en-GB" sz="1200" dirty="0">
                          <a:latin typeface="NBS Light" panose="020B0303030303020204" pitchFamily="34" charset="0"/>
                        </a:rPr>
                        <a:t>Rule development phase 1 introduced new value/volume rules and remaining phases will continue to introduce these elements </a:t>
                      </a:r>
                    </a:p>
                  </a:txBody>
                  <a:tcPr/>
                </a:tc>
                <a:extLst>
                  <a:ext uri="{0D108BD9-81ED-4DB2-BD59-A6C34878D82A}">
                    <a16:rowId xmlns:a16="http://schemas.microsoft.com/office/drawing/2014/main" val="3915478012"/>
                  </a:ext>
                </a:extLst>
              </a:tr>
              <a:tr h="208378">
                <a:tc vMerge="1">
                  <a:txBody>
                    <a:bodyPr/>
                    <a:lstStyle/>
                    <a:p>
                      <a:endParaRPr lang="en-GB" sz="1200" b="1" dirty="0">
                        <a:latin typeface="NBS Medium" panose="020B0603030303020204" pitchFamily="34" charset="0"/>
                      </a:endParaRPr>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baseline="0" dirty="0">
                          <a:solidFill>
                            <a:schemeClr val="tx1"/>
                          </a:solidFill>
                          <a:latin typeface="NBS Light" panose="020B0303030303020204" pitchFamily="34" charset="0"/>
                          <a:ea typeface="+mn-ea"/>
                          <a:cs typeface="+mn-cs"/>
                        </a:rPr>
                        <a:t>Testing: lack of documentation evidencing control testing.</a:t>
                      </a:r>
                    </a:p>
                  </a:txBody>
                  <a:tcPr/>
                </a:tc>
                <a:tc>
                  <a:txBody>
                    <a:bodyPr/>
                    <a:lstStyle/>
                    <a:p>
                      <a:pPr algn="ctr"/>
                      <a:r>
                        <a:rPr lang="en-GB" sz="1200" b="0" dirty="0">
                          <a:latin typeface="NBS Light" panose="020B0303030303020204" pitchFamily="34" charset="0"/>
                        </a:rPr>
                        <a:t>Not Addressed</a:t>
                      </a:r>
                    </a:p>
                  </a:txBody>
                  <a:tcPr anchor="ctr">
                    <a:solidFill>
                      <a:srgbClr val="FED3CA"/>
                    </a:solidFill>
                  </a:tcPr>
                </a:tc>
                <a:tc>
                  <a:txBody>
                    <a:bodyPr/>
                    <a:lstStyle/>
                    <a:p>
                      <a:pPr marL="171450" indent="-171450">
                        <a:buFont typeface="Arial" panose="020B0604020202020204" pitchFamily="34" charset="0"/>
                        <a:buChar char="•"/>
                      </a:pPr>
                      <a:r>
                        <a:rPr lang="en-GB" sz="1200" dirty="0">
                          <a:latin typeface="NBS Light" panose="020B0303030303020204" pitchFamily="34" charset="0"/>
                        </a:rPr>
                        <a:t>TM System governance, testing and assurance processes to be defined</a:t>
                      </a:r>
                    </a:p>
                  </a:txBody>
                  <a:tcPr/>
                </a:tc>
                <a:extLst>
                  <a:ext uri="{0D108BD9-81ED-4DB2-BD59-A6C34878D82A}">
                    <a16:rowId xmlns:a16="http://schemas.microsoft.com/office/drawing/2014/main" val="2434687835"/>
                  </a:ext>
                </a:extLst>
              </a:tr>
              <a:tr h="347296">
                <a:tc vMerge="1">
                  <a:txBody>
                    <a:bodyPr/>
                    <a:lstStyle/>
                    <a:p>
                      <a:endParaRPr lang="en-GB" sz="1200" b="1" dirty="0">
                        <a:latin typeface="NBS Medium" panose="020B0603030303020204" pitchFamily="34" charset="0"/>
                      </a:endParaRPr>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baseline="0" dirty="0">
                          <a:solidFill>
                            <a:schemeClr val="tx1"/>
                          </a:solidFill>
                          <a:latin typeface="NBS Light" panose="020B0303030303020204" pitchFamily="34" charset="0"/>
                          <a:ea typeface="+mn-ea"/>
                          <a:cs typeface="+mn-cs"/>
                        </a:rPr>
                        <a:t>Feedback mechanisms: intelligent use of TM to keep </a:t>
                      </a:r>
                      <a:r>
                        <a:rPr lang="en-GB" sz="1200" kern="1200" baseline="0" dirty="0" err="1">
                          <a:solidFill>
                            <a:schemeClr val="tx1"/>
                          </a:solidFill>
                          <a:latin typeface="NBS Light" panose="020B0303030303020204" pitchFamily="34" charset="0"/>
                          <a:ea typeface="+mn-ea"/>
                          <a:cs typeface="+mn-cs"/>
                        </a:rPr>
                        <a:t>CDD</a:t>
                      </a:r>
                      <a:r>
                        <a:rPr lang="en-GB" sz="1200" kern="1200" baseline="0" dirty="0">
                          <a:solidFill>
                            <a:schemeClr val="tx1"/>
                          </a:solidFill>
                          <a:latin typeface="NBS Light" panose="020B0303030303020204" pitchFamily="34" charset="0"/>
                          <a:ea typeface="+mn-ea"/>
                          <a:cs typeface="+mn-cs"/>
                        </a:rPr>
                        <a:t> information up to date through triggering event driven reviews.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dirty="0">
                          <a:latin typeface="NBS Light" panose="020B0303030303020204" pitchFamily="34" charset="0"/>
                        </a:rPr>
                        <a:t>Not Addressed</a:t>
                      </a:r>
                    </a:p>
                  </a:txBody>
                  <a:tcPr anchor="ctr">
                    <a:solidFill>
                      <a:srgbClr val="FED3CA"/>
                    </a:solidFill>
                  </a:tcPr>
                </a:tc>
                <a:tc>
                  <a:txBody>
                    <a:bodyPr/>
                    <a:lstStyle/>
                    <a:p>
                      <a:pPr marL="171450" indent="-171450">
                        <a:buFont typeface="Arial" panose="020B0604020202020204" pitchFamily="34" charset="0"/>
                        <a:buChar char="•"/>
                      </a:pPr>
                      <a:r>
                        <a:rPr lang="en-GB" sz="1200" dirty="0">
                          <a:latin typeface="NBS Light" panose="020B0303030303020204" pitchFamily="34" charset="0"/>
                        </a:rPr>
                        <a:t>Process to be defined for TM alerts to trigger event driven reviews </a:t>
                      </a:r>
                    </a:p>
                  </a:txBody>
                  <a:tcPr/>
                </a:tc>
                <a:extLst>
                  <a:ext uri="{0D108BD9-81ED-4DB2-BD59-A6C34878D82A}">
                    <a16:rowId xmlns:a16="http://schemas.microsoft.com/office/drawing/2014/main" val="3138014317"/>
                  </a:ext>
                </a:extLst>
              </a:tr>
            </a:tbl>
          </a:graphicData>
        </a:graphic>
      </p:graphicFrame>
      <p:grpSp>
        <p:nvGrpSpPr>
          <p:cNvPr id="5" name="Group 4">
            <a:extLst>
              <a:ext uri="{FF2B5EF4-FFF2-40B4-BE49-F238E27FC236}">
                <a16:creationId xmlns:a16="http://schemas.microsoft.com/office/drawing/2014/main" id="{18755283-3C56-47EF-95B3-ABD201A13F53}"/>
              </a:ext>
            </a:extLst>
          </p:cNvPr>
          <p:cNvGrpSpPr/>
          <p:nvPr/>
        </p:nvGrpSpPr>
        <p:grpSpPr>
          <a:xfrm>
            <a:off x="10750335" y="212253"/>
            <a:ext cx="1005206" cy="479127"/>
            <a:chOff x="3236913" y="913342"/>
            <a:chExt cx="1740428" cy="712845"/>
          </a:xfrm>
        </p:grpSpPr>
        <p:pic>
          <p:nvPicPr>
            <p:cNvPr id="6" name="Picture 5" descr="Nationwide BS Logo sRGB.png">
              <a:extLst>
                <a:ext uri="{FF2B5EF4-FFF2-40B4-BE49-F238E27FC236}">
                  <a16:creationId xmlns:a16="http://schemas.microsoft.com/office/drawing/2014/main" id="{D20D415D-834D-4DE5-A554-3CE1D229F01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938" t="18020" r="9268" b="14259"/>
            <a:stretch/>
          </p:blipFill>
          <p:spPr>
            <a:xfrm>
              <a:off x="3236913" y="913342"/>
              <a:ext cx="1740428" cy="712845"/>
            </a:xfrm>
            <a:prstGeom prst="rect">
              <a:avLst/>
            </a:prstGeom>
          </p:spPr>
        </p:pic>
        <p:sp>
          <p:nvSpPr>
            <p:cNvPr id="7" name="Rounded Rectangle 16">
              <a:extLst>
                <a:ext uri="{FF2B5EF4-FFF2-40B4-BE49-F238E27FC236}">
                  <a16:creationId xmlns:a16="http://schemas.microsoft.com/office/drawing/2014/main" id="{7857A17D-869A-48CF-B69E-209BC974B060}"/>
                </a:ext>
              </a:extLst>
            </p:cNvPr>
            <p:cNvSpPr/>
            <p:nvPr/>
          </p:nvSpPr>
          <p:spPr>
            <a:xfrm>
              <a:off x="3249341" y="919691"/>
              <a:ext cx="1728000" cy="480613"/>
            </a:xfrm>
            <a:prstGeom prst="roundRect">
              <a:avLst>
                <a:gd name="adj" fmla="val 13275"/>
              </a:avLst>
            </a:prstGeom>
            <a:noFill/>
            <a:ln w="6350" cap="flat" cmpd="sng" algn="ctr">
              <a:solidFill>
                <a:sysClr val="window" lastClr="FFFFFF"/>
              </a:solidFill>
              <a:prstDash val="solid"/>
            </a:ln>
            <a:effectLst/>
          </p:spPr>
          <p:txBody>
            <a:bodyPr rtlCol="0" anchor="ctr"/>
            <a:lstStyle/>
            <a:p>
              <a:pPr algn="ctr" defTabSz="257175">
                <a:defRPr/>
              </a:pPr>
              <a:endParaRPr lang="en-US" sz="1013" kern="0" dirty="0">
                <a:solidFill>
                  <a:prstClr val="white"/>
                </a:solidFill>
                <a:latin typeface="Calibri"/>
              </a:endParaRPr>
            </a:p>
          </p:txBody>
        </p:sp>
      </p:grpSp>
    </p:spTree>
    <p:extLst>
      <p:ext uri="{BB962C8B-B14F-4D97-AF65-F5344CB8AC3E}">
        <p14:creationId xmlns:p14="http://schemas.microsoft.com/office/powerpoint/2010/main" val="35543602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B677B79-D815-4E3A-9CB1-94373A757E09}"/>
              </a:ext>
            </a:extLst>
          </p:cNvPr>
          <p:cNvSpPr txBox="1">
            <a:spLocks/>
          </p:cNvSpPr>
          <p:nvPr/>
        </p:nvSpPr>
        <p:spPr>
          <a:xfrm>
            <a:off x="436459" y="394269"/>
            <a:ext cx="11644891" cy="40075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chemeClr val="accent1">
                    <a:lumMod val="75000"/>
                  </a:schemeClr>
                </a:solidFill>
                <a:latin typeface="Elephant" panose="02020904090505020303" pitchFamily="18" charset="0"/>
              </a:rPr>
              <a:t>Transaction Monitoring – Gap Analysis Review </a:t>
            </a:r>
          </a:p>
          <a:p>
            <a:pPr algn="l"/>
            <a:r>
              <a:rPr lang="en-US" sz="1400" dirty="0">
                <a:solidFill>
                  <a:schemeClr val="accent1">
                    <a:lumMod val="75000"/>
                  </a:schemeClr>
                </a:solidFill>
                <a:latin typeface="NBS Medium" panose="020B0603030303020204" pitchFamily="34" charset="0"/>
              </a:rPr>
              <a:t>   </a:t>
            </a:r>
            <a:r>
              <a:rPr lang="en-US" sz="1400" i="1" dirty="0">
                <a:solidFill>
                  <a:srgbClr val="C00000"/>
                </a:solidFill>
                <a:latin typeface="NBS Medium" panose="020B0603030303020204" pitchFamily="34" charset="0"/>
              </a:rPr>
              <a:t>A review of Nationwide's AML TM Gap Analysis completed in 2019 and validate by KPMG. This slides provides a progress update against the gaps</a:t>
            </a:r>
          </a:p>
        </p:txBody>
      </p:sp>
      <p:graphicFrame>
        <p:nvGraphicFramePr>
          <p:cNvPr id="2" name="Table 2">
            <a:extLst>
              <a:ext uri="{FF2B5EF4-FFF2-40B4-BE49-F238E27FC236}">
                <a16:creationId xmlns:a16="http://schemas.microsoft.com/office/drawing/2014/main" id="{F8089F2B-F95E-4090-838B-AC19C0FBC7FE}"/>
              </a:ext>
            </a:extLst>
          </p:cNvPr>
          <p:cNvGraphicFramePr>
            <a:graphicFrameLocks noGrp="1"/>
          </p:cNvGraphicFramePr>
          <p:nvPr>
            <p:extLst>
              <p:ext uri="{D42A27DB-BD31-4B8C-83A1-F6EECF244321}">
                <p14:modId xmlns:p14="http://schemas.microsoft.com/office/powerpoint/2010/main" val="826839452"/>
              </p:ext>
            </p:extLst>
          </p:nvPr>
        </p:nvGraphicFramePr>
        <p:xfrm>
          <a:off x="604911" y="907070"/>
          <a:ext cx="11097379" cy="5791200"/>
        </p:xfrm>
        <a:graphic>
          <a:graphicData uri="http://schemas.openxmlformats.org/drawingml/2006/table">
            <a:tbl>
              <a:tblPr firstRow="1" bandRow="1">
                <a:tableStyleId>{5C22544A-7EE6-4342-B048-85BDC9FD1C3A}</a:tableStyleId>
              </a:tblPr>
              <a:tblGrid>
                <a:gridCol w="1467563">
                  <a:extLst>
                    <a:ext uri="{9D8B030D-6E8A-4147-A177-3AD203B41FA5}">
                      <a16:colId xmlns:a16="http://schemas.microsoft.com/office/drawing/2014/main" val="3182536640"/>
                    </a:ext>
                  </a:extLst>
                </a:gridCol>
                <a:gridCol w="5144252">
                  <a:extLst>
                    <a:ext uri="{9D8B030D-6E8A-4147-A177-3AD203B41FA5}">
                      <a16:colId xmlns:a16="http://schemas.microsoft.com/office/drawing/2014/main" val="3372796699"/>
                    </a:ext>
                  </a:extLst>
                </a:gridCol>
                <a:gridCol w="1139483">
                  <a:extLst>
                    <a:ext uri="{9D8B030D-6E8A-4147-A177-3AD203B41FA5}">
                      <a16:colId xmlns:a16="http://schemas.microsoft.com/office/drawing/2014/main" val="1040161657"/>
                    </a:ext>
                  </a:extLst>
                </a:gridCol>
                <a:gridCol w="3346081">
                  <a:extLst>
                    <a:ext uri="{9D8B030D-6E8A-4147-A177-3AD203B41FA5}">
                      <a16:colId xmlns:a16="http://schemas.microsoft.com/office/drawing/2014/main" val="1975886072"/>
                    </a:ext>
                  </a:extLst>
                </a:gridCol>
              </a:tblGrid>
              <a:tr h="231531">
                <a:tc>
                  <a:txBody>
                    <a:bodyPr/>
                    <a:lstStyle/>
                    <a:p>
                      <a:r>
                        <a:rPr lang="en-GB" sz="1400" b="1" u="sng" dirty="0">
                          <a:latin typeface="NBS Medium" panose="020B0603030303020204" pitchFamily="34" charset="0"/>
                        </a:rPr>
                        <a:t>Source </a:t>
                      </a:r>
                    </a:p>
                  </a:txBody>
                  <a:tcPr/>
                </a:tc>
                <a:tc>
                  <a:txBody>
                    <a:bodyPr/>
                    <a:lstStyle/>
                    <a:p>
                      <a:r>
                        <a:rPr lang="en-GB" sz="1400" u="sng" dirty="0">
                          <a:latin typeface="NBS Medium" panose="020B0603030303020204" pitchFamily="34" charset="0"/>
                        </a:rPr>
                        <a:t>Gaps - 2019 </a:t>
                      </a:r>
                      <a:r>
                        <a:rPr lang="en-GB" sz="1400" i="1" u="sng" dirty="0">
                          <a:latin typeface="NBS Medium" panose="020B0603030303020204" pitchFamily="34" charset="0"/>
                        </a:rPr>
                        <a:t>validated by KPMG</a:t>
                      </a:r>
                    </a:p>
                  </a:txBody>
                  <a:tcPr/>
                </a:tc>
                <a:tc>
                  <a:txBody>
                    <a:bodyPr/>
                    <a:lstStyle/>
                    <a:p>
                      <a:pPr algn="ctr"/>
                      <a:r>
                        <a:rPr lang="en-GB" sz="1400" b="0" u="sng" dirty="0">
                          <a:latin typeface="NBS Medium" panose="020B0603030303020204" pitchFamily="34" charset="0"/>
                        </a:rPr>
                        <a:t>Status</a:t>
                      </a:r>
                    </a:p>
                  </a:txBody>
                  <a:tcPr anchor="ctr"/>
                </a:tc>
                <a:tc>
                  <a:txBody>
                    <a:bodyPr/>
                    <a:lstStyle/>
                    <a:p>
                      <a:r>
                        <a:rPr lang="en-GB" sz="1400" u="sng" dirty="0">
                          <a:latin typeface="NBS Medium" panose="020B0603030303020204" pitchFamily="34" charset="0"/>
                        </a:rPr>
                        <a:t>Evidence </a:t>
                      </a:r>
                    </a:p>
                  </a:txBody>
                  <a:tcPr/>
                </a:tc>
                <a:extLst>
                  <a:ext uri="{0D108BD9-81ED-4DB2-BD59-A6C34878D82A}">
                    <a16:rowId xmlns:a16="http://schemas.microsoft.com/office/drawing/2014/main" val="1957275512"/>
                  </a:ext>
                </a:extLst>
              </a:tr>
              <a:tr h="476253">
                <a:tc rowSpan="3">
                  <a:txBody>
                    <a:bodyPr/>
                    <a:lstStyle/>
                    <a:p>
                      <a:r>
                        <a:rPr lang="en-GB" sz="1200" b="1" dirty="0" err="1">
                          <a:latin typeface="NBS Medium" panose="020B0603030303020204" pitchFamily="34" charset="0"/>
                        </a:rPr>
                        <a:t>Wolfsberg</a:t>
                      </a:r>
                      <a:r>
                        <a:rPr lang="en-GB" sz="1200" b="1" dirty="0">
                          <a:latin typeface="NBS Medium" panose="020B0603030303020204" pitchFamily="34" charset="0"/>
                        </a:rPr>
                        <a:t> Group principles </a:t>
                      </a:r>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baseline="0" dirty="0">
                          <a:solidFill>
                            <a:schemeClr val="tx1"/>
                          </a:solidFill>
                          <a:latin typeface="NBS Light" panose="020B0303030303020204" pitchFamily="34" charset="0"/>
                          <a:ea typeface="+mn-ea"/>
                          <a:cs typeface="+mn-cs"/>
                        </a:rPr>
                        <a:t>No peer group comparisons  / have not created peer groups.</a:t>
                      </a:r>
                    </a:p>
                  </a:txBody>
                  <a:tcPr/>
                </a:tc>
                <a:tc>
                  <a:txBody>
                    <a:bodyPr/>
                    <a:lstStyle/>
                    <a:p>
                      <a:pPr algn="ctr"/>
                      <a:r>
                        <a:rPr lang="en-GB" sz="1200" b="0" dirty="0">
                          <a:latin typeface="NBS Light" panose="020B0303030303020204" pitchFamily="34" charset="0"/>
                        </a:rPr>
                        <a:t>Complete</a:t>
                      </a:r>
                    </a:p>
                  </a:txBody>
                  <a:tcPr anchor="ctr">
                    <a:solidFill>
                      <a:srgbClr val="00B0F0"/>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dirty="0">
                          <a:latin typeface="NBS Light" panose="020B0303030303020204" pitchFamily="34" charset="0"/>
                        </a:rPr>
                        <a:t>Segmentation model developed (reviewed periodically) </a:t>
                      </a:r>
                    </a:p>
                    <a:p>
                      <a:pPr marL="171450" indent="-171450">
                        <a:buFont typeface="Arial" panose="020B0604020202020204" pitchFamily="34" charset="0"/>
                        <a:buChar char="•"/>
                      </a:pPr>
                      <a:r>
                        <a:rPr lang="en-GB" sz="1200" dirty="0">
                          <a:latin typeface="NBS Light" panose="020B0303030303020204" pitchFamily="34" charset="0"/>
                        </a:rPr>
                        <a:t>Phase 1 rules applied to segmentation model </a:t>
                      </a:r>
                    </a:p>
                  </a:txBody>
                  <a:tcPr/>
                </a:tc>
                <a:extLst>
                  <a:ext uri="{0D108BD9-81ED-4DB2-BD59-A6C34878D82A}">
                    <a16:rowId xmlns:a16="http://schemas.microsoft.com/office/drawing/2014/main" val="391089382"/>
                  </a:ext>
                </a:extLst>
              </a:tr>
              <a:tr h="487680">
                <a:tc vMerge="1">
                  <a:txBody>
                    <a:bodyPr/>
                    <a:lstStyle/>
                    <a:p>
                      <a:endParaRPr lang="en-GB"/>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baseline="0" dirty="0">
                          <a:solidFill>
                            <a:schemeClr val="tx1"/>
                          </a:solidFill>
                          <a:latin typeface="NBS Light" panose="020B0303030303020204" pitchFamily="34" charset="0"/>
                          <a:ea typeface="+mn-ea"/>
                          <a:cs typeface="+mn-cs"/>
                        </a:rPr>
                        <a:t>Rules are prescriptive and identify “anomalies” however, with the unknowns of the TMS data, may not consider “patterns” of transactions which may be unusual.</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1200" dirty="0">
                        <a:latin typeface="NBS Light" panose="020B0303030303020204" pitchFamily="34" charset="0"/>
                      </a:endParaRPr>
                    </a:p>
                  </a:txBody>
                  <a:tcPr/>
                </a:tc>
                <a:tc>
                  <a:txBody>
                    <a:bodyPr/>
                    <a:lstStyle/>
                    <a:p>
                      <a:pPr algn="ctr"/>
                      <a:r>
                        <a:rPr lang="en-GB" sz="1200" dirty="0">
                          <a:latin typeface="NBS Light" panose="020B0303030303020204" pitchFamily="34" charset="0"/>
                        </a:rPr>
                        <a:t>In Progress </a:t>
                      </a:r>
                    </a:p>
                  </a:txBody>
                  <a:tcPr anchor="ctr">
                    <a:solidFill>
                      <a:srgbClr val="92D050"/>
                    </a:solidFill>
                  </a:tcPr>
                </a:tc>
                <a:tc>
                  <a:txBody>
                    <a:bodyPr/>
                    <a:lstStyle/>
                    <a:p>
                      <a:pPr marL="171450" indent="-171450">
                        <a:buFont typeface="Arial" panose="020B0604020202020204" pitchFamily="34" charset="0"/>
                        <a:buChar char="•"/>
                      </a:pPr>
                      <a:r>
                        <a:rPr lang="en-GB" sz="1200" dirty="0">
                          <a:latin typeface="NBS Light" panose="020B0303030303020204" pitchFamily="34" charset="0"/>
                        </a:rPr>
                        <a:t>Rule development to deliver rules to detect anomalies and patterns. Phase 1 bridges this gap significantly already.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dirty="0">
                          <a:latin typeface="NBS Light" panose="020B0303030303020204" pitchFamily="34" charset="0"/>
                        </a:rPr>
                        <a:t>Data Integrity workstream – lineage complete, data quality &amp; data governance ongoing </a:t>
                      </a:r>
                    </a:p>
                  </a:txBody>
                  <a:tcPr/>
                </a:tc>
                <a:extLst>
                  <a:ext uri="{0D108BD9-81ED-4DB2-BD59-A6C34878D82A}">
                    <a16:rowId xmlns:a16="http://schemas.microsoft.com/office/drawing/2014/main" val="3217800968"/>
                  </a:ext>
                </a:extLst>
              </a:tr>
              <a:tr h="457200">
                <a:tc vMerge="1">
                  <a:txBody>
                    <a:bodyPr/>
                    <a:lstStyle/>
                    <a:p>
                      <a:endParaRPr lang="en-GB"/>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baseline="0" dirty="0">
                          <a:solidFill>
                            <a:schemeClr val="tx1"/>
                          </a:solidFill>
                          <a:latin typeface="NBS Light" panose="020B0303030303020204" pitchFamily="34" charset="0"/>
                          <a:ea typeface="+mn-ea"/>
                          <a:cs typeface="+mn-cs"/>
                        </a:rPr>
                        <a:t>Current solution does not pro-actively recognise patterns nor learn what is unusual/uncharacteristic for a customer. Machine-Learning/AI/”hunting” capability would be required</a:t>
                      </a:r>
                      <a:endParaRPr lang="en-GB" sz="1200" dirty="0">
                        <a:latin typeface="NBS Light" panose="020B0303030303020204" pitchFamily="34" charset="0"/>
                      </a:endParaRPr>
                    </a:p>
                  </a:txBody>
                  <a:tcPr/>
                </a:tc>
                <a:tc>
                  <a:txBody>
                    <a:bodyPr/>
                    <a:lstStyle/>
                    <a:p>
                      <a:pPr algn="ctr"/>
                      <a:r>
                        <a:rPr lang="en-GB" sz="1200" dirty="0">
                          <a:latin typeface="NBS Light" panose="020B0303030303020204" pitchFamily="34" charset="0"/>
                        </a:rPr>
                        <a:t>In Progress </a:t>
                      </a:r>
                    </a:p>
                  </a:txBody>
                  <a:tcPr anchor="ctr">
                    <a:solidFill>
                      <a:srgbClr val="92D050"/>
                    </a:solidFill>
                  </a:tcPr>
                </a:tc>
                <a:tc rowSpan="2">
                  <a:txBody>
                    <a:bodyPr/>
                    <a:lstStyle/>
                    <a:p>
                      <a:pPr marL="171450" indent="-171450">
                        <a:buFont typeface="Arial" panose="020B0604020202020204" pitchFamily="34" charset="0"/>
                        <a:buChar char="•"/>
                      </a:pPr>
                      <a:r>
                        <a:rPr lang="en-GB" sz="1200" dirty="0">
                          <a:latin typeface="NBS Light" panose="020B0303030303020204" pitchFamily="34" charset="0"/>
                        </a:rPr>
                        <a:t>Behaviour rules delivered in phase 1, include detecting activity that is inconsistent with expected, historic and peer based activity. Further delivery against rule development plan will firm up this capability </a:t>
                      </a:r>
                    </a:p>
                    <a:p>
                      <a:pPr marL="171450" indent="-171450">
                        <a:buFont typeface="Arial" panose="020B0604020202020204" pitchFamily="34" charset="0"/>
                        <a:buChar char="•"/>
                      </a:pPr>
                      <a:r>
                        <a:rPr lang="en-GB" sz="1200" dirty="0">
                          <a:latin typeface="NBS Light" panose="020B0303030303020204" pitchFamily="34" charset="0"/>
                        </a:rPr>
                        <a:t>Hunter model to be operationalised </a:t>
                      </a:r>
                    </a:p>
                    <a:p>
                      <a:pPr marL="171450" indent="-171450">
                        <a:buFont typeface="Arial" panose="020B0604020202020204" pitchFamily="34" charset="0"/>
                        <a:buChar char="•"/>
                      </a:pPr>
                      <a:r>
                        <a:rPr lang="en-GB" sz="1200" dirty="0">
                          <a:latin typeface="NBS Light" panose="020B0303030303020204" pitchFamily="34" charset="0"/>
                        </a:rPr>
                        <a:t>Further development of AI and Machine learning required </a:t>
                      </a:r>
                    </a:p>
                  </a:txBody>
                  <a:tcPr/>
                </a:tc>
                <a:extLst>
                  <a:ext uri="{0D108BD9-81ED-4DB2-BD59-A6C34878D82A}">
                    <a16:rowId xmlns:a16="http://schemas.microsoft.com/office/drawing/2014/main" val="1126535391"/>
                  </a:ext>
                </a:extLst>
              </a:tr>
              <a:tr h="625133">
                <a:tc>
                  <a:txBody>
                    <a:bodyPr/>
                    <a:lstStyle/>
                    <a:p>
                      <a:r>
                        <a:rPr lang="en-GB" sz="1200" b="1" dirty="0">
                          <a:latin typeface="NBS Medium" panose="020B0603030303020204" pitchFamily="34" charset="0"/>
                        </a:rPr>
                        <a:t>ESA Guidelines – Final Guidelines on AML/ </a:t>
                      </a:r>
                      <a:r>
                        <a:rPr lang="en-GB" sz="1200" b="1" dirty="0" err="1">
                          <a:latin typeface="NBS Medium" panose="020B0603030303020204" pitchFamily="34" charset="0"/>
                        </a:rPr>
                        <a:t>CTF</a:t>
                      </a:r>
                      <a:r>
                        <a:rPr lang="en-GB" sz="1200" b="1" dirty="0">
                          <a:latin typeface="NBS Medium" panose="020B0603030303020204" pitchFamily="34" charset="0"/>
                        </a:rPr>
                        <a:t> June 2017 </a:t>
                      </a:r>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baseline="0" dirty="0">
                          <a:solidFill>
                            <a:schemeClr val="tx1"/>
                          </a:solidFill>
                          <a:latin typeface="NBS Light" panose="020B0303030303020204" pitchFamily="34" charset="0"/>
                          <a:ea typeface="+mn-ea"/>
                          <a:cs typeface="+mn-cs"/>
                        </a:rPr>
                        <a:t>TM should consider a wider variety of techniques, including pro-active risk identification (i.e. “hunting”), Artificial intelligence, Machine Learning, Horizon scanning, Industry guidance/information, Law enforcement notifications etc.</a:t>
                      </a:r>
                    </a:p>
                  </a:txBody>
                  <a:tcPr/>
                </a:tc>
                <a:tc>
                  <a:txBody>
                    <a:bodyPr/>
                    <a:lstStyle/>
                    <a:p>
                      <a:pPr algn="ctr"/>
                      <a:r>
                        <a:rPr lang="en-GB" sz="1200" dirty="0">
                          <a:latin typeface="NBS Light" panose="020B0303030303020204" pitchFamily="34" charset="0"/>
                        </a:rPr>
                        <a:t>In Progress </a:t>
                      </a:r>
                    </a:p>
                  </a:txBody>
                  <a:tcPr anchor="ctr">
                    <a:solidFill>
                      <a:srgbClr val="92D050"/>
                    </a:solidFill>
                  </a:tcPr>
                </a:tc>
                <a:tc vMerge="1">
                  <a:txBody>
                    <a:bodyPr/>
                    <a:lstStyle/>
                    <a:p>
                      <a:pPr marL="171450" indent="-171450">
                        <a:buFont typeface="Arial" panose="020B0604020202020204" pitchFamily="34" charset="0"/>
                        <a:buChar char="•"/>
                      </a:pPr>
                      <a:endParaRPr lang="en-GB" sz="1200" dirty="0">
                        <a:latin typeface="NBS Light" panose="020B0303030303020204" pitchFamily="34" charset="0"/>
                      </a:endParaRPr>
                    </a:p>
                  </a:txBody>
                  <a:tcPr/>
                </a:tc>
                <a:extLst>
                  <a:ext uri="{0D108BD9-81ED-4DB2-BD59-A6C34878D82A}">
                    <a16:rowId xmlns:a16="http://schemas.microsoft.com/office/drawing/2014/main" val="1001373062"/>
                  </a:ext>
                </a:extLst>
              </a:tr>
              <a:tr h="625133">
                <a:tc rowSpan="3">
                  <a:txBody>
                    <a:bodyPr/>
                    <a:lstStyle/>
                    <a:p>
                      <a:r>
                        <a:rPr lang="en-GB" sz="1200" b="1" dirty="0">
                          <a:latin typeface="NBS Medium" panose="020B0603030303020204" pitchFamily="34" charset="0"/>
                        </a:rPr>
                        <a:t>KPMG Visit 1 (2019) </a:t>
                      </a:r>
                      <a:r>
                        <a:rPr lang="en-GB" sz="1200" b="1" dirty="0" err="1">
                          <a:latin typeface="NBS Medium" panose="020B0603030303020204" pitchFamily="34" charset="0"/>
                        </a:rPr>
                        <a:t>CRA</a:t>
                      </a:r>
                      <a:r>
                        <a:rPr lang="en-GB" sz="1200" b="1" dirty="0">
                          <a:latin typeface="NBS Medium" panose="020B0603030303020204" pitchFamily="34" charset="0"/>
                        </a:rPr>
                        <a:t> (RRP) review and TM</a:t>
                      </a:r>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b="0" kern="1200" baseline="0" dirty="0">
                          <a:solidFill>
                            <a:schemeClr val="dk1"/>
                          </a:solidFill>
                          <a:latin typeface="NBS Light" panose="020B0303030303020204" pitchFamily="34" charset="0"/>
                          <a:ea typeface="+mn-ea"/>
                          <a:cs typeface="+mn-cs"/>
                        </a:rPr>
                        <a:t>NBS should identify and create defined peer-groups/segments (which exhibit similar traits) (challenges include limited </a:t>
                      </a:r>
                      <a:r>
                        <a:rPr lang="en-GB" sz="1200" b="0" kern="1200" baseline="0" dirty="0" err="1">
                          <a:solidFill>
                            <a:schemeClr val="dk1"/>
                          </a:solidFill>
                          <a:latin typeface="NBS Light" panose="020B0303030303020204" pitchFamily="34" charset="0"/>
                          <a:ea typeface="+mn-ea"/>
                          <a:cs typeface="+mn-cs"/>
                        </a:rPr>
                        <a:t>CDD</a:t>
                      </a:r>
                      <a:r>
                        <a:rPr lang="en-GB" sz="1200" b="0" kern="1200" baseline="0" dirty="0">
                          <a:solidFill>
                            <a:schemeClr val="dk1"/>
                          </a:solidFill>
                          <a:latin typeface="NBS Light" panose="020B0303030303020204" pitchFamily="34" charset="0"/>
                          <a:ea typeface="+mn-ea"/>
                          <a:cs typeface="+mn-cs"/>
                        </a:rPr>
                        <a:t> data to define segments appropriately) </a:t>
                      </a:r>
                    </a:p>
                  </a:txBody>
                  <a:tcPr/>
                </a:tc>
                <a:tc>
                  <a:txBody>
                    <a:bodyPr/>
                    <a:lstStyle/>
                    <a:p>
                      <a:pPr algn="ctr"/>
                      <a:r>
                        <a:rPr lang="en-GB" sz="1200" dirty="0">
                          <a:latin typeface="NBS Light" panose="020B0303030303020204" pitchFamily="34" charset="0"/>
                        </a:rPr>
                        <a:t>Complete </a:t>
                      </a:r>
                    </a:p>
                  </a:txBody>
                  <a:tcPr anchor="ctr">
                    <a:solidFill>
                      <a:srgbClr val="00B0F0"/>
                    </a:solidFill>
                  </a:tcPr>
                </a:tc>
                <a:tc>
                  <a:txBody>
                    <a:bodyPr/>
                    <a:lstStyle/>
                    <a:p>
                      <a:pPr marL="171450" indent="-171450">
                        <a:buFont typeface="Arial" panose="020B0604020202020204" pitchFamily="34" charset="0"/>
                        <a:buChar char="•"/>
                      </a:pPr>
                      <a:r>
                        <a:rPr lang="en-GB" sz="1200" dirty="0">
                          <a:latin typeface="NBS Light" panose="020B0303030303020204" pitchFamily="34" charset="0"/>
                        </a:rPr>
                        <a:t>Segmentation model developed (reviewed periodically)</a:t>
                      </a:r>
                    </a:p>
                    <a:p>
                      <a:pPr marL="171450" indent="-171450">
                        <a:buFont typeface="Arial" panose="020B0604020202020204" pitchFamily="34" charset="0"/>
                        <a:buChar char="•"/>
                      </a:pPr>
                      <a:r>
                        <a:rPr lang="en-GB" sz="1200" dirty="0">
                          <a:latin typeface="NBS Light" panose="020B0303030303020204" pitchFamily="34" charset="0"/>
                        </a:rPr>
                        <a:t>Phase 1 rules applied to segmentation model </a:t>
                      </a:r>
                    </a:p>
                  </a:txBody>
                  <a:tcPr/>
                </a:tc>
                <a:extLst>
                  <a:ext uri="{0D108BD9-81ED-4DB2-BD59-A6C34878D82A}">
                    <a16:rowId xmlns:a16="http://schemas.microsoft.com/office/drawing/2014/main" val="3441295887"/>
                  </a:ext>
                </a:extLst>
              </a:tr>
              <a:tr h="253219">
                <a:tc vMerge="1">
                  <a:txBody>
                    <a:bodyPr/>
                    <a:lstStyle/>
                    <a:p>
                      <a:endParaRPr lang="en-GB" sz="1200" b="1" dirty="0">
                        <a:latin typeface="NBS Medium" panose="020B0603030303020204" pitchFamily="34" charset="0"/>
                      </a:endParaRPr>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b="0" kern="1200" baseline="0" dirty="0">
                          <a:solidFill>
                            <a:schemeClr val="dk1"/>
                          </a:solidFill>
                          <a:latin typeface="NBS Light" panose="020B0303030303020204" pitchFamily="34" charset="0"/>
                          <a:ea typeface="+mn-ea"/>
                          <a:cs typeface="+mn-cs"/>
                        </a:rPr>
                        <a:t>Develop targeted TM scenarios in order to effectively identify deviant transactional behaviour. </a:t>
                      </a:r>
                    </a:p>
                  </a:txBody>
                  <a:tcPr/>
                </a:tc>
                <a:tc>
                  <a:txBody>
                    <a:bodyPr/>
                    <a:lstStyle/>
                    <a:p>
                      <a:pPr algn="ctr"/>
                      <a:r>
                        <a:rPr lang="en-GB" sz="1200" dirty="0">
                          <a:latin typeface="NBS Light" panose="020B0303030303020204" pitchFamily="34" charset="0"/>
                        </a:rPr>
                        <a:t>In Progress </a:t>
                      </a:r>
                    </a:p>
                  </a:txBody>
                  <a:tcPr anchor="ctr">
                    <a:solidFill>
                      <a:srgbClr val="92D050"/>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dirty="0">
                          <a:latin typeface="NBS Light" panose="020B0303030303020204" pitchFamily="34" charset="0"/>
                        </a:rPr>
                        <a:t>Rule development plan in place to deliver TM scenarios to manage NBS risks</a:t>
                      </a:r>
                    </a:p>
                  </a:txBody>
                  <a:tcPr/>
                </a:tc>
                <a:extLst>
                  <a:ext uri="{0D108BD9-81ED-4DB2-BD59-A6C34878D82A}">
                    <a16:rowId xmlns:a16="http://schemas.microsoft.com/office/drawing/2014/main" val="473623324"/>
                  </a:ext>
                </a:extLst>
              </a:tr>
              <a:tr h="625133">
                <a:tc vMerge="1">
                  <a:txBody>
                    <a:bodyPr/>
                    <a:lstStyle/>
                    <a:p>
                      <a:endParaRPr lang="en-GB" sz="1200" b="1" dirty="0">
                        <a:latin typeface="NBS Medium" panose="020B0603030303020204" pitchFamily="34" charset="0"/>
                      </a:endParaRPr>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b="0" kern="1200" baseline="0" dirty="0">
                          <a:solidFill>
                            <a:schemeClr val="dk1"/>
                          </a:solidFill>
                          <a:latin typeface="NBS Light" panose="020B0303030303020204" pitchFamily="34" charset="0"/>
                          <a:ea typeface="+mn-ea"/>
                          <a:cs typeface="+mn-cs"/>
                        </a:rPr>
                        <a:t>Enhance the </a:t>
                      </a:r>
                      <a:r>
                        <a:rPr lang="en-GB" sz="1200" b="0" kern="1200" baseline="0" dirty="0" err="1">
                          <a:solidFill>
                            <a:schemeClr val="dk1"/>
                          </a:solidFill>
                          <a:latin typeface="NBS Light" panose="020B0303030303020204" pitchFamily="34" charset="0"/>
                          <a:ea typeface="+mn-ea"/>
                          <a:cs typeface="+mn-cs"/>
                        </a:rPr>
                        <a:t>CRA</a:t>
                      </a:r>
                      <a:r>
                        <a:rPr lang="en-GB" sz="1200" b="0" kern="1200" baseline="0" dirty="0">
                          <a:solidFill>
                            <a:schemeClr val="dk1"/>
                          </a:solidFill>
                          <a:latin typeface="NBS Light" panose="020B0303030303020204" pitchFamily="34" charset="0"/>
                          <a:ea typeface="+mn-ea"/>
                          <a:cs typeface="+mn-cs"/>
                        </a:rPr>
                        <a:t> model by developing a feedback loop from TMS, e.g. increase/decrease in customers risk dependent on the behaviour they display. The RRP </a:t>
                      </a:r>
                      <a:r>
                        <a:rPr lang="en-GB" sz="1200" b="0" kern="1200" baseline="0" dirty="0" err="1">
                          <a:solidFill>
                            <a:schemeClr val="dk1"/>
                          </a:solidFill>
                          <a:latin typeface="NBS Light" panose="020B0303030303020204" pitchFamily="34" charset="0"/>
                          <a:ea typeface="+mn-ea"/>
                          <a:cs typeface="+mn-cs"/>
                        </a:rPr>
                        <a:t>CRA</a:t>
                      </a:r>
                      <a:r>
                        <a:rPr lang="en-GB" sz="1200" b="0" kern="1200" baseline="0" dirty="0">
                          <a:solidFill>
                            <a:schemeClr val="dk1"/>
                          </a:solidFill>
                          <a:latin typeface="NBS Light" panose="020B0303030303020204" pitchFamily="34" charset="0"/>
                          <a:ea typeface="+mn-ea"/>
                          <a:cs typeface="+mn-cs"/>
                        </a:rPr>
                        <a:t> model currently only considers a count of SARs submitted against the customer as an increasing risk factor. With more defined rule-sets and appropriate customer segmentation, NBS would more accurately detect the truly “unusual” </a:t>
                      </a:r>
                    </a:p>
                  </a:txBody>
                  <a:tcPr/>
                </a:tc>
                <a:tc>
                  <a:txBody>
                    <a:bodyPr/>
                    <a:lstStyle/>
                    <a:p>
                      <a:pPr algn="ctr"/>
                      <a:r>
                        <a:rPr lang="en-GB" sz="1200" dirty="0">
                          <a:latin typeface="NBS Light" panose="020B0303030303020204" pitchFamily="34" charset="0"/>
                        </a:rPr>
                        <a:t>Not Addressed </a:t>
                      </a:r>
                    </a:p>
                  </a:txBody>
                  <a:tcPr anchor="ctr">
                    <a:solidFill>
                      <a:srgbClr val="FED3CA"/>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dirty="0">
                          <a:latin typeface="NBS Light" panose="020B0303030303020204" pitchFamily="34" charset="0"/>
                        </a:rPr>
                        <a:t>Transaction Monitoring does not inform </a:t>
                      </a:r>
                      <a:r>
                        <a:rPr lang="en-GB" sz="1200" dirty="0" err="1">
                          <a:latin typeface="NBS Light" panose="020B0303030303020204" pitchFamily="34" charset="0"/>
                        </a:rPr>
                        <a:t>CRA</a:t>
                      </a:r>
                      <a:r>
                        <a:rPr lang="en-GB" sz="1200" dirty="0">
                          <a:latin typeface="NBS Light" panose="020B0303030303020204" pitchFamily="34" charset="0"/>
                        </a:rPr>
                        <a:t>. Design required to incorporate TM in to </a:t>
                      </a:r>
                      <a:r>
                        <a:rPr lang="en-GB" sz="1200" dirty="0" err="1">
                          <a:latin typeface="NBS Light" panose="020B0303030303020204" pitchFamily="34" charset="0"/>
                        </a:rPr>
                        <a:t>CRA</a:t>
                      </a:r>
                      <a:endParaRPr lang="en-GB" sz="1200" dirty="0">
                        <a:latin typeface="NBS Light" panose="020B0303030303020204" pitchFamily="34" charset="0"/>
                      </a:endParaRPr>
                    </a:p>
                  </a:txBody>
                  <a:tcPr/>
                </a:tc>
                <a:extLst>
                  <a:ext uri="{0D108BD9-81ED-4DB2-BD59-A6C34878D82A}">
                    <a16:rowId xmlns:a16="http://schemas.microsoft.com/office/drawing/2014/main" val="3086485434"/>
                  </a:ext>
                </a:extLst>
              </a:tr>
            </a:tbl>
          </a:graphicData>
        </a:graphic>
      </p:graphicFrame>
      <p:grpSp>
        <p:nvGrpSpPr>
          <p:cNvPr id="6" name="Group 5">
            <a:extLst>
              <a:ext uri="{FF2B5EF4-FFF2-40B4-BE49-F238E27FC236}">
                <a16:creationId xmlns:a16="http://schemas.microsoft.com/office/drawing/2014/main" id="{7E1C5C03-6AE2-4CC4-996C-A842EEF06AE2}"/>
              </a:ext>
            </a:extLst>
          </p:cNvPr>
          <p:cNvGrpSpPr/>
          <p:nvPr/>
        </p:nvGrpSpPr>
        <p:grpSpPr>
          <a:xfrm>
            <a:off x="10750335" y="154705"/>
            <a:ext cx="1005206" cy="479127"/>
            <a:chOff x="3236913" y="913342"/>
            <a:chExt cx="1740428" cy="712845"/>
          </a:xfrm>
        </p:grpSpPr>
        <p:pic>
          <p:nvPicPr>
            <p:cNvPr id="7" name="Picture 6" descr="Nationwide BS Logo sRGB.png">
              <a:extLst>
                <a:ext uri="{FF2B5EF4-FFF2-40B4-BE49-F238E27FC236}">
                  <a16:creationId xmlns:a16="http://schemas.microsoft.com/office/drawing/2014/main" id="{53416745-A03A-4EBE-B75F-D966AC3EA99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938" t="18020" r="9268" b="14259"/>
            <a:stretch/>
          </p:blipFill>
          <p:spPr>
            <a:xfrm>
              <a:off x="3236913" y="913342"/>
              <a:ext cx="1740428" cy="712845"/>
            </a:xfrm>
            <a:prstGeom prst="rect">
              <a:avLst/>
            </a:prstGeom>
          </p:spPr>
        </p:pic>
        <p:sp>
          <p:nvSpPr>
            <p:cNvPr id="8" name="Rounded Rectangle 16">
              <a:extLst>
                <a:ext uri="{FF2B5EF4-FFF2-40B4-BE49-F238E27FC236}">
                  <a16:creationId xmlns:a16="http://schemas.microsoft.com/office/drawing/2014/main" id="{3D48778E-31AE-4A17-8772-CE40AF06EFF5}"/>
                </a:ext>
              </a:extLst>
            </p:cNvPr>
            <p:cNvSpPr/>
            <p:nvPr/>
          </p:nvSpPr>
          <p:spPr>
            <a:xfrm>
              <a:off x="3249341" y="919691"/>
              <a:ext cx="1728000" cy="480613"/>
            </a:xfrm>
            <a:prstGeom prst="roundRect">
              <a:avLst>
                <a:gd name="adj" fmla="val 13275"/>
              </a:avLst>
            </a:prstGeom>
            <a:noFill/>
            <a:ln w="6350" cap="flat" cmpd="sng" algn="ctr">
              <a:solidFill>
                <a:sysClr val="window" lastClr="FFFFFF"/>
              </a:solidFill>
              <a:prstDash val="solid"/>
            </a:ln>
            <a:effectLst/>
          </p:spPr>
          <p:txBody>
            <a:bodyPr rtlCol="0" anchor="ctr"/>
            <a:lstStyle/>
            <a:p>
              <a:pPr algn="ctr" defTabSz="257175">
                <a:defRPr/>
              </a:pPr>
              <a:endParaRPr lang="en-US" sz="1013" kern="0" dirty="0">
                <a:solidFill>
                  <a:prstClr val="white"/>
                </a:solidFill>
                <a:latin typeface="Calibri"/>
              </a:endParaRPr>
            </a:p>
          </p:txBody>
        </p:sp>
      </p:grpSp>
    </p:spTree>
    <p:extLst>
      <p:ext uri="{BB962C8B-B14F-4D97-AF65-F5344CB8AC3E}">
        <p14:creationId xmlns:p14="http://schemas.microsoft.com/office/powerpoint/2010/main" val="36774113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B677B79-D815-4E3A-9CB1-94373A757E09}"/>
              </a:ext>
            </a:extLst>
          </p:cNvPr>
          <p:cNvSpPr txBox="1">
            <a:spLocks/>
          </p:cNvSpPr>
          <p:nvPr/>
        </p:nvSpPr>
        <p:spPr>
          <a:xfrm>
            <a:off x="436459" y="394269"/>
            <a:ext cx="11644891" cy="40075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chemeClr val="accent1">
                    <a:lumMod val="75000"/>
                  </a:schemeClr>
                </a:solidFill>
                <a:latin typeface="Elephant" panose="02020904090505020303" pitchFamily="18" charset="0"/>
              </a:rPr>
              <a:t>Transaction Monitoring – Gap Analysis Review </a:t>
            </a:r>
          </a:p>
          <a:p>
            <a:pPr algn="l"/>
            <a:r>
              <a:rPr lang="en-US" sz="1400" dirty="0">
                <a:solidFill>
                  <a:schemeClr val="accent1">
                    <a:lumMod val="75000"/>
                  </a:schemeClr>
                </a:solidFill>
                <a:latin typeface="NBS Medium" panose="020B0603030303020204" pitchFamily="34" charset="0"/>
              </a:rPr>
              <a:t>   </a:t>
            </a:r>
            <a:r>
              <a:rPr lang="en-US" sz="1400" i="1" dirty="0">
                <a:solidFill>
                  <a:srgbClr val="C00000"/>
                </a:solidFill>
                <a:latin typeface="NBS Medium" panose="020B0603030303020204" pitchFamily="34" charset="0"/>
              </a:rPr>
              <a:t>A review of Nationwide's AML TM Gap Analysis completed in 2019 and validate by KPMG. This slides provides a progress update against the gaps</a:t>
            </a:r>
          </a:p>
        </p:txBody>
      </p:sp>
      <p:graphicFrame>
        <p:nvGraphicFramePr>
          <p:cNvPr id="2" name="Table 2">
            <a:extLst>
              <a:ext uri="{FF2B5EF4-FFF2-40B4-BE49-F238E27FC236}">
                <a16:creationId xmlns:a16="http://schemas.microsoft.com/office/drawing/2014/main" id="{F8089F2B-F95E-4090-838B-AC19C0FBC7FE}"/>
              </a:ext>
            </a:extLst>
          </p:cNvPr>
          <p:cNvGraphicFramePr>
            <a:graphicFrameLocks noGrp="1"/>
          </p:cNvGraphicFramePr>
          <p:nvPr>
            <p:extLst>
              <p:ext uri="{D42A27DB-BD31-4B8C-83A1-F6EECF244321}">
                <p14:modId xmlns:p14="http://schemas.microsoft.com/office/powerpoint/2010/main" val="1407222652"/>
              </p:ext>
            </p:extLst>
          </p:nvPr>
        </p:nvGraphicFramePr>
        <p:xfrm>
          <a:off x="604911" y="907070"/>
          <a:ext cx="11097379" cy="5882640"/>
        </p:xfrm>
        <a:graphic>
          <a:graphicData uri="http://schemas.openxmlformats.org/drawingml/2006/table">
            <a:tbl>
              <a:tblPr firstRow="1" bandRow="1">
                <a:tableStyleId>{5C22544A-7EE6-4342-B048-85BDC9FD1C3A}</a:tableStyleId>
              </a:tblPr>
              <a:tblGrid>
                <a:gridCol w="1467563">
                  <a:extLst>
                    <a:ext uri="{9D8B030D-6E8A-4147-A177-3AD203B41FA5}">
                      <a16:colId xmlns:a16="http://schemas.microsoft.com/office/drawing/2014/main" val="3182536640"/>
                    </a:ext>
                  </a:extLst>
                </a:gridCol>
                <a:gridCol w="5144252">
                  <a:extLst>
                    <a:ext uri="{9D8B030D-6E8A-4147-A177-3AD203B41FA5}">
                      <a16:colId xmlns:a16="http://schemas.microsoft.com/office/drawing/2014/main" val="3372796699"/>
                    </a:ext>
                  </a:extLst>
                </a:gridCol>
                <a:gridCol w="1139483">
                  <a:extLst>
                    <a:ext uri="{9D8B030D-6E8A-4147-A177-3AD203B41FA5}">
                      <a16:colId xmlns:a16="http://schemas.microsoft.com/office/drawing/2014/main" val="1040161657"/>
                    </a:ext>
                  </a:extLst>
                </a:gridCol>
                <a:gridCol w="3346081">
                  <a:extLst>
                    <a:ext uri="{9D8B030D-6E8A-4147-A177-3AD203B41FA5}">
                      <a16:colId xmlns:a16="http://schemas.microsoft.com/office/drawing/2014/main" val="1975886072"/>
                    </a:ext>
                  </a:extLst>
                </a:gridCol>
              </a:tblGrid>
              <a:tr h="251072">
                <a:tc>
                  <a:txBody>
                    <a:bodyPr/>
                    <a:lstStyle/>
                    <a:p>
                      <a:r>
                        <a:rPr lang="en-GB" sz="1400" b="1" u="sng" dirty="0">
                          <a:latin typeface="NBS Medium" panose="020B0603030303020204" pitchFamily="34" charset="0"/>
                        </a:rPr>
                        <a:t>Source </a:t>
                      </a:r>
                    </a:p>
                  </a:txBody>
                  <a:tcPr/>
                </a:tc>
                <a:tc>
                  <a:txBody>
                    <a:bodyPr/>
                    <a:lstStyle/>
                    <a:p>
                      <a:r>
                        <a:rPr lang="en-GB" sz="1400" u="sng" dirty="0">
                          <a:latin typeface="NBS Medium" panose="020B0603030303020204" pitchFamily="34" charset="0"/>
                        </a:rPr>
                        <a:t>Gaps - 2019 </a:t>
                      </a:r>
                      <a:r>
                        <a:rPr lang="en-GB" sz="1400" i="1" u="sng" dirty="0">
                          <a:latin typeface="NBS Medium" panose="020B0603030303020204" pitchFamily="34" charset="0"/>
                        </a:rPr>
                        <a:t>validated by KPMG</a:t>
                      </a:r>
                    </a:p>
                  </a:txBody>
                  <a:tcPr/>
                </a:tc>
                <a:tc>
                  <a:txBody>
                    <a:bodyPr/>
                    <a:lstStyle/>
                    <a:p>
                      <a:pPr algn="ctr"/>
                      <a:r>
                        <a:rPr lang="en-GB" sz="1400" b="0" u="sng" dirty="0">
                          <a:latin typeface="NBS Medium" panose="020B0603030303020204" pitchFamily="34" charset="0"/>
                        </a:rPr>
                        <a:t>Status</a:t>
                      </a:r>
                    </a:p>
                  </a:txBody>
                  <a:tcPr anchor="ctr"/>
                </a:tc>
                <a:tc>
                  <a:txBody>
                    <a:bodyPr/>
                    <a:lstStyle/>
                    <a:p>
                      <a:r>
                        <a:rPr lang="en-GB" sz="1400" u="sng" dirty="0">
                          <a:latin typeface="NBS Medium" panose="020B0603030303020204" pitchFamily="34" charset="0"/>
                        </a:rPr>
                        <a:t>Evidence </a:t>
                      </a:r>
                    </a:p>
                  </a:txBody>
                  <a:tcPr/>
                </a:tc>
                <a:extLst>
                  <a:ext uri="{0D108BD9-81ED-4DB2-BD59-A6C34878D82A}">
                    <a16:rowId xmlns:a16="http://schemas.microsoft.com/office/drawing/2014/main" val="1957275512"/>
                  </a:ext>
                </a:extLst>
              </a:tr>
              <a:tr h="1129824">
                <a:tc rowSpan="5">
                  <a:txBody>
                    <a:bodyPr/>
                    <a:lstStyle/>
                    <a:p>
                      <a:r>
                        <a:rPr lang="en-GB" sz="1200" b="1" dirty="0">
                          <a:latin typeface="NBS Medium" panose="020B0603030303020204" pitchFamily="34" charset="0"/>
                        </a:rPr>
                        <a:t>KPMG Visit 2 – TM optimisation </a:t>
                      </a:r>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baseline="0" noProof="0" dirty="0">
                          <a:solidFill>
                            <a:schemeClr val="dk1"/>
                          </a:solidFill>
                          <a:latin typeface="NBS Medium" panose="020B0603030303020204" pitchFamily="34" charset="0"/>
                          <a:ea typeface="+mn-ea"/>
                          <a:cs typeface="+mn-cs"/>
                        </a:rPr>
                        <a:t>Advanced typology discovery – pro-active risk identification (hunting/AI/Machine-Learning)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kern="1200" baseline="0" dirty="0">
                        <a:solidFill>
                          <a:schemeClr val="tx1"/>
                        </a:solidFill>
                        <a:latin typeface="NBS Light" panose="020B0303030303020204" pitchFamily="34" charset="0"/>
                        <a:ea typeface="+mn-ea"/>
                        <a:cs typeface="+mn-cs"/>
                      </a:endParaRPr>
                    </a:p>
                  </a:txBody>
                  <a:tcPr/>
                </a:tc>
                <a:tc>
                  <a:txBody>
                    <a:bodyPr/>
                    <a:lstStyle/>
                    <a:p>
                      <a:pPr algn="ctr"/>
                      <a:r>
                        <a:rPr lang="en-GB" sz="1200" b="0" dirty="0">
                          <a:latin typeface="NBS Light" panose="020B0303030303020204" pitchFamily="34" charset="0"/>
                        </a:rPr>
                        <a:t>In Progress</a:t>
                      </a:r>
                    </a:p>
                  </a:txBody>
                  <a:tcPr anchor="ctr">
                    <a:solidFill>
                      <a:srgbClr val="92D050"/>
                    </a:solidFill>
                  </a:tcPr>
                </a:tc>
                <a:tc>
                  <a:txBody>
                    <a:bodyPr/>
                    <a:lstStyle/>
                    <a:p>
                      <a:pPr marL="171450" indent="-171450">
                        <a:buFont typeface="Arial" panose="020B0604020202020204" pitchFamily="34" charset="0"/>
                        <a:buChar char="•"/>
                      </a:pPr>
                      <a:r>
                        <a:rPr lang="en-GB" sz="1200" dirty="0">
                          <a:latin typeface="NBS Light" panose="020B0303030303020204" pitchFamily="34" charset="0"/>
                        </a:rPr>
                        <a:t>Behaviour rules delivered in phase 1, include detecting activity that is inconsistent with expected, historic and peer based activity. Further delivery against rule development plan will firm up this capability </a:t>
                      </a:r>
                    </a:p>
                    <a:p>
                      <a:pPr marL="171450" indent="-171450">
                        <a:buFont typeface="Arial" panose="020B0604020202020204" pitchFamily="34" charset="0"/>
                        <a:buChar char="•"/>
                      </a:pPr>
                      <a:r>
                        <a:rPr lang="en-GB" sz="1200" dirty="0">
                          <a:latin typeface="NBS Light" panose="020B0303030303020204" pitchFamily="34" charset="0"/>
                        </a:rPr>
                        <a:t>Hunter model to be operationalised </a:t>
                      </a:r>
                    </a:p>
                  </a:txBody>
                  <a:tcPr/>
                </a:tc>
                <a:extLst>
                  <a:ext uri="{0D108BD9-81ED-4DB2-BD59-A6C34878D82A}">
                    <a16:rowId xmlns:a16="http://schemas.microsoft.com/office/drawing/2014/main" val="391089382"/>
                  </a:ext>
                </a:extLst>
              </a:tr>
              <a:tr h="376608">
                <a:tc vMerge="1">
                  <a:txBody>
                    <a:bodyPr/>
                    <a:lstStyle/>
                    <a:p>
                      <a:endParaRPr lang="en-GB"/>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baseline="0" noProof="0" dirty="0">
                          <a:solidFill>
                            <a:schemeClr val="dk1"/>
                          </a:solidFill>
                          <a:latin typeface="NBS Medium" panose="020B0603030303020204" pitchFamily="34" charset="0"/>
                          <a:ea typeface="+mn-ea"/>
                          <a:cs typeface="+mn-cs"/>
                        </a:rPr>
                        <a:t>Prioritisation of alerts – driven by a </a:t>
                      </a:r>
                      <a:r>
                        <a:rPr lang="en-GB" sz="1200" kern="1200" baseline="0" noProof="0" dirty="0" err="1">
                          <a:solidFill>
                            <a:schemeClr val="dk1"/>
                          </a:solidFill>
                          <a:latin typeface="NBS Medium" panose="020B0603030303020204" pitchFamily="34" charset="0"/>
                          <a:ea typeface="+mn-ea"/>
                          <a:cs typeface="+mn-cs"/>
                        </a:rPr>
                        <a:t>TMRA</a:t>
                      </a:r>
                      <a:endParaRPr lang="en-GB" sz="1200" kern="1200" baseline="0" noProof="0" dirty="0">
                        <a:solidFill>
                          <a:schemeClr val="dk1"/>
                        </a:solidFill>
                        <a:latin typeface="NBS Medium" panose="020B06030303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1200" dirty="0">
                        <a:latin typeface="NBS Light" panose="020B0303030303020204" pitchFamily="34" charset="0"/>
                      </a:endParaRPr>
                    </a:p>
                  </a:txBody>
                  <a:tcPr/>
                </a:tc>
                <a:tc>
                  <a:txBody>
                    <a:bodyPr/>
                    <a:lstStyle/>
                    <a:p>
                      <a:pPr algn="ctr"/>
                      <a:r>
                        <a:rPr lang="en-GB" sz="1200" dirty="0">
                          <a:latin typeface="NBS Light" panose="020B0303030303020204" pitchFamily="34" charset="0"/>
                        </a:rPr>
                        <a:t>Not Addressed</a:t>
                      </a:r>
                    </a:p>
                  </a:txBody>
                  <a:tcPr anchor="ctr">
                    <a:solidFill>
                      <a:srgbClr val="FED3CA"/>
                    </a:solidFill>
                  </a:tcPr>
                </a:tc>
                <a:tc>
                  <a:txBody>
                    <a:bodyPr/>
                    <a:lstStyle/>
                    <a:p>
                      <a:pPr marL="171450" indent="-171450">
                        <a:buFont typeface="Arial" panose="020B0604020202020204" pitchFamily="34" charset="0"/>
                        <a:buChar char="•"/>
                      </a:pPr>
                      <a:r>
                        <a:rPr lang="en-GB" sz="1200" dirty="0">
                          <a:latin typeface="NBS Light" panose="020B0303030303020204" pitchFamily="34" charset="0"/>
                        </a:rPr>
                        <a:t>Alert management, including prioritisation and allocation requires significant improvement </a:t>
                      </a:r>
                    </a:p>
                  </a:txBody>
                  <a:tcPr/>
                </a:tc>
                <a:extLst>
                  <a:ext uri="{0D108BD9-81ED-4DB2-BD59-A6C34878D82A}">
                    <a16:rowId xmlns:a16="http://schemas.microsoft.com/office/drawing/2014/main" val="3217800968"/>
                  </a:ext>
                </a:extLst>
              </a:tr>
              <a:tr h="376608">
                <a:tc vMerge="1">
                  <a:txBody>
                    <a:bodyPr/>
                    <a:lstStyle/>
                    <a:p>
                      <a:endParaRPr lang="en-GB"/>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baseline="0" noProof="0" dirty="0">
                          <a:solidFill>
                            <a:schemeClr val="dk1"/>
                          </a:solidFill>
                          <a:latin typeface="NBS Medium" panose="020B0603030303020204" pitchFamily="34" charset="0"/>
                          <a:ea typeface="+mn-ea"/>
                          <a:cs typeface="+mn-cs"/>
                        </a:rPr>
                        <a:t>Centralisation of data to support any investigation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dirty="0">
                        <a:latin typeface="NBS Light" panose="020B0303030303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dirty="0">
                          <a:latin typeface="NBS Light" panose="020B0303030303020204" pitchFamily="34" charset="0"/>
                        </a:rPr>
                        <a:t>Not Addressed</a:t>
                      </a:r>
                    </a:p>
                  </a:txBody>
                  <a:tcPr anchor="ctr">
                    <a:solidFill>
                      <a:srgbClr val="FED3CA"/>
                    </a:solidFill>
                  </a:tcPr>
                </a:tc>
                <a:tc>
                  <a:txBody>
                    <a:bodyPr/>
                    <a:lstStyle/>
                    <a:p>
                      <a:pPr marL="171450" indent="-171450">
                        <a:buFont typeface="Arial" panose="020B0604020202020204" pitchFamily="34" charset="0"/>
                        <a:buChar char="•"/>
                      </a:pPr>
                      <a:r>
                        <a:rPr lang="en-GB" sz="1200" dirty="0">
                          <a:latin typeface="NBS Light" panose="020B0303030303020204" pitchFamily="34" charset="0"/>
                        </a:rPr>
                        <a:t>Multiple systems required for TM investigations </a:t>
                      </a:r>
                    </a:p>
                  </a:txBody>
                  <a:tcPr/>
                </a:tc>
                <a:extLst>
                  <a:ext uri="{0D108BD9-81ED-4DB2-BD59-A6C34878D82A}">
                    <a16:rowId xmlns:a16="http://schemas.microsoft.com/office/drawing/2014/main" val="1126535391"/>
                  </a:ext>
                </a:extLst>
              </a:tr>
              <a:tr h="527251">
                <a:tc vMerge="1">
                  <a:txBody>
                    <a:bodyPr/>
                    <a:lstStyle/>
                    <a:p>
                      <a:endParaRPr lang="en-GB" sz="1200" b="1" dirty="0">
                        <a:latin typeface="NBS Medium" panose="020B0603030303020204" pitchFamily="34" charset="0"/>
                      </a:endParaRPr>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baseline="0" noProof="0" dirty="0">
                          <a:solidFill>
                            <a:schemeClr val="dk1"/>
                          </a:solidFill>
                          <a:latin typeface="NBS Medium" panose="020B0603030303020204" pitchFamily="34" charset="0"/>
                          <a:ea typeface="+mn-ea"/>
                          <a:cs typeface="+mn-cs"/>
                        </a:rPr>
                        <a:t>Good procedures and feedback – decisions made on cases should be used to inform future rule refinement/development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kern="1200" baseline="0" dirty="0">
                        <a:solidFill>
                          <a:schemeClr val="tx1"/>
                        </a:solidFill>
                        <a:latin typeface="NBS Light" panose="020B0303030303020204" pitchFamily="34" charset="0"/>
                        <a:ea typeface="+mn-ea"/>
                        <a:cs typeface="+mn-cs"/>
                      </a:endParaRPr>
                    </a:p>
                  </a:txBody>
                  <a:tcPr/>
                </a:tc>
                <a:tc>
                  <a:txBody>
                    <a:bodyPr/>
                    <a:lstStyle/>
                    <a:p>
                      <a:pPr algn="ctr"/>
                      <a:r>
                        <a:rPr lang="en-GB" sz="1200" dirty="0">
                          <a:latin typeface="NBS Light" panose="020B0303030303020204" pitchFamily="34" charset="0"/>
                        </a:rPr>
                        <a:t>In Progress </a:t>
                      </a:r>
                    </a:p>
                  </a:txBody>
                  <a:tcPr anchor="ctr">
                    <a:solidFill>
                      <a:srgbClr val="92D050"/>
                    </a:solidFill>
                  </a:tcPr>
                </a:tc>
                <a:tc>
                  <a:txBody>
                    <a:bodyPr/>
                    <a:lstStyle/>
                    <a:p>
                      <a:pPr marL="171450" indent="-171450">
                        <a:buFont typeface="Arial" panose="020B0604020202020204" pitchFamily="34" charset="0"/>
                        <a:buChar char="•"/>
                      </a:pPr>
                      <a:r>
                        <a:rPr lang="en-GB" sz="1200" dirty="0">
                          <a:latin typeface="NBS Light" panose="020B0303030303020204" pitchFamily="34" charset="0"/>
                        </a:rPr>
                        <a:t>Feedback loop developed as part of testing new TM rules, however </a:t>
                      </a:r>
                      <a:r>
                        <a:rPr lang="en-GB" sz="1200" dirty="0" err="1">
                          <a:latin typeface="NBS Light" panose="020B0303030303020204" pitchFamily="34" charset="0"/>
                        </a:rPr>
                        <a:t>BAU</a:t>
                      </a:r>
                      <a:r>
                        <a:rPr lang="en-GB" sz="1200" dirty="0">
                          <a:latin typeface="NBS Light" panose="020B0303030303020204" pitchFamily="34" charset="0"/>
                        </a:rPr>
                        <a:t> process still required to feedback on live rules </a:t>
                      </a:r>
                    </a:p>
                  </a:txBody>
                  <a:tcPr/>
                </a:tc>
                <a:extLst>
                  <a:ext uri="{0D108BD9-81ED-4DB2-BD59-A6C34878D82A}">
                    <a16:rowId xmlns:a16="http://schemas.microsoft.com/office/drawing/2014/main" val="1001373062"/>
                  </a:ext>
                </a:extLst>
              </a:tr>
              <a:tr h="527251">
                <a:tc vMerge="1">
                  <a:txBody>
                    <a:bodyPr/>
                    <a:lstStyle/>
                    <a:p>
                      <a:endParaRPr lang="en-GB" sz="1200" b="1" dirty="0">
                        <a:latin typeface="NBS Medium" panose="020B0603030303020204" pitchFamily="34" charset="0"/>
                      </a:endParaRPr>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baseline="0" noProof="0" dirty="0">
                          <a:solidFill>
                            <a:schemeClr val="dk1"/>
                          </a:solidFill>
                          <a:latin typeface="NBS Medium" panose="020B0603030303020204" pitchFamily="34" charset="0"/>
                          <a:ea typeface="+mn-ea"/>
                          <a:cs typeface="+mn-cs"/>
                        </a:rPr>
                        <a:t>Flexible investigative resource</a:t>
                      </a:r>
                      <a:endParaRPr lang="en-GB" sz="1200" kern="1200" baseline="0" dirty="0">
                        <a:solidFill>
                          <a:schemeClr val="dk1"/>
                        </a:solidFill>
                        <a:latin typeface="NBS Medium" panose="020B06030303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1200" b="0" kern="1200" baseline="0" dirty="0">
                        <a:solidFill>
                          <a:schemeClr val="dk1"/>
                        </a:solidFill>
                        <a:latin typeface="NBS Light" panose="020B0303030303020204" pitchFamily="34" charset="0"/>
                        <a:ea typeface="+mn-ea"/>
                        <a:cs typeface="+mn-cs"/>
                      </a:endParaRPr>
                    </a:p>
                  </a:txBody>
                  <a:tcPr/>
                </a:tc>
                <a:tc>
                  <a:txBody>
                    <a:bodyPr/>
                    <a:lstStyle/>
                    <a:p>
                      <a:pPr algn="ctr"/>
                      <a:r>
                        <a:rPr lang="en-GB" sz="1200" dirty="0">
                          <a:latin typeface="NBS Light" panose="020B0303030303020204" pitchFamily="34" charset="0"/>
                        </a:rPr>
                        <a:t>In Progress </a:t>
                      </a:r>
                    </a:p>
                  </a:txBody>
                  <a:tcPr anchor="ctr">
                    <a:solidFill>
                      <a:srgbClr val="92D050"/>
                    </a:solidFill>
                  </a:tcPr>
                </a:tc>
                <a:tc>
                  <a:txBody>
                    <a:bodyPr/>
                    <a:lstStyle/>
                    <a:p>
                      <a:pPr marL="171450" indent="-171450">
                        <a:buFont typeface="Arial" panose="020B0604020202020204" pitchFamily="34" charset="0"/>
                        <a:buChar char="•"/>
                      </a:pPr>
                      <a:r>
                        <a:rPr lang="en-GB" sz="1200" dirty="0">
                          <a:latin typeface="NBS Light" panose="020B0303030303020204" pitchFamily="34" charset="0"/>
                        </a:rPr>
                        <a:t>AML Ops increased SAI team by ~30 FTE to support TM project. However, further operational resource could be required to manage risks effectively </a:t>
                      </a:r>
                    </a:p>
                  </a:txBody>
                  <a:tcPr/>
                </a:tc>
                <a:extLst>
                  <a:ext uri="{0D108BD9-81ED-4DB2-BD59-A6C34878D82A}">
                    <a16:rowId xmlns:a16="http://schemas.microsoft.com/office/drawing/2014/main" val="3441295887"/>
                  </a:ext>
                </a:extLst>
              </a:tr>
              <a:tr h="405669">
                <a:tc rowSpan="4">
                  <a:txBody>
                    <a:bodyPr/>
                    <a:lstStyle/>
                    <a:p>
                      <a:r>
                        <a:rPr lang="en-GB" sz="1200" b="1" dirty="0">
                          <a:latin typeface="NBS Medium" panose="020B0603030303020204" pitchFamily="34" charset="0"/>
                        </a:rPr>
                        <a:t>Ian Horobin – external review </a:t>
                      </a:r>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baseline="0" dirty="0">
                          <a:solidFill>
                            <a:schemeClr val="tx1"/>
                          </a:solidFill>
                          <a:latin typeface="NBS Medium" panose="020B0603030303020204" pitchFamily="34" charset="0"/>
                          <a:ea typeface="+mn-ea"/>
                          <a:cs typeface="+mn-cs"/>
                        </a:rPr>
                        <a:t>Risk assessment for TM to include: mechanism to define risk, measure control mitigation, and understand residual risk.</a:t>
                      </a:r>
                    </a:p>
                  </a:txBody>
                  <a:tcPr/>
                </a:tc>
                <a:tc>
                  <a:txBody>
                    <a:bodyPr/>
                    <a:lstStyle/>
                    <a:p>
                      <a:pPr algn="ctr"/>
                      <a:r>
                        <a:rPr lang="en-GB" sz="1200" dirty="0">
                          <a:latin typeface="NBS Light" panose="020B0303030303020204" pitchFamily="34" charset="0"/>
                        </a:rPr>
                        <a:t>Complete </a:t>
                      </a:r>
                    </a:p>
                  </a:txBody>
                  <a:tcPr anchor="ctr">
                    <a:solidFill>
                      <a:srgbClr val="00B0F0"/>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dirty="0">
                          <a:latin typeface="NBS Light" panose="020B0303030303020204" pitchFamily="34" charset="0"/>
                        </a:rPr>
                        <a:t>TM Risk assessment complete and periodically reviewed </a:t>
                      </a:r>
                    </a:p>
                  </a:txBody>
                  <a:tcPr/>
                </a:tc>
                <a:extLst>
                  <a:ext uri="{0D108BD9-81ED-4DB2-BD59-A6C34878D82A}">
                    <a16:rowId xmlns:a16="http://schemas.microsoft.com/office/drawing/2014/main" val="473623324"/>
                  </a:ext>
                </a:extLst>
              </a:tr>
              <a:tr h="376608">
                <a:tc vMerge="1">
                  <a:txBody>
                    <a:bodyPr/>
                    <a:lstStyle/>
                    <a:p>
                      <a:endParaRPr lang="en-GB" sz="1200" b="1" dirty="0">
                        <a:latin typeface="NBS Medium" panose="020B0603030303020204" pitchFamily="34" charset="0"/>
                      </a:endParaRPr>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baseline="0" dirty="0">
                          <a:solidFill>
                            <a:schemeClr val="tx1"/>
                          </a:solidFill>
                          <a:latin typeface="NBS Medium" panose="020B0603030303020204" pitchFamily="34" charset="0"/>
                          <a:ea typeface="+mn-ea"/>
                          <a:cs typeface="+mn-cs"/>
                        </a:rPr>
                        <a:t>Continual review of data sources and inclusion of new data sources.</a:t>
                      </a:r>
                    </a:p>
                  </a:txBody>
                  <a:tcPr/>
                </a:tc>
                <a:tc>
                  <a:txBody>
                    <a:bodyPr/>
                    <a:lstStyle/>
                    <a:p>
                      <a:pPr algn="ctr"/>
                      <a:r>
                        <a:rPr lang="en-GB" sz="1200" dirty="0">
                          <a:latin typeface="NBS Light" panose="020B0303030303020204" pitchFamily="34" charset="0"/>
                        </a:rPr>
                        <a:t>In progress </a:t>
                      </a:r>
                    </a:p>
                  </a:txBody>
                  <a:tcPr anchor="ctr">
                    <a:solidFill>
                      <a:srgbClr val="92D050"/>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dirty="0">
                          <a:latin typeface="NBS Light" panose="020B0303030303020204" pitchFamily="34" charset="0"/>
                        </a:rPr>
                        <a:t>Data Integrity workstream – lineage complete, data quality &amp; data governance ongoing</a:t>
                      </a:r>
                    </a:p>
                  </a:txBody>
                  <a:tcPr/>
                </a:tc>
                <a:extLst>
                  <a:ext uri="{0D108BD9-81ED-4DB2-BD59-A6C34878D82A}">
                    <a16:rowId xmlns:a16="http://schemas.microsoft.com/office/drawing/2014/main" val="3086485434"/>
                  </a:ext>
                </a:extLst>
              </a:tr>
              <a:tr h="376608">
                <a:tc vMerge="1">
                  <a:txBody>
                    <a:bodyPr/>
                    <a:lstStyle/>
                    <a:p>
                      <a:endParaRPr lang="en-GB"/>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baseline="0" dirty="0">
                          <a:solidFill>
                            <a:schemeClr val="tx1"/>
                          </a:solidFill>
                          <a:latin typeface="NBS Medium" panose="020B0603030303020204" pitchFamily="34" charset="0"/>
                          <a:ea typeface="+mn-ea"/>
                          <a:cs typeface="+mn-cs"/>
                        </a:rPr>
                        <a:t>Review of rules against risk assessment to determine if risks fully covered.</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dirty="0">
                          <a:latin typeface="NBS Light" panose="020B0303030303020204" pitchFamily="34" charset="0"/>
                        </a:rPr>
                        <a:t>In progress </a:t>
                      </a:r>
                    </a:p>
                  </a:txBody>
                  <a:tcPr anchor="ctr">
                    <a:solidFill>
                      <a:srgbClr val="92D050"/>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dirty="0">
                          <a:latin typeface="NBS Light" panose="020B0303030303020204" pitchFamily="34" charset="0"/>
                        </a:rPr>
                        <a:t>Rule development plan in place to deliver TM scenarios to manage NBS risks</a:t>
                      </a:r>
                    </a:p>
                  </a:txBody>
                  <a:tcPr/>
                </a:tc>
                <a:extLst>
                  <a:ext uri="{0D108BD9-81ED-4DB2-BD59-A6C34878D82A}">
                    <a16:rowId xmlns:a16="http://schemas.microsoft.com/office/drawing/2014/main" val="2233928817"/>
                  </a:ext>
                </a:extLst>
              </a:tr>
              <a:tr h="527251">
                <a:tc vMerge="1">
                  <a:txBody>
                    <a:bodyPr/>
                    <a:lstStyle/>
                    <a:p>
                      <a:endParaRPr lang="en-GB"/>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baseline="0" dirty="0">
                          <a:solidFill>
                            <a:schemeClr val="tx1"/>
                          </a:solidFill>
                          <a:latin typeface="NBS Medium" panose="020B0603030303020204" pitchFamily="34" charset="0"/>
                          <a:ea typeface="+mn-ea"/>
                          <a:cs typeface="+mn-cs"/>
                        </a:rPr>
                        <a:t>Large scale data analysis to support effective tuning and refinement of existing rules as well as identification / implementation of new risks and rules.</a:t>
                      </a:r>
                    </a:p>
                  </a:txBody>
                  <a:tcPr/>
                </a:tc>
                <a:tc>
                  <a:txBody>
                    <a:bodyPr/>
                    <a:lstStyle/>
                    <a:p>
                      <a:pPr algn="ctr"/>
                      <a:r>
                        <a:rPr lang="en-GB" sz="1200" dirty="0">
                          <a:latin typeface="NBS Light" panose="020B0303030303020204" pitchFamily="34" charset="0"/>
                        </a:rPr>
                        <a:t>Complete</a:t>
                      </a:r>
                    </a:p>
                  </a:txBody>
                  <a:tcPr anchor="ctr">
                    <a:solidFill>
                      <a:srgbClr val="00B0F0"/>
                    </a:solidFill>
                  </a:tcPr>
                </a:tc>
                <a:tc>
                  <a:txBody>
                    <a:bodyPr/>
                    <a:lstStyle/>
                    <a:p>
                      <a:pPr marL="171450" indent="-171450">
                        <a:buFont typeface="Arial" panose="020B0604020202020204" pitchFamily="34" charset="0"/>
                        <a:buChar char="•"/>
                      </a:pPr>
                      <a:r>
                        <a:rPr lang="en-GB" sz="1200" dirty="0">
                          <a:latin typeface="NBS Light" panose="020B0303030303020204" pitchFamily="34" charset="0"/>
                        </a:rPr>
                        <a:t>New approach to rule development defined and documented. This includes segmentation and other models to target risk proportionately </a:t>
                      </a:r>
                    </a:p>
                  </a:txBody>
                  <a:tcPr/>
                </a:tc>
                <a:extLst>
                  <a:ext uri="{0D108BD9-81ED-4DB2-BD59-A6C34878D82A}">
                    <a16:rowId xmlns:a16="http://schemas.microsoft.com/office/drawing/2014/main" val="53999849"/>
                  </a:ext>
                </a:extLst>
              </a:tr>
            </a:tbl>
          </a:graphicData>
        </a:graphic>
      </p:graphicFrame>
      <p:grpSp>
        <p:nvGrpSpPr>
          <p:cNvPr id="5" name="Group 4">
            <a:extLst>
              <a:ext uri="{FF2B5EF4-FFF2-40B4-BE49-F238E27FC236}">
                <a16:creationId xmlns:a16="http://schemas.microsoft.com/office/drawing/2014/main" id="{5284B8A0-74D6-4365-A6BA-D4F05632A280}"/>
              </a:ext>
            </a:extLst>
          </p:cNvPr>
          <p:cNvGrpSpPr/>
          <p:nvPr/>
        </p:nvGrpSpPr>
        <p:grpSpPr>
          <a:xfrm>
            <a:off x="10750335" y="154705"/>
            <a:ext cx="1005206" cy="479127"/>
            <a:chOff x="3236913" y="913342"/>
            <a:chExt cx="1740428" cy="712845"/>
          </a:xfrm>
        </p:grpSpPr>
        <p:pic>
          <p:nvPicPr>
            <p:cNvPr id="6" name="Picture 5" descr="Nationwide BS Logo sRGB.png">
              <a:extLst>
                <a:ext uri="{FF2B5EF4-FFF2-40B4-BE49-F238E27FC236}">
                  <a16:creationId xmlns:a16="http://schemas.microsoft.com/office/drawing/2014/main" id="{598163EF-A963-4813-89C2-CA4D92C11B1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938" t="18020" r="9268" b="14259"/>
            <a:stretch/>
          </p:blipFill>
          <p:spPr>
            <a:xfrm>
              <a:off x="3236913" y="913342"/>
              <a:ext cx="1740428" cy="712845"/>
            </a:xfrm>
            <a:prstGeom prst="rect">
              <a:avLst/>
            </a:prstGeom>
          </p:spPr>
        </p:pic>
        <p:sp>
          <p:nvSpPr>
            <p:cNvPr id="7" name="Rounded Rectangle 16">
              <a:extLst>
                <a:ext uri="{FF2B5EF4-FFF2-40B4-BE49-F238E27FC236}">
                  <a16:creationId xmlns:a16="http://schemas.microsoft.com/office/drawing/2014/main" id="{68DFDBB6-6377-4867-BB60-D58D700A5F2E}"/>
                </a:ext>
              </a:extLst>
            </p:cNvPr>
            <p:cNvSpPr/>
            <p:nvPr/>
          </p:nvSpPr>
          <p:spPr>
            <a:xfrm>
              <a:off x="3249341" y="919691"/>
              <a:ext cx="1728000" cy="480613"/>
            </a:xfrm>
            <a:prstGeom prst="roundRect">
              <a:avLst>
                <a:gd name="adj" fmla="val 13275"/>
              </a:avLst>
            </a:prstGeom>
            <a:noFill/>
            <a:ln w="6350" cap="flat" cmpd="sng" algn="ctr">
              <a:solidFill>
                <a:sysClr val="window" lastClr="FFFFFF"/>
              </a:solidFill>
              <a:prstDash val="solid"/>
            </a:ln>
            <a:effectLst/>
          </p:spPr>
          <p:txBody>
            <a:bodyPr rtlCol="0" anchor="ctr"/>
            <a:lstStyle/>
            <a:p>
              <a:pPr algn="ctr" defTabSz="257175">
                <a:defRPr/>
              </a:pPr>
              <a:endParaRPr lang="en-US" sz="1013" kern="0" dirty="0">
                <a:solidFill>
                  <a:prstClr val="white"/>
                </a:solidFill>
                <a:latin typeface="Calibri"/>
              </a:endParaRPr>
            </a:p>
          </p:txBody>
        </p:sp>
      </p:grpSp>
    </p:spTree>
    <p:extLst>
      <p:ext uri="{BB962C8B-B14F-4D97-AF65-F5344CB8AC3E}">
        <p14:creationId xmlns:p14="http://schemas.microsoft.com/office/powerpoint/2010/main" val="38867828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70" name="Title 1">
            <a:extLst>
              <a:ext uri="{FF2B5EF4-FFF2-40B4-BE49-F238E27FC236}">
                <a16:creationId xmlns:a16="http://schemas.microsoft.com/office/drawing/2014/main" id="{38BD8AD8-E7A1-40F1-A091-576CC6917E66}"/>
              </a:ext>
            </a:extLst>
          </p:cNvPr>
          <p:cNvSpPr txBox="1">
            <a:spLocks/>
          </p:cNvSpPr>
          <p:nvPr/>
        </p:nvSpPr>
        <p:spPr>
          <a:xfrm>
            <a:off x="364958" y="260852"/>
            <a:ext cx="10329062" cy="203629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5100" b="0" i="0" u="none" strike="noStrike" kern="1200" cap="none" spc="0" normalizeH="0" baseline="0" noProof="0" dirty="0">
                <a:ln>
                  <a:noFill/>
                </a:ln>
                <a:solidFill>
                  <a:prstClr val="white"/>
                </a:solidFill>
                <a:effectLst/>
                <a:uLnTx/>
                <a:uFillTx/>
                <a:latin typeface="Elephant" panose="02020904090505020303" pitchFamily="18" charset="0"/>
                <a:ea typeface="+mj-ea"/>
                <a:cs typeface="+mj-cs"/>
              </a:rPr>
              <a:t>Transaction Monitoring –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5100" b="0" i="0" u="none" strike="noStrike" kern="1200" cap="none" spc="0" normalizeH="0" baseline="0" noProof="0" dirty="0">
                <a:ln>
                  <a:noFill/>
                </a:ln>
                <a:solidFill>
                  <a:prstClr val="white"/>
                </a:solidFill>
                <a:effectLst/>
                <a:uLnTx/>
                <a:uFillTx/>
                <a:latin typeface="Elephant" panose="02020904090505020303" pitchFamily="18" charset="0"/>
                <a:ea typeface="+mj-ea"/>
                <a:cs typeface="+mj-cs"/>
              </a:rPr>
              <a:t>Appendix 1 </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5100" b="0" i="0" u="none" strike="noStrike" kern="1200" cap="none" spc="0" normalizeH="0" baseline="0" noProof="0" dirty="0">
              <a:ln>
                <a:noFill/>
              </a:ln>
              <a:solidFill>
                <a:prstClr val="white"/>
              </a:solidFill>
              <a:effectLst/>
              <a:uLnTx/>
              <a:uFillTx/>
              <a:latin typeface="Elephant" panose="02020904090505020303" pitchFamily="18" charset="0"/>
              <a:ea typeface="+mj-ea"/>
              <a:cs typeface="+mj-cs"/>
            </a:endParaRP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2900" b="0" i="1" u="none" strike="noStrike" kern="1200" cap="none" spc="0" normalizeH="0" baseline="0" noProof="0" dirty="0">
              <a:ln>
                <a:noFill/>
              </a:ln>
              <a:solidFill>
                <a:srgbClr val="C00000"/>
              </a:solidFill>
              <a:effectLst/>
              <a:uLnTx/>
              <a:uFillTx/>
              <a:latin typeface="NBS Medium" panose="020B0603030303020204" pitchFamily="34" charset="0"/>
              <a:ea typeface="+mj-ea"/>
              <a:cs typeface="+mj-cs"/>
            </a:endParaRPr>
          </a:p>
        </p:txBody>
      </p:sp>
      <p:grpSp>
        <p:nvGrpSpPr>
          <p:cNvPr id="122" name="Group 121">
            <a:extLst>
              <a:ext uri="{FF2B5EF4-FFF2-40B4-BE49-F238E27FC236}">
                <a16:creationId xmlns:a16="http://schemas.microsoft.com/office/drawing/2014/main" id="{3B1EE2E1-79AA-4470-8E96-6D678F59EE24}"/>
              </a:ext>
            </a:extLst>
          </p:cNvPr>
          <p:cNvGrpSpPr/>
          <p:nvPr/>
        </p:nvGrpSpPr>
        <p:grpSpPr>
          <a:xfrm>
            <a:off x="10871810" y="275539"/>
            <a:ext cx="1005206" cy="479127"/>
            <a:chOff x="3236913" y="913342"/>
            <a:chExt cx="1740428" cy="712845"/>
          </a:xfrm>
        </p:grpSpPr>
        <p:pic>
          <p:nvPicPr>
            <p:cNvPr id="124" name="Picture 123" descr="Nationwide BS Logo sRGB.png">
              <a:extLst>
                <a:ext uri="{FF2B5EF4-FFF2-40B4-BE49-F238E27FC236}">
                  <a16:creationId xmlns:a16="http://schemas.microsoft.com/office/drawing/2014/main" id="{02D18641-B9DA-4B9A-9EFC-01E390322BB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938" t="18020" r="9268" b="14259"/>
            <a:stretch/>
          </p:blipFill>
          <p:spPr>
            <a:xfrm>
              <a:off x="3236913" y="913342"/>
              <a:ext cx="1740428" cy="712845"/>
            </a:xfrm>
            <a:prstGeom prst="rect">
              <a:avLst/>
            </a:prstGeom>
          </p:spPr>
        </p:pic>
        <p:sp>
          <p:nvSpPr>
            <p:cNvPr id="128" name="Rounded Rectangle 16">
              <a:extLst>
                <a:ext uri="{FF2B5EF4-FFF2-40B4-BE49-F238E27FC236}">
                  <a16:creationId xmlns:a16="http://schemas.microsoft.com/office/drawing/2014/main" id="{AD2E5EAD-9CFE-4D21-912C-E2F89E76DB5D}"/>
                </a:ext>
              </a:extLst>
            </p:cNvPr>
            <p:cNvSpPr/>
            <p:nvPr/>
          </p:nvSpPr>
          <p:spPr>
            <a:xfrm>
              <a:off x="3249341" y="919691"/>
              <a:ext cx="1728000" cy="480613"/>
            </a:xfrm>
            <a:prstGeom prst="roundRect">
              <a:avLst>
                <a:gd name="adj" fmla="val 13275"/>
              </a:avLst>
            </a:prstGeom>
            <a:noFill/>
            <a:ln w="6350" cap="flat" cmpd="sng" algn="ctr">
              <a:solidFill>
                <a:sysClr val="window" lastClr="FFFFFF"/>
              </a:solidFill>
              <a:prstDash val="solid"/>
            </a:ln>
            <a:effectLst/>
          </p:spPr>
          <p:txBody>
            <a:bodyPr rtlCol="0" anchor="ctr"/>
            <a:lstStyle/>
            <a:p>
              <a:pPr marL="0" marR="0" lvl="0" indent="0" algn="ctr" defTabSz="257175" rtl="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extBox 1">
            <a:extLst>
              <a:ext uri="{FF2B5EF4-FFF2-40B4-BE49-F238E27FC236}">
                <a16:creationId xmlns:a16="http://schemas.microsoft.com/office/drawing/2014/main" id="{2F14CFF9-5803-420A-BEF0-F2F050E99BEB}"/>
              </a:ext>
            </a:extLst>
          </p:cNvPr>
          <p:cNvSpPr txBox="1"/>
          <p:nvPr/>
        </p:nvSpPr>
        <p:spPr>
          <a:xfrm>
            <a:off x="507146" y="2415882"/>
            <a:ext cx="9630767" cy="113877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400" b="1" i="1" u="none" strike="noStrike" kern="1200" cap="none" spc="0" normalizeH="0" baseline="0" noProof="0" dirty="0">
                <a:ln>
                  <a:noFill/>
                </a:ln>
                <a:solidFill>
                  <a:prstClr val="black"/>
                </a:solidFill>
                <a:effectLst/>
                <a:uLnTx/>
                <a:uFillTx/>
                <a:latin typeface="NBS Medium" panose="020B0603030303020204" pitchFamily="34" charset="0"/>
                <a:ea typeface="+mn-ea"/>
                <a:cs typeface="+mn-cs"/>
              </a:rPr>
              <a:t>Fraud Transaction Monitoring</a:t>
            </a:r>
            <a:r>
              <a:rPr lang="en-GB" sz="3400" b="1" i="1" dirty="0">
                <a:solidFill>
                  <a:prstClr val="black"/>
                </a:solidFill>
                <a:latin typeface="NBS Medium" panose="020B0603030303020204" pitchFamily="34" charset="0"/>
              </a:rPr>
              <a:t>g Audit (2020): AML Gap analysis against findings </a:t>
            </a:r>
            <a:r>
              <a:rPr kumimoji="0" lang="en-GB" sz="3400" b="0" i="1" u="none" strike="noStrike" kern="1200" cap="none" spc="0" normalizeH="0" baseline="0" noProof="0" dirty="0">
                <a:ln>
                  <a:noFill/>
                </a:ln>
                <a:solidFill>
                  <a:prstClr val="black"/>
                </a:solidFill>
                <a:effectLst/>
                <a:uLnTx/>
                <a:uFillTx/>
                <a:latin typeface="NBS Medium" panose="020B0603030303020204" pitchFamily="34" charset="0"/>
                <a:ea typeface="+mn-ea"/>
                <a:cs typeface="+mn-cs"/>
              </a:rPr>
              <a:t>– </a:t>
            </a:r>
            <a:r>
              <a:rPr kumimoji="0" lang="en-GB" sz="3400" b="0" i="1" u="sng" strike="noStrike" kern="1200" cap="none" spc="0" normalizeH="0" baseline="0" noProof="0" dirty="0">
                <a:ln>
                  <a:noFill/>
                </a:ln>
                <a:solidFill>
                  <a:prstClr val="black"/>
                </a:solidFill>
                <a:effectLst/>
                <a:uLnTx/>
                <a:uFillTx/>
                <a:latin typeface="NBS Medium" panose="020B0603030303020204" pitchFamily="34" charset="0"/>
                <a:ea typeface="+mn-ea"/>
                <a:cs typeface="+mn-cs"/>
              </a:rPr>
              <a:t>updated 2021 </a:t>
            </a:r>
          </a:p>
        </p:txBody>
      </p:sp>
    </p:spTree>
    <p:extLst>
      <p:ext uri="{BB962C8B-B14F-4D97-AF65-F5344CB8AC3E}">
        <p14:creationId xmlns:p14="http://schemas.microsoft.com/office/powerpoint/2010/main" val="372538490"/>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B677B79-D815-4E3A-9CB1-94373A757E09}"/>
              </a:ext>
            </a:extLst>
          </p:cNvPr>
          <p:cNvSpPr txBox="1">
            <a:spLocks/>
          </p:cNvSpPr>
          <p:nvPr/>
        </p:nvSpPr>
        <p:spPr>
          <a:xfrm>
            <a:off x="436459" y="394269"/>
            <a:ext cx="11644891" cy="40075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chemeClr val="accent1">
                    <a:lumMod val="75000"/>
                  </a:schemeClr>
                </a:solidFill>
                <a:latin typeface="Elephant" panose="02020904090505020303" pitchFamily="18" charset="0"/>
              </a:rPr>
              <a:t>Transaction Monitoring – Fraud TM Audit</a:t>
            </a:r>
          </a:p>
          <a:p>
            <a:pPr algn="l"/>
            <a:r>
              <a:rPr lang="en-US" sz="1400" dirty="0">
                <a:solidFill>
                  <a:schemeClr val="accent1">
                    <a:lumMod val="75000"/>
                  </a:schemeClr>
                </a:solidFill>
                <a:latin typeface="NBS Medium" panose="020B0603030303020204" pitchFamily="34" charset="0"/>
              </a:rPr>
              <a:t>   </a:t>
            </a:r>
            <a:r>
              <a:rPr lang="en-US" sz="1400" i="1" dirty="0">
                <a:solidFill>
                  <a:srgbClr val="C00000"/>
                </a:solidFill>
                <a:latin typeface="NBS Medium" panose="020B0603030303020204" pitchFamily="34" charset="0"/>
              </a:rPr>
              <a:t>Internal Audit completed a Fraud TM Audit in 2020, these slides provide an overview of their findings and a gap analysis against current AML TM controls</a:t>
            </a:r>
          </a:p>
        </p:txBody>
      </p:sp>
      <p:grpSp>
        <p:nvGrpSpPr>
          <p:cNvPr id="5" name="Group 4">
            <a:extLst>
              <a:ext uri="{FF2B5EF4-FFF2-40B4-BE49-F238E27FC236}">
                <a16:creationId xmlns:a16="http://schemas.microsoft.com/office/drawing/2014/main" id="{5284B8A0-74D6-4365-A6BA-D4F05632A280}"/>
              </a:ext>
            </a:extLst>
          </p:cNvPr>
          <p:cNvGrpSpPr/>
          <p:nvPr/>
        </p:nvGrpSpPr>
        <p:grpSpPr>
          <a:xfrm>
            <a:off x="10750335" y="154705"/>
            <a:ext cx="1005206" cy="479127"/>
            <a:chOff x="3236913" y="913342"/>
            <a:chExt cx="1740428" cy="712845"/>
          </a:xfrm>
        </p:grpSpPr>
        <p:pic>
          <p:nvPicPr>
            <p:cNvPr id="6" name="Picture 5" descr="Nationwide BS Logo sRGB.png">
              <a:extLst>
                <a:ext uri="{FF2B5EF4-FFF2-40B4-BE49-F238E27FC236}">
                  <a16:creationId xmlns:a16="http://schemas.microsoft.com/office/drawing/2014/main" id="{598163EF-A963-4813-89C2-CA4D92C11B1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938" t="18020" r="9268" b="14259"/>
            <a:stretch/>
          </p:blipFill>
          <p:spPr>
            <a:xfrm>
              <a:off x="3236913" y="913342"/>
              <a:ext cx="1740428" cy="712845"/>
            </a:xfrm>
            <a:prstGeom prst="rect">
              <a:avLst/>
            </a:prstGeom>
          </p:spPr>
        </p:pic>
        <p:sp>
          <p:nvSpPr>
            <p:cNvPr id="7" name="Rounded Rectangle 16">
              <a:extLst>
                <a:ext uri="{FF2B5EF4-FFF2-40B4-BE49-F238E27FC236}">
                  <a16:creationId xmlns:a16="http://schemas.microsoft.com/office/drawing/2014/main" id="{68DFDBB6-6377-4867-BB60-D58D700A5F2E}"/>
                </a:ext>
              </a:extLst>
            </p:cNvPr>
            <p:cNvSpPr/>
            <p:nvPr/>
          </p:nvSpPr>
          <p:spPr>
            <a:xfrm>
              <a:off x="3249341" y="919691"/>
              <a:ext cx="1728000" cy="480613"/>
            </a:xfrm>
            <a:prstGeom prst="roundRect">
              <a:avLst>
                <a:gd name="adj" fmla="val 13275"/>
              </a:avLst>
            </a:prstGeom>
            <a:noFill/>
            <a:ln w="6350" cap="flat" cmpd="sng" algn="ctr">
              <a:solidFill>
                <a:sysClr val="window" lastClr="FFFFFF"/>
              </a:solidFill>
              <a:prstDash val="solid"/>
            </a:ln>
            <a:effectLst/>
          </p:spPr>
          <p:txBody>
            <a:bodyPr rtlCol="0" anchor="ctr"/>
            <a:lstStyle/>
            <a:p>
              <a:pPr algn="ctr" defTabSz="257175">
                <a:defRPr/>
              </a:pPr>
              <a:endParaRPr lang="en-US" sz="1013" kern="0" dirty="0">
                <a:solidFill>
                  <a:prstClr val="white"/>
                </a:solidFill>
                <a:latin typeface="Calibri"/>
              </a:endParaRPr>
            </a:p>
          </p:txBody>
        </p:sp>
      </p:grpSp>
      <p:graphicFrame>
        <p:nvGraphicFramePr>
          <p:cNvPr id="8" name="Table 4">
            <a:extLst>
              <a:ext uri="{FF2B5EF4-FFF2-40B4-BE49-F238E27FC236}">
                <a16:creationId xmlns:a16="http://schemas.microsoft.com/office/drawing/2014/main" id="{0FDF34E0-2B19-4698-8CE0-47220384679B}"/>
              </a:ext>
            </a:extLst>
          </p:cNvPr>
          <p:cNvGraphicFramePr>
            <a:graphicFrameLocks noGrp="1"/>
          </p:cNvGraphicFramePr>
          <p:nvPr>
            <p:extLst>
              <p:ext uri="{D42A27DB-BD31-4B8C-83A1-F6EECF244321}">
                <p14:modId xmlns:p14="http://schemas.microsoft.com/office/powerpoint/2010/main" val="177319785"/>
              </p:ext>
            </p:extLst>
          </p:nvPr>
        </p:nvGraphicFramePr>
        <p:xfrm>
          <a:off x="490537" y="869129"/>
          <a:ext cx="11210926" cy="6355080"/>
        </p:xfrm>
        <a:graphic>
          <a:graphicData uri="http://schemas.openxmlformats.org/drawingml/2006/table">
            <a:tbl>
              <a:tblPr firstRow="1" bandRow="1">
                <a:tableStyleId>{69012ECD-51FC-41F1-AA8D-1B2483CD663E}</a:tableStyleId>
              </a:tblPr>
              <a:tblGrid>
                <a:gridCol w="1904265">
                  <a:extLst>
                    <a:ext uri="{9D8B030D-6E8A-4147-A177-3AD203B41FA5}">
                      <a16:colId xmlns:a16="http://schemas.microsoft.com/office/drawing/2014/main" val="1287290681"/>
                    </a:ext>
                  </a:extLst>
                </a:gridCol>
                <a:gridCol w="4284778">
                  <a:extLst>
                    <a:ext uri="{9D8B030D-6E8A-4147-A177-3AD203B41FA5}">
                      <a16:colId xmlns:a16="http://schemas.microsoft.com/office/drawing/2014/main" val="4206382353"/>
                    </a:ext>
                  </a:extLst>
                </a:gridCol>
                <a:gridCol w="825191">
                  <a:extLst>
                    <a:ext uri="{9D8B030D-6E8A-4147-A177-3AD203B41FA5}">
                      <a16:colId xmlns:a16="http://schemas.microsoft.com/office/drawing/2014/main" val="4072100215"/>
                    </a:ext>
                  </a:extLst>
                </a:gridCol>
                <a:gridCol w="4196692">
                  <a:extLst>
                    <a:ext uri="{9D8B030D-6E8A-4147-A177-3AD203B41FA5}">
                      <a16:colId xmlns:a16="http://schemas.microsoft.com/office/drawing/2014/main" val="915168363"/>
                    </a:ext>
                  </a:extLst>
                </a:gridCol>
              </a:tblGrid>
              <a:tr h="184580">
                <a:tc>
                  <a:txBody>
                    <a:bodyPr/>
                    <a:lstStyle>
                      <a:lvl1pPr marL="0" algn="l" defTabSz="609585" rtl="0" eaLnBrk="1" latinLnBrk="0" hangingPunct="1">
                        <a:defRPr sz="2400" b="1" kern="1200">
                          <a:solidFill>
                            <a:schemeClr val="dk1"/>
                          </a:solidFill>
                          <a:latin typeface="Calibri" panose="020F0502020204030204"/>
                        </a:defRPr>
                      </a:lvl1pPr>
                      <a:lvl2pPr marL="609585" algn="l" defTabSz="609585" rtl="0" eaLnBrk="1" latinLnBrk="0" hangingPunct="1">
                        <a:defRPr sz="2400" b="1" kern="1200">
                          <a:solidFill>
                            <a:schemeClr val="dk1"/>
                          </a:solidFill>
                          <a:latin typeface="Calibri" panose="020F0502020204030204"/>
                        </a:defRPr>
                      </a:lvl2pPr>
                      <a:lvl3pPr marL="1219170" algn="l" defTabSz="609585" rtl="0" eaLnBrk="1" latinLnBrk="0" hangingPunct="1">
                        <a:defRPr sz="2400" b="1" kern="1200">
                          <a:solidFill>
                            <a:schemeClr val="dk1"/>
                          </a:solidFill>
                          <a:latin typeface="Calibri" panose="020F0502020204030204"/>
                        </a:defRPr>
                      </a:lvl3pPr>
                      <a:lvl4pPr marL="1828754" algn="l" defTabSz="609585" rtl="0" eaLnBrk="1" latinLnBrk="0" hangingPunct="1">
                        <a:defRPr sz="2400" b="1" kern="1200">
                          <a:solidFill>
                            <a:schemeClr val="dk1"/>
                          </a:solidFill>
                          <a:latin typeface="Calibri" panose="020F0502020204030204"/>
                        </a:defRPr>
                      </a:lvl4pPr>
                      <a:lvl5pPr marL="2438339" algn="l" defTabSz="609585" rtl="0" eaLnBrk="1" latinLnBrk="0" hangingPunct="1">
                        <a:defRPr sz="2400" b="1" kern="1200">
                          <a:solidFill>
                            <a:schemeClr val="dk1"/>
                          </a:solidFill>
                          <a:latin typeface="Calibri" panose="020F0502020204030204"/>
                        </a:defRPr>
                      </a:lvl5pPr>
                      <a:lvl6pPr marL="3047924" algn="l" defTabSz="609585" rtl="0" eaLnBrk="1" latinLnBrk="0" hangingPunct="1">
                        <a:defRPr sz="2400" b="1" kern="1200">
                          <a:solidFill>
                            <a:schemeClr val="dk1"/>
                          </a:solidFill>
                          <a:latin typeface="Calibri" panose="020F0502020204030204"/>
                        </a:defRPr>
                      </a:lvl6pPr>
                      <a:lvl7pPr marL="3657509" algn="l" defTabSz="609585" rtl="0" eaLnBrk="1" latinLnBrk="0" hangingPunct="1">
                        <a:defRPr sz="2400" b="1" kern="1200">
                          <a:solidFill>
                            <a:schemeClr val="dk1"/>
                          </a:solidFill>
                          <a:latin typeface="Calibri" panose="020F0502020204030204"/>
                        </a:defRPr>
                      </a:lvl7pPr>
                      <a:lvl8pPr marL="4267093" algn="l" defTabSz="609585" rtl="0" eaLnBrk="1" latinLnBrk="0" hangingPunct="1">
                        <a:defRPr sz="2400" b="1" kern="1200">
                          <a:solidFill>
                            <a:schemeClr val="dk1"/>
                          </a:solidFill>
                          <a:latin typeface="Calibri" panose="020F0502020204030204"/>
                        </a:defRPr>
                      </a:lvl8pPr>
                      <a:lvl9pPr marL="4876678" algn="l" defTabSz="609585" rtl="0" eaLnBrk="1" latinLnBrk="0" hangingPunct="1">
                        <a:defRPr sz="2400" b="1" kern="1200">
                          <a:solidFill>
                            <a:schemeClr val="dk1"/>
                          </a:solidFill>
                          <a:latin typeface="Calibri" panose="020F0502020204030204"/>
                        </a:defRPr>
                      </a:lvl9pPr>
                    </a:lstStyle>
                    <a:p>
                      <a:r>
                        <a:rPr lang="en-GB" sz="1200" dirty="0">
                          <a:solidFill>
                            <a:schemeClr val="bg1"/>
                          </a:solidFill>
                          <a:latin typeface="NBS Medium" panose="020B0603030303020204" pitchFamily="34" charset="0"/>
                        </a:rPr>
                        <a:t>Issues</a:t>
                      </a:r>
                    </a:p>
                  </a:txBody>
                  <a:tcPr/>
                </a:tc>
                <a:tc>
                  <a:txBody>
                    <a:bodyPr/>
                    <a:lstStyle>
                      <a:lvl1pPr marL="0" algn="l" defTabSz="609585" rtl="0" eaLnBrk="1" latinLnBrk="0" hangingPunct="1">
                        <a:defRPr sz="2400" b="1" kern="1200">
                          <a:solidFill>
                            <a:schemeClr val="dk1"/>
                          </a:solidFill>
                          <a:latin typeface="Calibri" panose="020F0502020204030204"/>
                        </a:defRPr>
                      </a:lvl1pPr>
                      <a:lvl2pPr marL="609585" algn="l" defTabSz="609585" rtl="0" eaLnBrk="1" latinLnBrk="0" hangingPunct="1">
                        <a:defRPr sz="2400" b="1" kern="1200">
                          <a:solidFill>
                            <a:schemeClr val="dk1"/>
                          </a:solidFill>
                          <a:latin typeface="Calibri" panose="020F0502020204030204"/>
                        </a:defRPr>
                      </a:lvl2pPr>
                      <a:lvl3pPr marL="1219170" algn="l" defTabSz="609585" rtl="0" eaLnBrk="1" latinLnBrk="0" hangingPunct="1">
                        <a:defRPr sz="2400" b="1" kern="1200">
                          <a:solidFill>
                            <a:schemeClr val="dk1"/>
                          </a:solidFill>
                          <a:latin typeface="Calibri" panose="020F0502020204030204"/>
                        </a:defRPr>
                      </a:lvl3pPr>
                      <a:lvl4pPr marL="1828754" algn="l" defTabSz="609585" rtl="0" eaLnBrk="1" latinLnBrk="0" hangingPunct="1">
                        <a:defRPr sz="2400" b="1" kern="1200">
                          <a:solidFill>
                            <a:schemeClr val="dk1"/>
                          </a:solidFill>
                          <a:latin typeface="Calibri" panose="020F0502020204030204"/>
                        </a:defRPr>
                      </a:lvl4pPr>
                      <a:lvl5pPr marL="2438339" algn="l" defTabSz="609585" rtl="0" eaLnBrk="1" latinLnBrk="0" hangingPunct="1">
                        <a:defRPr sz="2400" b="1" kern="1200">
                          <a:solidFill>
                            <a:schemeClr val="dk1"/>
                          </a:solidFill>
                          <a:latin typeface="Calibri" panose="020F0502020204030204"/>
                        </a:defRPr>
                      </a:lvl5pPr>
                      <a:lvl6pPr marL="3047924" algn="l" defTabSz="609585" rtl="0" eaLnBrk="1" latinLnBrk="0" hangingPunct="1">
                        <a:defRPr sz="2400" b="1" kern="1200">
                          <a:solidFill>
                            <a:schemeClr val="dk1"/>
                          </a:solidFill>
                          <a:latin typeface="Calibri" panose="020F0502020204030204"/>
                        </a:defRPr>
                      </a:lvl6pPr>
                      <a:lvl7pPr marL="3657509" algn="l" defTabSz="609585" rtl="0" eaLnBrk="1" latinLnBrk="0" hangingPunct="1">
                        <a:defRPr sz="2400" b="1" kern="1200">
                          <a:solidFill>
                            <a:schemeClr val="dk1"/>
                          </a:solidFill>
                          <a:latin typeface="Calibri" panose="020F0502020204030204"/>
                        </a:defRPr>
                      </a:lvl7pPr>
                      <a:lvl8pPr marL="4267093" algn="l" defTabSz="609585" rtl="0" eaLnBrk="1" latinLnBrk="0" hangingPunct="1">
                        <a:defRPr sz="2400" b="1" kern="1200">
                          <a:solidFill>
                            <a:schemeClr val="dk1"/>
                          </a:solidFill>
                          <a:latin typeface="Calibri" panose="020F0502020204030204"/>
                        </a:defRPr>
                      </a:lvl8pPr>
                      <a:lvl9pPr marL="4876678" algn="l" defTabSz="609585" rtl="0" eaLnBrk="1" latinLnBrk="0" hangingPunct="1">
                        <a:defRPr sz="2400" b="1" kern="1200">
                          <a:solidFill>
                            <a:schemeClr val="dk1"/>
                          </a:solidFill>
                          <a:latin typeface="Calibri" panose="020F0502020204030204"/>
                        </a:defRPr>
                      </a:lvl9pPr>
                    </a:lstStyle>
                    <a:p>
                      <a:r>
                        <a:rPr lang="en-GB" sz="1200" dirty="0">
                          <a:solidFill>
                            <a:schemeClr val="bg1"/>
                          </a:solidFill>
                          <a:latin typeface="NBS Medium" panose="020B0603030303020204" pitchFamily="34" charset="0"/>
                        </a:rPr>
                        <a:t>Issue Detail </a:t>
                      </a:r>
                    </a:p>
                  </a:txBody>
                  <a:tcPr/>
                </a:tc>
                <a:tc>
                  <a:txBody>
                    <a:bodyPr/>
                    <a:lstStyle/>
                    <a:p>
                      <a:r>
                        <a:rPr lang="en-GB" sz="1200" b="1" dirty="0">
                          <a:solidFill>
                            <a:schemeClr val="bg1"/>
                          </a:solidFill>
                          <a:latin typeface="NBS Medium" panose="020B0603030303020204" pitchFamily="34" charset="0"/>
                        </a:rPr>
                        <a:t>AML Gap</a:t>
                      </a:r>
                    </a:p>
                  </a:txBody>
                  <a:tcPr/>
                </a:tc>
                <a:tc>
                  <a:txBody>
                    <a:bodyPr/>
                    <a:lstStyle>
                      <a:lvl1pPr marL="0" algn="l" defTabSz="609585" rtl="0" eaLnBrk="1" latinLnBrk="0" hangingPunct="1">
                        <a:defRPr sz="2400" b="1" kern="1200">
                          <a:solidFill>
                            <a:schemeClr val="dk1"/>
                          </a:solidFill>
                          <a:latin typeface="Calibri" panose="020F0502020204030204"/>
                        </a:defRPr>
                      </a:lvl1pPr>
                      <a:lvl2pPr marL="609585" algn="l" defTabSz="609585" rtl="0" eaLnBrk="1" latinLnBrk="0" hangingPunct="1">
                        <a:defRPr sz="2400" b="1" kern="1200">
                          <a:solidFill>
                            <a:schemeClr val="dk1"/>
                          </a:solidFill>
                          <a:latin typeface="Calibri" panose="020F0502020204030204"/>
                        </a:defRPr>
                      </a:lvl2pPr>
                      <a:lvl3pPr marL="1219170" algn="l" defTabSz="609585" rtl="0" eaLnBrk="1" latinLnBrk="0" hangingPunct="1">
                        <a:defRPr sz="2400" b="1" kern="1200">
                          <a:solidFill>
                            <a:schemeClr val="dk1"/>
                          </a:solidFill>
                          <a:latin typeface="Calibri" panose="020F0502020204030204"/>
                        </a:defRPr>
                      </a:lvl3pPr>
                      <a:lvl4pPr marL="1828754" algn="l" defTabSz="609585" rtl="0" eaLnBrk="1" latinLnBrk="0" hangingPunct="1">
                        <a:defRPr sz="2400" b="1" kern="1200">
                          <a:solidFill>
                            <a:schemeClr val="dk1"/>
                          </a:solidFill>
                          <a:latin typeface="Calibri" panose="020F0502020204030204"/>
                        </a:defRPr>
                      </a:lvl4pPr>
                      <a:lvl5pPr marL="2438339" algn="l" defTabSz="609585" rtl="0" eaLnBrk="1" latinLnBrk="0" hangingPunct="1">
                        <a:defRPr sz="2400" b="1" kern="1200">
                          <a:solidFill>
                            <a:schemeClr val="dk1"/>
                          </a:solidFill>
                          <a:latin typeface="Calibri" panose="020F0502020204030204"/>
                        </a:defRPr>
                      </a:lvl5pPr>
                      <a:lvl6pPr marL="3047924" algn="l" defTabSz="609585" rtl="0" eaLnBrk="1" latinLnBrk="0" hangingPunct="1">
                        <a:defRPr sz="2400" b="1" kern="1200">
                          <a:solidFill>
                            <a:schemeClr val="dk1"/>
                          </a:solidFill>
                          <a:latin typeface="Calibri" panose="020F0502020204030204"/>
                        </a:defRPr>
                      </a:lvl6pPr>
                      <a:lvl7pPr marL="3657509" algn="l" defTabSz="609585" rtl="0" eaLnBrk="1" latinLnBrk="0" hangingPunct="1">
                        <a:defRPr sz="2400" b="1" kern="1200">
                          <a:solidFill>
                            <a:schemeClr val="dk1"/>
                          </a:solidFill>
                          <a:latin typeface="Calibri" panose="020F0502020204030204"/>
                        </a:defRPr>
                      </a:lvl7pPr>
                      <a:lvl8pPr marL="4267093" algn="l" defTabSz="609585" rtl="0" eaLnBrk="1" latinLnBrk="0" hangingPunct="1">
                        <a:defRPr sz="2400" b="1" kern="1200">
                          <a:solidFill>
                            <a:schemeClr val="dk1"/>
                          </a:solidFill>
                          <a:latin typeface="Calibri" panose="020F0502020204030204"/>
                        </a:defRPr>
                      </a:lvl8pPr>
                      <a:lvl9pPr marL="4876678" algn="l" defTabSz="609585" rtl="0" eaLnBrk="1" latinLnBrk="0" hangingPunct="1">
                        <a:defRPr sz="2400" b="1" kern="1200">
                          <a:solidFill>
                            <a:schemeClr val="dk1"/>
                          </a:solidFill>
                          <a:latin typeface="Calibri" panose="020F0502020204030204"/>
                        </a:defRPr>
                      </a:lvl9pPr>
                    </a:lstStyle>
                    <a:p>
                      <a:r>
                        <a:rPr lang="en-GB" sz="1200" dirty="0">
                          <a:solidFill>
                            <a:schemeClr val="bg1"/>
                          </a:solidFill>
                          <a:latin typeface="NBS Medium" panose="020B0603030303020204" pitchFamily="34" charset="0"/>
                        </a:rPr>
                        <a:t>Actions in Place to Address Gaps</a:t>
                      </a:r>
                    </a:p>
                  </a:txBody>
                  <a:tcPr/>
                </a:tc>
                <a:extLst>
                  <a:ext uri="{0D108BD9-81ED-4DB2-BD59-A6C34878D82A}">
                    <a16:rowId xmlns:a16="http://schemas.microsoft.com/office/drawing/2014/main" val="2397372165"/>
                  </a:ext>
                </a:extLst>
              </a:tr>
              <a:tr h="1007474">
                <a:tc rowSpan="2">
                  <a:txBody>
                    <a:bodyPr/>
                    <a:lstStyle>
                      <a:lvl1pPr marL="0" algn="l" defTabSz="609585" rtl="0" eaLnBrk="1" latinLnBrk="0" hangingPunct="1">
                        <a:defRPr sz="2400" kern="1200">
                          <a:solidFill>
                            <a:schemeClr val="dk1"/>
                          </a:solidFill>
                          <a:latin typeface="Calibri" panose="020F0502020204030204"/>
                        </a:defRPr>
                      </a:lvl1pPr>
                      <a:lvl2pPr marL="609585" algn="l" defTabSz="609585" rtl="0" eaLnBrk="1" latinLnBrk="0" hangingPunct="1">
                        <a:defRPr sz="2400" kern="1200">
                          <a:solidFill>
                            <a:schemeClr val="dk1"/>
                          </a:solidFill>
                          <a:latin typeface="Calibri" panose="020F0502020204030204"/>
                        </a:defRPr>
                      </a:lvl2pPr>
                      <a:lvl3pPr marL="1219170" algn="l" defTabSz="609585" rtl="0" eaLnBrk="1" latinLnBrk="0" hangingPunct="1">
                        <a:defRPr sz="2400" kern="1200">
                          <a:solidFill>
                            <a:schemeClr val="dk1"/>
                          </a:solidFill>
                          <a:latin typeface="Calibri" panose="020F0502020204030204"/>
                        </a:defRPr>
                      </a:lvl3pPr>
                      <a:lvl4pPr marL="1828754" algn="l" defTabSz="609585" rtl="0" eaLnBrk="1" latinLnBrk="0" hangingPunct="1">
                        <a:defRPr sz="2400" kern="1200">
                          <a:solidFill>
                            <a:schemeClr val="dk1"/>
                          </a:solidFill>
                          <a:latin typeface="Calibri" panose="020F0502020204030204"/>
                        </a:defRPr>
                      </a:lvl4pPr>
                      <a:lvl5pPr marL="2438339" algn="l" defTabSz="609585" rtl="0" eaLnBrk="1" latinLnBrk="0" hangingPunct="1">
                        <a:defRPr sz="2400" kern="1200">
                          <a:solidFill>
                            <a:schemeClr val="dk1"/>
                          </a:solidFill>
                          <a:latin typeface="Calibri" panose="020F0502020204030204"/>
                        </a:defRPr>
                      </a:lvl5pPr>
                      <a:lvl6pPr marL="3047924" algn="l" defTabSz="609585" rtl="0" eaLnBrk="1" latinLnBrk="0" hangingPunct="1">
                        <a:defRPr sz="2400" kern="1200">
                          <a:solidFill>
                            <a:schemeClr val="dk1"/>
                          </a:solidFill>
                          <a:latin typeface="Calibri" panose="020F0502020204030204"/>
                        </a:defRPr>
                      </a:lvl6pPr>
                      <a:lvl7pPr marL="3657509" algn="l" defTabSz="609585" rtl="0" eaLnBrk="1" latinLnBrk="0" hangingPunct="1">
                        <a:defRPr sz="2400" kern="1200">
                          <a:solidFill>
                            <a:schemeClr val="dk1"/>
                          </a:solidFill>
                          <a:latin typeface="Calibri" panose="020F0502020204030204"/>
                        </a:defRPr>
                      </a:lvl7pPr>
                      <a:lvl8pPr marL="4267093" algn="l" defTabSz="609585" rtl="0" eaLnBrk="1" latinLnBrk="0" hangingPunct="1">
                        <a:defRPr sz="2400" kern="1200">
                          <a:solidFill>
                            <a:schemeClr val="dk1"/>
                          </a:solidFill>
                          <a:latin typeface="Calibri" panose="020F0502020204030204"/>
                        </a:defRPr>
                      </a:lvl8pPr>
                      <a:lvl9pPr marL="4876678" algn="l" defTabSz="609585" rtl="0" eaLnBrk="1" latinLnBrk="0" hangingPunct="1">
                        <a:defRPr sz="2400" kern="1200">
                          <a:solidFill>
                            <a:schemeClr val="dk1"/>
                          </a:solidFill>
                          <a:latin typeface="Calibri" panose="020F0502020204030204"/>
                        </a:defRPr>
                      </a:lvl9pPr>
                    </a:lstStyle>
                    <a:p>
                      <a:r>
                        <a:rPr lang="en-GB" sz="1100" b="1" dirty="0">
                          <a:latin typeface="NBS Medium" panose="020B0603030303020204" pitchFamily="34" charset="0"/>
                        </a:rPr>
                        <a:t>Fraud governance, oversight and reporting framework requires improvement </a:t>
                      </a:r>
                      <a:endParaRPr lang="en-GB" sz="1100" dirty="0">
                        <a:latin typeface="NBS Medium" panose="020B0603030303020204" pitchFamily="34" charset="0"/>
                      </a:endParaRPr>
                    </a:p>
                  </a:txBody>
                  <a:tcPr/>
                </a:tc>
                <a:tc>
                  <a:txBody>
                    <a:bodyPr/>
                    <a:lstStyle>
                      <a:lvl1pPr marL="0" algn="l" defTabSz="609585" rtl="0" eaLnBrk="1" latinLnBrk="0" hangingPunct="1">
                        <a:defRPr sz="2400" kern="1200">
                          <a:solidFill>
                            <a:schemeClr val="dk1"/>
                          </a:solidFill>
                          <a:latin typeface="Calibri" panose="020F0502020204030204"/>
                        </a:defRPr>
                      </a:lvl1pPr>
                      <a:lvl2pPr marL="609585" algn="l" defTabSz="609585" rtl="0" eaLnBrk="1" latinLnBrk="0" hangingPunct="1">
                        <a:defRPr sz="2400" kern="1200">
                          <a:solidFill>
                            <a:schemeClr val="dk1"/>
                          </a:solidFill>
                          <a:latin typeface="Calibri" panose="020F0502020204030204"/>
                        </a:defRPr>
                      </a:lvl2pPr>
                      <a:lvl3pPr marL="1219170" algn="l" defTabSz="609585" rtl="0" eaLnBrk="1" latinLnBrk="0" hangingPunct="1">
                        <a:defRPr sz="2400" kern="1200">
                          <a:solidFill>
                            <a:schemeClr val="dk1"/>
                          </a:solidFill>
                          <a:latin typeface="Calibri" panose="020F0502020204030204"/>
                        </a:defRPr>
                      </a:lvl3pPr>
                      <a:lvl4pPr marL="1828754" algn="l" defTabSz="609585" rtl="0" eaLnBrk="1" latinLnBrk="0" hangingPunct="1">
                        <a:defRPr sz="2400" kern="1200">
                          <a:solidFill>
                            <a:schemeClr val="dk1"/>
                          </a:solidFill>
                          <a:latin typeface="Calibri" panose="020F0502020204030204"/>
                        </a:defRPr>
                      </a:lvl4pPr>
                      <a:lvl5pPr marL="2438339" algn="l" defTabSz="609585" rtl="0" eaLnBrk="1" latinLnBrk="0" hangingPunct="1">
                        <a:defRPr sz="2400" kern="1200">
                          <a:solidFill>
                            <a:schemeClr val="dk1"/>
                          </a:solidFill>
                          <a:latin typeface="Calibri" panose="020F0502020204030204"/>
                        </a:defRPr>
                      </a:lvl5pPr>
                      <a:lvl6pPr marL="3047924" algn="l" defTabSz="609585" rtl="0" eaLnBrk="1" latinLnBrk="0" hangingPunct="1">
                        <a:defRPr sz="2400" kern="1200">
                          <a:solidFill>
                            <a:schemeClr val="dk1"/>
                          </a:solidFill>
                          <a:latin typeface="Calibri" panose="020F0502020204030204"/>
                        </a:defRPr>
                      </a:lvl6pPr>
                      <a:lvl7pPr marL="3657509" algn="l" defTabSz="609585" rtl="0" eaLnBrk="1" latinLnBrk="0" hangingPunct="1">
                        <a:defRPr sz="2400" kern="1200">
                          <a:solidFill>
                            <a:schemeClr val="dk1"/>
                          </a:solidFill>
                          <a:latin typeface="Calibri" panose="020F0502020204030204"/>
                        </a:defRPr>
                      </a:lvl7pPr>
                      <a:lvl8pPr marL="4267093" algn="l" defTabSz="609585" rtl="0" eaLnBrk="1" latinLnBrk="0" hangingPunct="1">
                        <a:defRPr sz="2400" kern="1200">
                          <a:solidFill>
                            <a:schemeClr val="dk1"/>
                          </a:solidFill>
                          <a:latin typeface="Calibri" panose="020F0502020204030204"/>
                        </a:defRPr>
                      </a:lvl8pPr>
                      <a:lvl9pPr marL="4876678" algn="l" defTabSz="609585" rtl="0" eaLnBrk="1" latinLnBrk="0" hangingPunct="1">
                        <a:defRPr sz="2400" kern="1200">
                          <a:solidFill>
                            <a:schemeClr val="dk1"/>
                          </a:solidFill>
                          <a:latin typeface="Calibri" panose="020F0502020204030204"/>
                        </a:defRPr>
                      </a:lvl9pPr>
                    </a:lstStyle>
                    <a:p>
                      <a:pPr marL="171450" indent="-171450">
                        <a:buFont typeface="Arial" panose="020B0604020202020204" pitchFamily="34" charset="0"/>
                        <a:buChar char="•"/>
                      </a:pPr>
                      <a:r>
                        <a:rPr lang="en-GB" sz="1100" b="0" dirty="0">
                          <a:latin typeface="NBS Light" panose="020B0303030303020204" pitchFamily="34" charset="0"/>
                        </a:rPr>
                        <a:t>Rule performance </a:t>
                      </a:r>
                      <a:r>
                        <a:rPr lang="en-GB" sz="1100" dirty="0">
                          <a:latin typeface="NBS Light" panose="020B0303030303020204" pitchFamily="34" charset="0"/>
                        </a:rPr>
                        <a:t>reviewed at monthly SCARF, however not sufficient time to discuss and agree all areas requiring focus such as the implications of removing rules. No representation from key stakeholder areas such as Payments, R&amp;D and Banking &amp; Savings and no input from other key meetings where decisions taken that could impact rule effectiveness. This results in key decisions being made offline with no visibility of actions taken. Oversight of major rule changes takes place at separate forum, however attendees have to refer decisions back to Senior Management. </a:t>
                      </a:r>
                    </a:p>
                  </a:txBody>
                  <a:tcPr anchor="ctr"/>
                </a:tc>
                <a:tc>
                  <a:txBody>
                    <a:bodyPr/>
                    <a:lstStyle/>
                    <a:p>
                      <a:pPr algn="ctr"/>
                      <a:r>
                        <a:rPr lang="en-GB" sz="1100" dirty="0">
                          <a:latin typeface="NBS Light" panose="020B0303030303020204" pitchFamily="34" charset="0"/>
                        </a:rPr>
                        <a:t>No</a:t>
                      </a:r>
                    </a:p>
                  </a:txBody>
                  <a:tcPr/>
                </a:tc>
                <a:tc>
                  <a:txBody>
                    <a:bodyPr/>
                    <a:lstStyle>
                      <a:lvl1pPr marL="0" algn="l" defTabSz="609585" rtl="0" eaLnBrk="1" latinLnBrk="0" hangingPunct="1">
                        <a:defRPr sz="2400" kern="1200">
                          <a:solidFill>
                            <a:schemeClr val="dk1"/>
                          </a:solidFill>
                          <a:latin typeface="Calibri" panose="020F0502020204030204"/>
                        </a:defRPr>
                      </a:lvl1pPr>
                      <a:lvl2pPr marL="609585" algn="l" defTabSz="609585" rtl="0" eaLnBrk="1" latinLnBrk="0" hangingPunct="1">
                        <a:defRPr sz="2400" kern="1200">
                          <a:solidFill>
                            <a:schemeClr val="dk1"/>
                          </a:solidFill>
                          <a:latin typeface="Calibri" panose="020F0502020204030204"/>
                        </a:defRPr>
                      </a:lvl2pPr>
                      <a:lvl3pPr marL="1219170" algn="l" defTabSz="609585" rtl="0" eaLnBrk="1" latinLnBrk="0" hangingPunct="1">
                        <a:defRPr sz="2400" kern="1200">
                          <a:solidFill>
                            <a:schemeClr val="dk1"/>
                          </a:solidFill>
                          <a:latin typeface="Calibri" panose="020F0502020204030204"/>
                        </a:defRPr>
                      </a:lvl3pPr>
                      <a:lvl4pPr marL="1828754" algn="l" defTabSz="609585" rtl="0" eaLnBrk="1" latinLnBrk="0" hangingPunct="1">
                        <a:defRPr sz="2400" kern="1200">
                          <a:solidFill>
                            <a:schemeClr val="dk1"/>
                          </a:solidFill>
                          <a:latin typeface="Calibri" panose="020F0502020204030204"/>
                        </a:defRPr>
                      </a:lvl4pPr>
                      <a:lvl5pPr marL="2438339" algn="l" defTabSz="609585" rtl="0" eaLnBrk="1" latinLnBrk="0" hangingPunct="1">
                        <a:defRPr sz="2400" kern="1200">
                          <a:solidFill>
                            <a:schemeClr val="dk1"/>
                          </a:solidFill>
                          <a:latin typeface="Calibri" panose="020F0502020204030204"/>
                        </a:defRPr>
                      </a:lvl5pPr>
                      <a:lvl6pPr marL="3047924" algn="l" defTabSz="609585" rtl="0" eaLnBrk="1" latinLnBrk="0" hangingPunct="1">
                        <a:defRPr sz="2400" kern="1200">
                          <a:solidFill>
                            <a:schemeClr val="dk1"/>
                          </a:solidFill>
                          <a:latin typeface="Calibri" panose="020F0502020204030204"/>
                        </a:defRPr>
                      </a:lvl6pPr>
                      <a:lvl7pPr marL="3657509" algn="l" defTabSz="609585" rtl="0" eaLnBrk="1" latinLnBrk="0" hangingPunct="1">
                        <a:defRPr sz="2400" kern="1200">
                          <a:solidFill>
                            <a:schemeClr val="dk1"/>
                          </a:solidFill>
                          <a:latin typeface="Calibri" panose="020F0502020204030204"/>
                        </a:defRPr>
                      </a:lvl7pPr>
                      <a:lvl8pPr marL="4267093" algn="l" defTabSz="609585" rtl="0" eaLnBrk="1" latinLnBrk="0" hangingPunct="1">
                        <a:defRPr sz="2400" kern="1200">
                          <a:solidFill>
                            <a:schemeClr val="dk1"/>
                          </a:solidFill>
                          <a:latin typeface="Calibri" panose="020F0502020204030204"/>
                        </a:defRPr>
                      </a:lvl8pPr>
                      <a:lvl9pPr marL="4876678" algn="l" defTabSz="609585" rtl="0" eaLnBrk="1" latinLnBrk="0" hangingPunct="1">
                        <a:defRPr sz="2400" kern="1200">
                          <a:solidFill>
                            <a:schemeClr val="dk1"/>
                          </a:solidFill>
                          <a:latin typeface="Calibri" panose="020F0502020204030204"/>
                        </a:defRPr>
                      </a:lvl9pPr>
                    </a:lstStyle>
                    <a:p>
                      <a:r>
                        <a:rPr lang="en-GB" sz="1100" dirty="0">
                          <a:latin typeface="NBS Light" panose="020B0303030303020204" pitchFamily="34" charset="0"/>
                        </a:rPr>
                        <a:t>The </a:t>
                      </a:r>
                      <a:r>
                        <a:rPr lang="en-GB" sz="1100" dirty="0" err="1">
                          <a:latin typeface="NBS Light" panose="020B0303030303020204" pitchFamily="34" charset="0"/>
                        </a:rPr>
                        <a:t>MLSCARF</a:t>
                      </a:r>
                      <a:r>
                        <a:rPr lang="en-GB" sz="1100" dirty="0">
                          <a:latin typeface="NBS Light" panose="020B0303030303020204" pitchFamily="34" charset="0"/>
                        </a:rPr>
                        <a:t> includes a monthly standing agenda item to review rule performance, which includes an MI pack produced by analytics with commentary from the analytics team to report issues. </a:t>
                      </a:r>
                    </a:p>
                    <a:p>
                      <a:endParaRPr lang="en-GB" sz="1100" dirty="0">
                        <a:latin typeface="NBS Light" panose="020B0303030303020204" pitchFamily="34" charset="0"/>
                      </a:endParaRPr>
                    </a:p>
                    <a:p>
                      <a:r>
                        <a:rPr lang="en-GB" sz="1100" dirty="0">
                          <a:latin typeface="NBS Light" panose="020B0303030303020204" pitchFamily="34" charset="0"/>
                        </a:rPr>
                        <a:t>There is also a separate agenda item for AML TM project updates. </a:t>
                      </a:r>
                    </a:p>
                    <a:p>
                      <a:endParaRPr lang="en-GB" sz="1100" dirty="0">
                        <a:latin typeface="NBS Light" panose="020B0303030303020204" pitchFamily="34" charset="0"/>
                      </a:endParaRPr>
                    </a:p>
                    <a:p>
                      <a:r>
                        <a:rPr lang="en-GB" sz="1100" dirty="0">
                          <a:latin typeface="NBS Light" panose="020B0303030303020204" pitchFamily="34" charset="0"/>
                        </a:rPr>
                        <a:t>Some improvement is required to the MI pack, mainly updating as new rules are introduced and ensure consistency in reporting. </a:t>
                      </a:r>
                    </a:p>
                  </a:txBody>
                  <a:tcPr/>
                </a:tc>
                <a:extLst>
                  <a:ext uri="{0D108BD9-81ED-4DB2-BD59-A6C34878D82A}">
                    <a16:rowId xmlns:a16="http://schemas.microsoft.com/office/drawing/2014/main" val="2346543985"/>
                  </a:ext>
                </a:extLst>
              </a:tr>
              <a:tr h="512722">
                <a:tc vMerge="1">
                  <a:txBody>
                    <a:bodyPr/>
                    <a:lstStyle/>
                    <a:p>
                      <a:endParaRPr lang="en-GB"/>
                    </a:p>
                  </a:txBody>
                  <a:tcPr>
                    <a:lnT w="12700" cap="flat" cmpd="sng" algn="ctr">
                      <a:solidFill>
                        <a:srgbClr val="A5A5A5"/>
                      </a:solidFill>
                      <a:prstDash val="solid"/>
                      <a:round/>
                      <a:headEnd type="none" w="med" len="med"/>
                      <a:tailEnd type="none" w="med" len="med"/>
                    </a:lnT>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dirty="0">
                          <a:latin typeface="NBS Light" panose="020B0303030303020204" pitchFamily="34" charset="0"/>
                        </a:rPr>
                        <a:t>Where </a:t>
                      </a:r>
                      <a:r>
                        <a:rPr lang="en-GB" sz="1100" b="1" dirty="0">
                          <a:latin typeface="NBS Light" panose="020B0303030303020204" pitchFamily="34" charset="0"/>
                        </a:rPr>
                        <a:t>Fraud metrics </a:t>
                      </a:r>
                      <a:r>
                        <a:rPr lang="en-GB" sz="1100" dirty="0">
                          <a:latin typeface="NBS Light" panose="020B0303030303020204" pitchFamily="34" charset="0"/>
                        </a:rPr>
                        <a:t>are reporting outside of RAG tolerances, no evidence that that Fraud Tier 1 metric is validated by Director of Fraud before reported to ORC inline with internal reporting procedures. Some instances where </a:t>
                      </a:r>
                      <a:r>
                        <a:rPr lang="en-GB" sz="1100" dirty="0" err="1">
                          <a:latin typeface="NBS Light" panose="020B0303030303020204" pitchFamily="34" charset="0"/>
                        </a:rPr>
                        <a:t>MRA</a:t>
                      </a:r>
                      <a:r>
                        <a:rPr lang="en-GB" sz="1100" dirty="0">
                          <a:latin typeface="NBS Light" panose="020B0303030303020204" pitchFamily="34" charset="0"/>
                        </a:rPr>
                        <a:t> reported to ORC inaccurately. </a:t>
                      </a:r>
                    </a:p>
                  </a:txBody>
                  <a:tcPr anchor="ctr"/>
                </a:tc>
                <a:tc>
                  <a:txBody>
                    <a:bodyPr/>
                    <a:lstStyle/>
                    <a:p>
                      <a:pPr algn="ctr"/>
                      <a:r>
                        <a:rPr lang="en-GB" sz="1100" dirty="0">
                          <a:latin typeface="NBS Light" panose="020B0303030303020204" pitchFamily="34" charset="0"/>
                        </a:rPr>
                        <a:t>Yes </a:t>
                      </a:r>
                    </a:p>
                  </a:txBody>
                  <a:tcPr/>
                </a:tc>
                <a:tc>
                  <a:txBody>
                    <a:bodyPr/>
                    <a:lstStyle/>
                    <a:p>
                      <a:r>
                        <a:rPr lang="en-GB" sz="1100" dirty="0">
                          <a:latin typeface="NBS Light" panose="020B0303030303020204" pitchFamily="34" charset="0"/>
                        </a:rPr>
                        <a:t>Action on Daisy Rolt to document AML TM Risk Appetite, including introduction of RAG status’ for TM Rule (Key Performance Indicators) </a:t>
                      </a:r>
                    </a:p>
                  </a:txBody>
                  <a:tcPr/>
                </a:tc>
                <a:extLst>
                  <a:ext uri="{0D108BD9-81ED-4DB2-BD59-A6C34878D82A}">
                    <a16:rowId xmlns:a16="http://schemas.microsoft.com/office/drawing/2014/main" val="2062398378"/>
                  </a:ext>
                </a:extLst>
              </a:tr>
              <a:tr h="625521">
                <a:tc rowSpan="3">
                  <a:txBody>
                    <a:bodyPr/>
                    <a:lstStyle>
                      <a:lvl1pPr marL="0" algn="l" defTabSz="609585" rtl="0" eaLnBrk="1" latinLnBrk="0" hangingPunct="1">
                        <a:defRPr sz="2400" kern="1200">
                          <a:solidFill>
                            <a:schemeClr val="dk1"/>
                          </a:solidFill>
                          <a:latin typeface="Calibri" panose="020F0502020204030204"/>
                        </a:defRPr>
                      </a:lvl1pPr>
                      <a:lvl2pPr marL="609585" algn="l" defTabSz="609585" rtl="0" eaLnBrk="1" latinLnBrk="0" hangingPunct="1">
                        <a:defRPr sz="2400" kern="1200">
                          <a:solidFill>
                            <a:schemeClr val="dk1"/>
                          </a:solidFill>
                          <a:latin typeface="Calibri" panose="020F0502020204030204"/>
                        </a:defRPr>
                      </a:lvl2pPr>
                      <a:lvl3pPr marL="1219170" algn="l" defTabSz="609585" rtl="0" eaLnBrk="1" latinLnBrk="0" hangingPunct="1">
                        <a:defRPr sz="2400" kern="1200">
                          <a:solidFill>
                            <a:schemeClr val="dk1"/>
                          </a:solidFill>
                          <a:latin typeface="Calibri" panose="020F0502020204030204"/>
                        </a:defRPr>
                      </a:lvl3pPr>
                      <a:lvl4pPr marL="1828754" algn="l" defTabSz="609585" rtl="0" eaLnBrk="1" latinLnBrk="0" hangingPunct="1">
                        <a:defRPr sz="2400" kern="1200">
                          <a:solidFill>
                            <a:schemeClr val="dk1"/>
                          </a:solidFill>
                          <a:latin typeface="Calibri" panose="020F0502020204030204"/>
                        </a:defRPr>
                      </a:lvl4pPr>
                      <a:lvl5pPr marL="2438339" algn="l" defTabSz="609585" rtl="0" eaLnBrk="1" latinLnBrk="0" hangingPunct="1">
                        <a:defRPr sz="2400" kern="1200">
                          <a:solidFill>
                            <a:schemeClr val="dk1"/>
                          </a:solidFill>
                          <a:latin typeface="Calibri" panose="020F0502020204030204"/>
                        </a:defRPr>
                      </a:lvl5pPr>
                      <a:lvl6pPr marL="3047924" algn="l" defTabSz="609585" rtl="0" eaLnBrk="1" latinLnBrk="0" hangingPunct="1">
                        <a:defRPr sz="2400" kern="1200">
                          <a:solidFill>
                            <a:schemeClr val="dk1"/>
                          </a:solidFill>
                          <a:latin typeface="Calibri" panose="020F0502020204030204"/>
                        </a:defRPr>
                      </a:lvl6pPr>
                      <a:lvl7pPr marL="3657509" algn="l" defTabSz="609585" rtl="0" eaLnBrk="1" latinLnBrk="0" hangingPunct="1">
                        <a:defRPr sz="2400" kern="1200">
                          <a:solidFill>
                            <a:schemeClr val="dk1"/>
                          </a:solidFill>
                          <a:latin typeface="Calibri" panose="020F0502020204030204"/>
                        </a:defRPr>
                      </a:lvl7pPr>
                      <a:lvl8pPr marL="4267093" algn="l" defTabSz="609585" rtl="0" eaLnBrk="1" latinLnBrk="0" hangingPunct="1">
                        <a:defRPr sz="2400" kern="1200">
                          <a:solidFill>
                            <a:schemeClr val="dk1"/>
                          </a:solidFill>
                          <a:latin typeface="Calibri" panose="020F0502020204030204"/>
                        </a:defRPr>
                      </a:lvl8pPr>
                      <a:lvl9pPr marL="4876678" algn="l" defTabSz="609585" rtl="0" eaLnBrk="1" latinLnBrk="0" hangingPunct="1">
                        <a:defRPr sz="2400" kern="1200">
                          <a:solidFill>
                            <a:schemeClr val="dk1"/>
                          </a:solidFill>
                          <a:latin typeface="Calibri" panose="020F0502020204030204"/>
                        </a:defRPr>
                      </a:lvl9pPr>
                    </a:lstStyle>
                    <a:p>
                      <a:r>
                        <a:rPr lang="en-GB" sz="1100" b="1" dirty="0">
                          <a:latin typeface="NBS Medium" panose="020B0603030303020204" pitchFamily="34" charset="0"/>
                        </a:rPr>
                        <a:t>Data Governance –  Fraud Governance forums do not provide oversight of required data quality controls therefore senior management cannot provide reasonable assurance that the data arriving into Fraud </a:t>
                      </a:r>
                      <a:r>
                        <a:rPr lang="en-GB" sz="1100" b="1" dirty="0" err="1">
                          <a:latin typeface="NBS Medium" panose="020B0603030303020204" pitchFamily="34" charset="0"/>
                        </a:rPr>
                        <a:t>TMW</a:t>
                      </a:r>
                      <a:r>
                        <a:rPr lang="en-GB" sz="1100" b="1" dirty="0">
                          <a:latin typeface="NBS Medium" panose="020B0603030303020204" pitchFamily="34" charset="0"/>
                        </a:rPr>
                        <a:t> is accurately captured, fit for purpose and monitored through the lifecycle. </a:t>
                      </a:r>
                    </a:p>
                  </a:txBody>
                  <a:tcPr/>
                </a:tc>
                <a:tc>
                  <a:txBody>
                    <a:bodyPr/>
                    <a:lstStyle>
                      <a:lvl1pPr marL="0" algn="l" defTabSz="609585" rtl="0" eaLnBrk="1" latinLnBrk="0" hangingPunct="1">
                        <a:defRPr sz="2400" kern="1200">
                          <a:solidFill>
                            <a:schemeClr val="dk1"/>
                          </a:solidFill>
                          <a:latin typeface="Calibri" panose="020F0502020204030204"/>
                        </a:defRPr>
                      </a:lvl1pPr>
                      <a:lvl2pPr marL="609585" algn="l" defTabSz="609585" rtl="0" eaLnBrk="1" latinLnBrk="0" hangingPunct="1">
                        <a:defRPr sz="2400" kern="1200">
                          <a:solidFill>
                            <a:schemeClr val="dk1"/>
                          </a:solidFill>
                          <a:latin typeface="Calibri" panose="020F0502020204030204"/>
                        </a:defRPr>
                      </a:lvl2pPr>
                      <a:lvl3pPr marL="1219170" algn="l" defTabSz="609585" rtl="0" eaLnBrk="1" latinLnBrk="0" hangingPunct="1">
                        <a:defRPr sz="2400" kern="1200">
                          <a:solidFill>
                            <a:schemeClr val="dk1"/>
                          </a:solidFill>
                          <a:latin typeface="Calibri" panose="020F0502020204030204"/>
                        </a:defRPr>
                      </a:lvl3pPr>
                      <a:lvl4pPr marL="1828754" algn="l" defTabSz="609585" rtl="0" eaLnBrk="1" latinLnBrk="0" hangingPunct="1">
                        <a:defRPr sz="2400" kern="1200">
                          <a:solidFill>
                            <a:schemeClr val="dk1"/>
                          </a:solidFill>
                          <a:latin typeface="Calibri" panose="020F0502020204030204"/>
                        </a:defRPr>
                      </a:lvl4pPr>
                      <a:lvl5pPr marL="2438339" algn="l" defTabSz="609585" rtl="0" eaLnBrk="1" latinLnBrk="0" hangingPunct="1">
                        <a:defRPr sz="2400" kern="1200">
                          <a:solidFill>
                            <a:schemeClr val="dk1"/>
                          </a:solidFill>
                          <a:latin typeface="Calibri" panose="020F0502020204030204"/>
                        </a:defRPr>
                      </a:lvl5pPr>
                      <a:lvl6pPr marL="3047924" algn="l" defTabSz="609585" rtl="0" eaLnBrk="1" latinLnBrk="0" hangingPunct="1">
                        <a:defRPr sz="2400" kern="1200">
                          <a:solidFill>
                            <a:schemeClr val="dk1"/>
                          </a:solidFill>
                          <a:latin typeface="Calibri" panose="020F0502020204030204"/>
                        </a:defRPr>
                      </a:lvl6pPr>
                      <a:lvl7pPr marL="3657509" algn="l" defTabSz="609585" rtl="0" eaLnBrk="1" latinLnBrk="0" hangingPunct="1">
                        <a:defRPr sz="2400" kern="1200">
                          <a:solidFill>
                            <a:schemeClr val="dk1"/>
                          </a:solidFill>
                          <a:latin typeface="Calibri" panose="020F0502020204030204"/>
                        </a:defRPr>
                      </a:lvl7pPr>
                      <a:lvl8pPr marL="4267093" algn="l" defTabSz="609585" rtl="0" eaLnBrk="1" latinLnBrk="0" hangingPunct="1">
                        <a:defRPr sz="2400" kern="1200">
                          <a:solidFill>
                            <a:schemeClr val="dk1"/>
                          </a:solidFill>
                          <a:latin typeface="Calibri" panose="020F0502020204030204"/>
                        </a:defRPr>
                      </a:lvl8pPr>
                      <a:lvl9pPr marL="4876678" algn="l" defTabSz="609585" rtl="0" eaLnBrk="1" latinLnBrk="0" hangingPunct="1">
                        <a:defRPr sz="2400" kern="1200">
                          <a:solidFill>
                            <a:schemeClr val="dk1"/>
                          </a:solidFill>
                          <a:latin typeface="Calibri" panose="020F0502020204030204"/>
                        </a:defRPr>
                      </a:lvl9pPr>
                    </a:lstStyle>
                    <a:p>
                      <a:pPr marL="171450" marR="0" lvl="0" indent="-171450" algn="l" defTabSz="609585"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dirty="0">
                          <a:latin typeface="NBS Light" panose="020B0303030303020204" pitchFamily="34" charset="0"/>
                        </a:rPr>
                        <a:t>Process- critical data elements and data quality requirements have not been documented by the Fraud team and have not been communicated to the relevant upstream process owners and third parties. As a result, the completeness, accuracy and conformity of the data received from the internal systems and third parties is not reported back to the Fraud SMT. </a:t>
                      </a:r>
                    </a:p>
                  </a:txBody>
                  <a:tcPr/>
                </a:tc>
                <a:tc>
                  <a:txBody>
                    <a:bodyPr/>
                    <a:lstStyle/>
                    <a:p>
                      <a:pPr algn="ctr"/>
                      <a:r>
                        <a:rPr lang="en-GB" sz="1100" dirty="0">
                          <a:latin typeface="NBS Light" panose="020B0303030303020204" pitchFamily="34" charset="0"/>
                        </a:rPr>
                        <a:t>Yes</a:t>
                      </a:r>
                    </a:p>
                  </a:txBody>
                  <a:tcPr/>
                </a:tc>
                <a:tc>
                  <a:txBody>
                    <a:bodyPr/>
                    <a:lstStyle>
                      <a:lvl1pPr marL="0" algn="l" defTabSz="609585" rtl="0" eaLnBrk="1" latinLnBrk="0" hangingPunct="1">
                        <a:defRPr sz="2400" kern="1200">
                          <a:solidFill>
                            <a:schemeClr val="dk1"/>
                          </a:solidFill>
                          <a:latin typeface="Calibri" panose="020F0502020204030204"/>
                        </a:defRPr>
                      </a:lvl1pPr>
                      <a:lvl2pPr marL="609585" algn="l" defTabSz="609585" rtl="0" eaLnBrk="1" latinLnBrk="0" hangingPunct="1">
                        <a:defRPr sz="2400" kern="1200">
                          <a:solidFill>
                            <a:schemeClr val="dk1"/>
                          </a:solidFill>
                          <a:latin typeface="Calibri" panose="020F0502020204030204"/>
                        </a:defRPr>
                      </a:lvl2pPr>
                      <a:lvl3pPr marL="1219170" algn="l" defTabSz="609585" rtl="0" eaLnBrk="1" latinLnBrk="0" hangingPunct="1">
                        <a:defRPr sz="2400" kern="1200">
                          <a:solidFill>
                            <a:schemeClr val="dk1"/>
                          </a:solidFill>
                          <a:latin typeface="Calibri" panose="020F0502020204030204"/>
                        </a:defRPr>
                      </a:lvl3pPr>
                      <a:lvl4pPr marL="1828754" algn="l" defTabSz="609585" rtl="0" eaLnBrk="1" latinLnBrk="0" hangingPunct="1">
                        <a:defRPr sz="2400" kern="1200">
                          <a:solidFill>
                            <a:schemeClr val="dk1"/>
                          </a:solidFill>
                          <a:latin typeface="Calibri" panose="020F0502020204030204"/>
                        </a:defRPr>
                      </a:lvl4pPr>
                      <a:lvl5pPr marL="2438339" algn="l" defTabSz="609585" rtl="0" eaLnBrk="1" latinLnBrk="0" hangingPunct="1">
                        <a:defRPr sz="2400" kern="1200">
                          <a:solidFill>
                            <a:schemeClr val="dk1"/>
                          </a:solidFill>
                          <a:latin typeface="Calibri" panose="020F0502020204030204"/>
                        </a:defRPr>
                      </a:lvl5pPr>
                      <a:lvl6pPr marL="3047924" algn="l" defTabSz="609585" rtl="0" eaLnBrk="1" latinLnBrk="0" hangingPunct="1">
                        <a:defRPr sz="2400" kern="1200">
                          <a:solidFill>
                            <a:schemeClr val="dk1"/>
                          </a:solidFill>
                          <a:latin typeface="Calibri" panose="020F0502020204030204"/>
                        </a:defRPr>
                      </a:lvl6pPr>
                      <a:lvl7pPr marL="3657509" algn="l" defTabSz="609585" rtl="0" eaLnBrk="1" latinLnBrk="0" hangingPunct="1">
                        <a:defRPr sz="2400" kern="1200">
                          <a:solidFill>
                            <a:schemeClr val="dk1"/>
                          </a:solidFill>
                          <a:latin typeface="Calibri" panose="020F0502020204030204"/>
                        </a:defRPr>
                      </a:lvl7pPr>
                      <a:lvl8pPr marL="4267093" algn="l" defTabSz="609585" rtl="0" eaLnBrk="1" latinLnBrk="0" hangingPunct="1">
                        <a:defRPr sz="2400" kern="1200">
                          <a:solidFill>
                            <a:schemeClr val="dk1"/>
                          </a:solidFill>
                          <a:latin typeface="Calibri" panose="020F0502020204030204"/>
                        </a:defRPr>
                      </a:lvl8pPr>
                      <a:lvl9pPr marL="4876678" algn="l" defTabSz="609585" rtl="0" eaLnBrk="1" latinLnBrk="0" hangingPunct="1">
                        <a:defRPr sz="2400" kern="1200">
                          <a:solidFill>
                            <a:schemeClr val="dk1"/>
                          </a:solidFill>
                          <a:latin typeface="Calibri" panose="020F0502020204030204"/>
                        </a:defRPr>
                      </a:lvl9pPr>
                    </a:lstStyle>
                    <a:p>
                      <a:r>
                        <a:rPr lang="en-GB" sz="1100" dirty="0">
                          <a:latin typeface="NBS Light" panose="020B0303030303020204" pitchFamily="34" charset="0"/>
                        </a:rPr>
                        <a:t>The Risk Squad have delivered a capability to map all AML TM data into Nationwide’s chosen strategic system (Axon) and have completed the mapping of the data used in TM currently.  The Risk Squad have also delivered a data quality scorecard for AML TM data, however both of these new capabilities have not been implemented into </a:t>
                      </a:r>
                      <a:r>
                        <a:rPr lang="en-GB" sz="1100" dirty="0" err="1">
                          <a:latin typeface="NBS Light" panose="020B0303030303020204" pitchFamily="34" charset="0"/>
                        </a:rPr>
                        <a:t>BAU</a:t>
                      </a:r>
                      <a:r>
                        <a:rPr lang="en-GB" sz="1100" dirty="0">
                          <a:latin typeface="NBS Light" panose="020B0303030303020204" pitchFamily="34" charset="0"/>
                        </a:rPr>
                        <a:t> processes. </a:t>
                      </a:r>
                    </a:p>
                  </a:txBody>
                  <a:tcPr/>
                </a:tc>
                <a:extLst>
                  <a:ext uri="{0D108BD9-81ED-4DB2-BD59-A6C34878D82A}">
                    <a16:rowId xmlns:a16="http://schemas.microsoft.com/office/drawing/2014/main" val="2564498466"/>
                  </a:ext>
                </a:extLst>
              </a:tr>
              <a:tr h="399923">
                <a:tc vMerge="1">
                  <a:txBody>
                    <a:bodyPr/>
                    <a:lstStyle/>
                    <a:p>
                      <a:endParaRPr lang="en-GB"/>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dirty="0">
                          <a:latin typeface="NBS Light" panose="020B0303030303020204" pitchFamily="34" charset="0"/>
                        </a:rPr>
                        <a:t>Automated controls over batch file transfer don’t check the data for accuracy and completeness of the critical data element when received in to Fraud systems</a:t>
                      </a:r>
                    </a:p>
                  </a:txBody>
                  <a:tcPr/>
                </a:tc>
                <a:tc>
                  <a:txBody>
                    <a:bodyPr/>
                    <a:lstStyle/>
                    <a:p>
                      <a:pPr algn="ctr"/>
                      <a:r>
                        <a:rPr lang="en-GB" sz="1100" dirty="0">
                          <a:latin typeface="NBS Light" panose="020B0303030303020204" pitchFamily="34" charset="0"/>
                        </a:rPr>
                        <a:t>Yes</a:t>
                      </a:r>
                    </a:p>
                  </a:txBody>
                  <a:tcPr/>
                </a:tc>
                <a:tc>
                  <a:txBody>
                    <a:bodyPr/>
                    <a:lstStyle/>
                    <a:p>
                      <a:r>
                        <a:rPr lang="en-GB" sz="1100" i="0" kern="1200" dirty="0">
                          <a:solidFill>
                            <a:schemeClr val="tx1"/>
                          </a:solidFill>
                          <a:effectLst/>
                          <a:latin typeface="NBS Light" panose="020B0303030303020204" pitchFamily="34" charset="0"/>
                          <a:ea typeface="+mn-ea"/>
                          <a:cs typeface="+mn-cs"/>
                        </a:rPr>
                        <a:t>Potential action to map to this issue – At last week’s TM workshop we discussed developing MI to track key rule input data items to identify any anomalies.  E.g. the recent issue we had with one of the peer-based rules where the number of counterparties increased massively would have been picked up earlier with this type of tracking.  It might not completely remove the risk, but it would mitigate it.</a:t>
                      </a:r>
                      <a:endParaRPr lang="en-GB" sz="1100" i="0" dirty="0">
                        <a:latin typeface="NBS Light" panose="020B0303030303020204" pitchFamily="34" charset="0"/>
                      </a:endParaRPr>
                    </a:p>
                  </a:txBody>
                  <a:tcPr/>
                </a:tc>
                <a:extLst>
                  <a:ext uri="{0D108BD9-81ED-4DB2-BD59-A6C34878D82A}">
                    <a16:rowId xmlns:a16="http://schemas.microsoft.com/office/drawing/2014/main" val="2989499274"/>
                  </a:ext>
                </a:extLst>
              </a:tr>
              <a:tr h="502468">
                <a:tc vMerge="1">
                  <a:txBody>
                    <a:bodyPr/>
                    <a:lstStyle/>
                    <a:p>
                      <a:endParaRPr lang="en-GB"/>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dirty="0">
                          <a:latin typeface="NBS Light" panose="020B0303030303020204" pitchFamily="34" charset="0"/>
                        </a:rPr>
                        <a:t>No Fraud management oversight to confirm that decisions on data in upstream processes affecting TM are compliance with the process data requirements  </a:t>
                      </a:r>
                      <a:endParaRPr lang="en-GB" sz="1100" dirty="0">
                        <a:latin typeface="NBS Light" panose="020B0303030303020204" pitchFamily="34" charset="0"/>
                        <a:cs typeface="Narkisim" panose="020B0604020202020204" pitchFamily="34" charset="-79"/>
                      </a:endParaRPr>
                    </a:p>
                  </a:txBody>
                  <a:tcPr/>
                </a:tc>
                <a:tc>
                  <a:txBody>
                    <a:bodyPr/>
                    <a:lstStyle/>
                    <a:p>
                      <a:pPr algn="ctr"/>
                      <a:r>
                        <a:rPr lang="en-GB" sz="1100" dirty="0">
                          <a:latin typeface="NBS Light" panose="020B0303030303020204" pitchFamily="34" charset="0"/>
                        </a:rPr>
                        <a:t>Yes</a:t>
                      </a:r>
                    </a:p>
                  </a:txBody>
                  <a:tcPr/>
                </a:tc>
                <a:tc>
                  <a:txBody>
                    <a:bodyPr/>
                    <a:lstStyle/>
                    <a:p>
                      <a:r>
                        <a:rPr lang="en-GB" sz="1100" dirty="0">
                          <a:latin typeface="NBS Light" panose="020B0303030303020204" pitchFamily="34" charset="0"/>
                        </a:rPr>
                        <a:t>As above – data integrity workstream to address </a:t>
                      </a:r>
                    </a:p>
                  </a:txBody>
                  <a:tcPr/>
                </a:tc>
                <a:extLst>
                  <a:ext uri="{0D108BD9-81ED-4DB2-BD59-A6C34878D82A}">
                    <a16:rowId xmlns:a16="http://schemas.microsoft.com/office/drawing/2014/main" val="1055497811"/>
                  </a:ext>
                </a:extLst>
              </a:tr>
              <a:tr h="471704">
                <a:tc>
                  <a:txBody>
                    <a:bodyPr/>
                    <a:lstStyle>
                      <a:lvl1pPr marL="0" algn="l" defTabSz="609585" rtl="0" eaLnBrk="1" latinLnBrk="0" hangingPunct="1">
                        <a:defRPr sz="2400" kern="1200">
                          <a:solidFill>
                            <a:schemeClr val="dk1"/>
                          </a:solidFill>
                          <a:latin typeface="Calibri" panose="020F0502020204030204"/>
                        </a:defRPr>
                      </a:lvl1pPr>
                      <a:lvl2pPr marL="609585" algn="l" defTabSz="609585" rtl="0" eaLnBrk="1" latinLnBrk="0" hangingPunct="1">
                        <a:defRPr sz="2400" kern="1200">
                          <a:solidFill>
                            <a:schemeClr val="dk1"/>
                          </a:solidFill>
                          <a:latin typeface="Calibri" panose="020F0502020204030204"/>
                        </a:defRPr>
                      </a:lvl2pPr>
                      <a:lvl3pPr marL="1219170" algn="l" defTabSz="609585" rtl="0" eaLnBrk="1" latinLnBrk="0" hangingPunct="1">
                        <a:defRPr sz="2400" kern="1200">
                          <a:solidFill>
                            <a:schemeClr val="dk1"/>
                          </a:solidFill>
                          <a:latin typeface="Calibri" panose="020F0502020204030204"/>
                        </a:defRPr>
                      </a:lvl3pPr>
                      <a:lvl4pPr marL="1828754" algn="l" defTabSz="609585" rtl="0" eaLnBrk="1" latinLnBrk="0" hangingPunct="1">
                        <a:defRPr sz="2400" kern="1200">
                          <a:solidFill>
                            <a:schemeClr val="dk1"/>
                          </a:solidFill>
                          <a:latin typeface="Calibri" panose="020F0502020204030204"/>
                        </a:defRPr>
                      </a:lvl4pPr>
                      <a:lvl5pPr marL="2438339" algn="l" defTabSz="609585" rtl="0" eaLnBrk="1" latinLnBrk="0" hangingPunct="1">
                        <a:defRPr sz="2400" kern="1200">
                          <a:solidFill>
                            <a:schemeClr val="dk1"/>
                          </a:solidFill>
                          <a:latin typeface="Calibri" panose="020F0502020204030204"/>
                        </a:defRPr>
                      </a:lvl5pPr>
                      <a:lvl6pPr marL="3047924" algn="l" defTabSz="609585" rtl="0" eaLnBrk="1" latinLnBrk="0" hangingPunct="1">
                        <a:defRPr sz="2400" kern="1200">
                          <a:solidFill>
                            <a:schemeClr val="dk1"/>
                          </a:solidFill>
                          <a:latin typeface="Calibri" panose="020F0502020204030204"/>
                        </a:defRPr>
                      </a:lvl6pPr>
                      <a:lvl7pPr marL="3657509" algn="l" defTabSz="609585" rtl="0" eaLnBrk="1" latinLnBrk="0" hangingPunct="1">
                        <a:defRPr sz="2400" kern="1200">
                          <a:solidFill>
                            <a:schemeClr val="dk1"/>
                          </a:solidFill>
                          <a:latin typeface="Calibri" panose="020F0502020204030204"/>
                        </a:defRPr>
                      </a:lvl7pPr>
                      <a:lvl8pPr marL="4267093" algn="l" defTabSz="609585" rtl="0" eaLnBrk="1" latinLnBrk="0" hangingPunct="1">
                        <a:defRPr sz="2400" kern="1200">
                          <a:solidFill>
                            <a:schemeClr val="dk1"/>
                          </a:solidFill>
                          <a:latin typeface="Calibri" panose="020F0502020204030204"/>
                        </a:defRPr>
                      </a:lvl8pPr>
                      <a:lvl9pPr marL="4876678" algn="l" defTabSz="609585" rtl="0" eaLnBrk="1" latinLnBrk="0" hangingPunct="1">
                        <a:defRPr sz="2400" kern="1200">
                          <a:solidFill>
                            <a:schemeClr val="dk1"/>
                          </a:solidFill>
                          <a:latin typeface="Calibri" panose="020F0502020204030204"/>
                        </a:defRPr>
                      </a:lvl9pPr>
                    </a:lstStyle>
                    <a:p>
                      <a:r>
                        <a:rPr lang="en-GB" sz="1100" b="1" dirty="0">
                          <a:latin typeface="NBS Medium" panose="020B0603030303020204" pitchFamily="34" charset="0"/>
                        </a:rPr>
                        <a:t>Model Governance </a:t>
                      </a:r>
                      <a:endParaRPr lang="en-GB" sz="1100" dirty="0">
                        <a:latin typeface="NBS Medium" panose="020B0603030303020204" pitchFamily="34" charset="0"/>
                        <a:cs typeface="Narkisim" panose="020B0604020202020204" pitchFamily="34" charset="-79"/>
                      </a:endParaRPr>
                    </a:p>
                  </a:txBody>
                  <a:tcPr/>
                </a:tc>
                <a:tc>
                  <a:txBody>
                    <a:bodyPr/>
                    <a:lstStyle>
                      <a:lvl1pPr marL="0" algn="l" defTabSz="609585" rtl="0" eaLnBrk="1" latinLnBrk="0" hangingPunct="1">
                        <a:defRPr sz="2400" kern="1200">
                          <a:solidFill>
                            <a:schemeClr val="dk1"/>
                          </a:solidFill>
                          <a:latin typeface="Calibri" panose="020F0502020204030204"/>
                        </a:defRPr>
                      </a:lvl1pPr>
                      <a:lvl2pPr marL="609585" algn="l" defTabSz="609585" rtl="0" eaLnBrk="1" latinLnBrk="0" hangingPunct="1">
                        <a:defRPr sz="2400" kern="1200">
                          <a:solidFill>
                            <a:schemeClr val="dk1"/>
                          </a:solidFill>
                          <a:latin typeface="Calibri" panose="020F0502020204030204"/>
                        </a:defRPr>
                      </a:lvl2pPr>
                      <a:lvl3pPr marL="1219170" algn="l" defTabSz="609585" rtl="0" eaLnBrk="1" latinLnBrk="0" hangingPunct="1">
                        <a:defRPr sz="2400" kern="1200">
                          <a:solidFill>
                            <a:schemeClr val="dk1"/>
                          </a:solidFill>
                          <a:latin typeface="Calibri" panose="020F0502020204030204"/>
                        </a:defRPr>
                      </a:lvl3pPr>
                      <a:lvl4pPr marL="1828754" algn="l" defTabSz="609585" rtl="0" eaLnBrk="1" latinLnBrk="0" hangingPunct="1">
                        <a:defRPr sz="2400" kern="1200">
                          <a:solidFill>
                            <a:schemeClr val="dk1"/>
                          </a:solidFill>
                          <a:latin typeface="Calibri" panose="020F0502020204030204"/>
                        </a:defRPr>
                      </a:lvl4pPr>
                      <a:lvl5pPr marL="2438339" algn="l" defTabSz="609585" rtl="0" eaLnBrk="1" latinLnBrk="0" hangingPunct="1">
                        <a:defRPr sz="2400" kern="1200">
                          <a:solidFill>
                            <a:schemeClr val="dk1"/>
                          </a:solidFill>
                          <a:latin typeface="Calibri" panose="020F0502020204030204"/>
                        </a:defRPr>
                      </a:lvl5pPr>
                      <a:lvl6pPr marL="3047924" algn="l" defTabSz="609585" rtl="0" eaLnBrk="1" latinLnBrk="0" hangingPunct="1">
                        <a:defRPr sz="2400" kern="1200">
                          <a:solidFill>
                            <a:schemeClr val="dk1"/>
                          </a:solidFill>
                          <a:latin typeface="Calibri" panose="020F0502020204030204"/>
                        </a:defRPr>
                      </a:lvl6pPr>
                      <a:lvl7pPr marL="3657509" algn="l" defTabSz="609585" rtl="0" eaLnBrk="1" latinLnBrk="0" hangingPunct="1">
                        <a:defRPr sz="2400" kern="1200">
                          <a:solidFill>
                            <a:schemeClr val="dk1"/>
                          </a:solidFill>
                          <a:latin typeface="Calibri" panose="020F0502020204030204"/>
                        </a:defRPr>
                      </a:lvl7pPr>
                      <a:lvl8pPr marL="4267093" algn="l" defTabSz="609585" rtl="0" eaLnBrk="1" latinLnBrk="0" hangingPunct="1">
                        <a:defRPr sz="2400" kern="1200">
                          <a:solidFill>
                            <a:schemeClr val="dk1"/>
                          </a:solidFill>
                          <a:latin typeface="Calibri" panose="020F0502020204030204"/>
                        </a:defRPr>
                      </a:lvl8pPr>
                      <a:lvl9pPr marL="4876678" algn="l" defTabSz="609585" rtl="0" eaLnBrk="1" latinLnBrk="0" hangingPunct="1">
                        <a:defRPr sz="2400" kern="1200">
                          <a:solidFill>
                            <a:schemeClr val="dk1"/>
                          </a:solidFill>
                          <a:latin typeface="Calibri" panose="020F0502020204030204"/>
                        </a:defRPr>
                      </a:lvl9pPr>
                    </a:lstStyle>
                    <a:p>
                      <a:pPr marL="171450" indent="-171450">
                        <a:buFont typeface="Arial" panose="020B0604020202020204" pitchFamily="34" charset="0"/>
                        <a:buChar char="•"/>
                      </a:pPr>
                      <a:r>
                        <a:rPr lang="en-GB" sz="1100" dirty="0">
                          <a:latin typeface="NBS Light" panose="020B0303030303020204" pitchFamily="34" charset="0"/>
                        </a:rPr>
                        <a:t>TM models do not adhere to the requirements of the model risk policy. For example, no formal annual review of the model performance takes place or regular monitoring and approval of adherence to these model risk policy requirements </a:t>
                      </a:r>
                    </a:p>
                  </a:txBody>
                  <a:tcPr/>
                </a:tc>
                <a:tc>
                  <a:txBody>
                    <a:bodyPr/>
                    <a:lstStyle/>
                    <a:p>
                      <a:pPr algn="ctr"/>
                      <a:r>
                        <a:rPr lang="en-GB" sz="1000" dirty="0">
                          <a:latin typeface="NBS Light" panose="020B0303030303020204" pitchFamily="34" charset="0"/>
                        </a:rPr>
                        <a:t>No</a:t>
                      </a:r>
                    </a:p>
                  </a:txBody>
                  <a:tcPr/>
                </a:tc>
                <a:tc>
                  <a:txBody>
                    <a:bodyPr/>
                    <a:lstStyle>
                      <a:lvl1pPr marL="0" algn="l" defTabSz="609585" rtl="0" eaLnBrk="1" latinLnBrk="0" hangingPunct="1">
                        <a:defRPr sz="2400" kern="1200">
                          <a:solidFill>
                            <a:schemeClr val="dk1"/>
                          </a:solidFill>
                          <a:latin typeface="Calibri" panose="020F0502020204030204"/>
                        </a:defRPr>
                      </a:lvl1pPr>
                      <a:lvl2pPr marL="609585" algn="l" defTabSz="609585" rtl="0" eaLnBrk="1" latinLnBrk="0" hangingPunct="1">
                        <a:defRPr sz="2400" kern="1200">
                          <a:solidFill>
                            <a:schemeClr val="dk1"/>
                          </a:solidFill>
                          <a:latin typeface="Calibri" panose="020F0502020204030204"/>
                        </a:defRPr>
                      </a:lvl2pPr>
                      <a:lvl3pPr marL="1219170" algn="l" defTabSz="609585" rtl="0" eaLnBrk="1" latinLnBrk="0" hangingPunct="1">
                        <a:defRPr sz="2400" kern="1200">
                          <a:solidFill>
                            <a:schemeClr val="dk1"/>
                          </a:solidFill>
                          <a:latin typeface="Calibri" panose="020F0502020204030204"/>
                        </a:defRPr>
                      </a:lvl3pPr>
                      <a:lvl4pPr marL="1828754" algn="l" defTabSz="609585" rtl="0" eaLnBrk="1" latinLnBrk="0" hangingPunct="1">
                        <a:defRPr sz="2400" kern="1200">
                          <a:solidFill>
                            <a:schemeClr val="dk1"/>
                          </a:solidFill>
                          <a:latin typeface="Calibri" panose="020F0502020204030204"/>
                        </a:defRPr>
                      </a:lvl4pPr>
                      <a:lvl5pPr marL="2438339" algn="l" defTabSz="609585" rtl="0" eaLnBrk="1" latinLnBrk="0" hangingPunct="1">
                        <a:defRPr sz="2400" kern="1200">
                          <a:solidFill>
                            <a:schemeClr val="dk1"/>
                          </a:solidFill>
                          <a:latin typeface="Calibri" panose="020F0502020204030204"/>
                        </a:defRPr>
                      </a:lvl5pPr>
                      <a:lvl6pPr marL="3047924" algn="l" defTabSz="609585" rtl="0" eaLnBrk="1" latinLnBrk="0" hangingPunct="1">
                        <a:defRPr sz="2400" kern="1200">
                          <a:solidFill>
                            <a:schemeClr val="dk1"/>
                          </a:solidFill>
                          <a:latin typeface="Calibri" panose="020F0502020204030204"/>
                        </a:defRPr>
                      </a:lvl6pPr>
                      <a:lvl7pPr marL="3657509" algn="l" defTabSz="609585" rtl="0" eaLnBrk="1" latinLnBrk="0" hangingPunct="1">
                        <a:defRPr sz="2400" kern="1200">
                          <a:solidFill>
                            <a:schemeClr val="dk1"/>
                          </a:solidFill>
                          <a:latin typeface="Calibri" panose="020F0502020204030204"/>
                        </a:defRPr>
                      </a:lvl7pPr>
                      <a:lvl8pPr marL="4267093" algn="l" defTabSz="609585" rtl="0" eaLnBrk="1" latinLnBrk="0" hangingPunct="1">
                        <a:defRPr sz="2400" kern="1200">
                          <a:solidFill>
                            <a:schemeClr val="dk1"/>
                          </a:solidFill>
                          <a:latin typeface="Calibri" panose="020F0502020204030204"/>
                        </a:defRPr>
                      </a:lvl8pPr>
                      <a:lvl9pPr marL="4876678" algn="l" defTabSz="609585" rtl="0" eaLnBrk="1" latinLnBrk="0" hangingPunct="1">
                        <a:defRPr sz="2400" kern="1200">
                          <a:solidFill>
                            <a:schemeClr val="dk1"/>
                          </a:solidFill>
                          <a:latin typeface="Calibri" panose="020F0502020204030204"/>
                        </a:defRPr>
                      </a:lvl9pPr>
                    </a:lstStyle>
                    <a:p>
                      <a:r>
                        <a:rPr lang="en-GB" sz="1100" dirty="0">
                          <a:latin typeface="NBS Light" panose="020B0303030303020204" pitchFamily="34" charset="0"/>
                        </a:rPr>
                        <a:t>All AML TM Models have been reviewed/implemented and overseen by the Retail Decision Modelling team at the Economic Crime Modelling Forum to comply with Nationwide’s model risk policy.</a:t>
                      </a:r>
                    </a:p>
                  </a:txBody>
                  <a:tcPr/>
                </a:tc>
                <a:extLst>
                  <a:ext uri="{0D108BD9-81ED-4DB2-BD59-A6C34878D82A}">
                    <a16:rowId xmlns:a16="http://schemas.microsoft.com/office/drawing/2014/main" val="76850744"/>
                  </a:ext>
                </a:extLst>
              </a:tr>
            </a:tbl>
          </a:graphicData>
        </a:graphic>
      </p:graphicFrame>
    </p:spTree>
    <p:extLst>
      <p:ext uri="{BB962C8B-B14F-4D97-AF65-F5344CB8AC3E}">
        <p14:creationId xmlns:p14="http://schemas.microsoft.com/office/powerpoint/2010/main" val="19719499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B677B79-D815-4E3A-9CB1-94373A757E09}"/>
              </a:ext>
            </a:extLst>
          </p:cNvPr>
          <p:cNvSpPr txBox="1">
            <a:spLocks/>
          </p:cNvSpPr>
          <p:nvPr/>
        </p:nvSpPr>
        <p:spPr>
          <a:xfrm>
            <a:off x="436459" y="394269"/>
            <a:ext cx="11644891" cy="40075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chemeClr val="accent1">
                    <a:lumMod val="75000"/>
                  </a:schemeClr>
                </a:solidFill>
                <a:latin typeface="Elephant" panose="02020904090505020303" pitchFamily="18" charset="0"/>
              </a:rPr>
              <a:t>Transaction Monitoring – Fraud TM Audit</a:t>
            </a:r>
          </a:p>
          <a:p>
            <a:pPr algn="l"/>
            <a:r>
              <a:rPr lang="en-US" sz="1400" dirty="0">
                <a:solidFill>
                  <a:schemeClr val="accent1">
                    <a:lumMod val="75000"/>
                  </a:schemeClr>
                </a:solidFill>
                <a:latin typeface="NBS Medium" panose="020B0603030303020204" pitchFamily="34" charset="0"/>
              </a:rPr>
              <a:t> </a:t>
            </a:r>
            <a:r>
              <a:rPr lang="en-US" sz="1400" i="1" dirty="0">
                <a:solidFill>
                  <a:srgbClr val="C00000"/>
                </a:solidFill>
                <a:latin typeface="NBS Medium" panose="020B0603030303020204" pitchFamily="34" charset="0"/>
              </a:rPr>
              <a:t>Internal Audit completed a Fraud TM Audit in 2020, these slides provide an overview of their findings and a gap analysis against current AML TM controls</a:t>
            </a:r>
          </a:p>
        </p:txBody>
      </p:sp>
      <p:grpSp>
        <p:nvGrpSpPr>
          <p:cNvPr id="5" name="Group 4">
            <a:extLst>
              <a:ext uri="{FF2B5EF4-FFF2-40B4-BE49-F238E27FC236}">
                <a16:creationId xmlns:a16="http://schemas.microsoft.com/office/drawing/2014/main" id="{5284B8A0-74D6-4365-A6BA-D4F05632A280}"/>
              </a:ext>
            </a:extLst>
          </p:cNvPr>
          <p:cNvGrpSpPr/>
          <p:nvPr/>
        </p:nvGrpSpPr>
        <p:grpSpPr>
          <a:xfrm>
            <a:off x="10750335" y="154705"/>
            <a:ext cx="1005206" cy="479127"/>
            <a:chOff x="3236913" y="913342"/>
            <a:chExt cx="1740428" cy="712845"/>
          </a:xfrm>
        </p:grpSpPr>
        <p:pic>
          <p:nvPicPr>
            <p:cNvPr id="6" name="Picture 5" descr="Nationwide BS Logo sRGB.png">
              <a:extLst>
                <a:ext uri="{FF2B5EF4-FFF2-40B4-BE49-F238E27FC236}">
                  <a16:creationId xmlns:a16="http://schemas.microsoft.com/office/drawing/2014/main" id="{598163EF-A963-4813-89C2-CA4D92C11B1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938" t="18020" r="9268" b="14259"/>
            <a:stretch/>
          </p:blipFill>
          <p:spPr>
            <a:xfrm>
              <a:off x="3236913" y="913342"/>
              <a:ext cx="1740428" cy="712845"/>
            </a:xfrm>
            <a:prstGeom prst="rect">
              <a:avLst/>
            </a:prstGeom>
          </p:spPr>
        </p:pic>
        <p:sp>
          <p:nvSpPr>
            <p:cNvPr id="7" name="Rounded Rectangle 16">
              <a:extLst>
                <a:ext uri="{FF2B5EF4-FFF2-40B4-BE49-F238E27FC236}">
                  <a16:creationId xmlns:a16="http://schemas.microsoft.com/office/drawing/2014/main" id="{68DFDBB6-6377-4867-BB60-D58D700A5F2E}"/>
                </a:ext>
              </a:extLst>
            </p:cNvPr>
            <p:cNvSpPr/>
            <p:nvPr/>
          </p:nvSpPr>
          <p:spPr>
            <a:xfrm>
              <a:off x="3249341" y="919691"/>
              <a:ext cx="1728000" cy="480613"/>
            </a:xfrm>
            <a:prstGeom prst="roundRect">
              <a:avLst>
                <a:gd name="adj" fmla="val 13275"/>
              </a:avLst>
            </a:prstGeom>
            <a:noFill/>
            <a:ln w="6350" cap="flat" cmpd="sng" algn="ctr">
              <a:solidFill>
                <a:sysClr val="window" lastClr="FFFFFF"/>
              </a:solidFill>
              <a:prstDash val="solid"/>
            </a:ln>
            <a:effectLst/>
          </p:spPr>
          <p:txBody>
            <a:bodyPr rtlCol="0" anchor="ctr"/>
            <a:lstStyle/>
            <a:p>
              <a:pPr algn="ctr" defTabSz="257175">
                <a:defRPr/>
              </a:pPr>
              <a:endParaRPr lang="en-US" sz="1013" kern="0" dirty="0">
                <a:solidFill>
                  <a:prstClr val="white"/>
                </a:solidFill>
                <a:latin typeface="Calibri"/>
              </a:endParaRPr>
            </a:p>
          </p:txBody>
        </p:sp>
      </p:grpSp>
      <p:graphicFrame>
        <p:nvGraphicFramePr>
          <p:cNvPr id="8" name="Table 4">
            <a:extLst>
              <a:ext uri="{FF2B5EF4-FFF2-40B4-BE49-F238E27FC236}">
                <a16:creationId xmlns:a16="http://schemas.microsoft.com/office/drawing/2014/main" id="{0FDF34E0-2B19-4698-8CE0-47220384679B}"/>
              </a:ext>
            </a:extLst>
          </p:cNvPr>
          <p:cNvGraphicFramePr>
            <a:graphicFrameLocks noGrp="1"/>
          </p:cNvGraphicFramePr>
          <p:nvPr>
            <p:extLst>
              <p:ext uri="{D42A27DB-BD31-4B8C-83A1-F6EECF244321}">
                <p14:modId xmlns:p14="http://schemas.microsoft.com/office/powerpoint/2010/main" val="3650676702"/>
              </p:ext>
            </p:extLst>
          </p:nvPr>
        </p:nvGraphicFramePr>
        <p:xfrm>
          <a:off x="490537" y="869129"/>
          <a:ext cx="11210926" cy="6278880"/>
        </p:xfrm>
        <a:graphic>
          <a:graphicData uri="http://schemas.openxmlformats.org/drawingml/2006/table">
            <a:tbl>
              <a:tblPr firstRow="1" bandRow="1">
                <a:tableStyleId>{69012ECD-51FC-41F1-AA8D-1B2483CD663E}</a:tableStyleId>
              </a:tblPr>
              <a:tblGrid>
                <a:gridCol w="1904265">
                  <a:extLst>
                    <a:ext uri="{9D8B030D-6E8A-4147-A177-3AD203B41FA5}">
                      <a16:colId xmlns:a16="http://schemas.microsoft.com/office/drawing/2014/main" val="1287290681"/>
                    </a:ext>
                  </a:extLst>
                </a:gridCol>
                <a:gridCol w="5444505">
                  <a:extLst>
                    <a:ext uri="{9D8B030D-6E8A-4147-A177-3AD203B41FA5}">
                      <a16:colId xmlns:a16="http://schemas.microsoft.com/office/drawing/2014/main" val="4206382353"/>
                    </a:ext>
                  </a:extLst>
                </a:gridCol>
                <a:gridCol w="758283">
                  <a:extLst>
                    <a:ext uri="{9D8B030D-6E8A-4147-A177-3AD203B41FA5}">
                      <a16:colId xmlns:a16="http://schemas.microsoft.com/office/drawing/2014/main" val="4072100215"/>
                    </a:ext>
                  </a:extLst>
                </a:gridCol>
                <a:gridCol w="3103873">
                  <a:extLst>
                    <a:ext uri="{9D8B030D-6E8A-4147-A177-3AD203B41FA5}">
                      <a16:colId xmlns:a16="http://schemas.microsoft.com/office/drawing/2014/main" val="915168363"/>
                    </a:ext>
                  </a:extLst>
                </a:gridCol>
              </a:tblGrid>
              <a:tr h="191719">
                <a:tc>
                  <a:txBody>
                    <a:bodyPr/>
                    <a:lstStyle>
                      <a:lvl1pPr marL="0" algn="l" defTabSz="609585" rtl="0" eaLnBrk="1" latinLnBrk="0" hangingPunct="1">
                        <a:defRPr sz="2400" b="1" kern="1200">
                          <a:solidFill>
                            <a:schemeClr val="dk1"/>
                          </a:solidFill>
                          <a:latin typeface="Calibri" panose="020F0502020204030204"/>
                        </a:defRPr>
                      </a:lvl1pPr>
                      <a:lvl2pPr marL="609585" algn="l" defTabSz="609585" rtl="0" eaLnBrk="1" latinLnBrk="0" hangingPunct="1">
                        <a:defRPr sz="2400" b="1" kern="1200">
                          <a:solidFill>
                            <a:schemeClr val="dk1"/>
                          </a:solidFill>
                          <a:latin typeface="Calibri" panose="020F0502020204030204"/>
                        </a:defRPr>
                      </a:lvl2pPr>
                      <a:lvl3pPr marL="1219170" algn="l" defTabSz="609585" rtl="0" eaLnBrk="1" latinLnBrk="0" hangingPunct="1">
                        <a:defRPr sz="2400" b="1" kern="1200">
                          <a:solidFill>
                            <a:schemeClr val="dk1"/>
                          </a:solidFill>
                          <a:latin typeface="Calibri" panose="020F0502020204030204"/>
                        </a:defRPr>
                      </a:lvl3pPr>
                      <a:lvl4pPr marL="1828754" algn="l" defTabSz="609585" rtl="0" eaLnBrk="1" latinLnBrk="0" hangingPunct="1">
                        <a:defRPr sz="2400" b="1" kern="1200">
                          <a:solidFill>
                            <a:schemeClr val="dk1"/>
                          </a:solidFill>
                          <a:latin typeface="Calibri" panose="020F0502020204030204"/>
                        </a:defRPr>
                      </a:lvl4pPr>
                      <a:lvl5pPr marL="2438339" algn="l" defTabSz="609585" rtl="0" eaLnBrk="1" latinLnBrk="0" hangingPunct="1">
                        <a:defRPr sz="2400" b="1" kern="1200">
                          <a:solidFill>
                            <a:schemeClr val="dk1"/>
                          </a:solidFill>
                          <a:latin typeface="Calibri" panose="020F0502020204030204"/>
                        </a:defRPr>
                      </a:lvl5pPr>
                      <a:lvl6pPr marL="3047924" algn="l" defTabSz="609585" rtl="0" eaLnBrk="1" latinLnBrk="0" hangingPunct="1">
                        <a:defRPr sz="2400" b="1" kern="1200">
                          <a:solidFill>
                            <a:schemeClr val="dk1"/>
                          </a:solidFill>
                          <a:latin typeface="Calibri" panose="020F0502020204030204"/>
                        </a:defRPr>
                      </a:lvl6pPr>
                      <a:lvl7pPr marL="3657509" algn="l" defTabSz="609585" rtl="0" eaLnBrk="1" latinLnBrk="0" hangingPunct="1">
                        <a:defRPr sz="2400" b="1" kern="1200">
                          <a:solidFill>
                            <a:schemeClr val="dk1"/>
                          </a:solidFill>
                          <a:latin typeface="Calibri" panose="020F0502020204030204"/>
                        </a:defRPr>
                      </a:lvl7pPr>
                      <a:lvl8pPr marL="4267093" algn="l" defTabSz="609585" rtl="0" eaLnBrk="1" latinLnBrk="0" hangingPunct="1">
                        <a:defRPr sz="2400" b="1" kern="1200">
                          <a:solidFill>
                            <a:schemeClr val="dk1"/>
                          </a:solidFill>
                          <a:latin typeface="Calibri" panose="020F0502020204030204"/>
                        </a:defRPr>
                      </a:lvl8pPr>
                      <a:lvl9pPr marL="4876678" algn="l" defTabSz="609585" rtl="0" eaLnBrk="1" latinLnBrk="0" hangingPunct="1">
                        <a:defRPr sz="2400" b="1" kern="1200">
                          <a:solidFill>
                            <a:schemeClr val="dk1"/>
                          </a:solidFill>
                          <a:latin typeface="Calibri" panose="020F0502020204030204"/>
                        </a:defRPr>
                      </a:lvl9pPr>
                    </a:lstStyle>
                    <a:p>
                      <a:r>
                        <a:rPr lang="en-GB" sz="1200" dirty="0">
                          <a:solidFill>
                            <a:schemeClr val="bg1"/>
                          </a:solidFill>
                          <a:latin typeface="NBS Medium" panose="020B0603030303020204" pitchFamily="34" charset="0"/>
                        </a:rPr>
                        <a:t>Issues</a:t>
                      </a:r>
                    </a:p>
                  </a:txBody>
                  <a:tcPr/>
                </a:tc>
                <a:tc>
                  <a:txBody>
                    <a:bodyPr/>
                    <a:lstStyle>
                      <a:lvl1pPr marL="0" algn="l" defTabSz="609585" rtl="0" eaLnBrk="1" latinLnBrk="0" hangingPunct="1">
                        <a:defRPr sz="2400" b="1" kern="1200">
                          <a:solidFill>
                            <a:schemeClr val="dk1"/>
                          </a:solidFill>
                          <a:latin typeface="Calibri" panose="020F0502020204030204"/>
                        </a:defRPr>
                      </a:lvl1pPr>
                      <a:lvl2pPr marL="609585" algn="l" defTabSz="609585" rtl="0" eaLnBrk="1" latinLnBrk="0" hangingPunct="1">
                        <a:defRPr sz="2400" b="1" kern="1200">
                          <a:solidFill>
                            <a:schemeClr val="dk1"/>
                          </a:solidFill>
                          <a:latin typeface="Calibri" panose="020F0502020204030204"/>
                        </a:defRPr>
                      </a:lvl2pPr>
                      <a:lvl3pPr marL="1219170" algn="l" defTabSz="609585" rtl="0" eaLnBrk="1" latinLnBrk="0" hangingPunct="1">
                        <a:defRPr sz="2400" b="1" kern="1200">
                          <a:solidFill>
                            <a:schemeClr val="dk1"/>
                          </a:solidFill>
                          <a:latin typeface="Calibri" panose="020F0502020204030204"/>
                        </a:defRPr>
                      </a:lvl3pPr>
                      <a:lvl4pPr marL="1828754" algn="l" defTabSz="609585" rtl="0" eaLnBrk="1" latinLnBrk="0" hangingPunct="1">
                        <a:defRPr sz="2400" b="1" kern="1200">
                          <a:solidFill>
                            <a:schemeClr val="dk1"/>
                          </a:solidFill>
                          <a:latin typeface="Calibri" panose="020F0502020204030204"/>
                        </a:defRPr>
                      </a:lvl4pPr>
                      <a:lvl5pPr marL="2438339" algn="l" defTabSz="609585" rtl="0" eaLnBrk="1" latinLnBrk="0" hangingPunct="1">
                        <a:defRPr sz="2400" b="1" kern="1200">
                          <a:solidFill>
                            <a:schemeClr val="dk1"/>
                          </a:solidFill>
                          <a:latin typeface="Calibri" panose="020F0502020204030204"/>
                        </a:defRPr>
                      </a:lvl5pPr>
                      <a:lvl6pPr marL="3047924" algn="l" defTabSz="609585" rtl="0" eaLnBrk="1" latinLnBrk="0" hangingPunct="1">
                        <a:defRPr sz="2400" b="1" kern="1200">
                          <a:solidFill>
                            <a:schemeClr val="dk1"/>
                          </a:solidFill>
                          <a:latin typeface="Calibri" panose="020F0502020204030204"/>
                        </a:defRPr>
                      </a:lvl6pPr>
                      <a:lvl7pPr marL="3657509" algn="l" defTabSz="609585" rtl="0" eaLnBrk="1" latinLnBrk="0" hangingPunct="1">
                        <a:defRPr sz="2400" b="1" kern="1200">
                          <a:solidFill>
                            <a:schemeClr val="dk1"/>
                          </a:solidFill>
                          <a:latin typeface="Calibri" panose="020F0502020204030204"/>
                        </a:defRPr>
                      </a:lvl7pPr>
                      <a:lvl8pPr marL="4267093" algn="l" defTabSz="609585" rtl="0" eaLnBrk="1" latinLnBrk="0" hangingPunct="1">
                        <a:defRPr sz="2400" b="1" kern="1200">
                          <a:solidFill>
                            <a:schemeClr val="dk1"/>
                          </a:solidFill>
                          <a:latin typeface="Calibri" panose="020F0502020204030204"/>
                        </a:defRPr>
                      </a:lvl8pPr>
                      <a:lvl9pPr marL="4876678" algn="l" defTabSz="609585" rtl="0" eaLnBrk="1" latinLnBrk="0" hangingPunct="1">
                        <a:defRPr sz="2400" b="1" kern="1200">
                          <a:solidFill>
                            <a:schemeClr val="dk1"/>
                          </a:solidFill>
                          <a:latin typeface="Calibri" panose="020F0502020204030204"/>
                        </a:defRPr>
                      </a:lvl9pPr>
                    </a:lstStyle>
                    <a:p>
                      <a:r>
                        <a:rPr lang="en-GB" sz="1200" dirty="0">
                          <a:solidFill>
                            <a:schemeClr val="bg1"/>
                          </a:solidFill>
                          <a:latin typeface="NBS Medium" panose="020B0603030303020204" pitchFamily="34" charset="0"/>
                        </a:rPr>
                        <a:t>Issue Detail </a:t>
                      </a:r>
                    </a:p>
                  </a:txBody>
                  <a:tcPr/>
                </a:tc>
                <a:tc>
                  <a:txBody>
                    <a:bodyPr/>
                    <a:lstStyle/>
                    <a:p>
                      <a:r>
                        <a:rPr lang="en-GB" sz="1200" b="1" dirty="0">
                          <a:solidFill>
                            <a:schemeClr val="bg1"/>
                          </a:solidFill>
                          <a:latin typeface="NBS Medium" panose="020B0603030303020204" pitchFamily="34" charset="0"/>
                        </a:rPr>
                        <a:t>AML Gap</a:t>
                      </a:r>
                    </a:p>
                  </a:txBody>
                  <a:tcPr/>
                </a:tc>
                <a:tc>
                  <a:txBody>
                    <a:bodyPr/>
                    <a:lstStyle>
                      <a:lvl1pPr marL="0" algn="l" defTabSz="609585" rtl="0" eaLnBrk="1" latinLnBrk="0" hangingPunct="1">
                        <a:defRPr sz="2400" b="1" kern="1200">
                          <a:solidFill>
                            <a:schemeClr val="dk1"/>
                          </a:solidFill>
                          <a:latin typeface="Calibri" panose="020F0502020204030204"/>
                        </a:defRPr>
                      </a:lvl1pPr>
                      <a:lvl2pPr marL="609585" algn="l" defTabSz="609585" rtl="0" eaLnBrk="1" latinLnBrk="0" hangingPunct="1">
                        <a:defRPr sz="2400" b="1" kern="1200">
                          <a:solidFill>
                            <a:schemeClr val="dk1"/>
                          </a:solidFill>
                          <a:latin typeface="Calibri" panose="020F0502020204030204"/>
                        </a:defRPr>
                      </a:lvl2pPr>
                      <a:lvl3pPr marL="1219170" algn="l" defTabSz="609585" rtl="0" eaLnBrk="1" latinLnBrk="0" hangingPunct="1">
                        <a:defRPr sz="2400" b="1" kern="1200">
                          <a:solidFill>
                            <a:schemeClr val="dk1"/>
                          </a:solidFill>
                          <a:latin typeface="Calibri" panose="020F0502020204030204"/>
                        </a:defRPr>
                      </a:lvl3pPr>
                      <a:lvl4pPr marL="1828754" algn="l" defTabSz="609585" rtl="0" eaLnBrk="1" latinLnBrk="0" hangingPunct="1">
                        <a:defRPr sz="2400" b="1" kern="1200">
                          <a:solidFill>
                            <a:schemeClr val="dk1"/>
                          </a:solidFill>
                          <a:latin typeface="Calibri" panose="020F0502020204030204"/>
                        </a:defRPr>
                      </a:lvl4pPr>
                      <a:lvl5pPr marL="2438339" algn="l" defTabSz="609585" rtl="0" eaLnBrk="1" latinLnBrk="0" hangingPunct="1">
                        <a:defRPr sz="2400" b="1" kern="1200">
                          <a:solidFill>
                            <a:schemeClr val="dk1"/>
                          </a:solidFill>
                          <a:latin typeface="Calibri" panose="020F0502020204030204"/>
                        </a:defRPr>
                      </a:lvl5pPr>
                      <a:lvl6pPr marL="3047924" algn="l" defTabSz="609585" rtl="0" eaLnBrk="1" latinLnBrk="0" hangingPunct="1">
                        <a:defRPr sz="2400" b="1" kern="1200">
                          <a:solidFill>
                            <a:schemeClr val="dk1"/>
                          </a:solidFill>
                          <a:latin typeface="Calibri" panose="020F0502020204030204"/>
                        </a:defRPr>
                      </a:lvl6pPr>
                      <a:lvl7pPr marL="3657509" algn="l" defTabSz="609585" rtl="0" eaLnBrk="1" latinLnBrk="0" hangingPunct="1">
                        <a:defRPr sz="2400" b="1" kern="1200">
                          <a:solidFill>
                            <a:schemeClr val="dk1"/>
                          </a:solidFill>
                          <a:latin typeface="Calibri" panose="020F0502020204030204"/>
                        </a:defRPr>
                      </a:lvl7pPr>
                      <a:lvl8pPr marL="4267093" algn="l" defTabSz="609585" rtl="0" eaLnBrk="1" latinLnBrk="0" hangingPunct="1">
                        <a:defRPr sz="2400" b="1" kern="1200">
                          <a:solidFill>
                            <a:schemeClr val="dk1"/>
                          </a:solidFill>
                          <a:latin typeface="Calibri" panose="020F0502020204030204"/>
                        </a:defRPr>
                      </a:lvl8pPr>
                      <a:lvl9pPr marL="4876678" algn="l" defTabSz="609585" rtl="0" eaLnBrk="1" latinLnBrk="0" hangingPunct="1">
                        <a:defRPr sz="2400" b="1" kern="1200">
                          <a:solidFill>
                            <a:schemeClr val="dk1"/>
                          </a:solidFill>
                          <a:latin typeface="Calibri" panose="020F0502020204030204"/>
                        </a:defRPr>
                      </a:lvl9pPr>
                    </a:lstStyle>
                    <a:p>
                      <a:r>
                        <a:rPr lang="en-GB" sz="1200" dirty="0">
                          <a:solidFill>
                            <a:schemeClr val="bg1"/>
                          </a:solidFill>
                          <a:latin typeface="NBS Medium" panose="020B0603030303020204" pitchFamily="34" charset="0"/>
                        </a:rPr>
                        <a:t>Actions in Place to Address Gaps</a:t>
                      </a:r>
                    </a:p>
                  </a:txBody>
                  <a:tcPr/>
                </a:tc>
                <a:extLst>
                  <a:ext uri="{0D108BD9-81ED-4DB2-BD59-A6C34878D82A}">
                    <a16:rowId xmlns:a16="http://schemas.microsoft.com/office/drawing/2014/main" val="2397372165"/>
                  </a:ext>
                </a:extLst>
              </a:tr>
              <a:tr h="1587011">
                <a:tc rowSpan="5">
                  <a:txBody>
                    <a:bodyPr/>
                    <a:lstStyle>
                      <a:lvl1pPr marL="0" algn="l" defTabSz="609585" rtl="0" eaLnBrk="1" latinLnBrk="0" hangingPunct="1">
                        <a:defRPr sz="2400" kern="1200">
                          <a:solidFill>
                            <a:schemeClr val="dk1"/>
                          </a:solidFill>
                          <a:latin typeface="Calibri" panose="020F0502020204030204"/>
                        </a:defRPr>
                      </a:lvl1pPr>
                      <a:lvl2pPr marL="609585" algn="l" defTabSz="609585" rtl="0" eaLnBrk="1" latinLnBrk="0" hangingPunct="1">
                        <a:defRPr sz="2400" kern="1200">
                          <a:solidFill>
                            <a:schemeClr val="dk1"/>
                          </a:solidFill>
                          <a:latin typeface="Calibri" panose="020F0502020204030204"/>
                        </a:defRPr>
                      </a:lvl2pPr>
                      <a:lvl3pPr marL="1219170" algn="l" defTabSz="609585" rtl="0" eaLnBrk="1" latinLnBrk="0" hangingPunct="1">
                        <a:defRPr sz="2400" kern="1200">
                          <a:solidFill>
                            <a:schemeClr val="dk1"/>
                          </a:solidFill>
                          <a:latin typeface="Calibri" panose="020F0502020204030204"/>
                        </a:defRPr>
                      </a:lvl3pPr>
                      <a:lvl4pPr marL="1828754" algn="l" defTabSz="609585" rtl="0" eaLnBrk="1" latinLnBrk="0" hangingPunct="1">
                        <a:defRPr sz="2400" kern="1200">
                          <a:solidFill>
                            <a:schemeClr val="dk1"/>
                          </a:solidFill>
                          <a:latin typeface="Calibri" panose="020F0502020204030204"/>
                        </a:defRPr>
                      </a:lvl4pPr>
                      <a:lvl5pPr marL="2438339" algn="l" defTabSz="609585" rtl="0" eaLnBrk="1" latinLnBrk="0" hangingPunct="1">
                        <a:defRPr sz="2400" kern="1200">
                          <a:solidFill>
                            <a:schemeClr val="dk1"/>
                          </a:solidFill>
                          <a:latin typeface="Calibri" panose="020F0502020204030204"/>
                        </a:defRPr>
                      </a:lvl5pPr>
                      <a:lvl6pPr marL="3047924" algn="l" defTabSz="609585" rtl="0" eaLnBrk="1" latinLnBrk="0" hangingPunct="1">
                        <a:defRPr sz="2400" kern="1200">
                          <a:solidFill>
                            <a:schemeClr val="dk1"/>
                          </a:solidFill>
                          <a:latin typeface="Calibri" panose="020F0502020204030204"/>
                        </a:defRPr>
                      </a:lvl6pPr>
                      <a:lvl7pPr marL="3657509" algn="l" defTabSz="609585" rtl="0" eaLnBrk="1" latinLnBrk="0" hangingPunct="1">
                        <a:defRPr sz="2400" kern="1200">
                          <a:solidFill>
                            <a:schemeClr val="dk1"/>
                          </a:solidFill>
                          <a:latin typeface="Calibri" panose="020F0502020204030204"/>
                        </a:defRPr>
                      </a:lvl7pPr>
                      <a:lvl8pPr marL="4267093" algn="l" defTabSz="609585" rtl="0" eaLnBrk="1" latinLnBrk="0" hangingPunct="1">
                        <a:defRPr sz="2400" kern="1200">
                          <a:solidFill>
                            <a:schemeClr val="dk1"/>
                          </a:solidFill>
                          <a:latin typeface="Calibri" panose="020F0502020204030204"/>
                        </a:defRPr>
                      </a:lvl8pPr>
                      <a:lvl9pPr marL="4876678" algn="l" defTabSz="609585" rtl="0" eaLnBrk="1" latinLnBrk="0" hangingPunct="1">
                        <a:defRPr sz="2400" kern="1200">
                          <a:solidFill>
                            <a:schemeClr val="dk1"/>
                          </a:solidFill>
                          <a:latin typeface="Calibri" panose="020F0502020204030204"/>
                        </a:defRPr>
                      </a:lvl9pPr>
                    </a:lstStyle>
                    <a:p>
                      <a:r>
                        <a:rPr lang="en-GB" sz="1100" b="1" dirty="0">
                          <a:latin typeface="NBS Medium" panose="020B0603030303020204" pitchFamily="34" charset="0"/>
                        </a:rPr>
                        <a:t>Improvements required to Fraud Operations processes </a:t>
                      </a:r>
                    </a:p>
                  </a:txBody>
                  <a:tcPr/>
                </a:tc>
                <a:tc>
                  <a:txBody>
                    <a:bodyPr/>
                    <a:lstStyle>
                      <a:lvl1pPr marL="0" algn="l" defTabSz="609585" rtl="0" eaLnBrk="1" latinLnBrk="0" hangingPunct="1">
                        <a:defRPr sz="2400" kern="1200">
                          <a:solidFill>
                            <a:schemeClr val="dk1"/>
                          </a:solidFill>
                          <a:latin typeface="Calibri" panose="020F0502020204030204"/>
                        </a:defRPr>
                      </a:lvl1pPr>
                      <a:lvl2pPr marL="609585" algn="l" defTabSz="609585" rtl="0" eaLnBrk="1" latinLnBrk="0" hangingPunct="1">
                        <a:defRPr sz="2400" kern="1200">
                          <a:solidFill>
                            <a:schemeClr val="dk1"/>
                          </a:solidFill>
                          <a:latin typeface="Calibri" panose="020F0502020204030204"/>
                        </a:defRPr>
                      </a:lvl2pPr>
                      <a:lvl3pPr marL="1219170" algn="l" defTabSz="609585" rtl="0" eaLnBrk="1" latinLnBrk="0" hangingPunct="1">
                        <a:defRPr sz="2400" kern="1200">
                          <a:solidFill>
                            <a:schemeClr val="dk1"/>
                          </a:solidFill>
                          <a:latin typeface="Calibri" panose="020F0502020204030204"/>
                        </a:defRPr>
                      </a:lvl3pPr>
                      <a:lvl4pPr marL="1828754" algn="l" defTabSz="609585" rtl="0" eaLnBrk="1" latinLnBrk="0" hangingPunct="1">
                        <a:defRPr sz="2400" kern="1200">
                          <a:solidFill>
                            <a:schemeClr val="dk1"/>
                          </a:solidFill>
                          <a:latin typeface="Calibri" panose="020F0502020204030204"/>
                        </a:defRPr>
                      </a:lvl4pPr>
                      <a:lvl5pPr marL="2438339" algn="l" defTabSz="609585" rtl="0" eaLnBrk="1" latinLnBrk="0" hangingPunct="1">
                        <a:defRPr sz="2400" kern="1200">
                          <a:solidFill>
                            <a:schemeClr val="dk1"/>
                          </a:solidFill>
                          <a:latin typeface="Calibri" panose="020F0502020204030204"/>
                        </a:defRPr>
                      </a:lvl5pPr>
                      <a:lvl6pPr marL="3047924" algn="l" defTabSz="609585" rtl="0" eaLnBrk="1" latinLnBrk="0" hangingPunct="1">
                        <a:defRPr sz="2400" kern="1200">
                          <a:solidFill>
                            <a:schemeClr val="dk1"/>
                          </a:solidFill>
                          <a:latin typeface="Calibri" panose="020F0502020204030204"/>
                        </a:defRPr>
                      </a:lvl6pPr>
                      <a:lvl7pPr marL="3657509" algn="l" defTabSz="609585" rtl="0" eaLnBrk="1" latinLnBrk="0" hangingPunct="1">
                        <a:defRPr sz="2400" kern="1200">
                          <a:solidFill>
                            <a:schemeClr val="dk1"/>
                          </a:solidFill>
                          <a:latin typeface="Calibri" panose="020F0502020204030204"/>
                        </a:defRPr>
                      </a:lvl7pPr>
                      <a:lvl8pPr marL="4267093" algn="l" defTabSz="609585" rtl="0" eaLnBrk="1" latinLnBrk="0" hangingPunct="1">
                        <a:defRPr sz="2400" kern="1200">
                          <a:solidFill>
                            <a:schemeClr val="dk1"/>
                          </a:solidFill>
                          <a:latin typeface="Calibri" panose="020F0502020204030204"/>
                        </a:defRPr>
                      </a:lvl8pPr>
                      <a:lvl9pPr marL="4876678" algn="l" defTabSz="609585" rtl="0" eaLnBrk="1" latinLnBrk="0" hangingPunct="1">
                        <a:defRPr sz="2400" kern="1200">
                          <a:solidFill>
                            <a:schemeClr val="dk1"/>
                          </a:solidFill>
                          <a:latin typeface="Calibri" panose="020F0502020204030204"/>
                        </a:defRPr>
                      </a:lvl9pPr>
                    </a:lstStyle>
                    <a:p>
                      <a:pPr marL="171450" indent="-171450">
                        <a:buFont typeface="Arial" panose="020B0604020202020204" pitchFamily="34" charset="0"/>
                        <a:buChar char="•"/>
                      </a:pPr>
                      <a:r>
                        <a:rPr lang="en-GB" sz="1100" dirty="0">
                          <a:latin typeface="NBS Light" panose="020B0303030303020204" pitchFamily="34" charset="0"/>
                        </a:rPr>
                        <a:t>The QC framework is not designed adequately to confirm that alerts are being accurately investigated: </a:t>
                      </a:r>
                    </a:p>
                    <a:p>
                      <a:pPr marL="781035" lvl="1" indent="-171450">
                        <a:buFont typeface="Courier New" panose="02070309020205020404" pitchFamily="49" charset="0"/>
                        <a:buChar char="o"/>
                      </a:pPr>
                      <a:r>
                        <a:rPr lang="en-GB" sz="1100" dirty="0">
                          <a:latin typeface="NBS Light" panose="020B0303030303020204" pitchFamily="34" charset="0"/>
                        </a:rPr>
                        <a:t>QC checks only cover two out of the five key systems used for </a:t>
                      </a:r>
                      <a:r>
                        <a:rPr lang="en-GB" sz="1100" dirty="0" err="1">
                          <a:latin typeface="NBS Light" panose="020B0303030303020204" pitchFamily="34" charset="0"/>
                        </a:rPr>
                        <a:t>FTM</a:t>
                      </a:r>
                      <a:r>
                        <a:rPr lang="en-GB" sz="1100" dirty="0">
                          <a:latin typeface="NBS Light" panose="020B0303030303020204" pitchFamily="34" charset="0"/>
                        </a:rPr>
                        <a:t> alerts, there is insufficient segregation and rotation of quality checking performed and no defined oversight of the checkers. Therefore, QC is not sufficiently independent to provide an objective assessment that alerts are worked correctly; </a:t>
                      </a:r>
                    </a:p>
                    <a:p>
                      <a:pPr marL="781035" lvl="1" indent="-171450">
                        <a:buFont typeface="Courier New" panose="02070309020205020404" pitchFamily="49" charset="0"/>
                        <a:buChar char="o"/>
                      </a:pPr>
                      <a:r>
                        <a:rPr lang="en-GB" sz="1100" dirty="0">
                          <a:latin typeface="NBS Light" panose="020B0303030303020204" pitchFamily="34" charset="0"/>
                        </a:rPr>
                        <a:t>The number of checks and sample selection is not risk-based to ensure focus is given to cases where they may be a higher proportion of fraud, and where Analyst performance issues are identified; </a:t>
                      </a:r>
                    </a:p>
                    <a:p>
                      <a:pPr marL="781035" lvl="1" indent="-171450">
                        <a:buFont typeface="Courier New" panose="02070309020205020404" pitchFamily="49" charset="0"/>
                        <a:buChar char="o"/>
                      </a:pPr>
                      <a:r>
                        <a:rPr lang="en-GB" sz="1100" dirty="0">
                          <a:latin typeface="NBS Light" panose="020B0303030303020204" pitchFamily="34" charset="0"/>
                        </a:rPr>
                        <a:t>Call listening of Analysts’ customer calls, which may be key to an alert decision, is not undertaken as part of a standard QC check to ensure a suitable decision was reached.</a:t>
                      </a:r>
                    </a:p>
                  </a:txBody>
                  <a:tcPr anchor="ctr"/>
                </a:tc>
                <a:tc>
                  <a:txBody>
                    <a:bodyPr/>
                    <a:lstStyle/>
                    <a:p>
                      <a:pPr algn="ctr"/>
                      <a:r>
                        <a:rPr lang="en-GB" sz="1100" dirty="0">
                          <a:latin typeface="NBS Light" panose="020B0303030303020204" pitchFamily="34" charset="0"/>
                        </a:rPr>
                        <a:t>No</a:t>
                      </a:r>
                    </a:p>
                  </a:txBody>
                  <a:tcPr/>
                </a:tc>
                <a:tc>
                  <a:txBody>
                    <a:bodyPr/>
                    <a:lstStyle>
                      <a:lvl1pPr marL="0" algn="l" defTabSz="609585" rtl="0" eaLnBrk="1" latinLnBrk="0" hangingPunct="1">
                        <a:defRPr sz="2400" kern="1200">
                          <a:solidFill>
                            <a:schemeClr val="dk1"/>
                          </a:solidFill>
                          <a:latin typeface="Calibri" panose="020F0502020204030204"/>
                        </a:defRPr>
                      </a:lvl1pPr>
                      <a:lvl2pPr marL="609585" algn="l" defTabSz="609585" rtl="0" eaLnBrk="1" latinLnBrk="0" hangingPunct="1">
                        <a:defRPr sz="2400" kern="1200">
                          <a:solidFill>
                            <a:schemeClr val="dk1"/>
                          </a:solidFill>
                          <a:latin typeface="Calibri" panose="020F0502020204030204"/>
                        </a:defRPr>
                      </a:lvl2pPr>
                      <a:lvl3pPr marL="1219170" algn="l" defTabSz="609585" rtl="0" eaLnBrk="1" latinLnBrk="0" hangingPunct="1">
                        <a:defRPr sz="2400" kern="1200">
                          <a:solidFill>
                            <a:schemeClr val="dk1"/>
                          </a:solidFill>
                          <a:latin typeface="Calibri" panose="020F0502020204030204"/>
                        </a:defRPr>
                      </a:lvl3pPr>
                      <a:lvl4pPr marL="1828754" algn="l" defTabSz="609585" rtl="0" eaLnBrk="1" latinLnBrk="0" hangingPunct="1">
                        <a:defRPr sz="2400" kern="1200">
                          <a:solidFill>
                            <a:schemeClr val="dk1"/>
                          </a:solidFill>
                          <a:latin typeface="Calibri" panose="020F0502020204030204"/>
                        </a:defRPr>
                      </a:lvl4pPr>
                      <a:lvl5pPr marL="2438339" algn="l" defTabSz="609585" rtl="0" eaLnBrk="1" latinLnBrk="0" hangingPunct="1">
                        <a:defRPr sz="2400" kern="1200">
                          <a:solidFill>
                            <a:schemeClr val="dk1"/>
                          </a:solidFill>
                          <a:latin typeface="Calibri" panose="020F0502020204030204"/>
                        </a:defRPr>
                      </a:lvl5pPr>
                      <a:lvl6pPr marL="3047924" algn="l" defTabSz="609585" rtl="0" eaLnBrk="1" latinLnBrk="0" hangingPunct="1">
                        <a:defRPr sz="2400" kern="1200">
                          <a:solidFill>
                            <a:schemeClr val="dk1"/>
                          </a:solidFill>
                          <a:latin typeface="Calibri" panose="020F0502020204030204"/>
                        </a:defRPr>
                      </a:lvl6pPr>
                      <a:lvl7pPr marL="3657509" algn="l" defTabSz="609585" rtl="0" eaLnBrk="1" latinLnBrk="0" hangingPunct="1">
                        <a:defRPr sz="2400" kern="1200">
                          <a:solidFill>
                            <a:schemeClr val="dk1"/>
                          </a:solidFill>
                          <a:latin typeface="Calibri" panose="020F0502020204030204"/>
                        </a:defRPr>
                      </a:lvl7pPr>
                      <a:lvl8pPr marL="4267093" algn="l" defTabSz="609585" rtl="0" eaLnBrk="1" latinLnBrk="0" hangingPunct="1">
                        <a:defRPr sz="2400" kern="1200">
                          <a:solidFill>
                            <a:schemeClr val="dk1"/>
                          </a:solidFill>
                          <a:latin typeface="Calibri" panose="020F0502020204030204"/>
                        </a:defRPr>
                      </a:lvl8pPr>
                      <a:lvl9pPr marL="4876678" algn="l" defTabSz="609585" rtl="0" eaLnBrk="1" latinLnBrk="0" hangingPunct="1">
                        <a:defRPr sz="2400" kern="1200">
                          <a:solidFill>
                            <a:schemeClr val="dk1"/>
                          </a:solidFill>
                          <a:latin typeface="Calibri" panose="020F0502020204030204"/>
                        </a:defRPr>
                      </a:lvl9pPr>
                    </a:lstStyle>
                    <a:p>
                      <a:r>
                        <a:rPr lang="en-GB" sz="1100" dirty="0">
                          <a:latin typeface="NBS Light" panose="020B0303030303020204" pitchFamily="34" charset="0"/>
                        </a:rPr>
                        <a:t>AML Operations have recently embedded an Accreditation and Quality Control/Quality Assurance Framework, which ensures Analysts and Senior Analysts are accredited initially to the appropriate standard and the QC/QA framework ensures these standards are maintained. </a:t>
                      </a:r>
                    </a:p>
                    <a:p>
                      <a:endParaRPr lang="en-GB" sz="1100" dirty="0">
                        <a:latin typeface="NBS Light" panose="020B0303030303020204" pitchFamily="34" charset="0"/>
                      </a:endParaRPr>
                    </a:p>
                    <a:p>
                      <a:r>
                        <a:rPr lang="en-GB" sz="1100" dirty="0">
                          <a:latin typeface="NBS Light" panose="020B0303030303020204" pitchFamily="34" charset="0"/>
                        </a:rPr>
                        <a:t>This is a new framework and a 3 new Financial Crime Control Consultants have been recruited to ensure this framework is adequately resourced. </a:t>
                      </a:r>
                    </a:p>
                    <a:p>
                      <a:endParaRPr lang="en-GB" sz="1100" dirty="0">
                        <a:latin typeface="NBS Light" panose="020B0303030303020204" pitchFamily="34" charset="0"/>
                      </a:endParaRPr>
                    </a:p>
                    <a:p>
                      <a:r>
                        <a:rPr lang="en-GB" sz="1100" dirty="0">
                          <a:latin typeface="NBS Light" panose="020B0303030303020204" pitchFamily="34" charset="0"/>
                        </a:rPr>
                        <a:t>There is currently no accreditation and QA on Senior Analysts in SAI, however this will be picked up by the FC Control Consultants imminently. </a:t>
                      </a:r>
                    </a:p>
                  </a:txBody>
                  <a:tcPr/>
                </a:tc>
                <a:extLst>
                  <a:ext uri="{0D108BD9-81ED-4DB2-BD59-A6C34878D82A}">
                    <a16:rowId xmlns:a16="http://schemas.microsoft.com/office/drawing/2014/main" val="2346543985"/>
                  </a:ext>
                </a:extLst>
              </a:tr>
              <a:tr h="415392">
                <a:tc vMerge="1">
                  <a:txBody>
                    <a:bodyPr/>
                    <a:lstStyle/>
                    <a:p>
                      <a:endParaRPr lang="en-GB"/>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dirty="0">
                          <a:latin typeface="NBS Light" panose="020B0303030303020204" pitchFamily="34" charset="0"/>
                        </a:rPr>
                        <a:t>Currently, there is no independent QA on </a:t>
                      </a:r>
                      <a:r>
                        <a:rPr lang="en-GB" sz="1100" dirty="0" err="1">
                          <a:latin typeface="NBS Light" panose="020B0303030303020204" pitchFamily="34" charset="0"/>
                        </a:rPr>
                        <a:t>FTM</a:t>
                      </a:r>
                      <a:r>
                        <a:rPr lang="en-GB" sz="1100" dirty="0">
                          <a:latin typeface="NBS Light" panose="020B0303030303020204" pitchFamily="34" charset="0"/>
                        </a:rPr>
                        <a:t> alerts meaning quality issues will not be identified to confirm the necessary action is taken and for reporting to Senior Management. </a:t>
                      </a:r>
                    </a:p>
                  </a:txBody>
                  <a:tcPr anchor="ctr"/>
                </a:tc>
                <a:tc>
                  <a:txBody>
                    <a:bodyPr/>
                    <a:lstStyle/>
                    <a:p>
                      <a:pPr algn="ctr"/>
                      <a:r>
                        <a:rPr lang="en-GB" sz="1100" dirty="0">
                          <a:latin typeface="NBS Light" panose="020B0303030303020204" pitchFamily="34" charset="0"/>
                        </a:rPr>
                        <a:t>No</a:t>
                      </a:r>
                    </a:p>
                  </a:txBody>
                  <a:tcPr/>
                </a:tc>
                <a:tc>
                  <a:txBody>
                    <a:bodyPr/>
                    <a:lstStyle/>
                    <a:p>
                      <a:r>
                        <a:rPr lang="en-GB" sz="1100" dirty="0">
                          <a:latin typeface="NBS Light" panose="020B0303030303020204" pitchFamily="34" charset="0"/>
                        </a:rPr>
                        <a:t>As above.</a:t>
                      </a:r>
                    </a:p>
                  </a:txBody>
                  <a:tcPr/>
                </a:tc>
                <a:extLst>
                  <a:ext uri="{0D108BD9-81ED-4DB2-BD59-A6C34878D82A}">
                    <a16:rowId xmlns:a16="http://schemas.microsoft.com/office/drawing/2014/main" val="2062398378"/>
                  </a:ext>
                </a:extLst>
              </a:tr>
              <a:tr h="532554">
                <a:tc vMerge="1">
                  <a:txBody>
                    <a:bodyPr/>
                    <a:lstStyle/>
                    <a:p>
                      <a:endParaRPr lang="en-GB"/>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dirty="0">
                          <a:latin typeface="NBS Light" panose="020B0303030303020204" pitchFamily="34" charset="0"/>
                        </a:rPr>
                        <a:t>There is currently no formal monitoring of the </a:t>
                      </a:r>
                      <a:r>
                        <a:rPr lang="en-GB" sz="1100" dirty="0" err="1">
                          <a:latin typeface="NBS Light" panose="020B0303030303020204" pitchFamily="34" charset="0"/>
                        </a:rPr>
                        <a:t>FTM</a:t>
                      </a:r>
                      <a:r>
                        <a:rPr lang="en-GB" sz="1100" dirty="0">
                          <a:latin typeface="NBS Light" panose="020B0303030303020204" pitchFamily="34" charset="0"/>
                        </a:rPr>
                        <a:t> Service Level Agreements (SLAs). As SLAs are not being met across the majority of fraud types this increases the risk that fraudulent transactions are not being identified and resolved in a timely manner, or to the required standard for new starters, leading to potential customer detriment.</a:t>
                      </a:r>
                    </a:p>
                  </a:txBody>
                  <a:tcPr anchor="ctr"/>
                </a:tc>
                <a:tc>
                  <a:txBody>
                    <a:bodyPr/>
                    <a:lstStyle/>
                    <a:p>
                      <a:pPr algn="ctr"/>
                      <a:r>
                        <a:rPr lang="en-GB" sz="1100" dirty="0">
                          <a:latin typeface="NBS Light" panose="020B0303030303020204" pitchFamily="34" charset="0"/>
                        </a:rPr>
                        <a:t>No</a:t>
                      </a:r>
                    </a:p>
                  </a:txBody>
                  <a:tcPr/>
                </a:tc>
                <a:tc>
                  <a:txBody>
                    <a:bodyPr/>
                    <a:lstStyle/>
                    <a:p>
                      <a:r>
                        <a:rPr lang="en-GB" sz="1100" dirty="0">
                          <a:latin typeface="NBS Light" panose="020B0303030303020204" pitchFamily="34" charset="0"/>
                        </a:rPr>
                        <a:t>SAI have agreed SLAs that they have to work all AML TM alerts by and compliance with these SLAs is reported to the AML Operations Monthly Oversight meeting. </a:t>
                      </a:r>
                    </a:p>
                  </a:txBody>
                  <a:tcPr/>
                </a:tc>
                <a:extLst>
                  <a:ext uri="{0D108BD9-81ED-4DB2-BD59-A6C34878D82A}">
                    <a16:rowId xmlns:a16="http://schemas.microsoft.com/office/drawing/2014/main" val="2764102167"/>
                  </a:ext>
                </a:extLst>
              </a:tr>
              <a:tr h="649716">
                <a:tc vMerge="1">
                  <a:txBody>
                    <a:bodyPr/>
                    <a:lstStyle>
                      <a:lvl1pPr marL="0" algn="l" defTabSz="609585" rtl="0" eaLnBrk="1" latinLnBrk="0" hangingPunct="1">
                        <a:defRPr sz="2400" kern="1200">
                          <a:solidFill>
                            <a:schemeClr val="dk1"/>
                          </a:solidFill>
                          <a:latin typeface="Calibri" panose="020F0502020204030204"/>
                        </a:defRPr>
                      </a:lvl1pPr>
                      <a:lvl2pPr marL="609585" algn="l" defTabSz="609585" rtl="0" eaLnBrk="1" latinLnBrk="0" hangingPunct="1">
                        <a:defRPr sz="2400" kern="1200">
                          <a:solidFill>
                            <a:schemeClr val="dk1"/>
                          </a:solidFill>
                          <a:latin typeface="Calibri" panose="020F0502020204030204"/>
                        </a:defRPr>
                      </a:lvl2pPr>
                      <a:lvl3pPr marL="1219170" algn="l" defTabSz="609585" rtl="0" eaLnBrk="1" latinLnBrk="0" hangingPunct="1">
                        <a:defRPr sz="2400" kern="1200">
                          <a:solidFill>
                            <a:schemeClr val="dk1"/>
                          </a:solidFill>
                          <a:latin typeface="Calibri" panose="020F0502020204030204"/>
                        </a:defRPr>
                      </a:lvl3pPr>
                      <a:lvl4pPr marL="1828754" algn="l" defTabSz="609585" rtl="0" eaLnBrk="1" latinLnBrk="0" hangingPunct="1">
                        <a:defRPr sz="2400" kern="1200">
                          <a:solidFill>
                            <a:schemeClr val="dk1"/>
                          </a:solidFill>
                          <a:latin typeface="Calibri" panose="020F0502020204030204"/>
                        </a:defRPr>
                      </a:lvl4pPr>
                      <a:lvl5pPr marL="2438339" algn="l" defTabSz="609585" rtl="0" eaLnBrk="1" latinLnBrk="0" hangingPunct="1">
                        <a:defRPr sz="2400" kern="1200">
                          <a:solidFill>
                            <a:schemeClr val="dk1"/>
                          </a:solidFill>
                          <a:latin typeface="Calibri" panose="020F0502020204030204"/>
                        </a:defRPr>
                      </a:lvl5pPr>
                      <a:lvl6pPr marL="3047924" algn="l" defTabSz="609585" rtl="0" eaLnBrk="1" latinLnBrk="0" hangingPunct="1">
                        <a:defRPr sz="2400" kern="1200">
                          <a:solidFill>
                            <a:schemeClr val="dk1"/>
                          </a:solidFill>
                          <a:latin typeface="Calibri" panose="020F0502020204030204"/>
                        </a:defRPr>
                      </a:lvl6pPr>
                      <a:lvl7pPr marL="3657509" algn="l" defTabSz="609585" rtl="0" eaLnBrk="1" latinLnBrk="0" hangingPunct="1">
                        <a:defRPr sz="2400" kern="1200">
                          <a:solidFill>
                            <a:schemeClr val="dk1"/>
                          </a:solidFill>
                          <a:latin typeface="Calibri" panose="020F0502020204030204"/>
                        </a:defRPr>
                      </a:lvl7pPr>
                      <a:lvl8pPr marL="4267093" algn="l" defTabSz="609585" rtl="0" eaLnBrk="1" latinLnBrk="0" hangingPunct="1">
                        <a:defRPr sz="2400" kern="1200">
                          <a:solidFill>
                            <a:schemeClr val="dk1"/>
                          </a:solidFill>
                          <a:latin typeface="Calibri" panose="020F0502020204030204"/>
                        </a:defRPr>
                      </a:lvl8pPr>
                      <a:lvl9pPr marL="4876678" algn="l" defTabSz="609585" rtl="0" eaLnBrk="1" latinLnBrk="0" hangingPunct="1">
                        <a:defRPr sz="2400" kern="1200">
                          <a:solidFill>
                            <a:schemeClr val="dk1"/>
                          </a:solidFill>
                          <a:latin typeface="Calibri" panose="020F0502020204030204"/>
                        </a:defRPr>
                      </a:lvl9pPr>
                    </a:lstStyle>
                    <a:p>
                      <a:endParaRPr lang="en-GB" sz="1100" b="1" dirty="0">
                        <a:latin typeface="NBS Medium" panose="020B0603030303020204" pitchFamily="34" charset="0"/>
                      </a:endParaRPr>
                    </a:p>
                  </a:txBody>
                  <a:tcPr/>
                </a:tc>
                <a:tc>
                  <a:txBody>
                    <a:bodyPr/>
                    <a:lstStyle>
                      <a:lvl1pPr marL="0" algn="l" defTabSz="609585" rtl="0" eaLnBrk="1" latinLnBrk="0" hangingPunct="1">
                        <a:defRPr sz="2400" kern="1200">
                          <a:solidFill>
                            <a:schemeClr val="dk1"/>
                          </a:solidFill>
                          <a:latin typeface="Calibri" panose="020F0502020204030204"/>
                        </a:defRPr>
                      </a:lvl1pPr>
                      <a:lvl2pPr marL="609585" algn="l" defTabSz="609585" rtl="0" eaLnBrk="1" latinLnBrk="0" hangingPunct="1">
                        <a:defRPr sz="2400" kern="1200">
                          <a:solidFill>
                            <a:schemeClr val="dk1"/>
                          </a:solidFill>
                          <a:latin typeface="Calibri" panose="020F0502020204030204"/>
                        </a:defRPr>
                      </a:lvl2pPr>
                      <a:lvl3pPr marL="1219170" algn="l" defTabSz="609585" rtl="0" eaLnBrk="1" latinLnBrk="0" hangingPunct="1">
                        <a:defRPr sz="2400" kern="1200">
                          <a:solidFill>
                            <a:schemeClr val="dk1"/>
                          </a:solidFill>
                          <a:latin typeface="Calibri" panose="020F0502020204030204"/>
                        </a:defRPr>
                      </a:lvl3pPr>
                      <a:lvl4pPr marL="1828754" algn="l" defTabSz="609585" rtl="0" eaLnBrk="1" latinLnBrk="0" hangingPunct="1">
                        <a:defRPr sz="2400" kern="1200">
                          <a:solidFill>
                            <a:schemeClr val="dk1"/>
                          </a:solidFill>
                          <a:latin typeface="Calibri" panose="020F0502020204030204"/>
                        </a:defRPr>
                      </a:lvl4pPr>
                      <a:lvl5pPr marL="2438339" algn="l" defTabSz="609585" rtl="0" eaLnBrk="1" latinLnBrk="0" hangingPunct="1">
                        <a:defRPr sz="2400" kern="1200">
                          <a:solidFill>
                            <a:schemeClr val="dk1"/>
                          </a:solidFill>
                          <a:latin typeface="Calibri" panose="020F0502020204030204"/>
                        </a:defRPr>
                      </a:lvl5pPr>
                      <a:lvl6pPr marL="3047924" algn="l" defTabSz="609585" rtl="0" eaLnBrk="1" latinLnBrk="0" hangingPunct="1">
                        <a:defRPr sz="2400" kern="1200">
                          <a:solidFill>
                            <a:schemeClr val="dk1"/>
                          </a:solidFill>
                          <a:latin typeface="Calibri" panose="020F0502020204030204"/>
                        </a:defRPr>
                      </a:lvl6pPr>
                      <a:lvl7pPr marL="3657509" algn="l" defTabSz="609585" rtl="0" eaLnBrk="1" latinLnBrk="0" hangingPunct="1">
                        <a:defRPr sz="2400" kern="1200">
                          <a:solidFill>
                            <a:schemeClr val="dk1"/>
                          </a:solidFill>
                          <a:latin typeface="Calibri" panose="020F0502020204030204"/>
                        </a:defRPr>
                      </a:lvl7pPr>
                      <a:lvl8pPr marL="4267093" algn="l" defTabSz="609585" rtl="0" eaLnBrk="1" latinLnBrk="0" hangingPunct="1">
                        <a:defRPr sz="2400" kern="1200">
                          <a:solidFill>
                            <a:schemeClr val="dk1"/>
                          </a:solidFill>
                          <a:latin typeface="Calibri" panose="020F0502020204030204"/>
                        </a:defRPr>
                      </a:lvl8pPr>
                      <a:lvl9pPr marL="4876678" algn="l" defTabSz="609585" rtl="0" eaLnBrk="1" latinLnBrk="0" hangingPunct="1">
                        <a:defRPr sz="2400" kern="1200">
                          <a:solidFill>
                            <a:schemeClr val="dk1"/>
                          </a:solidFill>
                          <a:latin typeface="Calibri" panose="020F0502020204030204"/>
                        </a:defRPr>
                      </a:lvl9pPr>
                    </a:lstStyle>
                    <a:p>
                      <a:pPr marL="171450" marR="0" lvl="0" indent="-171450" algn="l" defTabSz="609585"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dirty="0"/>
                        <a:t>We saw evidence that new starters complete a suite of training, however there is no defined minimum standard of competence to ensure accurate and consistent sign off takes place when a new starter is deemed competent to work the fraud alerts. This could lead to inconsistent levels of ability and could result in new starters not being fully competent at sign off.</a:t>
                      </a:r>
                      <a:endParaRPr lang="en-GB" sz="1100" dirty="0">
                        <a:latin typeface="NBS Light" panose="020B0303030303020204" pitchFamily="34" charset="0"/>
                      </a:endParaRPr>
                    </a:p>
                  </a:txBody>
                  <a:tcPr/>
                </a:tc>
                <a:tc>
                  <a:txBody>
                    <a:bodyPr/>
                    <a:lstStyle/>
                    <a:p>
                      <a:pPr algn="ctr"/>
                      <a:r>
                        <a:rPr lang="en-GB" sz="1100" dirty="0">
                          <a:latin typeface="NBS Light" panose="020B0303030303020204" pitchFamily="34" charset="0"/>
                        </a:rPr>
                        <a:t>No</a:t>
                      </a:r>
                    </a:p>
                  </a:txBody>
                  <a:tcPr/>
                </a:tc>
                <a:tc>
                  <a:txBody>
                    <a:bodyPr/>
                    <a:lstStyle>
                      <a:lvl1pPr marL="0" algn="l" defTabSz="609585" rtl="0" eaLnBrk="1" latinLnBrk="0" hangingPunct="1">
                        <a:defRPr sz="2400" kern="1200">
                          <a:solidFill>
                            <a:schemeClr val="dk1"/>
                          </a:solidFill>
                          <a:latin typeface="Calibri" panose="020F0502020204030204"/>
                        </a:defRPr>
                      </a:lvl1pPr>
                      <a:lvl2pPr marL="609585" algn="l" defTabSz="609585" rtl="0" eaLnBrk="1" latinLnBrk="0" hangingPunct="1">
                        <a:defRPr sz="2400" kern="1200">
                          <a:solidFill>
                            <a:schemeClr val="dk1"/>
                          </a:solidFill>
                          <a:latin typeface="Calibri" panose="020F0502020204030204"/>
                        </a:defRPr>
                      </a:lvl2pPr>
                      <a:lvl3pPr marL="1219170" algn="l" defTabSz="609585" rtl="0" eaLnBrk="1" latinLnBrk="0" hangingPunct="1">
                        <a:defRPr sz="2400" kern="1200">
                          <a:solidFill>
                            <a:schemeClr val="dk1"/>
                          </a:solidFill>
                          <a:latin typeface="Calibri" panose="020F0502020204030204"/>
                        </a:defRPr>
                      </a:lvl3pPr>
                      <a:lvl4pPr marL="1828754" algn="l" defTabSz="609585" rtl="0" eaLnBrk="1" latinLnBrk="0" hangingPunct="1">
                        <a:defRPr sz="2400" kern="1200">
                          <a:solidFill>
                            <a:schemeClr val="dk1"/>
                          </a:solidFill>
                          <a:latin typeface="Calibri" panose="020F0502020204030204"/>
                        </a:defRPr>
                      </a:lvl4pPr>
                      <a:lvl5pPr marL="2438339" algn="l" defTabSz="609585" rtl="0" eaLnBrk="1" latinLnBrk="0" hangingPunct="1">
                        <a:defRPr sz="2400" kern="1200">
                          <a:solidFill>
                            <a:schemeClr val="dk1"/>
                          </a:solidFill>
                          <a:latin typeface="Calibri" panose="020F0502020204030204"/>
                        </a:defRPr>
                      </a:lvl5pPr>
                      <a:lvl6pPr marL="3047924" algn="l" defTabSz="609585" rtl="0" eaLnBrk="1" latinLnBrk="0" hangingPunct="1">
                        <a:defRPr sz="2400" kern="1200">
                          <a:solidFill>
                            <a:schemeClr val="dk1"/>
                          </a:solidFill>
                          <a:latin typeface="Calibri" panose="020F0502020204030204"/>
                        </a:defRPr>
                      </a:lvl6pPr>
                      <a:lvl7pPr marL="3657509" algn="l" defTabSz="609585" rtl="0" eaLnBrk="1" latinLnBrk="0" hangingPunct="1">
                        <a:defRPr sz="2400" kern="1200">
                          <a:solidFill>
                            <a:schemeClr val="dk1"/>
                          </a:solidFill>
                          <a:latin typeface="Calibri" panose="020F0502020204030204"/>
                        </a:defRPr>
                      </a:lvl7pPr>
                      <a:lvl8pPr marL="4267093" algn="l" defTabSz="609585" rtl="0" eaLnBrk="1" latinLnBrk="0" hangingPunct="1">
                        <a:defRPr sz="2400" kern="1200">
                          <a:solidFill>
                            <a:schemeClr val="dk1"/>
                          </a:solidFill>
                          <a:latin typeface="Calibri" panose="020F0502020204030204"/>
                        </a:defRPr>
                      </a:lvl8pPr>
                      <a:lvl9pPr marL="4876678" algn="l" defTabSz="609585" rtl="0" eaLnBrk="1" latinLnBrk="0" hangingPunct="1">
                        <a:defRPr sz="2400" kern="1200">
                          <a:solidFill>
                            <a:schemeClr val="dk1"/>
                          </a:solidFill>
                          <a:latin typeface="Calibri" panose="020F0502020204030204"/>
                        </a:defRPr>
                      </a:lvl9pPr>
                    </a:lstStyle>
                    <a:p>
                      <a:r>
                        <a:rPr lang="en-GB" sz="1100" dirty="0">
                          <a:latin typeface="NBS Light" panose="020B0303030303020204" pitchFamily="34" charset="0"/>
                        </a:rPr>
                        <a:t>As above – the AML Operations Accreditation Framework is in place to manage this risk. </a:t>
                      </a:r>
                    </a:p>
                  </a:txBody>
                  <a:tcPr/>
                </a:tc>
                <a:extLst>
                  <a:ext uri="{0D108BD9-81ED-4DB2-BD59-A6C34878D82A}">
                    <a16:rowId xmlns:a16="http://schemas.microsoft.com/office/drawing/2014/main" val="2564498466"/>
                  </a:ext>
                </a:extLst>
              </a:tr>
              <a:tr h="884040">
                <a:tc vMerge="1">
                  <a:txBody>
                    <a:bodyPr/>
                    <a:lstStyle/>
                    <a:p>
                      <a:endParaRPr lang="en-GB"/>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dirty="0"/>
                        <a:t>We reviewed a sample of cases to confirm the adequacy of investigation carried out with sufficient rationale, the correct outcome recorded and appropriate actions taken. Overall, we found 10 out of 40 (25%) of the cases in our sample did not meet one or more of these criteria. This confirmed that not all alerts fired by transaction monitoring rules are being actioned in line with relevant internal control standards and insufficient evidence is retained to support the outcome of the investigation.</a:t>
                      </a:r>
                      <a:endParaRPr lang="en-GB" sz="1100" dirty="0">
                        <a:latin typeface="NBS Light" panose="020B0303030303020204" pitchFamily="34" charset="0"/>
                      </a:endParaRPr>
                    </a:p>
                  </a:txBody>
                  <a:tcPr/>
                </a:tc>
                <a:tc>
                  <a:txBody>
                    <a:bodyPr/>
                    <a:lstStyle/>
                    <a:p>
                      <a:pPr algn="ctr"/>
                      <a:r>
                        <a:rPr lang="en-GB" sz="1100" dirty="0">
                          <a:latin typeface="NBS Light" panose="020B0303030303020204" pitchFamily="34" charset="0"/>
                        </a:rPr>
                        <a:t>No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latin typeface="NBS Light" panose="020B0303030303020204" pitchFamily="34" charset="0"/>
                        </a:rPr>
                        <a:t>As above – the AML Operations Accreditation Framework is in place to manage this risk. </a:t>
                      </a:r>
                    </a:p>
                    <a:p>
                      <a:endParaRPr lang="en-GB" sz="1100" dirty="0">
                        <a:latin typeface="NBS Light" panose="020B0303030303020204" pitchFamily="34" charset="0"/>
                      </a:endParaRPr>
                    </a:p>
                  </a:txBody>
                  <a:tcPr/>
                </a:tc>
                <a:extLst>
                  <a:ext uri="{0D108BD9-81ED-4DB2-BD59-A6C34878D82A}">
                    <a16:rowId xmlns:a16="http://schemas.microsoft.com/office/drawing/2014/main" val="2989499274"/>
                  </a:ext>
                </a:extLst>
              </a:tr>
            </a:tbl>
          </a:graphicData>
        </a:graphic>
      </p:graphicFrame>
    </p:spTree>
    <p:extLst>
      <p:ext uri="{BB962C8B-B14F-4D97-AF65-F5344CB8AC3E}">
        <p14:creationId xmlns:p14="http://schemas.microsoft.com/office/powerpoint/2010/main" val="35273014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B677B79-D815-4E3A-9CB1-94373A757E09}"/>
              </a:ext>
            </a:extLst>
          </p:cNvPr>
          <p:cNvSpPr txBox="1">
            <a:spLocks/>
          </p:cNvSpPr>
          <p:nvPr/>
        </p:nvSpPr>
        <p:spPr>
          <a:xfrm>
            <a:off x="436459" y="394269"/>
            <a:ext cx="11644891" cy="40075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chemeClr val="accent1">
                    <a:lumMod val="75000"/>
                  </a:schemeClr>
                </a:solidFill>
                <a:latin typeface="Elephant" panose="02020904090505020303" pitchFamily="18" charset="0"/>
              </a:rPr>
              <a:t>Transaction Monitoring – Fraud TM Audit</a:t>
            </a:r>
          </a:p>
          <a:p>
            <a:pPr algn="l"/>
            <a:r>
              <a:rPr lang="en-US" sz="1400" dirty="0">
                <a:solidFill>
                  <a:schemeClr val="accent1">
                    <a:lumMod val="75000"/>
                  </a:schemeClr>
                </a:solidFill>
                <a:latin typeface="NBS Medium" panose="020B0603030303020204" pitchFamily="34" charset="0"/>
              </a:rPr>
              <a:t> </a:t>
            </a:r>
            <a:r>
              <a:rPr lang="en-US" sz="1400" i="1" dirty="0">
                <a:solidFill>
                  <a:srgbClr val="C00000"/>
                </a:solidFill>
                <a:latin typeface="NBS Medium" panose="020B0603030303020204" pitchFamily="34" charset="0"/>
              </a:rPr>
              <a:t>Internal Audit completed a Fraud TM Audit in 2020, these slides provide an overview of their findings and a gap analysis against current AML TM controls</a:t>
            </a:r>
          </a:p>
        </p:txBody>
      </p:sp>
      <p:grpSp>
        <p:nvGrpSpPr>
          <p:cNvPr id="5" name="Group 4">
            <a:extLst>
              <a:ext uri="{FF2B5EF4-FFF2-40B4-BE49-F238E27FC236}">
                <a16:creationId xmlns:a16="http://schemas.microsoft.com/office/drawing/2014/main" id="{5284B8A0-74D6-4365-A6BA-D4F05632A280}"/>
              </a:ext>
            </a:extLst>
          </p:cNvPr>
          <p:cNvGrpSpPr/>
          <p:nvPr/>
        </p:nvGrpSpPr>
        <p:grpSpPr>
          <a:xfrm>
            <a:off x="10750335" y="154705"/>
            <a:ext cx="1005206" cy="479127"/>
            <a:chOff x="3236913" y="913342"/>
            <a:chExt cx="1740428" cy="712845"/>
          </a:xfrm>
        </p:grpSpPr>
        <p:pic>
          <p:nvPicPr>
            <p:cNvPr id="6" name="Picture 5" descr="Nationwide BS Logo sRGB.png">
              <a:extLst>
                <a:ext uri="{FF2B5EF4-FFF2-40B4-BE49-F238E27FC236}">
                  <a16:creationId xmlns:a16="http://schemas.microsoft.com/office/drawing/2014/main" id="{598163EF-A963-4813-89C2-CA4D92C11B1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938" t="18020" r="9268" b="14259"/>
            <a:stretch/>
          </p:blipFill>
          <p:spPr>
            <a:xfrm>
              <a:off x="3236913" y="913342"/>
              <a:ext cx="1740428" cy="712845"/>
            </a:xfrm>
            <a:prstGeom prst="rect">
              <a:avLst/>
            </a:prstGeom>
          </p:spPr>
        </p:pic>
        <p:sp>
          <p:nvSpPr>
            <p:cNvPr id="7" name="Rounded Rectangle 16">
              <a:extLst>
                <a:ext uri="{FF2B5EF4-FFF2-40B4-BE49-F238E27FC236}">
                  <a16:creationId xmlns:a16="http://schemas.microsoft.com/office/drawing/2014/main" id="{68DFDBB6-6377-4867-BB60-D58D700A5F2E}"/>
                </a:ext>
              </a:extLst>
            </p:cNvPr>
            <p:cNvSpPr/>
            <p:nvPr/>
          </p:nvSpPr>
          <p:spPr>
            <a:xfrm>
              <a:off x="3249341" y="919691"/>
              <a:ext cx="1728000" cy="480613"/>
            </a:xfrm>
            <a:prstGeom prst="roundRect">
              <a:avLst>
                <a:gd name="adj" fmla="val 13275"/>
              </a:avLst>
            </a:prstGeom>
            <a:noFill/>
            <a:ln w="6350" cap="flat" cmpd="sng" algn="ctr">
              <a:solidFill>
                <a:sysClr val="window" lastClr="FFFFFF"/>
              </a:solidFill>
              <a:prstDash val="solid"/>
            </a:ln>
            <a:effectLst/>
          </p:spPr>
          <p:txBody>
            <a:bodyPr rtlCol="0" anchor="ctr"/>
            <a:lstStyle/>
            <a:p>
              <a:pPr algn="ctr" defTabSz="257175">
                <a:defRPr/>
              </a:pPr>
              <a:endParaRPr lang="en-US" sz="1013" kern="0" dirty="0">
                <a:solidFill>
                  <a:prstClr val="white"/>
                </a:solidFill>
                <a:latin typeface="Calibri"/>
              </a:endParaRPr>
            </a:p>
          </p:txBody>
        </p:sp>
      </p:grpSp>
      <p:graphicFrame>
        <p:nvGraphicFramePr>
          <p:cNvPr id="8" name="Table 4">
            <a:extLst>
              <a:ext uri="{FF2B5EF4-FFF2-40B4-BE49-F238E27FC236}">
                <a16:creationId xmlns:a16="http://schemas.microsoft.com/office/drawing/2014/main" id="{0FDF34E0-2B19-4698-8CE0-47220384679B}"/>
              </a:ext>
            </a:extLst>
          </p:cNvPr>
          <p:cNvGraphicFramePr>
            <a:graphicFrameLocks noGrp="1"/>
          </p:cNvGraphicFramePr>
          <p:nvPr>
            <p:extLst>
              <p:ext uri="{D42A27DB-BD31-4B8C-83A1-F6EECF244321}">
                <p14:modId xmlns:p14="http://schemas.microsoft.com/office/powerpoint/2010/main" val="4181529429"/>
              </p:ext>
            </p:extLst>
          </p:nvPr>
        </p:nvGraphicFramePr>
        <p:xfrm>
          <a:off x="490537" y="869129"/>
          <a:ext cx="11210926" cy="6004560"/>
        </p:xfrm>
        <a:graphic>
          <a:graphicData uri="http://schemas.openxmlformats.org/drawingml/2006/table">
            <a:tbl>
              <a:tblPr firstRow="1" bandRow="1">
                <a:tableStyleId>{69012ECD-51FC-41F1-AA8D-1B2483CD663E}</a:tableStyleId>
              </a:tblPr>
              <a:tblGrid>
                <a:gridCol w="1904265">
                  <a:extLst>
                    <a:ext uri="{9D8B030D-6E8A-4147-A177-3AD203B41FA5}">
                      <a16:colId xmlns:a16="http://schemas.microsoft.com/office/drawing/2014/main" val="1287290681"/>
                    </a:ext>
                  </a:extLst>
                </a:gridCol>
                <a:gridCol w="5444505">
                  <a:extLst>
                    <a:ext uri="{9D8B030D-6E8A-4147-A177-3AD203B41FA5}">
                      <a16:colId xmlns:a16="http://schemas.microsoft.com/office/drawing/2014/main" val="4206382353"/>
                    </a:ext>
                  </a:extLst>
                </a:gridCol>
                <a:gridCol w="758283">
                  <a:extLst>
                    <a:ext uri="{9D8B030D-6E8A-4147-A177-3AD203B41FA5}">
                      <a16:colId xmlns:a16="http://schemas.microsoft.com/office/drawing/2014/main" val="4072100215"/>
                    </a:ext>
                  </a:extLst>
                </a:gridCol>
                <a:gridCol w="3103873">
                  <a:extLst>
                    <a:ext uri="{9D8B030D-6E8A-4147-A177-3AD203B41FA5}">
                      <a16:colId xmlns:a16="http://schemas.microsoft.com/office/drawing/2014/main" val="915168363"/>
                    </a:ext>
                  </a:extLst>
                </a:gridCol>
              </a:tblGrid>
              <a:tr h="230562">
                <a:tc>
                  <a:txBody>
                    <a:bodyPr/>
                    <a:lstStyle>
                      <a:lvl1pPr marL="0" algn="l" defTabSz="609585" rtl="0" eaLnBrk="1" latinLnBrk="0" hangingPunct="1">
                        <a:defRPr sz="2400" b="1" kern="1200">
                          <a:solidFill>
                            <a:schemeClr val="dk1"/>
                          </a:solidFill>
                          <a:latin typeface="Calibri" panose="020F0502020204030204"/>
                        </a:defRPr>
                      </a:lvl1pPr>
                      <a:lvl2pPr marL="609585" algn="l" defTabSz="609585" rtl="0" eaLnBrk="1" latinLnBrk="0" hangingPunct="1">
                        <a:defRPr sz="2400" b="1" kern="1200">
                          <a:solidFill>
                            <a:schemeClr val="dk1"/>
                          </a:solidFill>
                          <a:latin typeface="Calibri" panose="020F0502020204030204"/>
                        </a:defRPr>
                      </a:lvl2pPr>
                      <a:lvl3pPr marL="1219170" algn="l" defTabSz="609585" rtl="0" eaLnBrk="1" latinLnBrk="0" hangingPunct="1">
                        <a:defRPr sz="2400" b="1" kern="1200">
                          <a:solidFill>
                            <a:schemeClr val="dk1"/>
                          </a:solidFill>
                          <a:latin typeface="Calibri" panose="020F0502020204030204"/>
                        </a:defRPr>
                      </a:lvl3pPr>
                      <a:lvl4pPr marL="1828754" algn="l" defTabSz="609585" rtl="0" eaLnBrk="1" latinLnBrk="0" hangingPunct="1">
                        <a:defRPr sz="2400" b="1" kern="1200">
                          <a:solidFill>
                            <a:schemeClr val="dk1"/>
                          </a:solidFill>
                          <a:latin typeface="Calibri" panose="020F0502020204030204"/>
                        </a:defRPr>
                      </a:lvl4pPr>
                      <a:lvl5pPr marL="2438339" algn="l" defTabSz="609585" rtl="0" eaLnBrk="1" latinLnBrk="0" hangingPunct="1">
                        <a:defRPr sz="2400" b="1" kern="1200">
                          <a:solidFill>
                            <a:schemeClr val="dk1"/>
                          </a:solidFill>
                          <a:latin typeface="Calibri" panose="020F0502020204030204"/>
                        </a:defRPr>
                      </a:lvl5pPr>
                      <a:lvl6pPr marL="3047924" algn="l" defTabSz="609585" rtl="0" eaLnBrk="1" latinLnBrk="0" hangingPunct="1">
                        <a:defRPr sz="2400" b="1" kern="1200">
                          <a:solidFill>
                            <a:schemeClr val="dk1"/>
                          </a:solidFill>
                          <a:latin typeface="Calibri" panose="020F0502020204030204"/>
                        </a:defRPr>
                      </a:lvl6pPr>
                      <a:lvl7pPr marL="3657509" algn="l" defTabSz="609585" rtl="0" eaLnBrk="1" latinLnBrk="0" hangingPunct="1">
                        <a:defRPr sz="2400" b="1" kern="1200">
                          <a:solidFill>
                            <a:schemeClr val="dk1"/>
                          </a:solidFill>
                          <a:latin typeface="Calibri" panose="020F0502020204030204"/>
                        </a:defRPr>
                      </a:lvl7pPr>
                      <a:lvl8pPr marL="4267093" algn="l" defTabSz="609585" rtl="0" eaLnBrk="1" latinLnBrk="0" hangingPunct="1">
                        <a:defRPr sz="2400" b="1" kern="1200">
                          <a:solidFill>
                            <a:schemeClr val="dk1"/>
                          </a:solidFill>
                          <a:latin typeface="Calibri" panose="020F0502020204030204"/>
                        </a:defRPr>
                      </a:lvl8pPr>
                      <a:lvl9pPr marL="4876678" algn="l" defTabSz="609585" rtl="0" eaLnBrk="1" latinLnBrk="0" hangingPunct="1">
                        <a:defRPr sz="2400" b="1" kern="1200">
                          <a:solidFill>
                            <a:schemeClr val="dk1"/>
                          </a:solidFill>
                          <a:latin typeface="Calibri" panose="020F0502020204030204"/>
                        </a:defRPr>
                      </a:lvl9pPr>
                    </a:lstStyle>
                    <a:p>
                      <a:r>
                        <a:rPr lang="en-GB" sz="1200" dirty="0">
                          <a:solidFill>
                            <a:schemeClr val="bg1"/>
                          </a:solidFill>
                          <a:latin typeface="NBS Medium" panose="020B0603030303020204" pitchFamily="34" charset="0"/>
                        </a:rPr>
                        <a:t>Issues</a:t>
                      </a:r>
                    </a:p>
                  </a:txBody>
                  <a:tcPr/>
                </a:tc>
                <a:tc>
                  <a:txBody>
                    <a:bodyPr/>
                    <a:lstStyle>
                      <a:lvl1pPr marL="0" algn="l" defTabSz="609585" rtl="0" eaLnBrk="1" latinLnBrk="0" hangingPunct="1">
                        <a:defRPr sz="2400" b="1" kern="1200">
                          <a:solidFill>
                            <a:schemeClr val="dk1"/>
                          </a:solidFill>
                          <a:latin typeface="Calibri" panose="020F0502020204030204"/>
                        </a:defRPr>
                      </a:lvl1pPr>
                      <a:lvl2pPr marL="609585" algn="l" defTabSz="609585" rtl="0" eaLnBrk="1" latinLnBrk="0" hangingPunct="1">
                        <a:defRPr sz="2400" b="1" kern="1200">
                          <a:solidFill>
                            <a:schemeClr val="dk1"/>
                          </a:solidFill>
                          <a:latin typeface="Calibri" panose="020F0502020204030204"/>
                        </a:defRPr>
                      </a:lvl2pPr>
                      <a:lvl3pPr marL="1219170" algn="l" defTabSz="609585" rtl="0" eaLnBrk="1" latinLnBrk="0" hangingPunct="1">
                        <a:defRPr sz="2400" b="1" kern="1200">
                          <a:solidFill>
                            <a:schemeClr val="dk1"/>
                          </a:solidFill>
                          <a:latin typeface="Calibri" panose="020F0502020204030204"/>
                        </a:defRPr>
                      </a:lvl3pPr>
                      <a:lvl4pPr marL="1828754" algn="l" defTabSz="609585" rtl="0" eaLnBrk="1" latinLnBrk="0" hangingPunct="1">
                        <a:defRPr sz="2400" b="1" kern="1200">
                          <a:solidFill>
                            <a:schemeClr val="dk1"/>
                          </a:solidFill>
                          <a:latin typeface="Calibri" panose="020F0502020204030204"/>
                        </a:defRPr>
                      </a:lvl4pPr>
                      <a:lvl5pPr marL="2438339" algn="l" defTabSz="609585" rtl="0" eaLnBrk="1" latinLnBrk="0" hangingPunct="1">
                        <a:defRPr sz="2400" b="1" kern="1200">
                          <a:solidFill>
                            <a:schemeClr val="dk1"/>
                          </a:solidFill>
                          <a:latin typeface="Calibri" panose="020F0502020204030204"/>
                        </a:defRPr>
                      </a:lvl5pPr>
                      <a:lvl6pPr marL="3047924" algn="l" defTabSz="609585" rtl="0" eaLnBrk="1" latinLnBrk="0" hangingPunct="1">
                        <a:defRPr sz="2400" b="1" kern="1200">
                          <a:solidFill>
                            <a:schemeClr val="dk1"/>
                          </a:solidFill>
                          <a:latin typeface="Calibri" panose="020F0502020204030204"/>
                        </a:defRPr>
                      </a:lvl6pPr>
                      <a:lvl7pPr marL="3657509" algn="l" defTabSz="609585" rtl="0" eaLnBrk="1" latinLnBrk="0" hangingPunct="1">
                        <a:defRPr sz="2400" b="1" kern="1200">
                          <a:solidFill>
                            <a:schemeClr val="dk1"/>
                          </a:solidFill>
                          <a:latin typeface="Calibri" panose="020F0502020204030204"/>
                        </a:defRPr>
                      </a:lvl7pPr>
                      <a:lvl8pPr marL="4267093" algn="l" defTabSz="609585" rtl="0" eaLnBrk="1" latinLnBrk="0" hangingPunct="1">
                        <a:defRPr sz="2400" b="1" kern="1200">
                          <a:solidFill>
                            <a:schemeClr val="dk1"/>
                          </a:solidFill>
                          <a:latin typeface="Calibri" panose="020F0502020204030204"/>
                        </a:defRPr>
                      </a:lvl8pPr>
                      <a:lvl9pPr marL="4876678" algn="l" defTabSz="609585" rtl="0" eaLnBrk="1" latinLnBrk="0" hangingPunct="1">
                        <a:defRPr sz="2400" b="1" kern="1200">
                          <a:solidFill>
                            <a:schemeClr val="dk1"/>
                          </a:solidFill>
                          <a:latin typeface="Calibri" panose="020F0502020204030204"/>
                        </a:defRPr>
                      </a:lvl9pPr>
                    </a:lstStyle>
                    <a:p>
                      <a:r>
                        <a:rPr lang="en-GB" sz="1200" dirty="0">
                          <a:solidFill>
                            <a:schemeClr val="bg1"/>
                          </a:solidFill>
                          <a:latin typeface="NBS Medium" panose="020B0603030303020204" pitchFamily="34" charset="0"/>
                        </a:rPr>
                        <a:t>Issue Detail </a:t>
                      </a:r>
                    </a:p>
                  </a:txBody>
                  <a:tcPr/>
                </a:tc>
                <a:tc>
                  <a:txBody>
                    <a:bodyPr/>
                    <a:lstStyle/>
                    <a:p>
                      <a:r>
                        <a:rPr lang="en-GB" sz="1200" b="1" dirty="0">
                          <a:solidFill>
                            <a:schemeClr val="bg1"/>
                          </a:solidFill>
                          <a:latin typeface="NBS Medium" panose="020B0603030303020204" pitchFamily="34" charset="0"/>
                        </a:rPr>
                        <a:t>AML Gap</a:t>
                      </a:r>
                    </a:p>
                  </a:txBody>
                  <a:tcPr/>
                </a:tc>
                <a:tc>
                  <a:txBody>
                    <a:bodyPr/>
                    <a:lstStyle>
                      <a:lvl1pPr marL="0" algn="l" defTabSz="609585" rtl="0" eaLnBrk="1" latinLnBrk="0" hangingPunct="1">
                        <a:defRPr sz="2400" b="1" kern="1200">
                          <a:solidFill>
                            <a:schemeClr val="dk1"/>
                          </a:solidFill>
                          <a:latin typeface="Calibri" panose="020F0502020204030204"/>
                        </a:defRPr>
                      </a:lvl1pPr>
                      <a:lvl2pPr marL="609585" algn="l" defTabSz="609585" rtl="0" eaLnBrk="1" latinLnBrk="0" hangingPunct="1">
                        <a:defRPr sz="2400" b="1" kern="1200">
                          <a:solidFill>
                            <a:schemeClr val="dk1"/>
                          </a:solidFill>
                          <a:latin typeface="Calibri" panose="020F0502020204030204"/>
                        </a:defRPr>
                      </a:lvl2pPr>
                      <a:lvl3pPr marL="1219170" algn="l" defTabSz="609585" rtl="0" eaLnBrk="1" latinLnBrk="0" hangingPunct="1">
                        <a:defRPr sz="2400" b="1" kern="1200">
                          <a:solidFill>
                            <a:schemeClr val="dk1"/>
                          </a:solidFill>
                          <a:latin typeface="Calibri" panose="020F0502020204030204"/>
                        </a:defRPr>
                      </a:lvl3pPr>
                      <a:lvl4pPr marL="1828754" algn="l" defTabSz="609585" rtl="0" eaLnBrk="1" latinLnBrk="0" hangingPunct="1">
                        <a:defRPr sz="2400" b="1" kern="1200">
                          <a:solidFill>
                            <a:schemeClr val="dk1"/>
                          </a:solidFill>
                          <a:latin typeface="Calibri" panose="020F0502020204030204"/>
                        </a:defRPr>
                      </a:lvl4pPr>
                      <a:lvl5pPr marL="2438339" algn="l" defTabSz="609585" rtl="0" eaLnBrk="1" latinLnBrk="0" hangingPunct="1">
                        <a:defRPr sz="2400" b="1" kern="1200">
                          <a:solidFill>
                            <a:schemeClr val="dk1"/>
                          </a:solidFill>
                          <a:latin typeface="Calibri" panose="020F0502020204030204"/>
                        </a:defRPr>
                      </a:lvl5pPr>
                      <a:lvl6pPr marL="3047924" algn="l" defTabSz="609585" rtl="0" eaLnBrk="1" latinLnBrk="0" hangingPunct="1">
                        <a:defRPr sz="2400" b="1" kern="1200">
                          <a:solidFill>
                            <a:schemeClr val="dk1"/>
                          </a:solidFill>
                          <a:latin typeface="Calibri" panose="020F0502020204030204"/>
                        </a:defRPr>
                      </a:lvl6pPr>
                      <a:lvl7pPr marL="3657509" algn="l" defTabSz="609585" rtl="0" eaLnBrk="1" latinLnBrk="0" hangingPunct="1">
                        <a:defRPr sz="2400" b="1" kern="1200">
                          <a:solidFill>
                            <a:schemeClr val="dk1"/>
                          </a:solidFill>
                          <a:latin typeface="Calibri" panose="020F0502020204030204"/>
                        </a:defRPr>
                      </a:lvl7pPr>
                      <a:lvl8pPr marL="4267093" algn="l" defTabSz="609585" rtl="0" eaLnBrk="1" latinLnBrk="0" hangingPunct="1">
                        <a:defRPr sz="2400" b="1" kern="1200">
                          <a:solidFill>
                            <a:schemeClr val="dk1"/>
                          </a:solidFill>
                          <a:latin typeface="Calibri" panose="020F0502020204030204"/>
                        </a:defRPr>
                      </a:lvl8pPr>
                      <a:lvl9pPr marL="4876678" algn="l" defTabSz="609585" rtl="0" eaLnBrk="1" latinLnBrk="0" hangingPunct="1">
                        <a:defRPr sz="2400" b="1" kern="1200">
                          <a:solidFill>
                            <a:schemeClr val="dk1"/>
                          </a:solidFill>
                          <a:latin typeface="Calibri" panose="020F0502020204030204"/>
                        </a:defRPr>
                      </a:lvl9pPr>
                    </a:lstStyle>
                    <a:p>
                      <a:r>
                        <a:rPr lang="en-GB" sz="1200" dirty="0">
                          <a:solidFill>
                            <a:schemeClr val="bg1"/>
                          </a:solidFill>
                          <a:latin typeface="NBS Medium" panose="020B0603030303020204" pitchFamily="34" charset="0"/>
                        </a:rPr>
                        <a:t>Actions in Place to Address Gaps</a:t>
                      </a:r>
                    </a:p>
                  </a:txBody>
                  <a:tcPr/>
                </a:tc>
                <a:extLst>
                  <a:ext uri="{0D108BD9-81ED-4DB2-BD59-A6C34878D82A}">
                    <a16:rowId xmlns:a16="http://schemas.microsoft.com/office/drawing/2014/main" val="2397372165"/>
                  </a:ext>
                </a:extLst>
              </a:tr>
              <a:tr h="2074725">
                <a:tc>
                  <a:txBody>
                    <a:bodyPr/>
                    <a:lstStyle>
                      <a:lvl1pPr marL="0" algn="l" defTabSz="609585" rtl="0" eaLnBrk="1" latinLnBrk="0" hangingPunct="1">
                        <a:defRPr sz="2400" kern="1200">
                          <a:solidFill>
                            <a:schemeClr val="dk1"/>
                          </a:solidFill>
                          <a:latin typeface="Calibri" panose="020F0502020204030204"/>
                        </a:defRPr>
                      </a:lvl1pPr>
                      <a:lvl2pPr marL="609585" algn="l" defTabSz="609585" rtl="0" eaLnBrk="1" latinLnBrk="0" hangingPunct="1">
                        <a:defRPr sz="2400" kern="1200">
                          <a:solidFill>
                            <a:schemeClr val="dk1"/>
                          </a:solidFill>
                          <a:latin typeface="Calibri" panose="020F0502020204030204"/>
                        </a:defRPr>
                      </a:lvl2pPr>
                      <a:lvl3pPr marL="1219170" algn="l" defTabSz="609585" rtl="0" eaLnBrk="1" latinLnBrk="0" hangingPunct="1">
                        <a:defRPr sz="2400" kern="1200">
                          <a:solidFill>
                            <a:schemeClr val="dk1"/>
                          </a:solidFill>
                          <a:latin typeface="Calibri" panose="020F0502020204030204"/>
                        </a:defRPr>
                      </a:lvl3pPr>
                      <a:lvl4pPr marL="1828754" algn="l" defTabSz="609585" rtl="0" eaLnBrk="1" latinLnBrk="0" hangingPunct="1">
                        <a:defRPr sz="2400" kern="1200">
                          <a:solidFill>
                            <a:schemeClr val="dk1"/>
                          </a:solidFill>
                          <a:latin typeface="Calibri" panose="020F0502020204030204"/>
                        </a:defRPr>
                      </a:lvl4pPr>
                      <a:lvl5pPr marL="2438339" algn="l" defTabSz="609585" rtl="0" eaLnBrk="1" latinLnBrk="0" hangingPunct="1">
                        <a:defRPr sz="2400" kern="1200">
                          <a:solidFill>
                            <a:schemeClr val="dk1"/>
                          </a:solidFill>
                          <a:latin typeface="Calibri" panose="020F0502020204030204"/>
                        </a:defRPr>
                      </a:lvl5pPr>
                      <a:lvl6pPr marL="3047924" algn="l" defTabSz="609585" rtl="0" eaLnBrk="1" latinLnBrk="0" hangingPunct="1">
                        <a:defRPr sz="2400" kern="1200">
                          <a:solidFill>
                            <a:schemeClr val="dk1"/>
                          </a:solidFill>
                          <a:latin typeface="Calibri" panose="020F0502020204030204"/>
                        </a:defRPr>
                      </a:lvl6pPr>
                      <a:lvl7pPr marL="3657509" algn="l" defTabSz="609585" rtl="0" eaLnBrk="1" latinLnBrk="0" hangingPunct="1">
                        <a:defRPr sz="2400" kern="1200">
                          <a:solidFill>
                            <a:schemeClr val="dk1"/>
                          </a:solidFill>
                          <a:latin typeface="Calibri" panose="020F0502020204030204"/>
                        </a:defRPr>
                      </a:lvl7pPr>
                      <a:lvl8pPr marL="4267093" algn="l" defTabSz="609585" rtl="0" eaLnBrk="1" latinLnBrk="0" hangingPunct="1">
                        <a:defRPr sz="2400" kern="1200">
                          <a:solidFill>
                            <a:schemeClr val="dk1"/>
                          </a:solidFill>
                          <a:latin typeface="Calibri" panose="020F0502020204030204"/>
                        </a:defRPr>
                      </a:lvl8pPr>
                      <a:lvl9pPr marL="4876678" algn="l" defTabSz="609585" rtl="0" eaLnBrk="1" latinLnBrk="0" hangingPunct="1">
                        <a:defRPr sz="2400" kern="1200">
                          <a:solidFill>
                            <a:schemeClr val="dk1"/>
                          </a:solidFill>
                          <a:latin typeface="Calibri" panose="020F0502020204030204"/>
                        </a:defRPr>
                      </a:lvl9pPr>
                    </a:lstStyle>
                    <a:p>
                      <a:r>
                        <a:rPr lang="en-GB" sz="1100" b="1" dirty="0">
                          <a:latin typeface="NBS Medium" panose="020B0603030303020204" pitchFamily="34" charset="0"/>
                        </a:rPr>
                        <a:t>Fraud rule change control require improvement </a:t>
                      </a:r>
                    </a:p>
                  </a:txBody>
                  <a:tcPr/>
                </a:tc>
                <a:tc>
                  <a:txBody>
                    <a:bodyPr/>
                    <a:lstStyle>
                      <a:lvl1pPr marL="0" algn="l" defTabSz="609585" rtl="0" eaLnBrk="1" latinLnBrk="0" hangingPunct="1">
                        <a:defRPr sz="2400" kern="1200">
                          <a:solidFill>
                            <a:schemeClr val="dk1"/>
                          </a:solidFill>
                          <a:latin typeface="Calibri" panose="020F0502020204030204"/>
                        </a:defRPr>
                      </a:lvl1pPr>
                      <a:lvl2pPr marL="609585" algn="l" defTabSz="609585" rtl="0" eaLnBrk="1" latinLnBrk="0" hangingPunct="1">
                        <a:defRPr sz="2400" kern="1200">
                          <a:solidFill>
                            <a:schemeClr val="dk1"/>
                          </a:solidFill>
                          <a:latin typeface="Calibri" panose="020F0502020204030204"/>
                        </a:defRPr>
                      </a:lvl2pPr>
                      <a:lvl3pPr marL="1219170" algn="l" defTabSz="609585" rtl="0" eaLnBrk="1" latinLnBrk="0" hangingPunct="1">
                        <a:defRPr sz="2400" kern="1200">
                          <a:solidFill>
                            <a:schemeClr val="dk1"/>
                          </a:solidFill>
                          <a:latin typeface="Calibri" panose="020F0502020204030204"/>
                        </a:defRPr>
                      </a:lvl3pPr>
                      <a:lvl4pPr marL="1828754" algn="l" defTabSz="609585" rtl="0" eaLnBrk="1" latinLnBrk="0" hangingPunct="1">
                        <a:defRPr sz="2400" kern="1200">
                          <a:solidFill>
                            <a:schemeClr val="dk1"/>
                          </a:solidFill>
                          <a:latin typeface="Calibri" panose="020F0502020204030204"/>
                        </a:defRPr>
                      </a:lvl4pPr>
                      <a:lvl5pPr marL="2438339" algn="l" defTabSz="609585" rtl="0" eaLnBrk="1" latinLnBrk="0" hangingPunct="1">
                        <a:defRPr sz="2400" kern="1200">
                          <a:solidFill>
                            <a:schemeClr val="dk1"/>
                          </a:solidFill>
                          <a:latin typeface="Calibri" panose="020F0502020204030204"/>
                        </a:defRPr>
                      </a:lvl5pPr>
                      <a:lvl6pPr marL="3047924" algn="l" defTabSz="609585" rtl="0" eaLnBrk="1" latinLnBrk="0" hangingPunct="1">
                        <a:defRPr sz="2400" kern="1200">
                          <a:solidFill>
                            <a:schemeClr val="dk1"/>
                          </a:solidFill>
                          <a:latin typeface="Calibri" panose="020F0502020204030204"/>
                        </a:defRPr>
                      </a:lvl6pPr>
                      <a:lvl7pPr marL="3657509" algn="l" defTabSz="609585" rtl="0" eaLnBrk="1" latinLnBrk="0" hangingPunct="1">
                        <a:defRPr sz="2400" kern="1200">
                          <a:solidFill>
                            <a:schemeClr val="dk1"/>
                          </a:solidFill>
                          <a:latin typeface="Calibri" panose="020F0502020204030204"/>
                        </a:defRPr>
                      </a:lvl7pPr>
                      <a:lvl8pPr marL="4267093" algn="l" defTabSz="609585" rtl="0" eaLnBrk="1" latinLnBrk="0" hangingPunct="1">
                        <a:defRPr sz="2400" kern="1200">
                          <a:solidFill>
                            <a:schemeClr val="dk1"/>
                          </a:solidFill>
                          <a:latin typeface="Calibri" panose="020F0502020204030204"/>
                        </a:defRPr>
                      </a:lvl8pPr>
                      <a:lvl9pPr marL="4876678" algn="l" defTabSz="609585" rtl="0" eaLnBrk="1" latinLnBrk="0" hangingPunct="1">
                        <a:defRPr sz="2400" kern="1200">
                          <a:solidFill>
                            <a:schemeClr val="dk1"/>
                          </a:solidFill>
                          <a:latin typeface="Calibri" panose="020F0502020204030204"/>
                        </a:defRPr>
                      </a:lvl9pPr>
                    </a:lstStyle>
                    <a:p>
                      <a:pPr marL="171450" indent="-171450">
                        <a:buFont typeface="Arial" panose="020B0604020202020204" pitchFamily="34" charset="0"/>
                        <a:buChar char="•"/>
                      </a:pPr>
                      <a:r>
                        <a:rPr lang="en-GB" sz="1100" dirty="0">
                          <a:latin typeface="NBS Light" panose="020B0303030303020204" pitchFamily="34" charset="0"/>
                        </a:rPr>
                        <a:t>Rules are developed by Fraud Analytics consultants and deployed following a peer review (four-eyes check) and independent approval by the Financial Crime Technology team in Enterprise Risk Strategy. However, we identified that the peer review is not system-enforced meaning that the rules can be coded and deployed by one individual without segregation and oversight. This may be acceptable, where rule changes need an immediate response, due to a change in fraud trends, but there is no audit trail and therefore no reconciliation checks are possible. </a:t>
                      </a:r>
                    </a:p>
                    <a:p>
                      <a:pPr marL="171450" indent="-171450">
                        <a:buFont typeface="Arial" panose="020B0604020202020204" pitchFamily="34" charset="0"/>
                        <a:buChar char="•"/>
                      </a:pPr>
                      <a:r>
                        <a:rPr lang="en-GB" sz="1100" dirty="0">
                          <a:latin typeface="NBS Light" panose="020B0303030303020204" pitchFamily="34" charset="0"/>
                        </a:rPr>
                        <a:t>Additionally, super-user access monitoring is not in place for </a:t>
                      </a:r>
                      <a:r>
                        <a:rPr lang="en-GB" sz="1100" dirty="0" err="1">
                          <a:latin typeface="NBS Light" panose="020B0303030303020204" pitchFamily="34" charset="0"/>
                        </a:rPr>
                        <a:t>PRM</a:t>
                      </a:r>
                      <a:r>
                        <a:rPr lang="en-GB" sz="1100" dirty="0">
                          <a:latin typeface="NBS Light" panose="020B0303030303020204" pitchFamily="34" charset="0"/>
                        </a:rPr>
                        <a:t> or Actimize. The system activity logs are not reviewed to confirm that all changes to application rules and logic are made by valid users, meaning that unexpected changes cannot be traced to an individual user. </a:t>
                      </a:r>
                    </a:p>
                    <a:p>
                      <a:pPr marL="171450" indent="-171450">
                        <a:buFont typeface="Arial" panose="020B0604020202020204" pitchFamily="34" charset="0"/>
                        <a:buChar char="•"/>
                      </a:pPr>
                      <a:r>
                        <a:rPr lang="en-GB" sz="1100" dirty="0">
                          <a:latin typeface="NBS Light" panose="020B0303030303020204" pitchFamily="34" charset="0"/>
                        </a:rPr>
                        <a:t>There is a risk of inappropriate coding and rule changes being made; these would not be identified until there was an impact on alert volumes or phone calls from members reporting potential fraud or account card restrictions. This is compounded by a lack of evidence of action, for example code changes, and approval during daily monitoring of rule performance</a:t>
                      </a:r>
                    </a:p>
                  </a:txBody>
                  <a:tcPr anchor="ctr"/>
                </a:tc>
                <a:tc>
                  <a:txBody>
                    <a:bodyPr/>
                    <a:lstStyle/>
                    <a:p>
                      <a:pPr algn="ctr"/>
                      <a:r>
                        <a:rPr lang="en-GB" sz="1100" dirty="0">
                          <a:latin typeface="NBS Light" panose="020B0303030303020204" pitchFamily="34" charset="0"/>
                        </a:rPr>
                        <a:t>Yes</a:t>
                      </a:r>
                    </a:p>
                  </a:txBody>
                  <a:tcPr/>
                </a:tc>
                <a:tc>
                  <a:txBody>
                    <a:bodyPr/>
                    <a:lstStyle>
                      <a:lvl1pPr marL="0" algn="l" defTabSz="609585" rtl="0" eaLnBrk="1" latinLnBrk="0" hangingPunct="1">
                        <a:defRPr sz="2400" kern="1200">
                          <a:solidFill>
                            <a:schemeClr val="dk1"/>
                          </a:solidFill>
                          <a:latin typeface="Calibri" panose="020F0502020204030204"/>
                        </a:defRPr>
                      </a:lvl1pPr>
                      <a:lvl2pPr marL="609585" algn="l" defTabSz="609585" rtl="0" eaLnBrk="1" latinLnBrk="0" hangingPunct="1">
                        <a:defRPr sz="2400" kern="1200">
                          <a:solidFill>
                            <a:schemeClr val="dk1"/>
                          </a:solidFill>
                          <a:latin typeface="Calibri" panose="020F0502020204030204"/>
                        </a:defRPr>
                      </a:lvl2pPr>
                      <a:lvl3pPr marL="1219170" algn="l" defTabSz="609585" rtl="0" eaLnBrk="1" latinLnBrk="0" hangingPunct="1">
                        <a:defRPr sz="2400" kern="1200">
                          <a:solidFill>
                            <a:schemeClr val="dk1"/>
                          </a:solidFill>
                          <a:latin typeface="Calibri" panose="020F0502020204030204"/>
                        </a:defRPr>
                      </a:lvl3pPr>
                      <a:lvl4pPr marL="1828754" algn="l" defTabSz="609585" rtl="0" eaLnBrk="1" latinLnBrk="0" hangingPunct="1">
                        <a:defRPr sz="2400" kern="1200">
                          <a:solidFill>
                            <a:schemeClr val="dk1"/>
                          </a:solidFill>
                          <a:latin typeface="Calibri" panose="020F0502020204030204"/>
                        </a:defRPr>
                      </a:lvl4pPr>
                      <a:lvl5pPr marL="2438339" algn="l" defTabSz="609585" rtl="0" eaLnBrk="1" latinLnBrk="0" hangingPunct="1">
                        <a:defRPr sz="2400" kern="1200">
                          <a:solidFill>
                            <a:schemeClr val="dk1"/>
                          </a:solidFill>
                          <a:latin typeface="Calibri" panose="020F0502020204030204"/>
                        </a:defRPr>
                      </a:lvl5pPr>
                      <a:lvl6pPr marL="3047924" algn="l" defTabSz="609585" rtl="0" eaLnBrk="1" latinLnBrk="0" hangingPunct="1">
                        <a:defRPr sz="2400" kern="1200">
                          <a:solidFill>
                            <a:schemeClr val="dk1"/>
                          </a:solidFill>
                          <a:latin typeface="Calibri" panose="020F0502020204030204"/>
                        </a:defRPr>
                      </a:lvl6pPr>
                      <a:lvl7pPr marL="3657509" algn="l" defTabSz="609585" rtl="0" eaLnBrk="1" latinLnBrk="0" hangingPunct="1">
                        <a:defRPr sz="2400" kern="1200">
                          <a:solidFill>
                            <a:schemeClr val="dk1"/>
                          </a:solidFill>
                          <a:latin typeface="Calibri" panose="020F0502020204030204"/>
                        </a:defRPr>
                      </a:lvl7pPr>
                      <a:lvl8pPr marL="4267093" algn="l" defTabSz="609585" rtl="0" eaLnBrk="1" latinLnBrk="0" hangingPunct="1">
                        <a:defRPr sz="2400" kern="1200">
                          <a:solidFill>
                            <a:schemeClr val="dk1"/>
                          </a:solidFill>
                          <a:latin typeface="Calibri" panose="020F0502020204030204"/>
                        </a:defRPr>
                      </a:lvl8pPr>
                      <a:lvl9pPr marL="4876678" algn="l" defTabSz="609585" rtl="0" eaLnBrk="1" latinLnBrk="0" hangingPunct="1">
                        <a:defRPr sz="2400" kern="1200">
                          <a:solidFill>
                            <a:schemeClr val="dk1"/>
                          </a:solidFill>
                          <a:latin typeface="Calibri" panose="020F0502020204030204"/>
                        </a:defRPr>
                      </a:lvl9pPr>
                    </a:lstStyle>
                    <a:p>
                      <a:r>
                        <a:rPr lang="en-GB" sz="1100" dirty="0">
                          <a:latin typeface="NBS Light" panose="020B0303030303020204" pitchFamily="34" charset="0"/>
                        </a:rPr>
                        <a:t>No actions currently in place to address these gaps:</a:t>
                      </a:r>
                    </a:p>
                    <a:p>
                      <a:pPr marL="171450" indent="-171450">
                        <a:buFontTx/>
                        <a:buChar char="-"/>
                      </a:pPr>
                      <a:r>
                        <a:rPr lang="en-GB" sz="1100" dirty="0">
                          <a:latin typeface="NBS Light" panose="020B0303030303020204" pitchFamily="34" charset="0"/>
                        </a:rPr>
                        <a:t>No system enforced segregation of duties </a:t>
                      </a:r>
                    </a:p>
                    <a:p>
                      <a:pPr marL="171450" indent="-171450">
                        <a:buFontTx/>
                        <a:buChar char="-"/>
                      </a:pPr>
                      <a:r>
                        <a:rPr lang="en-GB" sz="1100" dirty="0">
                          <a:latin typeface="NBS Light" panose="020B0303030303020204" pitchFamily="34" charset="0"/>
                        </a:rPr>
                        <a:t>No documented four eye check process </a:t>
                      </a:r>
                    </a:p>
                    <a:p>
                      <a:pPr marL="171450" indent="-171450">
                        <a:buFontTx/>
                        <a:buChar char="-"/>
                      </a:pPr>
                      <a:r>
                        <a:rPr lang="en-GB" sz="1100" dirty="0">
                          <a:latin typeface="NBS Light" panose="020B0303030303020204" pitchFamily="34" charset="0"/>
                        </a:rPr>
                        <a:t>No reconciliation checks </a:t>
                      </a:r>
                    </a:p>
                    <a:p>
                      <a:pPr marL="171450" indent="-171450">
                        <a:buFontTx/>
                        <a:buChar char="-"/>
                      </a:pPr>
                      <a:r>
                        <a:rPr lang="en-GB" sz="1100" dirty="0">
                          <a:latin typeface="NBS Light" panose="020B0303030303020204" pitchFamily="34" charset="0"/>
                        </a:rPr>
                        <a:t>No audit trail of code changes </a:t>
                      </a:r>
                    </a:p>
                    <a:p>
                      <a:pPr marL="171450" indent="-171450">
                        <a:buFontTx/>
                        <a:buChar char="-"/>
                      </a:pPr>
                      <a:r>
                        <a:rPr lang="en-GB" sz="1100" dirty="0">
                          <a:latin typeface="NBS Light" panose="020B0303030303020204" pitchFamily="34" charset="0"/>
                        </a:rPr>
                        <a:t>No test environment – so no user access monitoring in place </a:t>
                      </a:r>
                    </a:p>
                    <a:p>
                      <a:pPr marL="0" indent="0">
                        <a:buFontTx/>
                        <a:buNone/>
                      </a:pPr>
                      <a:r>
                        <a:rPr lang="en-GB" sz="1100" kern="1200" dirty="0">
                          <a:solidFill>
                            <a:schemeClr val="dk1"/>
                          </a:solidFill>
                          <a:effectLst/>
                          <a:latin typeface="NBS Light" panose="020B0303030303020204" pitchFamily="34" charset="0"/>
                          <a:ea typeface="+mn-ea"/>
                          <a:cs typeface="+mn-cs"/>
                        </a:rPr>
                        <a:t>This extends beyond the rules for us, as we have observed with the issues around changes being made to the segmentation process causing issues further down the chain.  We need to ensure that all parts of the TM process are governed and have the appropriate controls.  This is low-hanging fruit for Audit.  We can either head this off by coming up with a plan or let Audit highlight it to get more emphasis on getting a solution in place.</a:t>
                      </a:r>
                      <a:endParaRPr lang="en-GB" sz="1100" dirty="0">
                        <a:latin typeface="NBS Light" panose="020B0303030303020204" pitchFamily="34" charset="0"/>
                      </a:endParaRPr>
                    </a:p>
                  </a:txBody>
                  <a:tcPr/>
                </a:tc>
                <a:extLst>
                  <a:ext uri="{0D108BD9-81ED-4DB2-BD59-A6C34878D82A}">
                    <a16:rowId xmlns:a16="http://schemas.microsoft.com/office/drawing/2014/main" val="2346543985"/>
                  </a:ext>
                </a:extLst>
              </a:tr>
              <a:tr h="2331236">
                <a:tc>
                  <a:txBody>
                    <a:bodyPr/>
                    <a:lstStyle/>
                    <a:p>
                      <a:r>
                        <a:rPr lang="en-GB" sz="1100" b="1" dirty="0">
                          <a:latin typeface="NBS Medium" panose="020B0603030303020204" pitchFamily="34" charset="0"/>
                        </a:rPr>
                        <a:t>Improvements required to IT service governance reporting </a:t>
                      </a:r>
                    </a:p>
                  </a:txBody>
                  <a:tcPr/>
                </a:tc>
                <a:tc>
                  <a:txBody>
                    <a:bodyPr/>
                    <a:lstStyle/>
                    <a:p>
                      <a:pPr marL="171450" indent="-171450">
                        <a:buFont typeface="Arial" panose="020B0604020202020204" pitchFamily="34" charset="0"/>
                        <a:buChar char="•"/>
                      </a:pPr>
                      <a:r>
                        <a:rPr lang="en-GB" sz="1100" dirty="0"/>
                        <a:t>Service Review meetings are attended by relevant Financial Crime (FC) and IT Subject Matter Experts (SME’s) who discuss the current IT service levels, associated incidents, planned changes and problems. However, the reporting requires enhancement to improve FC IT service management: </a:t>
                      </a:r>
                    </a:p>
                    <a:p>
                      <a:pPr marL="628650" lvl="1" indent="-171450">
                        <a:buFont typeface="Arial" panose="020B0604020202020204" pitchFamily="34" charset="0"/>
                        <a:buChar char="•"/>
                      </a:pPr>
                      <a:r>
                        <a:rPr lang="en-GB" sz="1100" dirty="0"/>
                        <a:t>open actions in the FC IT service review packs do not include a fixed due date and are not risk assessed if the resolution date moves forward; </a:t>
                      </a:r>
                    </a:p>
                    <a:p>
                      <a:pPr marL="628650" lvl="1" indent="-171450">
                        <a:buFont typeface="Arial" panose="020B0604020202020204" pitchFamily="34" charset="0"/>
                        <a:buChar char="•"/>
                      </a:pPr>
                      <a:r>
                        <a:rPr lang="en-GB" sz="1100" dirty="0"/>
                        <a:t>IT security and 3rd party governance meetings risks and actions, which may affect the FC IT service are not included in the service review packs; and </a:t>
                      </a:r>
                    </a:p>
                    <a:p>
                      <a:pPr marL="628650" lvl="1" indent="-171450">
                        <a:buFont typeface="Arial" panose="020B0604020202020204" pitchFamily="34" charset="0"/>
                        <a:buChar char="•"/>
                      </a:pPr>
                      <a:r>
                        <a:rPr lang="en-GB" sz="1100" dirty="0"/>
                        <a:t>the current Demand &amp; Capacity (</a:t>
                      </a:r>
                      <a:r>
                        <a:rPr lang="en-GB" sz="1100" dirty="0" err="1"/>
                        <a:t>D&amp;C</a:t>
                      </a:r>
                      <a:r>
                        <a:rPr lang="en-GB" sz="1100" dirty="0"/>
                        <a:t>) reporting doesn’t consider changes to the products or to the </a:t>
                      </a:r>
                      <a:r>
                        <a:rPr lang="en-GB" sz="1100" dirty="0" err="1"/>
                        <a:t>FTM</a:t>
                      </a:r>
                      <a:r>
                        <a:rPr lang="en-GB" sz="1100" dirty="0"/>
                        <a:t> process requirements, which may affect the demand in the associated systems. The new </a:t>
                      </a:r>
                      <a:r>
                        <a:rPr lang="en-GB" sz="1100" dirty="0" err="1"/>
                        <a:t>D&amp;C</a:t>
                      </a:r>
                      <a:r>
                        <a:rPr lang="en-GB" sz="1100" dirty="0"/>
                        <a:t> management process is in design phase and, when fully deployed, reporting of </a:t>
                      </a:r>
                      <a:r>
                        <a:rPr lang="en-GB" sz="1100" dirty="0" err="1"/>
                        <a:t>D&amp;C</a:t>
                      </a:r>
                      <a:r>
                        <a:rPr lang="en-GB" sz="1100" dirty="0"/>
                        <a:t>, in line with the new requirements, will need to be incorporated in the review meeting pack. There is a risk that limitations in visibility of emerging IT service provision risks and issues could adversely affect the </a:t>
                      </a:r>
                      <a:r>
                        <a:rPr lang="en-GB" sz="1100" dirty="0" err="1"/>
                        <a:t>FTM</a:t>
                      </a:r>
                      <a:r>
                        <a:rPr lang="en-GB" sz="1100" dirty="0"/>
                        <a:t> systems availability leading to an unfavourable or adverse member outcome and loss for the Society.</a:t>
                      </a:r>
                      <a:endParaRPr lang="en-GB" sz="1100" dirty="0">
                        <a:latin typeface="NBS Light" panose="020B0303030303020204" pitchFamily="34" charset="0"/>
                      </a:endParaRPr>
                    </a:p>
                  </a:txBody>
                  <a:tcPr anchor="ctr"/>
                </a:tc>
                <a:tc>
                  <a:txBody>
                    <a:bodyPr/>
                    <a:lstStyle/>
                    <a:p>
                      <a:pPr algn="ctr"/>
                      <a:r>
                        <a:rPr lang="en-GB" sz="1100" dirty="0">
                          <a:latin typeface="NBS Light" panose="020B0303030303020204" pitchFamily="34" charset="0"/>
                        </a:rPr>
                        <a:t>Yes</a:t>
                      </a:r>
                    </a:p>
                  </a:txBody>
                  <a:tcPr/>
                </a:tc>
                <a:tc>
                  <a:txBody>
                    <a:bodyPr/>
                    <a:lstStyle/>
                    <a:p>
                      <a:pPr marL="0" indent="0">
                        <a:buFontTx/>
                        <a:buNone/>
                      </a:pPr>
                      <a:r>
                        <a:rPr lang="en-GB" sz="1100" dirty="0">
                          <a:latin typeface="NBS Light" panose="020B0303030303020204" pitchFamily="34" charset="0"/>
                        </a:rPr>
                        <a:t>No actions in place to address gap, however AML TM only uses SAS so further investigation required to see if this is applicable </a:t>
                      </a:r>
                    </a:p>
                  </a:txBody>
                  <a:tcPr/>
                </a:tc>
                <a:extLst>
                  <a:ext uri="{0D108BD9-81ED-4DB2-BD59-A6C34878D82A}">
                    <a16:rowId xmlns:a16="http://schemas.microsoft.com/office/drawing/2014/main" val="3165836345"/>
                  </a:ext>
                </a:extLst>
              </a:tr>
            </a:tbl>
          </a:graphicData>
        </a:graphic>
      </p:graphicFrame>
    </p:spTree>
    <p:extLst>
      <p:ext uri="{BB962C8B-B14F-4D97-AF65-F5344CB8AC3E}">
        <p14:creationId xmlns:p14="http://schemas.microsoft.com/office/powerpoint/2010/main" val="20874218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B677B79-D815-4E3A-9CB1-94373A757E09}"/>
              </a:ext>
            </a:extLst>
          </p:cNvPr>
          <p:cNvSpPr txBox="1">
            <a:spLocks/>
          </p:cNvSpPr>
          <p:nvPr/>
        </p:nvSpPr>
        <p:spPr>
          <a:xfrm>
            <a:off x="436459" y="394269"/>
            <a:ext cx="11644891" cy="40075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chemeClr val="accent1">
                    <a:lumMod val="75000"/>
                  </a:schemeClr>
                </a:solidFill>
                <a:latin typeface="Elephant" panose="02020904090505020303" pitchFamily="18" charset="0"/>
              </a:rPr>
              <a:t>Transaction Monitoring – Fraud TM Audit</a:t>
            </a:r>
          </a:p>
          <a:p>
            <a:pPr algn="l"/>
            <a:r>
              <a:rPr lang="en-US" sz="1400" dirty="0">
                <a:solidFill>
                  <a:schemeClr val="accent1">
                    <a:lumMod val="75000"/>
                  </a:schemeClr>
                </a:solidFill>
                <a:latin typeface="NBS Medium" panose="020B0603030303020204" pitchFamily="34" charset="0"/>
              </a:rPr>
              <a:t> </a:t>
            </a:r>
            <a:r>
              <a:rPr lang="en-US" sz="1400" i="1" dirty="0">
                <a:solidFill>
                  <a:srgbClr val="C00000"/>
                </a:solidFill>
                <a:latin typeface="NBS Medium" panose="020B0603030303020204" pitchFamily="34" charset="0"/>
              </a:rPr>
              <a:t>Internal Audit completed a Fraud TM Audit in 2020, these slides provide an overview of their findings and a gap analysis against current AML TM controls</a:t>
            </a:r>
          </a:p>
        </p:txBody>
      </p:sp>
      <p:grpSp>
        <p:nvGrpSpPr>
          <p:cNvPr id="5" name="Group 4">
            <a:extLst>
              <a:ext uri="{FF2B5EF4-FFF2-40B4-BE49-F238E27FC236}">
                <a16:creationId xmlns:a16="http://schemas.microsoft.com/office/drawing/2014/main" id="{5284B8A0-74D6-4365-A6BA-D4F05632A280}"/>
              </a:ext>
            </a:extLst>
          </p:cNvPr>
          <p:cNvGrpSpPr/>
          <p:nvPr/>
        </p:nvGrpSpPr>
        <p:grpSpPr>
          <a:xfrm>
            <a:off x="10750335" y="154705"/>
            <a:ext cx="1005206" cy="479127"/>
            <a:chOff x="3236913" y="913342"/>
            <a:chExt cx="1740428" cy="712845"/>
          </a:xfrm>
        </p:grpSpPr>
        <p:pic>
          <p:nvPicPr>
            <p:cNvPr id="6" name="Picture 5" descr="Nationwide BS Logo sRGB.png">
              <a:extLst>
                <a:ext uri="{FF2B5EF4-FFF2-40B4-BE49-F238E27FC236}">
                  <a16:creationId xmlns:a16="http://schemas.microsoft.com/office/drawing/2014/main" id="{598163EF-A963-4813-89C2-CA4D92C11B1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938" t="18020" r="9268" b="14259"/>
            <a:stretch/>
          </p:blipFill>
          <p:spPr>
            <a:xfrm>
              <a:off x="3236913" y="913342"/>
              <a:ext cx="1740428" cy="712845"/>
            </a:xfrm>
            <a:prstGeom prst="rect">
              <a:avLst/>
            </a:prstGeom>
          </p:spPr>
        </p:pic>
        <p:sp>
          <p:nvSpPr>
            <p:cNvPr id="7" name="Rounded Rectangle 16">
              <a:extLst>
                <a:ext uri="{FF2B5EF4-FFF2-40B4-BE49-F238E27FC236}">
                  <a16:creationId xmlns:a16="http://schemas.microsoft.com/office/drawing/2014/main" id="{68DFDBB6-6377-4867-BB60-D58D700A5F2E}"/>
                </a:ext>
              </a:extLst>
            </p:cNvPr>
            <p:cNvSpPr/>
            <p:nvPr/>
          </p:nvSpPr>
          <p:spPr>
            <a:xfrm>
              <a:off x="3249341" y="919691"/>
              <a:ext cx="1728000" cy="480613"/>
            </a:xfrm>
            <a:prstGeom prst="roundRect">
              <a:avLst>
                <a:gd name="adj" fmla="val 13275"/>
              </a:avLst>
            </a:prstGeom>
            <a:noFill/>
            <a:ln w="6350" cap="flat" cmpd="sng" algn="ctr">
              <a:solidFill>
                <a:sysClr val="window" lastClr="FFFFFF"/>
              </a:solidFill>
              <a:prstDash val="solid"/>
            </a:ln>
            <a:effectLst/>
          </p:spPr>
          <p:txBody>
            <a:bodyPr rtlCol="0" anchor="ctr"/>
            <a:lstStyle/>
            <a:p>
              <a:pPr algn="ctr" defTabSz="257175">
                <a:defRPr/>
              </a:pPr>
              <a:endParaRPr lang="en-US" sz="1013" kern="0" dirty="0">
                <a:solidFill>
                  <a:prstClr val="white"/>
                </a:solidFill>
                <a:latin typeface="Calibri"/>
              </a:endParaRPr>
            </a:p>
          </p:txBody>
        </p:sp>
      </p:grpSp>
      <p:graphicFrame>
        <p:nvGraphicFramePr>
          <p:cNvPr id="8" name="Table 4">
            <a:extLst>
              <a:ext uri="{FF2B5EF4-FFF2-40B4-BE49-F238E27FC236}">
                <a16:creationId xmlns:a16="http://schemas.microsoft.com/office/drawing/2014/main" id="{0FDF34E0-2B19-4698-8CE0-47220384679B}"/>
              </a:ext>
            </a:extLst>
          </p:cNvPr>
          <p:cNvGraphicFramePr>
            <a:graphicFrameLocks noGrp="1"/>
          </p:cNvGraphicFramePr>
          <p:nvPr>
            <p:extLst>
              <p:ext uri="{D42A27DB-BD31-4B8C-83A1-F6EECF244321}">
                <p14:modId xmlns:p14="http://schemas.microsoft.com/office/powerpoint/2010/main" val="1178467097"/>
              </p:ext>
            </p:extLst>
          </p:nvPr>
        </p:nvGraphicFramePr>
        <p:xfrm>
          <a:off x="490537" y="869129"/>
          <a:ext cx="11210926" cy="4236720"/>
        </p:xfrm>
        <a:graphic>
          <a:graphicData uri="http://schemas.openxmlformats.org/drawingml/2006/table">
            <a:tbl>
              <a:tblPr firstRow="1" bandRow="1">
                <a:tableStyleId>{69012ECD-51FC-41F1-AA8D-1B2483CD663E}</a:tableStyleId>
              </a:tblPr>
              <a:tblGrid>
                <a:gridCol w="1904265">
                  <a:extLst>
                    <a:ext uri="{9D8B030D-6E8A-4147-A177-3AD203B41FA5}">
                      <a16:colId xmlns:a16="http://schemas.microsoft.com/office/drawing/2014/main" val="1287290681"/>
                    </a:ext>
                  </a:extLst>
                </a:gridCol>
                <a:gridCol w="5444505">
                  <a:extLst>
                    <a:ext uri="{9D8B030D-6E8A-4147-A177-3AD203B41FA5}">
                      <a16:colId xmlns:a16="http://schemas.microsoft.com/office/drawing/2014/main" val="4206382353"/>
                    </a:ext>
                  </a:extLst>
                </a:gridCol>
                <a:gridCol w="758283">
                  <a:extLst>
                    <a:ext uri="{9D8B030D-6E8A-4147-A177-3AD203B41FA5}">
                      <a16:colId xmlns:a16="http://schemas.microsoft.com/office/drawing/2014/main" val="4072100215"/>
                    </a:ext>
                  </a:extLst>
                </a:gridCol>
                <a:gridCol w="3103873">
                  <a:extLst>
                    <a:ext uri="{9D8B030D-6E8A-4147-A177-3AD203B41FA5}">
                      <a16:colId xmlns:a16="http://schemas.microsoft.com/office/drawing/2014/main" val="915168363"/>
                    </a:ext>
                  </a:extLst>
                </a:gridCol>
              </a:tblGrid>
              <a:tr h="191719">
                <a:tc>
                  <a:txBody>
                    <a:bodyPr/>
                    <a:lstStyle>
                      <a:lvl1pPr marL="0" algn="l" defTabSz="609585" rtl="0" eaLnBrk="1" latinLnBrk="0" hangingPunct="1">
                        <a:defRPr sz="2400" b="1" kern="1200">
                          <a:solidFill>
                            <a:schemeClr val="dk1"/>
                          </a:solidFill>
                          <a:latin typeface="Calibri" panose="020F0502020204030204"/>
                        </a:defRPr>
                      </a:lvl1pPr>
                      <a:lvl2pPr marL="609585" algn="l" defTabSz="609585" rtl="0" eaLnBrk="1" latinLnBrk="0" hangingPunct="1">
                        <a:defRPr sz="2400" b="1" kern="1200">
                          <a:solidFill>
                            <a:schemeClr val="dk1"/>
                          </a:solidFill>
                          <a:latin typeface="Calibri" panose="020F0502020204030204"/>
                        </a:defRPr>
                      </a:lvl2pPr>
                      <a:lvl3pPr marL="1219170" algn="l" defTabSz="609585" rtl="0" eaLnBrk="1" latinLnBrk="0" hangingPunct="1">
                        <a:defRPr sz="2400" b="1" kern="1200">
                          <a:solidFill>
                            <a:schemeClr val="dk1"/>
                          </a:solidFill>
                          <a:latin typeface="Calibri" panose="020F0502020204030204"/>
                        </a:defRPr>
                      </a:lvl3pPr>
                      <a:lvl4pPr marL="1828754" algn="l" defTabSz="609585" rtl="0" eaLnBrk="1" latinLnBrk="0" hangingPunct="1">
                        <a:defRPr sz="2400" b="1" kern="1200">
                          <a:solidFill>
                            <a:schemeClr val="dk1"/>
                          </a:solidFill>
                          <a:latin typeface="Calibri" panose="020F0502020204030204"/>
                        </a:defRPr>
                      </a:lvl4pPr>
                      <a:lvl5pPr marL="2438339" algn="l" defTabSz="609585" rtl="0" eaLnBrk="1" latinLnBrk="0" hangingPunct="1">
                        <a:defRPr sz="2400" b="1" kern="1200">
                          <a:solidFill>
                            <a:schemeClr val="dk1"/>
                          </a:solidFill>
                          <a:latin typeface="Calibri" panose="020F0502020204030204"/>
                        </a:defRPr>
                      </a:lvl5pPr>
                      <a:lvl6pPr marL="3047924" algn="l" defTabSz="609585" rtl="0" eaLnBrk="1" latinLnBrk="0" hangingPunct="1">
                        <a:defRPr sz="2400" b="1" kern="1200">
                          <a:solidFill>
                            <a:schemeClr val="dk1"/>
                          </a:solidFill>
                          <a:latin typeface="Calibri" panose="020F0502020204030204"/>
                        </a:defRPr>
                      </a:lvl6pPr>
                      <a:lvl7pPr marL="3657509" algn="l" defTabSz="609585" rtl="0" eaLnBrk="1" latinLnBrk="0" hangingPunct="1">
                        <a:defRPr sz="2400" b="1" kern="1200">
                          <a:solidFill>
                            <a:schemeClr val="dk1"/>
                          </a:solidFill>
                          <a:latin typeface="Calibri" panose="020F0502020204030204"/>
                        </a:defRPr>
                      </a:lvl7pPr>
                      <a:lvl8pPr marL="4267093" algn="l" defTabSz="609585" rtl="0" eaLnBrk="1" latinLnBrk="0" hangingPunct="1">
                        <a:defRPr sz="2400" b="1" kern="1200">
                          <a:solidFill>
                            <a:schemeClr val="dk1"/>
                          </a:solidFill>
                          <a:latin typeface="Calibri" panose="020F0502020204030204"/>
                        </a:defRPr>
                      </a:lvl8pPr>
                      <a:lvl9pPr marL="4876678" algn="l" defTabSz="609585" rtl="0" eaLnBrk="1" latinLnBrk="0" hangingPunct="1">
                        <a:defRPr sz="2400" b="1" kern="1200">
                          <a:solidFill>
                            <a:schemeClr val="dk1"/>
                          </a:solidFill>
                          <a:latin typeface="Calibri" panose="020F0502020204030204"/>
                        </a:defRPr>
                      </a:lvl9pPr>
                    </a:lstStyle>
                    <a:p>
                      <a:r>
                        <a:rPr lang="en-GB" sz="1200" dirty="0">
                          <a:solidFill>
                            <a:schemeClr val="bg1"/>
                          </a:solidFill>
                          <a:latin typeface="NBS Medium" panose="020B0603030303020204" pitchFamily="34" charset="0"/>
                        </a:rPr>
                        <a:t>Issues</a:t>
                      </a:r>
                    </a:p>
                  </a:txBody>
                  <a:tcPr/>
                </a:tc>
                <a:tc>
                  <a:txBody>
                    <a:bodyPr/>
                    <a:lstStyle>
                      <a:lvl1pPr marL="0" algn="l" defTabSz="609585" rtl="0" eaLnBrk="1" latinLnBrk="0" hangingPunct="1">
                        <a:defRPr sz="2400" b="1" kern="1200">
                          <a:solidFill>
                            <a:schemeClr val="dk1"/>
                          </a:solidFill>
                          <a:latin typeface="Calibri" panose="020F0502020204030204"/>
                        </a:defRPr>
                      </a:lvl1pPr>
                      <a:lvl2pPr marL="609585" algn="l" defTabSz="609585" rtl="0" eaLnBrk="1" latinLnBrk="0" hangingPunct="1">
                        <a:defRPr sz="2400" b="1" kern="1200">
                          <a:solidFill>
                            <a:schemeClr val="dk1"/>
                          </a:solidFill>
                          <a:latin typeface="Calibri" panose="020F0502020204030204"/>
                        </a:defRPr>
                      </a:lvl2pPr>
                      <a:lvl3pPr marL="1219170" algn="l" defTabSz="609585" rtl="0" eaLnBrk="1" latinLnBrk="0" hangingPunct="1">
                        <a:defRPr sz="2400" b="1" kern="1200">
                          <a:solidFill>
                            <a:schemeClr val="dk1"/>
                          </a:solidFill>
                          <a:latin typeface="Calibri" panose="020F0502020204030204"/>
                        </a:defRPr>
                      </a:lvl3pPr>
                      <a:lvl4pPr marL="1828754" algn="l" defTabSz="609585" rtl="0" eaLnBrk="1" latinLnBrk="0" hangingPunct="1">
                        <a:defRPr sz="2400" b="1" kern="1200">
                          <a:solidFill>
                            <a:schemeClr val="dk1"/>
                          </a:solidFill>
                          <a:latin typeface="Calibri" panose="020F0502020204030204"/>
                        </a:defRPr>
                      </a:lvl4pPr>
                      <a:lvl5pPr marL="2438339" algn="l" defTabSz="609585" rtl="0" eaLnBrk="1" latinLnBrk="0" hangingPunct="1">
                        <a:defRPr sz="2400" b="1" kern="1200">
                          <a:solidFill>
                            <a:schemeClr val="dk1"/>
                          </a:solidFill>
                          <a:latin typeface="Calibri" panose="020F0502020204030204"/>
                        </a:defRPr>
                      </a:lvl5pPr>
                      <a:lvl6pPr marL="3047924" algn="l" defTabSz="609585" rtl="0" eaLnBrk="1" latinLnBrk="0" hangingPunct="1">
                        <a:defRPr sz="2400" b="1" kern="1200">
                          <a:solidFill>
                            <a:schemeClr val="dk1"/>
                          </a:solidFill>
                          <a:latin typeface="Calibri" panose="020F0502020204030204"/>
                        </a:defRPr>
                      </a:lvl6pPr>
                      <a:lvl7pPr marL="3657509" algn="l" defTabSz="609585" rtl="0" eaLnBrk="1" latinLnBrk="0" hangingPunct="1">
                        <a:defRPr sz="2400" b="1" kern="1200">
                          <a:solidFill>
                            <a:schemeClr val="dk1"/>
                          </a:solidFill>
                          <a:latin typeface="Calibri" panose="020F0502020204030204"/>
                        </a:defRPr>
                      </a:lvl7pPr>
                      <a:lvl8pPr marL="4267093" algn="l" defTabSz="609585" rtl="0" eaLnBrk="1" latinLnBrk="0" hangingPunct="1">
                        <a:defRPr sz="2400" b="1" kern="1200">
                          <a:solidFill>
                            <a:schemeClr val="dk1"/>
                          </a:solidFill>
                          <a:latin typeface="Calibri" panose="020F0502020204030204"/>
                        </a:defRPr>
                      </a:lvl8pPr>
                      <a:lvl9pPr marL="4876678" algn="l" defTabSz="609585" rtl="0" eaLnBrk="1" latinLnBrk="0" hangingPunct="1">
                        <a:defRPr sz="2400" b="1" kern="1200">
                          <a:solidFill>
                            <a:schemeClr val="dk1"/>
                          </a:solidFill>
                          <a:latin typeface="Calibri" panose="020F0502020204030204"/>
                        </a:defRPr>
                      </a:lvl9pPr>
                    </a:lstStyle>
                    <a:p>
                      <a:r>
                        <a:rPr lang="en-GB" sz="1200" dirty="0">
                          <a:solidFill>
                            <a:schemeClr val="bg1"/>
                          </a:solidFill>
                          <a:latin typeface="NBS Medium" panose="020B0603030303020204" pitchFamily="34" charset="0"/>
                        </a:rPr>
                        <a:t>Issue Detail </a:t>
                      </a:r>
                    </a:p>
                  </a:txBody>
                  <a:tcPr/>
                </a:tc>
                <a:tc>
                  <a:txBody>
                    <a:bodyPr/>
                    <a:lstStyle/>
                    <a:p>
                      <a:r>
                        <a:rPr lang="en-GB" sz="1200" b="1" dirty="0">
                          <a:solidFill>
                            <a:schemeClr val="bg1"/>
                          </a:solidFill>
                          <a:latin typeface="NBS Medium" panose="020B0603030303020204" pitchFamily="34" charset="0"/>
                        </a:rPr>
                        <a:t>AML Gap</a:t>
                      </a:r>
                    </a:p>
                  </a:txBody>
                  <a:tcPr/>
                </a:tc>
                <a:tc>
                  <a:txBody>
                    <a:bodyPr/>
                    <a:lstStyle>
                      <a:lvl1pPr marL="0" algn="l" defTabSz="609585" rtl="0" eaLnBrk="1" latinLnBrk="0" hangingPunct="1">
                        <a:defRPr sz="2400" b="1" kern="1200">
                          <a:solidFill>
                            <a:schemeClr val="dk1"/>
                          </a:solidFill>
                          <a:latin typeface="Calibri" panose="020F0502020204030204"/>
                        </a:defRPr>
                      </a:lvl1pPr>
                      <a:lvl2pPr marL="609585" algn="l" defTabSz="609585" rtl="0" eaLnBrk="1" latinLnBrk="0" hangingPunct="1">
                        <a:defRPr sz="2400" b="1" kern="1200">
                          <a:solidFill>
                            <a:schemeClr val="dk1"/>
                          </a:solidFill>
                          <a:latin typeface="Calibri" panose="020F0502020204030204"/>
                        </a:defRPr>
                      </a:lvl2pPr>
                      <a:lvl3pPr marL="1219170" algn="l" defTabSz="609585" rtl="0" eaLnBrk="1" latinLnBrk="0" hangingPunct="1">
                        <a:defRPr sz="2400" b="1" kern="1200">
                          <a:solidFill>
                            <a:schemeClr val="dk1"/>
                          </a:solidFill>
                          <a:latin typeface="Calibri" panose="020F0502020204030204"/>
                        </a:defRPr>
                      </a:lvl3pPr>
                      <a:lvl4pPr marL="1828754" algn="l" defTabSz="609585" rtl="0" eaLnBrk="1" latinLnBrk="0" hangingPunct="1">
                        <a:defRPr sz="2400" b="1" kern="1200">
                          <a:solidFill>
                            <a:schemeClr val="dk1"/>
                          </a:solidFill>
                          <a:latin typeface="Calibri" panose="020F0502020204030204"/>
                        </a:defRPr>
                      </a:lvl4pPr>
                      <a:lvl5pPr marL="2438339" algn="l" defTabSz="609585" rtl="0" eaLnBrk="1" latinLnBrk="0" hangingPunct="1">
                        <a:defRPr sz="2400" b="1" kern="1200">
                          <a:solidFill>
                            <a:schemeClr val="dk1"/>
                          </a:solidFill>
                          <a:latin typeface="Calibri" panose="020F0502020204030204"/>
                        </a:defRPr>
                      </a:lvl5pPr>
                      <a:lvl6pPr marL="3047924" algn="l" defTabSz="609585" rtl="0" eaLnBrk="1" latinLnBrk="0" hangingPunct="1">
                        <a:defRPr sz="2400" b="1" kern="1200">
                          <a:solidFill>
                            <a:schemeClr val="dk1"/>
                          </a:solidFill>
                          <a:latin typeface="Calibri" panose="020F0502020204030204"/>
                        </a:defRPr>
                      </a:lvl6pPr>
                      <a:lvl7pPr marL="3657509" algn="l" defTabSz="609585" rtl="0" eaLnBrk="1" latinLnBrk="0" hangingPunct="1">
                        <a:defRPr sz="2400" b="1" kern="1200">
                          <a:solidFill>
                            <a:schemeClr val="dk1"/>
                          </a:solidFill>
                          <a:latin typeface="Calibri" panose="020F0502020204030204"/>
                        </a:defRPr>
                      </a:lvl7pPr>
                      <a:lvl8pPr marL="4267093" algn="l" defTabSz="609585" rtl="0" eaLnBrk="1" latinLnBrk="0" hangingPunct="1">
                        <a:defRPr sz="2400" b="1" kern="1200">
                          <a:solidFill>
                            <a:schemeClr val="dk1"/>
                          </a:solidFill>
                          <a:latin typeface="Calibri" panose="020F0502020204030204"/>
                        </a:defRPr>
                      </a:lvl8pPr>
                      <a:lvl9pPr marL="4876678" algn="l" defTabSz="609585" rtl="0" eaLnBrk="1" latinLnBrk="0" hangingPunct="1">
                        <a:defRPr sz="2400" b="1" kern="1200">
                          <a:solidFill>
                            <a:schemeClr val="dk1"/>
                          </a:solidFill>
                          <a:latin typeface="Calibri" panose="020F0502020204030204"/>
                        </a:defRPr>
                      </a:lvl9pPr>
                    </a:lstStyle>
                    <a:p>
                      <a:r>
                        <a:rPr lang="en-GB" sz="1200" dirty="0">
                          <a:solidFill>
                            <a:schemeClr val="bg1"/>
                          </a:solidFill>
                          <a:latin typeface="NBS Medium" panose="020B0603030303020204" pitchFamily="34" charset="0"/>
                        </a:rPr>
                        <a:t>Actions in Place to Address Gaps</a:t>
                      </a:r>
                    </a:p>
                  </a:txBody>
                  <a:tcPr/>
                </a:tc>
                <a:extLst>
                  <a:ext uri="{0D108BD9-81ED-4DB2-BD59-A6C34878D82A}">
                    <a16:rowId xmlns:a16="http://schemas.microsoft.com/office/drawing/2014/main" val="2397372165"/>
                  </a:ext>
                </a:extLst>
              </a:tr>
              <a:tr h="1587011">
                <a:tc>
                  <a:txBody>
                    <a:bodyPr/>
                    <a:lstStyle>
                      <a:lvl1pPr marL="0" algn="l" defTabSz="609585" rtl="0" eaLnBrk="1" latinLnBrk="0" hangingPunct="1">
                        <a:defRPr sz="2400" kern="1200">
                          <a:solidFill>
                            <a:schemeClr val="dk1"/>
                          </a:solidFill>
                          <a:latin typeface="Calibri" panose="020F0502020204030204"/>
                        </a:defRPr>
                      </a:lvl1pPr>
                      <a:lvl2pPr marL="609585" algn="l" defTabSz="609585" rtl="0" eaLnBrk="1" latinLnBrk="0" hangingPunct="1">
                        <a:defRPr sz="2400" kern="1200">
                          <a:solidFill>
                            <a:schemeClr val="dk1"/>
                          </a:solidFill>
                          <a:latin typeface="Calibri" panose="020F0502020204030204"/>
                        </a:defRPr>
                      </a:lvl2pPr>
                      <a:lvl3pPr marL="1219170" algn="l" defTabSz="609585" rtl="0" eaLnBrk="1" latinLnBrk="0" hangingPunct="1">
                        <a:defRPr sz="2400" kern="1200">
                          <a:solidFill>
                            <a:schemeClr val="dk1"/>
                          </a:solidFill>
                          <a:latin typeface="Calibri" panose="020F0502020204030204"/>
                        </a:defRPr>
                      </a:lvl3pPr>
                      <a:lvl4pPr marL="1828754" algn="l" defTabSz="609585" rtl="0" eaLnBrk="1" latinLnBrk="0" hangingPunct="1">
                        <a:defRPr sz="2400" kern="1200">
                          <a:solidFill>
                            <a:schemeClr val="dk1"/>
                          </a:solidFill>
                          <a:latin typeface="Calibri" panose="020F0502020204030204"/>
                        </a:defRPr>
                      </a:lvl4pPr>
                      <a:lvl5pPr marL="2438339" algn="l" defTabSz="609585" rtl="0" eaLnBrk="1" latinLnBrk="0" hangingPunct="1">
                        <a:defRPr sz="2400" kern="1200">
                          <a:solidFill>
                            <a:schemeClr val="dk1"/>
                          </a:solidFill>
                          <a:latin typeface="Calibri" panose="020F0502020204030204"/>
                        </a:defRPr>
                      </a:lvl5pPr>
                      <a:lvl6pPr marL="3047924" algn="l" defTabSz="609585" rtl="0" eaLnBrk="1" latinLnBrk="0" hangingPunct="1">
                        <a:defRPr sz="2400" kern="1200">
                          <a:solidFill>
                            <a:schemeClr val="dk1"/>
                          </a:solidFill>
                          <a:latin typeface="Calibri" panose="020F0502020204030204"/>
                        </a:defRPr>
                      </a:lvl6pPr>
                      <a:lvl7pPr marL="3657509" algn="l" defTabSz="609585" rtl="0" eaLnBrk="1" latinLnBrk="0" hangingPunct="1">
                        <a:defRPr sz="2400" kern="1200">
                          <a:solidFill>
                            <a:schemeClr val="dk1"/>
                          </a:solidFill>
                          <a:latin typeface="Calibri" panose="020F0502020204030204"/>
                        </a:defRPr>
                      </a:lvl7pPr>
                      <a:lvl8pPr marL="4267093" algn="l" defTabSz="609585" rtl="0" eaLnBrk="1" latinLnBrk="0" hangingPunct="1">
                        <a:defRPr sz="2400" kern="1200">
                          <a:solidFill>
                            <a:schemeClr val="dk1"/>
                          </a:solidFill>
                          <a:latin typeface="Calibri" panose="020F0502020204030204"/>
                        </a:defRPr>
                      </a:lvl8pPr>
                      <a:lvl9pPr marL="4876678" algn="l" defTabSz="609585" rtl="0" eaLnBrk="1" latinLnBrk="0" hangingPunct="1">
                        <a:defRPr sz="2400" kern="1200">
                          <a:solidFill>
                            <a:schemeClr val="dk1"/>
                          </a:solidFill>
                          <a:latin typeface="Calibri" panose="020F0502020204030204"/>
                        </a:defRPr>
                      </a:lvl9pPr>
                    </a:lstStyle>
                    <a:p>
                      <a:r>
                        <a:rPr lang="en-GB" sz="1100" b="1" dirty="0">
                          <a:latin typeface="NBS Medium" panose="020B0603030303020204" pitchFamily="34" charset="0"/>
                        </a:rPr>
                        <a:t>Logical access management requires improvement </a:t>
                      </a:r>
                    </a:p>
                  </a:txBody>
                  <a:tcPr/>
                </a:tc>
                <a:tc>
                  <a:txBody>
                    <a:bodyPr/>
                    <a:lstStyle>
                      <a:lvl1pPr marL="0" algn="l" defTabSz="609585" rtl="0" eaLnBrk="1" latinLnBrk="0" hangingPunct="1">
                        <a:defRPr sz="2400" kern="1200">
                          <a:solidFill>
                            <a:schemeClr val="dk1"/>
                          </a:solidFill>
                          <a:latin typeface="Calibri" panose="020F0502020204030204"/>
                        </a:defRPr>
                      </a:lvl1pPr>
                      <a:lvl2pPr marL="609585" algn="l" defTabSz="609585" rtl="0" eaLnBrk="1" latinLnBrk="0" hangingPunct="1">
                        <a:defRPr sz="2400" kern="1200">
                          <a:solidFill>
                            <a:schemeClr val="dk1"/>
                          </a:solidFill>
                          <a:latin typeface="Calibri" panose="020F0502020204030204"/>
                        </a:defRPr>
                      </a:lvl2pPr>
                      <a:lvl3pPr marL="1219170" algn="l" defTabSz="609585" rtl="0" eaLnBrk="1" latinLnBrk="0" hangingPunct="1">
                        <a:defRPr sz="2400" kern="1200">
                          <a:solidFill>
                            <a:schemeClr val="dk1"/>
                          </a:solidFill>
                          <a:latin typeface="Calibri" panose="020F0502020204030204"/>
                        </a:defRPr>
                      </a:lvl3pPr>
                      <a:lvl4pPr marL="1828754" algn="l" defTabSz="609585" rtl="0" eaLnBrk="1" latinLnBrk="0" hangingPunct="1">
                        <a:defRPr sz="2400" kern="1200">
                          <a:solidFill>
                            <a:schemeClr val="dk1"/>
                          </a:solidFill>
                          <a:latin typeface="Calibri" panose="020F0502020204030204"/>
                        </a:defRPr>
                      </a:lvl4pPr>
                      <a:lvl5pPr marL="2438339" algn="l" defTabSz="609585" rtl="0" eaLnBrk="1" latinLnBrk="0" hangingPunct="1">
                        <a:defRPr sz="2400" kern="1200">
                          <a:solidFill>
                            <a:schemeClr val="dk1"/>
                          </a:solidFill>
                          <a:latin typeface="Calibri" panose="020F0502020204030204"/>
                        </a:defRPr>
                      </a:lvl5pPr>
                      <a:lvl6pPr marL="3047924" algn="l" defTabSz="609585" rtl="0" eaLnBrk="1" latinLnBrk="0" hangingPunct="1">
                        <a:defRPr sz="2400" kern="1200">
                          <a:solidFill>
                            <a:schemeClr val="dk1"/>
                          </a:solidFill>
                          <a:latin typeface="Calibri" panose="020F0502020204030204"/>
                        </a:defRPr>
                      </a:lvl6pPr>
                      <a:lvl7pPr marL="3657509" algn="l" defTabSz="609585" rtl="0" eaLnBrk="1" latinLnBrk="0" hangingPunct="1">
                        <a:defRPr sz="2400" kern="1200">
                          <a:solidFill>
                            <a:schemeClr val="dk1"/>
                          </a:solidFill>
                          <a:latin typeface="Calibri" panose="020F0502020204030204"/>
                        </a:defRPr>
                      </a:lvl7pPr>
                      <a:lvl8pPr marL="4267093" algn="l" defTabSz="609585" rtl="0" eaLnBrk="1" latinLnBrk="0" hangingPunct="1">
                        <a:defRPr sz="2400" kern="1200">
                          <a:solidFill>
                            <a:schemeClr val="dk1"/>
                          </a:solidFill>
                          <a:latin typeface="Calibri" panose="020F0502020204030204"/>
                        </a:defRPr>
                      </a:lvl8pPr>
                      <a:lvl9pPr marL="4876678" algn="l" defTabSz="609585" rtl="0" eaLnBrk="1" latinLnBrk="0" hangingPunct="1">
                        <a:defRPr sz="2400" kern="1200">
                          <a:solidFill>
                            <a:schemeClr val="dk1"/>
                          </a:solidFill>
                          <a:latin typeface="Calibri" panose="020F0502020204030204"/>
                        </a:defRPr>
                      </a:lvl9pPr>
                    </a:lstStyle>
                    <a:p>
                      <a:pPr marL="171450" indent="-171450">
                        <a:buFont typeface="Arial" panose="020B0604020202020204" pitchFamily="34" charset="0"/>
                        <a:buChar char="•"/>
                      </a:pPr>
                      <a:r>
                        <a:rPr lang="en-GB" sz="1100" dirty="0"/>
                        <a:t>Fraud Transaction Monitoring (</a:t>
                      </a:r>
                      <a:r>
                        <a:rPr lang="en-GB" sz="1100" dirty="0" err="1"/>
                        <a:t>FTM</a:t>
                      </a:r>
                      <a:r>
                        <a:rPr lang="en-GB" sz="1100" dirty="0"/>
                        <a:t>) business users require access to core Financial Crime systems and applications. The majority of users have read-only access, although c. 20% of users also have elevated (super-user) access permitting changes to business rules. Some also have system administrator access to those systems. We identified weaknesses in the controls over user recertification for core </a:t>
                      </a:r>
                      <a:r>
                        <a:rPr lang="en-GB" sz="1100" dirty="0" err="1"/>
                        <a:t>FTM</a:t>
                      </a:r>
                      <a:r>
                        <a:rPr lang="en-GB" sz="1100" dirty="0"/>
                        <a:t> systems, Actimize, </a:t>
                      </a:r>
                      <a:r>
                        <a:rPr lang="en-GB" sz="1100" dirty="0" err="1"/>
                        <a:t>PRM</a:t>
                      </a:r>
                      <a:r>
                        <a:rPr lang="en-GB" sz="1100" dirty="0"/>
                        <a:t> and </a:t>
                      </a:r>
                      <a:r>
                        <a:rPr lang="en-GB" sz="1100" dirty="0" err="1"/>
                        <a:t>FCD</a:t>
                      </a:r>
                      <a:r>
                        <a:rPr lang="en-GB" sz="1100" dirty="0"/>
                        <a:t>, and the approach does not comply with the Internal Access Control Standard. Specifically; </a:t>
                      </a:r>
                    </a:p>
                    <a:p>
                      <a:pPr marL="781035" lvl="1" indent="-171450">
                        <a:buFont typeface="Arial" panose="020B0604020202020204" pitchFamily="34" charset="0"/>
                        <a:buChar char="•"/>
                      </a:pPr>
                      <a:r>
                        <a:rPr lang="en-GB" sz="1100" dirty="0"/>
                        <a:t>at the time of the audit, 7 </a:t>
                      </a:r>
                      <a:r>
                        <a:rPr lang="en-GB" sz="1100" dirty="0" err="1"/>
                        <a:t>PRM</a:t>
                      </a:r>
                      <a:r>
                        <a:rPr lang="en-GB" sz="1100" dirty="0"/>
                        <a:t> and 9 </a:t>
                      </a:r>
                      <a:r>
                        <a:rPr lang="en-GB" sz="1100" dirty="0" err="1"/>
                        <a:t>FCD</a:t>
                      </a:r>
                      <a:r>
                        <a:rPr lang="en-GB" sz="1100" dirty="0"/>
                        <a:t> users, who no longer required access to those systems or whose line managers did not provide a response, did not have their access removed timely; </a:t>
                      </a:r>
                    </a:p>
                    <a:p>
                      <a:pPr marL="781035" lvl="1" indent="-171450">
                        <a:buFont typeface="Arial" panose="020B0604020202020204" pitchFamily="34" charset="0"/>
                        <a:buChar char="•"/>
                      </a:pPr>
                      <a:r>
                        <a:rPr lang="en-GB" sz="1100" dirty="0"/>
                        <a:t>user profiles are not specified in the recertification, therefore there is no assurance that the user access to </a:t>
                      </a:r>
                      <a:r>
                        <a:rPr lang="en-GB" sz="1100" dirty="0" err="1"/>
                        <a:t>PRM</a:t>
                      </a:r>
                      <a:r>
                        <a:rPr lang="en-GB" sz="1100" dirty="0"/>
                        <a:t>, Actimize or </a:t>
                      </a:r>
                      <a:r>
                        <a:rPr lang="en-GB" sz="1100" dirty="0" err="1"/>
                        <a:t>FCD</a:t>
                      </a:r>
                      <a:r>
                        <a:rPr lang="en-GB" sz="1100" dirty="0"/>
                        <a:t> is provided on the basis of the least privilege; </a:t>
                      </a:r>
                    </a:p>
                    <a:p>
                      <a:pPr marL="781035" lvl="1" indent="-171450">
                        <a:buFont typeface="Arial" panose="020B0604020202020204" pitchFamily="34" charset="0"/>
                        <a:buChar char="•"/>
                      </a:pPr>
                      <a:r>
                        <a:rPr lang="en-GB" sz="1100" dirty="0"/>
                        <a:t>recertification of Actimize and </a:t>
                      </a:r>
                      <a:r>
                        <a:rPr lang="en-GB" sz="1100" dirty="0" err="1"/>
                        <a:t>FCD</a:t>
                      </a:r>
                      <a:r>
                        <a:rPr lang="en-GB" sz="1100" dirty="0"/>
                        <a:t> users was not completed every 6 months as required; </a:t>
                      </a:r>
                    </a:p>
                    <a:p>
                      <a:pPr marL="781035" lvl="1" indent="-171450">
                        <a:buFont typeface="Arial" panose="020B0604020202020204" pitchFamily="34" charset="0"/>
                        <a:buChar char="•"/>
                      </a:pPr>
                      <a:r>
                        <a:rPr lang="en-GB" sz="1100" dirty="0"/>
                        <a:t>Subject Matter Experts (SME’s) were unable to evidence that the toxic combination check is carried out for these systems; </a:t>
                      </a:r>
                    </a:p>
                    <a:p>
                      <a:pPr marL="781035" lvl="1" indent="-171450">
                        <a:buFont typeface="Arial" panose="020B0604020202020204" pitchFamily="34" charset="0"/>
                        <a:buChar char="•"/>
                      </a:pPr>
                      <a:r>
                        <a:rPr lang="en-GB" sz="1100" dirty="0"/>
                        <a:t>a summary of the output of the re-certification exercises was not reported to the Information Asset Owner. Therefore, there is an increased risk of unidentified activity or human error in the </a:t>
                      </a:r>
                      <a:r>
                        <a:rPr lang="en-GB" sz="1100" dirty="0" err="1"/>
                        <a:t>FTM</a:t>
                      </a:r>
                      <a:r>
                        <a:rPr lang="en-GB" sz="1100" dirty="0"/>
                        <a:t> infrastructure which could cause data breaches and limited availability of the </a:t>
                      </a:r>
                      <a:r>
                        <a:rPr lang="en-GB" sz="1100" dirty="0" err="1"/>
                        <a:t>FTM</a:t>
                      </a:r>
                      <a:r>
                        <a:rPr lang="en-GB" sz="1100" dirty="0"/>
                        <a:t> services. This issue is compounded by the lack of super-user activity monitoring detailed in issue 3 of this report</a:t>
                      </a:r>
                      <a:endParaRPr lang="en-GB" sz="1100" dirty="0">
                        <a:latin typeface="NBS Light" panose="020B0303030303020204" pitchFamily="34" charset="0"/>
                      </a:endParaRPr>
                    </a:p>
                  </a:txBody>
                  <a:tcPr anchor="ctr"/>
                </a:tc>
                <a:tc>
                  <a:txBody>
                    <a:bodyPr/>
                    <a:lstStyle/>
                    <a:p>
                      <a:pPr algn="ctr"/>
                      <a:r>
                        <a:rPr lang="en-GB" sz="1100" dirty="0">
                          <a:latin typeface="NBS Light" panose="020B0303030303020204" pitchFamily="34" charset="0"/>
                        </a:rPr>
                        <a:t>Yes</a:t>
                      </a:r>
                    </a:p>
                  </a:txBody>
                  <a:tcPr/>
                </a:tc>
                <a:tc>
                  <a:txBody>
                    <a:bodyPr/>
                    <a:lstStyle>
                      <a:lvl1pPr marL="0" algn="l" defTabSz="609585" rtl="0" eaLnBrk="1" latinLnBrk="0" hangingPunct="1">
                        <a:defRPr sz="2400" kern="1200">
                          <a:solidFill>
                            <a:schemeClr val="dk1"/>
                          </a:solidFill>
                          <a:latin typeface="Calibri" panose="020F0502020204030204"/>
                        </a:defRPr>
                      </a:lvl1pPr>
                      <a:lvl2pPr marL="609585" algn="l" defTabSz="609585" rtl="0" eaLnBrk="1" latinLnBrk="0" hangingPunct="1">
                        <a:defRPr sz="2400" kern="1200">
                          <a:solidFill>
                            <a:schemeClr val="dk1"/>
                          </a:solidFill>
                          <a:latin typeface="Calibri" panose="020F0502020204030204"/>
                        </a:defRPr>
                      </a:lvl2pPr>
                      <a:lvl3pPr marL="1219170" algn="l" defTabSz="609585" rtl="0" eaLnBrk="1" latinLnBrk="0" hangingPunct="1">
                        <a:defRPr sz="2400" kern="1200">
                          <a:solidFill>
                            <a:schemeClr val="dk1"/>
                          </a:solidFill>
                          <a:latin typeface="Calibri" panose="020F0502020204030204"/>
                        </a:defRPr>
                      </a:lvl3pPr>
                      <a:lvl4pPr marL="1828754" algn="l" defTabSz="609585" rtl="0" eaLnBrk="1" latinLnBrk="0" hangingPunct="1">
                        <a:defRPr sz="2400" kern="1200">
                          <a:solidFill>
                            <a:schemeClr val="dk1"/>
                          </a:solidFill>
                          <a:latin typeface="Calibri" panose="020F0502020204030204"/>
                        </a:defRPr>
                      </a:lvl4pPr>
                      <a:lvl5pPr marL="2438339" algn="l" defTabSz="609585" rtl="0" eaLnBrk="1" latinLnBrk="0" hangingPunct="1">
                        <a:defRPr sz="2400" kern="1200">
                          <a:solidFill>
                            <a:schemeClr val="dk1"/>
                          </a:solidFill>
                          <a:latin typeface="Calibri" panose="020F0502020204030204"/>
                        </a:defRPr>
                      </a:lvl5pPr>
                      <a:lvl6pPr marL="3047924" algn="l" defTabSz="609585" rtl="0" eaLnBrk="1" latinLnBrk="0" hangingPunct="1">
                        <a:defRPr sz="2400" kern="1200">
                          <a:solidFill>
                            <a:schemeClr val="dk1"/>
                          </a:solidFill>
                          <a:latin typeface="Calibri" panose="020F0502020204030204"/>
                        </a:defRPr>
                      </a:lvl6pPr>
                      <a:lvl7pPr marL="3657509" algn="l" defTabSz="609585" rtl="0" eaLnBrk="1" latinLnBrk="0" hangingPunct="1">
                        <a:defRPr sz="2400" kern="1200">
                          <a:solidFill>
                            <a:schemeClr val="dk1"/>
                          </a:solidFill>
                          <a:latin typeface="Calibri" panose="020F0502020204030204"/>
                        </a:defRPr>
                      </a:lvl7pPr>
                      <a:lvl8pPr marL="4267093" algn="l" defTabSz="609585" rtl="0" eaLnBrk="1" latinLnBrk="0" hangingPunct="1">
                        <a:defRPr sz="2400" kern="1200">
                          <a:solidFill>
                            <a:schemeClr val="dk1"/>
                          </a:solidFill>
                          <a:latin typeface="Calibri" panose="020F0502020204030204"/>
                        </a:defRPr>
                      </a:lvl8pPr>
                      <a:lvl9pPr marL="4876678" algn="l" defTabSz="609585" rtl="0" eaLnBrk="1" latinLnBrk="0" hangingPunct="1">
                        <a:defRPr sz="2400" kern="1200">
                          <a:solidFill>
                            <a:schemeClr val="dk1"/>
                          </a:solidFill>
                          <a:latin typeface="Calibri" panose="020F0502020204030204"/>
                        </a:defRPr>
                      </a:lvl9pPr>
                    </a:lstStyle>
                    <a:p>
                      <a:r>
                        <a:rPr lang="en-GB" sz="1100" dirty="0">
                          <a:latin typeface="NBS Light" panose="020B0303030303020204" pitchFamily="34" charset="0"/>
                        </a:rPr>
                        <a:t>No actions in place to address this gap currently. AML use SAS for TM and no test environment exists to users have access to everything in production</a:t>
                      </a:r>
                    </a:p>
                  </a:txBody>
                  <a:tcPr/>
                </a:tc>
                <a:extLst>
                  <a:ext uri="{0D108BD9-81ED-4DB2-BD59-A6C34878D82A}">
                    <a16:rowId xmlns:a16="http://schemas.microsoft.com/office/drawing/2014/main" val="2346543985"/>
                  </a:ext>
                </a:extLst>
              </a:tr>
            </a:tbl>
          </a:graphicData>
        </a:graphic>
      </p:graphicFrame>
    </p:spTree>
    <p:extLst>
      <p:ext uri="{BB962C8B-B14F-4D97-AF65-F5344CB8AC3E}">
        <p14:creationId xmlns:p14="http://schemas.microsoft.com/office/powerpoint/2010/main" val="22147159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70" name="Title 1">
            <a:extLst>
              <a:ext uri="{FF2B5EF4-FFF2-40B4-BE49-F238E27FC236}">
                <a16:creationId xmlns:a16="http://schemas.microsoft.com/office/drawing/2014/main" id="{38BD8AD8-E7A1-40F1-A091-576CC6917E66}"/>
              </a:ext>
            </a:extLst>
          </p:cNvPr>
          <p:cNvSpPr txBox="1">
            <a:spLocks/>
          </p:cNvSpPr>
          <p:nvPr/>
        </p:nvSpPr>
        <p:spPr>
          <a:xfrm>
            <a:off x="364958" y="260852"/>
            <a:ext cx="10329062" cy="203629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5100" b="0" i="0" u="none" strike="noStrike" kern="1200" cap="none" spc="0" normalizeH="0" baseline="0" noProof="0" dirty="0">
                <a:ln>
                  <a:noFill/>
                </a:ln>
                <a:solidFill>
                  <a:prstClr val="white"/>
                </a:solidFill>
                <a:effectLst/>
                <a:uLnTx/>
                <a:uFillTx/>
                <a:latin typeface="Elephant" panose="02020904090505020303" pitchFamily="18" charset="0"/>
                <a:ea typeface="+mj-ea"/>
                <a:cs typeface="+mj-cs"/>
              </a:rPr>
              <a:t>Transaction Monitoring –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5100" b="0" i="0" u="none" strike="noStrike" kern="1200" cap="none" spc="0" normalizeH="0" baseline="0" noProof="0" dirty="0">
                <a:ln>
                  <a:noFill/>
                </a:ln>
                <a:solidFill>
                  <a:prstClr val="white"/>
                </a:solidFill>
                <a:effectLst/>
                <a:uLnTx/>
                <a:uFillTx/>
                <a:latin typeface="Elephant" panose="02020904090505020303" pitchFamily="18" charset="0"/>
                <a:ea typeface="+mj-ea"/>
                <a:cs typeface="+mj-cs"/>
              </a:rPr>
              <a:t>Appendix 1 </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5100" b="0" i="0" u="none" strike="noStrike" kern="1200" cap="none" spc="0" normalizeH="0" baseline="0" noProof="0" dirty="0">
              <a:ln>
                <a:noFill/>
              </a:ln>
              <a:solidFill>
                <a:prstClr val="white"/>
              </a:solidFill>
              <a:effectLst/>
              <a:uLnTx/>
              <a:uFillTx/>
              <a:latin typeface="Elephant" panose="02020904090505020303" pitchFamily="18" charset="0"/>
              <a:ea typeface="+mj-ea"/>
              <a:cs typeface="+mj-cs"/>
            </a:endParaRP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2900" b="0" i="1" u="none" strike="noStrike" kern="1200" cap="none" spc="0" normalizeH="0" baseline="0" noProof="0" dirty="0">
              <a:ln>
                <a:noFill/>
              </a:ln>
              <a:solidFill>
                <a:srgbClr val="C00000"/>
              </a:solidFill>
              <a:effectLst/>
              <a:uLnTx/>
              <a:uFillTx/>
              <a:latin typeface="NBS Medium" panose="020B0603030303020204" pitchFamily="34" charset="0"/>
              <a:ea typeface="+mj-ea"/>
              <a:cs typeface="+mj-cs"/>
            </a:endParaRPr>
          </a:p>
        </p:txBody>
      </p:sp>
      <p:grpSp>
        <p:nvGrpSpPr>
          <p:cNvPr id="122" name="Group 121">
            <a:extLst>
              <a:ext uri="{FF2B5EF4-FFF2-40B4-BE49-F238E27FC236}">
                <a16:creationId xmlns:a16="http://schemas.microsoft.com/office/drawing/2014/main" id="{3B1EE2E1-79AA-4470-8E96-6D678F59EE24}"/>
              </a:ext>
            </a:extLst>
          </p:cNvPr>
          <p:cNvGrpSpPr/>
          <p:nvPr/>
        </p:nvGrpSpPr>
        <p:grpSpPr>
          <a:xfrm>
            <a:off x="10871810" y="275539"/>
            <a:ext cx="1005206" cy="479127"/>
            <a:chOff x="3236913" y="913342"/>
            <a:chExt cx="1740428" cy="712845"/>
          </a:xfrm>
        </p:grpSpPr>
        <p:pic>
          <p:nvPicPr>
            <p:cNvPr id="124" name="Picture 123" descr="Nationwide BS Logo sRGB.png">
              <a:extLst>
                <a:ext uri="{FF2B5EF4-FFF2-40B4-BE49-F238E27FC236}">
                  <a16:creationId xmlns:a16="http://schemas.microsoft.com/office/drawing/2014/main" id="{02D18641-B9DA-4B9A-9EFC-01E390322BB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938" t="18020" r="9268" b="14259"/>
            <a:stretch/>
          </p:blipFill>
          <p:spPr>
            <a:xfrm>
              <a:off x="3236913" y="913342"/>
              <a:ext cx="1740428" cy="712845"/>
            </a:xfrm>
            <a:prstGeom prst="rect">
              <a:avLst/>
            </a:prstGeom>
          </p:spPr>
        </p:pic>
        <p:sp>
          <p:nvSpPr>
            <p:cNvPr id="128" name="Rounded Rectangle 16">
              <a:extLst>
                <a:ext uri="{FF2B5EF4-FFF2-40B4-BE49-F238E27FC236}">
                  <a16:creationId xmlns:a16="http://schemas.microsoft.com/office/drawing/2014/main" id="{AD2E5EAD-9CFE-4D21-912C-E2F89E76DB5D}"/>
                </a:ext>
              </a:extLst>
            </p:cNvPr>
            <p:cNvSpPr/>
            <p:nvPr/>
          </p:nvSpPr>
          <p:spPr>
            <a:xfrm>
              <a:off x="3249341" y="919691"/>
              <a:ext cx="1728000" cy="480613"/>
            </a:xfrm>
            <a:prstGeom prst="roundRect">
              <a:avLst>
                <a:gd name="adj" fmla="val 13275"/>
              </a:avLst>
            </a:prstGeom>
            <a:noFill/>
            <a:ln w="6350" cap="flat" cmpd="sng" algn="ctr">
              <a:solidFill>
                <a:sysClr val="window" lastClr="FFFFFF"/>
              </a:solidFill>
              <a:prstDash val="solid"/>
            </a:ln>
            <a:effectLst/>
          </p:spPr>
          <p:txBody>
            <a:bodyPr rtlCol="0" anchor="ctr"/>
            <a:lstStyle/>
            <a:p>
              <a:pPr marL="0" marR="0" lvl="0" indent="0" algn="ctr" defTabSz="257175" rtl="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extBox 1">
            <a:extLst>
              <a:ext uri="{FF2B5EF4-FFF2-40B4-BE49-F238E27FC236}">
                <a16:creationId xmlns:a16="http://schemas.microsoft.com/office/drawing/2014/main" id="{2F14CFF9-5803-420A-BEF0-F2F050E99BEB}"/>
              </a:ext>
            </a:extLst>
          </p:cNvPr>
          <p:cNvSpPr txBox="1"/>
          <p:nvPr/>
        </p:nvSpPr>
        <p:spPr>
          <a:xfrm>
            <a:off x="507146" y="2415882"/>
            <a:ext cx="9630767" cy="113877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400" b="1" i="1" u="none" strike="noStrike" kern="1200" cap="none" spc="0" normalizeH="0" baseline="0" noProof="0" dirty="0" err="1">
                <a:ln>
                  <a:noFill/>
                </a:ln>
                <a:solidFill>
                  <a:prstClr val="black"/>
                </a:solidFill>
                <a:effectLst/>
                <a:uLnTx/>
                <a:uFillTx/>
                <a:latin typeface="NBS Medium" panose="020B0603030303020204" pitchFamily="34" charset="0"/>
                <a:ea typeface="+mn-ea"/>
                <a:cs typeface="+mn-cs"/>
              </a:rPr>
              <a:t>Evershed’s</a:t>
            </a:r>
            <a:r>
              <a:rPr kumimoji="0" lang="en-GB" sz="3400" b="1" i="1" u="none" strike="noStrike" kern="1200" cap="none" spc="0" normalizeH="0" baseline="0" noProof="0" dirty="0">
                <a:ln>
                  <a:noFill/>
                </a:ln>
                <a:solidFill>
                  <a:prstClr val="black"/>
                </a:solidFill>
                <a:effectLst/>
                <a:uLnTx/>
                <a:uFillTx/>
                <a:latin typeface="NBS Medium" panose="020B0603030303020204" pitchFamily="34" charset="0"/>
                <a:ea typeface="+mn-ea"/>
                <a:cs typeface="+mn-cs"/>
              </a:rPr>
              <a:t>/</a:t>
            </a:r>
            <a:r>
              <a:rPr kumimoji="0" lang="en-GB" sz="3400" b="1" i="1" u="none" strike="noStrike" kern="1200" cap="none" spc="0" normalizeH="0" baseline="0" noProof="0" dirty="0" err="1">
                <a:ln>
                  <a:noFill/>
                </a:ln>
                <a:solidFill>
                  <a:prstClr val="black"/>
                </a:solidFill>
                <a:effectLst/>
                <a:uLnTx/>
                <a:uFillTx/>
                <a:latin typeface="NBS Medium" panose="020B0603030303020204" pitchFamily="34" charset="0"/>
                <a:ea typeface="+mn-ea"/>
                <a:cs typeface="+mn-cs"/>
              </a:rPr>
              <a:t>Konexo</a:t>
            </a:r>
            <a:r>
              <a:rPr kumimoji="0" lang="en-GB" sz="3400" b="1" i="1" u="none" strike="noStrike" kern="1200" cap="none" spc="0" normalizeH="0" baseline="0" noProof="0" dirty="0">
                <a:ln>
                  <a:noFill/>
                </a:ln>
                <a:solidFill>
                  <a:prstClr val="black"/>
                </a:solidFill>
                <a:effectLst/>
                <a:uLnTx/>
                <a:uFillTx/>
                <a:latin typeface="NBS Medium" panose="020B0603030303020204" pitchFamily="34" charset="0"/>
                <a:ea typeface="+mn-ea"/>
                <a:cs typeface="+mn-cs"/>
              </a:rPr>
              <a:t> Review 2021: AML TM Recommendations</a:t>
            </a:r>
            <a:endParaRPr kumimoji="0" lang="en-GB" sz="3400" b="0" i="1" u="sng" strike="noStrike" kern="1200" cap="none" spc="0" normalizeH="0" baseline="0" noProof="0" dirty="0">
              <a:ln>
                <a:noFill/>
              </a:ln>
              <a:solidFill>
                <a:prstClr val="black"/>
              </a:solidFill>
              <a:effectLst/>
              <a:uLnTx/>
              <a:uFillTx/>
              <a:latin typeface="NBS Medium" panose="020B0603030303020204" pitchFamily="34" charset="0"/>
              <a:ea typeface="+mn-ea"/>
              <a:cs typeface="+mn-cs"/>
            </a:endParaRPr>
          </a:p>
        </p:txBody>
      </p:sp>
    </p:spTree>
    <p:extLst>
      <p:ext uri="{BB962C8B-B14F-4D97-AF65-F5344CB8AC3E}">
        <p14:creationId xmlns:p14="http://schemas.microsoft.com/office/powerpoint/2010/main" val="879945354"/>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B677B79-D815-4E3A-9CB1-94373A757E09}"/>
              </a:ext>
            </a:extLst>
          </p:cNvPr>
          <p:cNvSpPr txBox="1">
            <a:spLocks/>
          </p:cNvSpPr>
          <p:nvPr/>
        </p:nvSpPr>
        <p:spPr>
          <a:xfrm>
            <a:off x="436459" y="394269"/>
            <a:ext cx="11644891" cy="40075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chemeClr val="accent1">
                    <a:lumMod val="75000"/>
                  </a:schemeClr>
                </a:solidFill>
                <a:latin typeface="Elephant" panose="02020904090505020303" pitchFamily="18" charset="0"/>
              </a:rPr>
              <a:t>Transaction Monitoring – </a:t>
            </a:r>
            <a:r>
              <a:rPr lang="en-US" sz="3200" dirty="0" err="1">
                <a:solidFill>
                  <a:schemeClr val="accent1">
                    <a:lumMod val="75000"/>
                  </a:schemeClr>
                </a:solidFill>
                <a:latin typeface="Elephant" panose="02020904090505020303" pitchFamily="18" charset="0"/>
              </a:rPr>
              <a:t>Evershed’s</a:t>
            </a:r>
            <a:endParaRPr lang="en-US" sz="3200" dirty="0">
              <a:solidFill>
                <a:schemeClr val="accent1">
                  <a:lumMod val="75000"/>
                </a:schemeClr>
              </a:solidFill>
              <a:latin typeface="Elephant" panose="02020904090505020303" pitchFamily="18" charset="0"/>
            </a:endParaRPr>
          </a:p>
          <a:p>
            <a:pPr algn="l"/>
            <a:r>
              <a:rPr lang="en-US" sz="1400" i="1" dirty="0">
                <a:solidFill>
                  <a:srgbClr val="C00000"/>
                </a:solidFill>
                <a:latin typeface="NBS Medium" panose="020B0603030303020204" pitchFamily="34" charset="0"/>
              </a:rPr>
              <a:t>An overview of the recommendations from </a:t>
            </a:r>
            <a:r>
              <a:rPr lang="en-US" sz="1400" i="1" dirty="0" err="1">
                <a:solidFill>
                  <a:srgbClr val="C00000"/>
                </a:solidFill>
                <a:latin typeface="NBS Medium" panose="020B0603030303020204" pitchFamily="34" charset="0"/>
              </a:rPr>
              <a:t>Evershed’s</a:t>
            </a:r>
            <a:r>
              <a:rPr lang="en-US" sz="1400" i="1" dirty="0">
                <a:solidFill>
                  <a:srgbClr val="C00000"/>
                </a:solidFill>
                <a:latin typeface="NBS Medium" panose="020B0603030303020204" pitchFamily="34" charset="0"/>
              </a:rPr>
              <a:t>/</a:t>
            </a:r>
            <a:r>
              <a:rPr lang="en-US" sz="1400" i="1" dirty="0" err="1">
                <a:solidFill>
                  <a:srgbClr val="C00000"/>
                </a:solidFill>
                <a:latin typeface="NBS Medium" panose="020B0603030303020204" pitchFamily="34" charset="0"/>
              </a:rPr>
              <a:t>Konexo</a:t>
            </a:r>
            <a:r>
              <a:rPr lang="en-US" sz="1400" i="1" dirty="0">
                <a:solidFill>
                  <a:srgbClr val="C00000"/>
                </a:solidFill>
                <a:latin typeface="NBS Medium" panose="020B0603030303020204" pitchFamily="34" charset="0"/>
              </a:rPr>
              <a:t> review </a:t>
            </a:r>
          </a:p>
        </p:txBody>
      </p:sp>
      <p:grpSp>
        <p:nvGrpSpPr>
          <p:cNvPr id="5" name="Group 4">
            <a:extLst>
              <a:ext uri="{FF2B5EF4-FFF2-40B4-BE49-F238E27FC236}">
                <a16:creationId xmlns:a16="http://schemas.microsoft.com/office/drawing/2014/main" id="{5284B8A0-74D6-4365-A6BA-D4F05632A280}"/>
              </a:ext>
            </a:extLst>
          </p:cNvPr>
          <p:cNvGrpSpPr/>
          <p:nvPr/>
        </p:nvGrpSpPr>
        <p:grpSpPr>
          <a:xfrm>
            <a:off x="10750335" y="154705"/>
            <a:ext cx="1005206" cy="479127"/>
            <a:chOff x="3236913" y="913342"/>
            <a:chExt cx="1740428" cy="712845"/>
          </a:xfrm>
        </p:grpSpPr>
        <p:pic>
          <p:nvPicPr>
            <p:cNvPr id="6" name="Picture 5" descr="Nationwide BS Logo sRGB.png">
              <a:extLst>
                <a:ext uri="{FF2B5EF4-FFF2-40B4-BE49-F238E27FC236}">
                  <a16:creationId xmlns:a16="http://schemas.microsoft.com/office/drawing/2014/main" id="{598163EF-A963-4813-89C2-CA4D92C11B1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938" t="18020" r="9268" b="14259"/>
            <a:stretch/>
          </p:blipFill>
          <p:spPr>
            <a:xfrm>
              <a:off x="3236913" y="913342"/>
              <a:ext cx="1740428" cy="712845"/>
            </a:xfrm>
            <a:prstGeom prst="rect">
              <a:avLst/>
            </a:prstGeom>
          </p:spPr>
        </p:pic>
        <p:sp>
          <p:nvSpPr>
            <p:cNvPr id="7" name="Rounded Rectangle 16">
              <a:extLst>
                <a:ext uri="{FF2B5EF4-FFF2-40B4-BE49-F238E27FC236}">
                  <a16:creationId xmlns:a16="http://schemas.microsoft.com/office/drawing/2014/main" id="{68DFDBB6-6377-4867-BB60-D58D700A5F2E}"/>
                </a:ext>
              </a:extLst>
            </p:cNvPr>
            <p:cNvSpPr/>
            <p:nvPr/>
          </p:nvSpPr>
          <p:spPr>
            <a:xfrm>
              <a:off x="3249341" y="919691"/>
              <a:ext cx="1728000" cy="480613"/>
            </a:xfrm>
            <a:prstGeom prst="roundRect">
              <a:avLst>
                <a:gd name="adj" fmla="val 13275"/>
              </a:avLst>
            </a:prstGeom>
            <a:noFill/>
            <a:ln w="6350" cap="flat" cmpd="sng" algn="ctr">
              <a:solidFill>
                <a:sysClr val="window" lastClr="FFFFFF"/>
              </a:solidFill>
              <a:prstDash val="solid"/>
            </a:ln>
            <a:effectLst/>
          </p:spPr>
          <p:txBody>
            <a:bodyPr rtlCol="0" anchor="ctr"/>
            <a:lstStyle/>
            <a:p>
              <a:pPr algn="ctr" defTabSz="257175">
                <a:defRPr/>
              </a:pPr>
              <a:endParaRPr lang="en-US" sz="1013" kern="0" dirty="0">
                <a:solidFill>
                  <a:prstClr val="white"/>
                </a:solidFill>
                <a:latin typeface="Calibri"/>
              </a:endParaRPr>
            </a:p>
          </p:txBody>
        </p:sp>
      </p:grpSp>
      <p:graphicFrame>
        <p:nvGraphicFramePr>
          <p:cNvPr id="9" name="Table 8">
            <a:extLst>
              <a:ext uri="{FF2B5EF4-FFF2-40B4-BE49-F238E27FC236}">
                <a16:creationId xmlns:a16="http://schemas.microsoft.com/office/drawing/2014/main" id="{08DD2FB1-68D5-4FE1-A5A4-6FC43008453E}"/>
              </a:ext>
            </a:extLst>
          </p:cNvPr>
          <p:cNvGraphicFramePr>
            <a:graphicFrameLocks noGrp="1"/>
          </p:cNvGraphicFramePr>
          <p:nvPr>
            <p:extLst>
              <p:ext uri="{D42A27DB-BD31-4B8C-83A1-F6EECF244321}">
                <p14:modId xmlns:p14="http://schemas.microsoft.com/office/powerpoint/2010/main" val="1036305378"/>
              </p:ext>
            </p:extLst>
          </p:nvPr>
        </p:nvGraphicFramePr>
        <p:xfrm>
          <a:off x="436459" y="1030316"/>
          <a:ext cx="11471288" cy="5501071"/>
        </p:xfrm>
        <a:graphic>
          <a:graphicData uri="http://schemas.openxmlformats.org/drawingml/2006/table">
            <a:tbl>
              <a:tblPr/>
              <a:tblGrid>
                <a:gridCol w="1418882">
                  <a:extLst>
                    <a:ext uri="{9D8B030D-6E8A-4147-A177-3AD203B41FA5}">
                      <a16:colId xmlns:a16="http://schemas.microsoft.com/office/drawing/2014/main" val="2205568060"/>
                    </a:ext>
                  </a:extLst>
                </a:gridCol>
                <a:gridCol w="2837760">
                  <a:extLst>
                    <a:ext uri="{9D8B030D-6E8A-4147-A177-3AD203B41FA5}">
                      <a16:colId xmlns:a16="http://schemas.microsoft.com/office/drawing/2014/main" val="3224888802"/>
                    </a:ext>
                  </a:extLst>
                </a:gridCol>
                <a:gridCol w="5723620">
                  <a:extLst>
                    <a:ext uri="{9D8B030D-6E8A-4147-A177-3AD203B41FA5}">
                      <a16:colId xmlns:a16="http://schemas.microsoft.com/office/drawing/2014/main" val="2330131435"/>
                    </a:ext>
                  </a:extLst>
                </a:gridCol>
                <a:gridCol w="1491026">
                  <a:extLst>
                    <a:ext uri="{9D8B030D-6E8A-4147-A177-3AD203B41FA5}">
                      <a16:colId xmlns:a16="http://schemas.microsoft.com/office/drawing/2014/main" val="1578990168"/>
                    </a:ext>
                  </a:extLst>
                </a:gridCol>
              </a:tblGrid>
              <a:tr h="234252">
                <a:tc>
                  <a:txBody>
                    <a:bodyPr/>
                    <a:lstStyle/>
                    <a:p>
                      <a:pPr algn="ctr" fontAlgn="ctr"/>
                      <a:r>
                        <a:rPr lang="en-GB" sz="1200" b="1" i="0" u="none" strike="noStrike">
                          <a:solidFill>
                            <a:srgbClr val="FFFFFF"/>
                          </a:solidFill>
                          <a:effectLst/>
                          <a:latin typeface="Calibri" panose="020F0502020204030204" pitchFamily="34" charset="0"/>
                        </a:rPr>
                        <a:t>#</a:t>
                      </a:r>
                    </a:p>
                  </a:txBody>
                  <a:tcPr marL="58839" marR="3923" marT="3923"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375623"/>
                    </a:solidFill>
                  </a:tcPr>
                </a:tc>
                <a:tc>
                  <a:txBody>
                    <a:bodyPr/>
                    <a:lstStyle/>
                    <a:p>
                      <a:pPr algn="l" fontAlgn="ctr"/>
                      <a:r>
                        <a:rPr lang="en-GB" sz="1200" b="1" i="0" u="none" strike="noStrike">
                          <a:solidFill>
                            <a:srgbClr val="FFFFFF"/>
                          </a:solidFill>
                          <a:effectLst/>
                          <a:latin typeface="Calibri" panose="020F0502020204030204" pitchFamily="34" charset="0"/>
                        </a:rPr>
                        <a:t>Change Theme</a:t>
                      </a:r>
                    </a:p>
                  </a:txBody>
                  <a:tcPr marL="58839" marR="3923" marT="3923"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375623"/>
                    </a:solidFill>
                  </a:tcPr>
                </a:tc>
                <a:tc>
                  <a:txBody>
                    <a:bodyPr/>
                    <a:lstStyle/>
                    <a:p>
                      <a:pPr algn="l" fontAlgn="ctr"/>
                      <a:r>
                        <a:rPr lang="en-GB" sz="1200" b="1" i="0" u="none" strike="noStrike">
                          <a:solidFill>
                            <a:srgbClr val="FFFFFF"/>
                          </a:solidFill>
                          <a:effectLst/>
                          <a:latin typeface="Calibri" panose="020F0502020204030204" pitchFamily="34" charset="0"/>
                        </a:rPr>
                        <a:t>Activity/Task</a:t>
                      </a:r>
                    </a:p>
                  </a:txBody>
                  <a:tcPr marL="58839" marR="3923" marT="3923"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375623"/>
                    </a:solidFill>
                  </a:tcPr>
                </a:tc>
                <a:tc>
                  <a:txBody>
                    <a:bodyPr/>
                    <a:lstStyle/>
                    <a:p>
                      <a:pPr algn="l" fontAlgn="ctr"/>
                      <a:r>
                        <a:rPr lang="en-GB" sz="1200" b="1" i="0" u="none" strike="noStrike">
                          <a:solidFill>
                            <a:srgbClr val="FFFFFF"/>
                          </a:solidFill>
                          <a:effectLst/>
                          <a:latin typeface="Calibri" panose="020F0502020204030204" pitchFamily="34" charset="0"/>
                        </a:rPr>
                        <a:t>TOM Ref No</a:t>
                      </a:r>
                    </a:p>
                  </a:txBody>
                  <a:tcPr marL="58839" marR="3923" marT="3923"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375623"/>
                    </a:solidFill>
                  </a:tcPr>
                </a:tc>
                <a:extLst>
                  <a:ext uri="{0D108BD9-81ED-4DB2-BD59-A6C34878D82A}">
                    <a16:rowId xmlns:a16="http://schemas.microsoft.com/office/drawing/2014/main" val="129227797"/>
                  </a:ext>
                </a:extLst>
              </a:tr>
              <a:tr h="162024">
                <a:tc>
                  <a:txBody>
                    <a:bodyPr/>
                    <a:lstStyle/>
                    <a:p>
                      <a:pPr algn="ctr" fontAlgn="ctr"/>
                      <a:r>
                        <a:rPr lang="en-GB" sz="1200" b="1" i="0" u="none" strike="noStrike">
                          <a:solidFill>
                            <a:srgbClr val="FFFFFF"/>
                          </a:solidFill>
                          <a:effectLst/>
                          <a:latin typeface="Calibri" panose="020F0502020204030204" pitchFamily="34" charset="0"/>
                        </a:rPr>
                        <a:t>4d.1</a:t>
                      </a:r>
                    </a:p>
                  </a:txBody>
                  <a:tcPr marL="58839" marR="3923" marT="3923" marB="0" anchor="ctr">
                    <a:lnL>
                      <a:noFill/>
                    </a:lnL>
                    <a:lnR>
                      <a:noFill/>
                    </a:lnR>
                    <a:lnT w="6350" cap="flat" cmpd="sng" algn="ctr">
                      <a:solidFill>
                        <a:srgbClr val="A6A6A6"/>
                      </a:solidFill>
                      <a:prstDash val="solid"/>
                      <a:round/>
                      <a:headEnd type="none" w="med" len="med"/>
                      <a:tailEnd type="none" w="med" len="med"/>
                    </a:lnT>
                    <a:lnB>
                      <a:noFill/>
                    </a:lnB>
                    <a:solidFill>
                      <a:srgbClr val="548235"/>
                    </a:solidFill>
                  </a:tcPr>
                </a:tc>
                <a:tc>
                  <a:txBody>
                    <a:bodyPr/>
                    <a:lstStyle/>
                    <a:p>
                      <a:pPr algn="l" fontAlgn="ctr"/>
                      <a:r>
                        <a:rPr lang="en-GB" sz="1200" b="1" i="0" u="none" strike="noStrike">
                          <a:solidFill>
                            <a:srgbClr val="FFFFFF"/>
                          </a:solidFill>
                          <a:effectLst/>
                          <a:latin typeface="Calibri" panose="020F0502020204030204" pitchFamily="34" charset="0"/>
                        </a:rPr>
                        <a:t> </a:t>
                      </a:r>
                    </a:p>
                  </a:txBody>
                  <a:tcPr marL="58839" marR="3923" marT="3923" marB="0" anchor="ctr">
                    <a:lnL>
                      <a:noFill/>
                    </a:lnL>
                    <a:lnR>
                      <a:noFill/>
                    </a:lnR>
                    <a:lnT w="6350" cap="flat" cmpd="sng" algn="ctr">
                      <a:solidFill>
                        <a:srgbClr val="A6A6A6"/>
                      </a:solidFill>
                      <a:prstDash val="solid"/>
                      <a:round/>
                      <a:headEnd type="none" w="med" len="med"/>
                      <a:tailEnd type="none" w="med" len="med"/>
                    </a:lnT>
                    <a:lnB>
                      <a:noFill/>
                    </a:lnB>
                    <a:solidFill>
                      <a:srgbClr val="548235"/>
                    </a:solidFill>
                  </a:tcPr>
                </a:tc>
                <a:tc>
                  <a:txBody>
                    <a:bodyPr/>
                    <a:lstStyle/>
                    <a:p>
                      <a:pPr algn="l" fontAlgn="ctr"/>
                      <a:r>
                        <a:rPr lang="en-GB" sz="1200" b="1" i="0" u="none" strike="noStrike">
                          <a:solidFill>
                            <a:srgbClr val="FFFFFF"/>
                          </a:solidFill>
                          <a:effectLst/>
                          <a:latin typeface="Calibri" panose="020F0502020204030204" pitchFamily="34" charset="0"/>
                        </a:rPr>
                        <a:t>Operating Model</a:t>
                      </a:r>
                    </a:p>
                  </a:txBody>
                  <a:tcPr marL="3923" marR="3923" marT="3923" marB="0" anchor="ctr">
                    <a:lnL>
                      <a:noFill/>
                    </a:lnL>
                    <a:lnR>
                      <a:noFill/>
                    </a:lnR>
                    <a:lnT w="6350" cap="flat" cmpd="sng" algn="ctr">
                      <a:solidFill>
                        <a:srgbClr val="A6A6A6"/>
                      </a:solidFill>
                      <a:prstDash val="solid"/>
                      <a:round/>
                      <a:headEnd type="none" w="med" len="med"/>
                      <a:tailEnd type="none" w="med" len="med"/>
                    </a:lnT>
                    <a:lnB>
                      <a:noFill/>
                    </a:lnB>
                    <a:solidFill>
                      <a:srgbClr val="548235"/>
                    </a:solidFill>
                  </a:tcPr>
                </a:tc>
                <a:tc>
                  <a:txBody>
                    <a:bodyPr/>
                    <a:lstStyle/>
                    <a:p>
                      <a:pPr algn="l" fontAlgn="ctr"/>
                      <a:r>
                        <a:rPr lang="en-GB" sz="1200" b="1" i="0" u="none" strike="noStrike">
                          <a:solidFill>
                            <a:srgbClr val="FFFFFF"/>
                          </a:solidFill>
                          <a:effectLst/>
                          <a:latin typeface="Calibri" panose="020F0502020204030204" pitchFamily="34" charset="0"/>
                        </a:rPr>
                        <a:t> </a:t>
                      </a:r>
                    </a:p>
                  </a:txBody>
                  <a:tcPr marL="3923" marR="3923" marT="3923" marB="0" anchor="ctr">
                    <a:lnL>
                      <a:noFill/>
                    </a:lnL>
                    <a:lnR>
                      <a:noFill/>
                    </a:lnR>
                    <a:lnT w="6350" cap="flat" cmpd="sng" algn="ctr">
                      <a:solidFill>
                        <a:srgbClr val="A6A6A6"/>
                      </a:solidFill>
                      <a:prstDash val="solid"/>
                      <a:round/>
                      <a:headEnd type="none" w="med" len="med"/>
                      <a:tailEnd type="none" w="med" len="med"/>
                    </a:lnT>
                    <a:lnB>
                      <a:noFill/>
                    </a:lnB>
                    <a:solidFill>
                      <a:srgbClr val="548235"/>
                    </a:solidFill>
                  </a:tcPr>
                </a:tc>
                <a:extLst>
                  <a:ext uri="{0D108BD9-81ED-4DB2-BD59-A6C34878D82A}">
                    <a16:rowId xmlns:a16="http://schemas.microsoft.com/office/drawing/2014/main" val="3342832494"/>
                  </a:ext>
                </a:extLst>
              </a:tr>
              <a:tr h="234252">
                <a:tc>
                  <a:txBody>
                    <a:bodyPr/>
                    <a:lstStyle/>
                    <a:p>
                      <a:pPr algn="ctr" rtl="0" fontAlgn="t"/>
                      <a:r>
                        <a:rPr lang="en-GB" sz="1200" b="0" i="0" u="none" strike="noStrike">
                          <a:solidFill>
                            <a:srgbClr val="000000"/>
                          </a:solidFill>
                          <a:effectLst/>
                          <a:latin typeface="Calibri" panose="020F0502020204030204" pitchFamily="34" charset="0"/>
                        </a:rPr>
                        <a:t>4.d.1.1</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tcPr>
                </a:tc>
                <a:tc>
                  <a:txBody>
                    <a:bodyPr/>
                    <a:lstStyle/>
                    <a:p>
                      <a:pPr algn="l" rtl="0" fontAlgn="t"/>
                      <a:r>
                        <a:rPr lang="en-GB" sz="1200" b="0" i="0" u="none" strike="noStrike">
                          <a:solidFill>
                            <a:srgbClr val="000000"/>
                          </a:solidFill>
                          <a:effectLst/>
                          <a:latin typeface="Calibri" panose="020F0502020204030204" pitchFamily="34" charset="0"/>
                        </a:rPr>
                        <a:t>Organisation &amp; People</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tcPr>
                </a:tc>
                <a:tc>
                  <a:txBody>
                    <a:bodyPr/>
                    <a:lstStyle/>
                    <a:p>
                      <a:pPr algn="l" rtl="0" fontAlgn="t"/>
                      <a:r>
                        <a:rPr lang="en-GB" sz="1200" b="0" i="0" u="none" strike="noStrike">
                          <a:solidFill>
                            <a:srgbClr val="000000"/>
                          </a:solidFill>
                          <a:effectLst/>
                          <a:latin typeface="Calibri" panose="020F0502020204030204" pitchFamily="34" charset="0"/>
                        </a:rPr>
                        <a:t>Appoint a Head of Transaction Monitoring (1LOD) with responsibility for all TM activities.</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tcPr>
                </a:tc>
                <a:tc>
                  <a:txBody>
                    <a:bodyPr/>
                    <a:lstStyle/>
                    <a:p>
                      <a:pPr algn="l" rtl="0" fontAlgn="t"/>
                      <a:r>
                        <a:rPr lang="en-GB" sz="1200" b="0" i="0" u="none" strike="noStrike">
                          <a:solidFill>
                            <a:srgbClr val="000000"/>
                          </a:solidFill>
                          <a:effectLst/>
                          <a:latin typeface="Calibri" panose="020F0502020204030204" pitchFamily="34" charset="0"/>
                        </a:rPr>
                        <a:t>FTOMR064</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3132973791"/>
                  </a:ext>
                </a:extLst>
              </a:tr>
              <a:tr h="468504">
                <a:tc>
                  <a:txBody>
                    <a:bodyPr/>
                    <a:lstStyle/>
                    <a:p>
                      <a:pPr algn="ctr" rtl="0" fontAlgn="t"/>
                      <a:r>
                        <a:rPr lang="en-GB" sz="1200" b="0" i="0" u="none" strike="noStrike">
                          <a:solidFill>
                            <a:srgbClr val="000000"/>
                          </a:solidFill>
                          <a:effectLst/>
                          <a:latin typeface="Calibri" panose="020F0502020204030204" pitchFamily="34" charset="0"/>
                        </a:rPr>
                        <a:t>4.d.1.2</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2F2"/>
                    </a:solidFill>
                  </a:tcPr>
                </a:tc>
                <a:tc>
                  <a:txBody>
                    <a:bodyPr/>
                    <a:lstStyle/>
                    <a:p>
                      <a:pPr algn="l" rtl="0" fontAlgn="t"/>
                      <a:r>
                        <a:rPr lang="en-GB" sz="1200" b="0" i="0" u="none" strike="noStrike">
                          <a:solidFill>
                            <a:srgbClr val="000000"/>
                          </a:solidFill>
                          <a:effectLst/>
                          <a:latin typeface="Calibri" panose="020F0502020204030204" pitchFamily="34" charset="0"/>
                        </a:rPr>
                        <a:t>Organisation &amp; People</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2F2"/>
                    </a:solidFill>
                  </a:tcPr>
                </a:tc>
                <a:tc>
                  <a:txBody>
                    <a:bodyPr/>
                    <a:lstStyle/>
                    <a:p>
                      <a:pPr algn="l" rtl="0" fontAlgn="t"/>
                      <a:r>
                        <a:rPr lang="en-GB" sz="1200" b="0" i="0" u="none" strike="noStrike">
                          <a:solidFill>
                            <a:srgbClr val="000000"/>
                          </a:solidFill>
                          <a:effectLst/>
                          <a:latin typeface="Calibri" panose="020F0502020204030204" pitchFamily="34" charset="0"/>
                        </a:rPr>
                        <a:t>Ensure that 2LoD/Oversight has enough technical resource (or has a skilled partner) to be able to effectively review and assure analytical/technical aspects of the TM monitoring framework.</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2F2"/>
                    </a:solidFill>
                  </a:tcPr>
                </a:tc>
                <a:tc>
                  <a:txBody>
                    <a:bodyPr/>
                    <a:lstStyle/>
                    <a:p>
                      <a:pPr algn="l" rtl="0" fontAlgn="t"/>
                      <a:r>
                        <a:rPr lang="en-GB" sz="1200" b="0" i="0" u="none" strike="noStrike">
                          <a:solidFill>
                            <a:srgbClr val="000000"/>
                          </a:solidFill>
                          <a:effectLst/>
                          <a:latin typeface="Calibri" panose="020F0502020204030204" pitchFamily="34" charset="0"/>
                        </a:rPr>
                        <a:t>FTOMR066</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2F2"/>
                    </a:solidFill>
                  </a:tcPr>
                </a:tc>
                <a:extLst>
                  <a:ext uri="{0D108BD9-81ED-4DB2-BD59-A6C34878D82A}">
                    <a16:rowId xmlns:a16="http://schemas.microsoft.com/office/drawing/2014/main" val="1591703049"/>
                  </a:ext>
                </a:extLst>
              </a:tr>
              <a:tr h="162024">
                <a:tc>
                  <a:txBody>
                    <a:bodyPr/>
                    <a:lstStyle/>
                    <a:p>
                      <a:pPr algn="ctr" rtl="0" fontAlgn="t"/>
                      <a:r>
                        <a:rPr lang="en-GB" sz="1200" b="0" i="0" u="none" strike="noStrike">
                          <a:solidFill>
                            <a:srgbClr val="000000"/>
                          </a:solidFill>
                          <a:effectLst/>
                          <a:latin typeface="Calibri" panose="020F0502020204030204" pitchFamily="34" charset="0"/>
                        </a:rPr>
                        <a:t>4.d.1.3</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tcPr>
                </a:tc>
                <a:tc>
                  <a:txBody>
                    <a:bodyPr/>
                    <a:lstStyle/>
                    <a:p>
                      <a:pPr algn="l" rtl="0" fontAlgn="t"/>
                      <a:r>
                        <a:rPr lang="en-GB" sz="1200" b="0" i="0" u="none" strike="noStrike">
                          <a:solidFill>
                            <a:srgbClr val="000000"/>
                          </a:solidFill>
                          <a:effectLst/>
                          <a:latin typeface="Calibri" panose="020F0502020204030204" pitchFamily="34" charset="0"/>
                        </a:rPr>
                        <a:t>Organisation &amp; People</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tcPr>
                </a:tc>
                <a:tc>
                  <a:txBody>
                    <a:bodyPr/>
                    <a:lstStyle/>
                    <a:p>
                      <a:pPr algn="l" rtl="0" fontAlgn="t"/>
                      <a:r>
                        <a:rPr lang="en-GB" sz="1200" b="0" i="0" u="none" strike="noStrike">
                          <a:solidFill>
                            <a:srgbClr val="000000"/>
                          </a:solidFill>
                          <a:effectLst/>
                          <a:latin typeface="Calibri" panose="020F0502020204030204" pitchFamily="34" charset="0"/>
                        </a:rPr>
                        <a:t>Implement a 2LoD L3 TM Alert Decisioning function.</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tcPr>
                </a:tc>
                <a:tc>
                  <a:txBody>
                    <a:bodyPr/>
                    <a:lstStyle/>
                    <a:p>
                      <a:pPr algn="l" rtl="0" fontAlgn="t"/>
                      <a:r>
                        <a:rPr lang="en-GB" sz="1200" b="0" i="0" u="none" strike="noStrike">
                          <a:solidFill>
                            <a:srgbClr val="000000"/>
                          </a:solidFill>
                          <a:effectLst/>
                          <a:latin typeface="Calibri" panose="020F0502020204030204" pitchFamily="34" charset="0"/>
                        </a:rPr>
                        <a:t>FTOMR065</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4128435205"/>
                  </a:ext>
                </a:extLst>
              </a:tr>
              <a:tr h="162024">
                <a:tc>
                  <a:txBody>
                    <a:bodyPr/>
                    <a:lstStyle/>
                    <a:p>
                      <a:pPr algn="ctr" rtl="0" fontAlgn="t"/>
                      <a:r>
                        <a:rPr lang="en-GB" sz="1200" b="0" i="0" u="none" strike="noStrike">
                          <a:solidFill>
                            <a:srgbClr val="000000"/>
                          </a:solidFill>
                          <a:effectLst/>
                          <a:latin typeface="Calibri" panose="020F0502020204030204" pitchFamily="34" charset="0"/>
                        </a:rPr>
                        <a:t>4.d.1.4</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2F2"/>
                    </a:solidFill>
                  </a:tcPr>
                </a:tc>
                <a:tc>
                  <a:txBody>
                    <a:bodyPr/>
                    <a:lstStyle/>
                    <a:p>
                      <a:pPr algn="l" rtl="0" fontAlgn="t"/>
                      <a:r>
                        <a:rPr lang="en-GB" sz="1200" b="0" i="0" u="none" strike="noStrike">
                          <a:solidFill>
                            <a:srgbClr val="000000"/>
                          </a:solidFill>
                          <a:effectLst/>
                          <a:latin typeface="Calibri" panose="020F0502020204030204" pitchFamily="34" charset="0"/>
                        </a:rPr>
                        <a:t>Organisation &amp; People</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2F2"/>
                    </a:solidFill>
                  </a:tcPr>
                </a:tc>
                <a:tc>
                  <a:txBody>
                    <a:bodyPr/>
                    <a:lstStyle/>
                    <a:p>
                      <a:pPr algn="l" rtl="0" fontAlgn="t"/>
                      <a:r>
                        <a:rPr lang="en-GB" sz="1200" b="0" i="0" u="none" strike="noStrike">
                          <a:solidFill>
                            <a:srgbClr val="000000"/>
                          </a:solidFill>
                          <a:effectLst/>
                          <a:latin typeface="Calibri" panose="020F0502020204030204" pitchFamily="34" charset="0"/>
                        </a:rPr>
                        <a:t>Implement a 2LoD L3 TM Oversight function.</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2F2"/>
                    </a:solidFill>
                  </a:tcPr>
                </a:tc>
                <a:tc>
                  <a:txBody>
                    <a:bodyPr/>
                    <a:lstStyle/>
                    <a:p>
                      <a:pPr algn="l" rtl="0" fontAlgn="t"/>
                      <a:r>
                        <a:rPr lang="en-GB" sz="1200" b="0" i="0" u="none" strike="noStrike">
                          <a:solidFill>
                            <a:srgbClr val="000000"/>
                          </a:solidFill>
                          <a:effectLst/>
                          <a:latin typeface="Calibri" panose="020F0502020204030204" pitchFamily="34" charset="0"/>
                        </a:rPr>
                        <a:t>FTOMR065</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2F2"/>
                    </a:solidFill>
                  </a:tcPr>
                </a:tc>
                <a:extLst>
                  <a:ext uri="{0D108BD9-81ED-4DB2-BD59-A6C34878D82A}">
                    <a16:rowId xmlns:a16="http://schemas.microsoft.com/office/drawing/2014/main" val="2219646479"/>
                  </a:ext>
                </a:extLst>
              </a:tr>
              <a:tr h="162024">
                <a:tc>
                  <a:txBody>
                    <a:bodyPr/>
                    <a:lstStyle/>
                    <a:p>
                      <a:pPr algn="ctr" rtl="0" fontAlgn="t"/>
                      <a:r>
                        <a:rPr lang="en-GB" sz="1200" b="0" i="0" u="none" strike="noStrike">
                          <a:solidFill>
                            <a:srgbClr val="000000"/>
                          </a:solidFill>
                          <a:effectLst/>
                          <a:latin typeface="Calibri" panose="020F0502020204030204" pitchFamily="34" charset="0"/>
                        </a:rPr>
                        <a:t>4.d.1.5</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tcPr>
                </a:tc>
                <a:tc>
                  <a:txBody>
                    <a:bodyPr/>
                    <a:lstStyle/>
                    <a:p>
                      <a:pPr algn="l" rtl="0" fontAlgn="t"/>
                      <a:r>
                        <a:rPr lang="en-GB" sz="1200" b="0" i="0" u="none" strike="noStrike">
                          <a:solidFill>
                            <a:srgbClr val="000000"/>
                          </a:solidFill>
                          <a:effectLst/>
                          <a:latin typeface="Calibri" panose="020F0502020204030204" pitchFamily="34" charset="0"/>
                        </a:rPr>
                        <a:t>Organisation &amp; People</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tcPr>
                </a:tc>
                <a:tc>
                  <a:txBody>
                    <a:bodyPr/>
                    <a:lstStyle/>
                    <a:p>
                      <a:pPr algn="l" rtl="0" fontAlgn="t"/>
                      <a:r>
                        <a:rPr lang="en-GB" sz="1200" b="0" i="0" u="none" strike="noStrike">
                          <a:solidFill>
                            <a:srgbClr val="000000"/>
                          </a:solidFill>
                          <a:effectLst/>
                          <a:latin typeface="Calibri" panose="020F0502020204030204" pitchFamily="34" charset="0"/>
                        </a:rPr>
                        <a:t>Implement a 2LoD L3 TM QA function.</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tcPr>
                </a:tc>
                <a:tc>
                  <a:txBody>
                    <a:bodyPr/>
                    <a:lstStyle/>
                    <a:p>
                      <a:pPr algn="l" rtl="0" fontAlgn="t"/>
                      <a:r>
                        <a:rPr lang="en-GB" sz="1200" b="0" i="0" u="none" strike="noStrike">
                          <a:solidFill>
                            <a:srgbClr val="000000"/>
                          </a:solidFill>
                          <a:effectLst/>
                          <a:latin typeface="Calibri" panose="020F0502020204030204" pitchFamily="34" charset="0"/>
                        </a:rPr>
                        <a:t>FTOMR065</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1086134364"/>
                  </a:ext>
                </a:extLst>
              </a:tr>
              <a:tr h="234252">
                <a:tc>
                  <a:txBody>
                    <a:bodyPr/>
                    <a:lstStyle/>
                    <a:p>
                      <a:pPr algn="ctr" rtl="0" fontAlgn="t"/>
                      <a:r>
                        <a:rPr lang="en-GB" sz="1200" b="0" i="0" u="none" strike="noStrike">
                          <a:solidFill>
                            <a:srgbClr val="000000"/>
                          </a:solidFill>
                          <a:effectLst/>
                          <a:latin typeface="Calibri" panose="020F0502020204030204" pitchFamily="34" charset="0"/>
                        </a:rPr>
                        <a:t>4.d.1.6</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2F2"/>
                    </a:solidFill>
                  </a:tcPr>
                </a:tc>
                <a:tc>
                  <a:txBody>
                    <a:bodyPr/>
                    <a:lstStyle/>
                    <a:p>
                      <a:pPr algn="l" rtl="0" fontAlgn="t"/>
                      <a:r>
                        <a:rPr lang="en-GB" sz="1200" b="0" i="0" u="none" strike="noStrike">
                          <a:solidFill>
                            <a:srgbClr val="000000"/>
                          </a:solidFill>
                          <a:effectLst/>
                          <a:latin typeface="Calibri" panose="020F0502020204030204" pitchFamily="34" charset="0"/>
                        </a:rPr>
                        <a:t>Organisation &amp; People</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2F2"/>
                    </a:solidFill>
                  </a:tcPr>
                </a:tc>
                <a:tc>
                  <a:txBody>
                    <a:bodyPr/>
                    <a:lstStyle/>
                    <a:p>
                      <a:pPr algn="l" rtl="0" fontAlgn="t"/>
                      <a:r>
                        <a:rPr lang="en-GB" sz="1200" b="0" i="0" u="none" strike="noStrike">
                          <a:solidFill>
                            <a:srgbClr val="000000"/>
                          </a:solidFill>
                          <a:effectLst/>
                          <a:latin typeface="Calibri" panose="020F0502020204030204" pitchFamily="34" charset="0"/>
                        </a:rPr>
                        <a:t>Implement a 3-Level model to work Transaction Monitoring alerts.</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2F2"/>
                    </a:solidFill>
                  </a:tcPr>
                </a:tc>
                <a:tc>
                  <a:txBody>
                    <a:bodyPr/>
                    <a:lstStyle/>
                    <a:p>
                      <a:pPr algn="l" rtl="0" fontAlgn="t"/>
                      <a:r>
                        <a:rPr lang="en-GB" sz="1200" b="0" i="0" u="none" strike="noStrike">
                          <a:solidFill>
                            <a:srgbClr val="000000"/>
                          </a:solidFill>
                          <a:effectLst/>
                          <a:latin typeface="Calibri" panose="020F0502020204030204" pitchFamily="34" charset="0"/>
                        </a:rPr>
                        <a:t>FTOMR072</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2F2"/>
                    </a:solidFill>
                  </a:tcPr>
                </a:tc>
                <a:extLst>
                  <a:ext uri="{0D108BD9-81ED-4DB2-BD59-A6C34878D82A}">
                    <a16:rowId xmlns:a16="http://schemas.microsoft.com/office/drawing/2014/main" val="4081393425"/>
                  </a:ext>
                </a:extLst>
              </a:tr>
              <a:tr h="234252">
                <a:tc>
                  <a:txBody>
                    <a:bodyPr/>
                    <a:lstStyle/>
                    <a:p>
                      <a:pPr algn="ctr" rtl="0" fontAlgn="t"/>
                      <a:r>
                        <a:rPr lang="en-GB" sz="1200" b="0" i="0" u="none" strike="noStrike">
                          <a:solidFill>
                            <a:srgbClr val="000000"/>
                          </a:solidFill>
                          <a:effectLst/>
                          <a:latin typeface="Calibri" panose="020F0502020204030204" pitchFamily="34" charset="0"/>
                        </a:rPr>
                        <a:t>4.d.1.7</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tcPr>
                </a:tc>
                <a:tc>
                  <a:txBody>
                    <a:bodyPr/>
                    <a:lstStyle/>
                    <a:p>
                      <a:pPr algn="l" rtl="0" fontAlgn="t"/>
                      <a:r>
                        <a:rPr lang="en-GB" sz="1200" b="0" i="0" u="none" strike="noStrike">
                          <a:solidFill>
                            <a:srgbClr val="000000"/>
                          </a:solidFill>
                          <a:effectLst/>
                          <a:latin typeface="Calibri" panose="020F0502020204030204" pitchFamily="34" charset="0"/>
                        </a:rPr>
                        <a:t>Quality Control / Quality Assurance / Testing</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tcPr>
                </a:tc>
                <a:tc>
                  <a:txBody>
                    <a:bodyPr/>
                    <a:lstStyle/>
                    <a:p>
                      <a:pPr algn="l" rtl="0" fontAlgn="t"/>
                      <a:r>
                        <a:rPr lang="en-GB" sz="1200" b="0" i="0" u="none" strike="noStrike">
                          <a:solidFill>
                            <a:srgbClr val="000000"/>
                          </a:solidFill>
                          <a:effectLst/>
                          <a:latin typeface="Calibri" panose="020F0502020204030204" pitchFamily="34" charset="0"/>
                        </a:rPr>
                        <a:t>Implement procedures to undertake ongoing testing and analysing TM rule effectiveness.</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tcPr>
                </a:tc>
                <a:tc>
                  <a:txBody>
                    <a:bodyPr/>
                    <a:lstStyle/>
                    <a:p>
                      <a:pPr algn="l" rtl="0" fontAlgn="t"/>
                      <a:r>
                        <a:rPr lang="en-GB" sz="1200" b="0" i="0" u="none" strike="noStrike">
                          <a:solidFill>
                            <a:srgbClr val="000000"/>
                          </a:solidFill>
                          <a:effectLst/>
                          <a:latin typeface="Calibri" panose="020F0502020204030204" pitchFamily="34" charset="0"/>
                        </a:rPr>
                        <a:t>FTOMR075</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587059085"/>
                  </a:ext>
                </a:extLst>
              </a:tr>
              <a:tr h="351378">
                <a:tc>
                  <a:txBody>
                    <a:bodyPr/>
                    <a:lstStyle/>
                    <a:p>
                      <a:pPr algn="ctr" rtl="0" fontAlgn="t"/>
                      <a:r>
                        <a:rPr lang="en-GB" sz="1200" b="0" i="0" u="none" strike="noStrike">
                          <a:solidFill>
                            <a:srgbClr val="000000"/>
                          </a:solidFill>
                          <a:effectLst/>
                          <a:latin typeface="Calibri" panose="020F0502020204030204" pitchFamily="34" charset="0"/>
                        </a:rPr>
                        <a:t>4.d.1.8</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2F2"/>
                    </a:solidFill>
                  </a:tcPr>
                </a:tc>
                <a:tc>
                  <a:txBody>
                    <a:bodyPr/>
                    <a:lstStyle/>
                    <a:p>
                      <a:pPr algn="l" rtl="0" fontAlgn="t"/>
                      <a:r>
                        <a:rPr lang="en-GB" sz="1200" b="0" i="0" u="none" strike="noStrike">
                          <a:solidFill>
                            <a:srgbClr val="000000"/>
                          </a:solidFill>
                          <a:effectLst/>
                          <a:latin typeface="Calibri" panose="020F0502020204030204" pitchFamily="34" charset="0"/>
                        </a:rPr>
                        <a:t>Quality Control / Quality Assurance / Testing</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2F2"/>
                    </a:solidFill>
                  </a:tcPr>
                </a:tc>
                <a:tc>
                  <a:txBody>
                    <a:bodyPr/>
                    <a:lstStyle/>
                    <a:p>
                      <a:pPr algn="l" rtl="0" fontAlgn="t"/>
                      <a:r>
                        <a:rPr lang="en-GB" sz="1200" b="0" i="0" u="none" strike="noStrike">
                          <a:solidFill>
                            <a:srgbClr val="000000"/>
                          </a:solidFill>
                          <a:effectLst/>
                          <a:latin typeface="Calibri" panose="020F0502020204030204" pitchFamily="34" charset="0"/>
                        </a:rPr>
                        <a:t>Undertake a holistic Assurance review of the TM programme to assess whether plans, budgets etc. are realistic.</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2F2"/>
                    </a:solidFill>
                  </a:tcPr>
                </a:tc>
                <a:tc>
                  <a:txBody>
                    <a:bodyPr/>
                    <a:lstStyle/>
                    <a:p>
                      <a:pPr algn="l" rtl="0" fontAlgn="t"/>
                      <a:r>
                        <a:rPr lang="en-GB" sz="1200" b="0" i="0" u="none" strike="noStrike">
                          <a:solidFill>
                            <a:srgbClr val="000000"/>
                          </a:solidFill>
                          <a:effectLst/>
                          <a:latin typeface="Calibri" panose="020F0502020204030204" pitchFamily="34" charset="0"/>
                        </a:rPr>
                        <a:t>FTOMR068</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2F2"/>
                    </a:solidFill>
                  </a:tcPr>
                </a:tc>
                <a:extLst>
                  <a:ext uri="{0D108BD9-81ED-4DB2-BD59-A6C34878D82A}">
                    <a16:rowId xmlns:a16="http://schemas.microsoft.com/office/drawing/2014/main" val="1237317721"/>
                  </a:ext>
                </a:extLst>
              </a:tr>
              <a:tr h="585630">
                <a:tc>
                  <a:txBody>
                    <a:bodyPr/>
                    <a:lstStyle/>
                    <a:p>
                      <a:pPr algn="ctr" rtl="0" fontAlgn="t"/>
                      <a:r>
                        <a:rPr lang="en-GB" sz="1200" b="0" i="0" u="none" strike="noStrike">
                          <a:solidFill>
                            <a:srgbClr val="000000"/>
                          </a:solidFill>
                          <a:effectLst/>
                          <a:latin typeface="Calibri" panose="020F0502020204030204" pitchFamily="34" charset="0"/>
                        </a:rPr>
                        <a:t>4.d.1.9</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tcPr>
                </a:tc>
                <a:tc>
                  <a:txBody>
                    <a:bodyPr/>
                    <a:lstStyle/>
                    <a:p>
                      <a:pPr algn="l" rtl="0" fontAlgn="t"/>
                      <a:r>
                        <a:rPr lang="en-GB" sz="1200" b="0" i="0" u="none" strike="noStrike">
                          <a:solidFill>
                            <a:srgbClr val="000000"/>
                          </a:solidFill>
                          <a:effectLst/>
                          <a:latin typeface="Calibri" panose="020F0502020204030204" pitchFamily="34" charset="0"/>
                        </a:rPr>
                        <a:t>Quality Control / Quality Assurance / Testing</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tcPr>
                </a:tc>
                <a:tc>
                  <a:txBody>
                    <a:bodyPr/>
                    <a:lstStyle/>
                    <a:p>
                      <a:pPr algn="l" rtl="0" fontAlgn="t"/>
                      <a:r>
                        <a:rPr lang="en-GB" sz="1200" b="0" i="0" u="none" strike="noStrike">
                          <a:solidFill>
                            <a:srgbClr val="000000"/>
                          </a:solidFill>
                          <a:effectLst/>
                          <a:latin typeface="Calibri" panose="020F0502020204030204" pitchFamily="34" charset="0"/>
                        </a:rPr>
                        <a:t>Undertake a holistic Assurance review of the TM programme's technical aspects such as controls, tailoring of typologies and rules to more precise areas of, potential risk, consideration of ‘nuances’ such as dealing with repeat hits, etc.</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tcPr>
                </a:tc>
                <a:tc>
                  <a:txBody>
                    <a:bodyPr/>
                    <a:lstStyle/>
                    <a:p>
                      <a:pPr algn="l" rtl="0" fontAlgn="t"/>
                      <a:r>
                        <a:rPr lang="en-GB" sz="1200" b="0" i="0" u="none" strike="noStrike">
                          <a:solidFill>
                            <a:srgbClr val="000000"/>
                          </a:solidFill>
                          <a:effectLst/>
                          <a:latin typeface="Calibri" panose="020F0502020204030204" pitchFamily="34" charset="0"/>
                        </a:rPr>
                        <a:t>FTOMR068</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3714166410"/>
                  </a:ext>
                </a:extLst>
              </a:tr>
              <a:tr h="361739">
                <a:tc>
                  <a:txBody>
                    <a:bodyPr/>
                    <a:lstStyle/>
                    <a:p>
                      <a:pPr algn="ctr" fontAlgn="ctr"/>
                      <a:r>
                        <a:rPr lang="en-GB" sz="1200" b="1" i="0" u="none" strike="noStrike">
                          <a:solidFill>
                            <a:srgbClr val="FFFFFF"/>
                          </a:solidFill>
                          <a:effectLst/>
                          <a:latin typeface="Calibri" panose="020F0502020204030204" pitchFamily="34" charset="0"/>
                        </a:rPr>
                        <a:t>4d.2</a:t>
                      </a:r>
                    </a:p>
                  </a:txBody>
                  <a:tcPr marL="58839" marR="3923" marT="3923" marB="0" anchor="ctr">
                    <a:lnL>
                      <a:noFill/>
                    </a:lnL>
                    <a:lnR>
                      <a:noFill/>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548235"/>
                    </a:solidFill>
                  </a:tcPr>
                </a:tc>
                <a:tc>
                  <a:txBody>
                    <a:bodyPr/>
                    <a:lstStyle/>
                    <a:p>
                      <a:pPr algn="l" fontAlgn="ctr"/>
                      <a:r>
                        <a:rPr lang="en-GB" sz="1200" b="1" i="0" u="none" strike="noStrike">
                          <a:solidFill>
                            <a:srgbClr val="FFFFFF"/>
                          </a:solidFill>
                          <a:effectLst/>
                          <a:latin typeface="Calibri" panose="020F0502020204030204" pitchFamily="34" charset="0"/>
                        </a:rPr>
                        <a:t> </a:t>
                      </a:r>
                    </a:p>
                  </a:txBody>
                  <a:tcPr marL="58839" marR="3923" marT="3923" marB="0" anchor="ctr">
                    <a:lnL>
                      <a:noFill/>
                    </a:lnL>
                    <a:lnR>
                      <a:noFill/>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548235"/>
                    </a:solidFill>
                  </a:tcPr>
                </a:tc>
                <a:tc>
                  <a:txBody>
                    <a:bodyPr/>
                    <a:lstStyle/>
                    <a:p>
                      <a:pPr algn="l" fontAlgn="ctr"/>
                      <a:r>
                        <a:rPr lang="en-GB" sz="1200" b="1" i="0" u="none" strike="noStrike">
                          <a:solidFill>
                            <a:srgbClr val="FFFFFF"/>
                          </a:solidFill>
                          <a:effectLst/>
                          <a:latin typeface="Calibri" panose="020F0502020204030204" pitchFamily="34" charset="0"/>
                        </a:rPr>
                        <a:t>Payments</a:t>
                      </a:r>
                    </a:p>
                  </a:txBody>
                  <a:tcPr marL="3923" marR="3923" marT="3923" marB="0" anchor="ctr">
                    <a:lnL>
                      <a:noFill/>
                    </a:lnL>
                    <a:lnR>
                      <a:noFill/>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548235"/>
                    </a:solidFill>
                  </a:tcPr>
                </a:tc>
                <a:tc>
                  <a:txBody>
                    <a:bodyPr/>
                    <a:lstStyle/>
                    <a:p>
                      <a:pPr algn="l" fontAlgn="ctr"/>
                      <a:r>
                        <a:rPr lang="en-GB" sz="1200" b="1" i="0" u="none" strike="noStrike">
                          <a:solidFill>
                            <a:srgbClr val="FFFFFF"/>
                          </a:solidFill>
                          <a:effectLst/>
                          <a:latin typeface="Calibri" panose="020F0502020204030204" pitchFamily="34" charset="0"/>
                        </a:rPr>
                        <a:t> </a:t>
                      </a:r>
                    </a:p>
                  </a:txBody>
                  <a:tcPr marL="3923" marR="3923" marT="3923" marB="0" anchor="ctr">
                    <a:lnL>
                      <a:noFill/>
                    </a:lnL>
                    <a:lnR>
                      <a:noFill/>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548235"/>
                    </a:solidFill>
                  </a:tcPr>
                </a:tc>
                <a:extLst>
                  <a:ext uri="{0D108BD9-81ED-4DB2-BD59-A6C34878D82A}">
                    <a16:rowId xmlns:a16="http://schemas.microsoft.com/office/drawing/2014/main" val="1685708594"/>
                  </a:ext>
                </a:extLst>
              </a:tr>
              <a:tr h="351378">
                <a:tc>
                  <a:txBody>
                    <a:bodyPr/>
                    <a:lstStyle/>
                    <a:p>
                      <a:pPr algn="ctr" rtl="0" fontAlgn="t"/>
                      <a:r>
                        <a:rPr lang="en-GB" sz="1200" b="0" i="0" u="none" strike="noStrike">
                          <a:solidFill>
                            <a:srgbClr val="000000"/>
                          </a:solidFill>
                          <a:effectLst/>
                          <a:latin typeface="Calibri" panose="020F0502020204030204" pitchFamily="34" charset="0"/>
                        </a:rPr>
                        <a:t>4d.2.1</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2F2"/>
                    </a:solidFill>
                  </a:tcPr>
                </a:tc>
                <a:tc>
                  <a:txBody>
                    <a:bodyPr/>
                    <a:lstStyle/>
                    <a:p>
                      <a:pPr algn="l" rtl="0" fontAlgn="t"/>
                      <a:r>
                        <a:rPr lang="en-GB" sz="1200" b="0" i="0" u="none" strike="noStrike">
                          <a:solidFill>
                            <a:srgbClr val="000000"/>
                          </a:solidFill>
                          <a:effectLst/>
                          <a:latin typeface="Calibri" panose="020F0502020204030204" pitchFamily="34" charset="0"/>
                        </a:rPr>
                        <a:t>Investigation &amp; Analysis</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2F2"/>
                    </a:solidFill>
                  </a:tcPr>
                </a:tc>
                <a:tc>
                  <a:txBody>
                    <a:bodyPr/>
                    <a:lstStyle/>
                    <a:p>
                      <a:pPr algn="l" rtl="0" fontAlgn="t"/>
                      <a:r>
                        <a:rPr lang="en-GB" sz="1200" b="0" i="0" u="none" strike="noStrike">
                          <a:solidFill>
                            <a:srgbClr val="000000"/>
                          </a:solidFill>
                          <a:effectLst/>
                          <a:latin typeface="Calibri" panose="020F0502020204030204" pitchFamily="34" charset="0"/>
                        </a:rPr>
                        <a:t>Determine strategic solution for post-event transaction reviews to identify potential resubmitted payments.</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2F2"/>
                    </a:solidFill>
                  </a:tcPr>
                </a:tc>
                <a:tc>
                  <a:txBody>
                    <a:bodyPr/>
                    <a:lstStyle/>
                    <a:p>
                      <a:pPr algn="l" rtl="0" fontAlgn="t"/>
                      <a:r>
                        <a:rPr lang="en-GB" sz="1200" b="0" i="0" u="none" strike="noStrike">
                          <a:solidFill>
                            <a:srgbClr val="000000"/>
                          </a:solidFill>
                          <a:effectLst/>
                          <a:latin typeface="Calibri" panose="020F0502020204030204" pitchFamily="34" charset="0"/>
                        </a:rPr>
                        <a:t>FTOMR083</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2F2"/>
                    </a:solidFill>
                  </a:tcPr>
                </a:tc>
                <a:extLst>
                  <a:ext uri="{0D108BD9-81ED-4DB2-BD59-A6C34878D82A}">
                    <a16:rowId xmlns:a16="http://schemas.microsoft.com/office/drawing/2014/main" val="2762113808"/>
                  </a:ext>
                </a:extLst>
              </a:tr>
              <a:tr h="234252">
                <a:tc>
                  <a:txBody>
                    <a:bodyPr/>
                    <a:lstStyle/>
                    <a:p>
                      <a:pPr algn="ctr" rtl="0" fontAlgn="t"/>
                      <a:r>
                        <a:rPr lang="en-GB" sz="1200" b="0" i="0" u="none" strike="noStrike">
                          <a:solidFill>
                            <a:srgbClr val="000000"/>
                          </a:solidFill>
                          <a:effectLst/>
                          <a:latin typeface="Calibri" panose="020F0502020204030204" pitchFamily="34" charset="0"/>
                        </a:rPr>
                        <a:t>4d.2.2</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FFFFF"/>
                    </a:solidFill>
                  </a:tcPr>
                </a:tc>
                <a:tc>
                  <a:txBody>
                    <a:bodyPr/>
                    <a:lstStyle/>
                    <a:p>
                      <a:pPr algn="l" rtl="0" fontAlgn="t"/>
                      <a:r>
                        <a:rPr lang="en-GB" sz="1200" b="0" i="0" u="none" strike="noStrike">
                          <a:solidFill>
                            <a:srgbClr val="000000"/>
                          </a:solidFill>
                          <a:effectLst/>
                          <a:latin typeface="Calibri" panose="020F0502020204030204" pitchFamily="34" charset="0"/>
                        </a:rPr>
                        <a:t>Systems / Technology</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FFFFF"/>
                    </a:solidFill>
                  </a:tcPr>
                </a:tc>
                <a:tc>
                  <a:txBody>
                    <a:bodyPr/>
                    <a:lstStyle/>
                    <a:p>
                      <a:pPr algn="l" rtl="0" fontAlgn="t"/>
                      <a:r>
                        <a:rPr lang="en-GB" sz="1200" b="0" i="0" u="none" strike="noStrike">
                          <a:solidFill>
                            <a:srgbClr val="000000"/>
                          </a:solidFill>
                          <a:effectLst/>
                          <a:latin typeface="Calibri" panose="020F0502020204030204" pitchFamily="34" charset="0"/>
                        </a:rPr>
                        <a:t>Migrate all business areas onto strategic transaction monitoring tool.</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FFFFF"/>
                    </a:solidFill>
                  </a:tcPr>
                </a:tc>
                <a:tc>
                  <a:txBody>
                    <a:bodyPr/>
                    <a:lstStyle/>
                    <a:p>
                      <a:pPr algn="l" rtl="0" fontAlgn="t"/>
                      <a:r>
                        <a:rPr lang="en-GB" sz="1200" b="0" i="0" u="none" strike="noStrike">
                          <a:solidFill>
                            <a:srgbClr val="000000"/>
                          </a:solidFill>
                          <a:effectLst/>
                          <a:latin typeface="Calibri" panose="020F0502020204030204" pitchFamily="34" charset="0"/>
                        </a:rPr>
                        <a:t>FTOMR079</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1000688887"/>
                  </a:ext>
                </a:extLst>
              </a:tr>
              <a:tr h="162024">
                <a:tc>
                  <a:txBody>
                    <a:bodyPr/>
                    <a:lstStyle/>
                    <a:p>
                      <a:pPr algn="ctr" fontAlgn="ctr"/>
                      <a:r>
                        <a:rPr lang="en-GB" sz="1200" b="1" i="0" u="none" strike="noStrike">
                          <a:solidFill>
                            <a:srgbClr val="FFFFFF"/>
                          </a:solidFill>
                          <a:effectLst/>
                          <a:latin typeface="Calibri" panose="020F0502020204030204" pitchFamily="34" charset="0"/>
                        </a:rPr>
                        <a:t>4d.3</a:t>
                      </a:r>
                    </a:p>
                  </a:txBody>
                  <a:tcPr marL="58839" marR="3923" marT="3923" marB="0" anchor="ctr">
                    <a:lnL>
                      <a:noFill/>
                    </a:lnL>
                    <a:lnR>
                      <a:noFill/>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548235"/>
                    </a:solidFill>
                  </a:tcPr>
                </a:tc>
                <a:tc>
                  <a:txBody>
                    <a:bodyPr/>
                    <a:lstStyle/>
                    <a:p>
                      <a:pPr algn="l" fontAlgn="ctr"/>
                      <a:r>
                        <a:rPr lang="en-GB" sz="1200" b="1" i="0" u="none" strike="noStrike">
                          <a:solidFill>
                            <a:srgbClr val="FFFFFF"/>
                          </a:solidFill>
                          <a:effectLst/>
                          <a:latin typeface="Calibri" panose="020F0502020204030204" pitchFamily="34" charset="0"/>
                        </a:rPr>
                        <a:t> </a:t>
                      </a:r>
                    </a:p>
                  </a:txBody>
                  <a:tcPr marL="58839" marR="3923" marT="3923" marB="0" anchor="ctr">
                    <a:lnL>
                      <a:noFill/>
                    </a:lnL>
                    <a:lnR>
                      <a:noFill/>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548235"/>
                    </a:solidFill>
                  </a:tcPr>
                </a:tc>
                <a:tc>
                  <a:txBody>
                    <a:bodyPr/>
                    <a:lstStyle/>
                    <a:p>
                      <a:pPr algn="l" fontAlgn="ctr"/>
                      <a:r>
                        <a:rPr lang="en-GB" sz="1200" b="1" i="0" u="none" strike="noStrike">
                          <a:solidFill>
                            <a:srgbClr val="FFFFFF"/>
                          </a:solidFill>
                          <a:effectLst/>
                          <a:latin typeface="Calibri" panose="020F0502020204030204" pitchFamily="34" charset="0"/>
                        </a:rPr>
                        <a:t>Rules &amp; Scenarios</a:t>
                      </a:r>
                    </a:p>
                  </a:txBody>
                  <a:tcPr marL="3923" marR="3923" marT="3923" marB="0" anchor="ctr">
                    <a:lnL>
                      <a:noFill/>
                    </a:lnL>
                    <a:lnR>
                      <a:noFill/>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548235"/>
                    </a:solidFill>
                  </a:tcPr>
                </a:tc>
                <a:tc>
                  <a:txBody>
                    <a:bodyPr/>
                    <a:lstStyle/>
                    <a:p>
                      <a:pPr algn="l" fontAlgn="ctr"/>
                      <a:r>
                        <a:rPr lang="en-GB" sz="1200" b="1" i="0" u="none" strike="noStrike">
                          <a:solidFill>
                            <a:srgbClr val="FFFFFF"/>
                          </a:solidFill>
                          <a:effectLst/>
                          <a:latin typeface="Calibri" panose="020F0502020204030204" pitchFamily="34" charset="0"/>
                        </a:rPr>
                        <a:t> </a:t>
                      </a:r>
                    </a:p>
                  </a:txBody>
                  <a:tcPr marL="3923" marR="3923" marT="3923" marB="0" anchor="ctr">
                    <a:lnL>
                      <a:noFill/>
                    </a:lnL>
                    <a:lnR>
                      <a:noFill/>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548235"/>
                    </a:solidFill>
                  </a:tcPr>
                </a:tc>
                <a:extLst>
                  <a:ext uri="{0D108BD9-81ED-4DB2-BD59-A6C34878D82A}">
                    <a16:rowId xmlns:a16="http://schemas.microsoft.com/office/drawing/2014/main" val="2042001727"/>
                  </a:ext>
                </a:extLst>
              </a:tr>
              <a:tr h="234252">
                <a:tc>
                  <a:txBody>
                    <a:bodyPr/>
                    <a:lstStyle/>
                    <a:p>
                      <a:pPr algn="ctr" rtl="0" fontAlgn="t"/>
                      <a:r>
                        <a:rPr lang="en-GB" sz="1200" b="0" i="0" u="none" strike="noStrike">
                          <a:solidFill>
                            <a:srgbClr val="000000"/>
                          </a:solidFill>
                          <a:effectLst/>
                          <a:latin typeface="Calibri" panose="020F0502020204030204" pitchFamily="34" charset="0"/>
                        </a:rPr>
                        <a:t>4d.3.1</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2F2"/>
                    </a:solidFill>
                  </a:tcPr>
                </a:tc>
                <a:tc>
                  <a:txBody>
                    <a:bodyPr/>
                    <a:lstStyle/>
                    <a:p>
                      <a:pPr algn="l" rtl="0" fontAlgn="t"/>
                      <a:r>
                        <a:rPr lang="en-GB" sz="1200" b="0" i="0" u="none" strike="noStrike">
                          <a:solidFill>
                            <a:srgbClr val="000000"/>
                          </a:solidFill>
                          <a:effectLst/>
                          <a:latin typeface="Calibri" panose="020F0502020204030204" pitchFamily="34" charset="0"/>
                        </a:rPr>
                        <a:t>Processes &amp; Procedures</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2F2"/>
                    </a:solidFill>
                  </a:tcPr>
                </a:tc>
                <a:tc>
                  <a:txBody>
                    <a:bodyPr/>
                    <a:lstStyle/>
                    <a:p>
                      <a:pPr algn="l" rtl="0" fontAlgn="t"/>
                      <a:r>
                        <a:rPr lang="en-GB" sz="1200" b="0" i="0" u="none" strike="noStrike">
                          <a:solidFill>
                            <a:srgbClr val="000000"/>
                          </a:solidFill>
                          <a:effectLst/>
                          <a:latin typeface="Calibri" panose="020F0502020204030204" pitchFamily="34" charset="0"/>
                        </a:rPr>
                        <a:t>Agree and implement the approach to assessment of ongoing TM rule effectiveness.</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2F2"/>
                    </a:solidFill>
                  </a:tcPr>
                </a:tc>
                <a:tc>
                  <a:txBody>
                    <a:bodyPr/>
                    <a:lstStyle/>
                    <a:p>
                      <a:pPr algn="l" rtl="0" fontAlgn="t"/>
                      <a:r>
                        <a:rPr lang="en-GB" sz="1200" b="0" i="0" u="none" strike="noStrike">
                          <a:solidFill>
                            <a:srgbClr val="000000"/>
                          </a:solidFill>
                          <a:effectLst/>
                          <a:latin typeface="Calibri" panose="020F0502020204030204" pitchFamily="34" charset="0"/>
                        </a:rPr>
                        <a:t>FTOMR069</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2F2"/>
                    </a:solidFill>
                  </a:tcPr>
                </a:tc>
                <a:extLst>
                  <a:ext uri="{0D108BD9-81ED-4DB2-BD59-A6C34878D82A}">
                    <a16:rowId xmlns:a16="http://schemas.microsoft.com/office/drawing/2014/main" val="3887427899"/>
                  </a:ext>
                </a:extLst>
              </a:tr>
              <a:tr h="351378">
                <a:tc>
                  <a:txBody>
                    <a:bodyPr/>
                    <a:lstStyle/>
                    <a:p>
                      <a:pPr algn="ctr" rtl="0" fontAlgn="t"/>
                      <a:r>
                        <a:rPr lang="en-GB" sz="1200" b="0" i="0" u="none" strike="noStrike">
                          <a:solidFill>
                            <a:srgbClr val="000000"/>
                          </a:solidFill>
                          <a:effectLst/>
                          <a:latin typeface="Calibri" panose="020F0502020204030204" pitchFamily="34" charset="0"/>
                        </a:rPr>
                        <a:t>4d.3.2</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tcPr>
                </a:tc>
                <a:tc>
                  <a:txBody>
                    <a:bodyPr/>
                    <a:lstStyle/>
                    <a:p>
                      <a:pPr algn="l" rtl="0" fontAlgn="t"/>
                      <a:r>
                        <a:rPr lang="en-GB" sz="1200" b="0" i="0" u="none" strike="noStrike">
                          <a:solidFill>
                            <a:srgbClr val="000000"/>
                          </a:solidFill>
                          <a:effectLst/>
                          <a:latin typeface="Calibri" panose="020F0502020204030204" pitchFamily="34" charset="0"/>
                        </a:rPr>
                        <a:t>Processes &amp; Procedures</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tcPr>
                </a:tc>
                <a:tc>
                  <a:txBody>
                    <a:bodyPr/>
                    <a:lstStyle/>
                    <a:p>
                      <a:pPr algn="l" rtl="0" fontAlgn="t"/>
                      <a:r>
                        <a:rPr lang="en-GB" sz="1200" b="0" i="0" u="none" strike="noStrike">
                          <a:solidFill>
                            <a:srgbClr val="000000"/>
                          </a:solidFill>
                          <a:effectLst/>
                          <a:latin typeface="Calibri" panose="020F0502020204030204" pitchFamily="34" charset="0"/>
                        </a:rPr>
                        <a:t>Develop a process to update guidance on how to investigate the different types of alerts as new TM rules are introduced.</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tcPr>
                </a:tc>
                <a:tc>
                  <a:txBody>
                    <a:bodyPr/>
                    <a:lstStyle/>
                    <a:p>
                      <a:pPr algn="l" rtl="0" fontAlgn="t"/>
                      <a:r>
                        <a:rPr lang="en-GB" sz="1200" b="0" i="0" u="none" strike="noStrike">
                          <a:solidFill>
                            <a:srgbClr val="000000"/>
                          </a:solidFill>
                          <a:effectLst/>
                          <a:latin typeface="Calibri" panose="020F0502020204030204" pitchFamily="34" charset="0"/>
                        </a:rPr>
                        <a:t>FTOMR070</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2815877251"/>
                  </a:ext>
                </a:extLst>
              </a:tr>
              <a:tr h="468504">
                <a:tc>
                  <a:txBody>
                    <a:bodyPr/>
                    <a:lstStyle/>
                    <a:p>
                      <a:pPr algn="ctr" rtl="0" fontAlgn="t"/>
                      <a:r>
                        <a:rPr lang="en-GB" sz="1200" b="0" i="0" u="none" strike="noStrike">
                          <a:solidFill>
                            <a:srgbClr val="000000"/>
                          </a:solidFill>
                          <a:effectLst/>
                          <a:latin typeface="Calibri" panose="020F0502020204030204" pitchFamily="34" charset="0"/>
                        </a:rPr>
                        <a:t>4d.3.3</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2F2"/>
                    </a:solidFill>
                  </a:tcPr>
                </a:tc>
                <a:tc>
                  <a:txBody>
                    <a:bodyPr/>
                    <a:lstStyle/>
                    <a:p>
                      <a:pPr algn="l" rtl="0" fontAlgn="t"/>
                      <a:r>
                        <a:rPr lang="en-GB" sz="1200" b="0" i="0" u="none" strike="noStrike">
                          <a:solidFill>
                            <a:srgbClr val="000000"/>
                          </a:solidFill>
                          <a:effectLst/>
                          <a:latin typeface="Calibri" panose="020F0502020204030204" pitchFamily="34" charset="0"/>
                        </a:rPr>
                        <a:t>Systems / Technology</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2F2"/>
                    </a:solidFill>
                  </a:tcPr>
                </a:tc>
                <a:tc>
                  <a:txBody>
                    <a:bodyPr/>
                    <a:lstStyle/>
                    <a:p>
                      <a:pPr algn="l" rtl="0" fontAlgn="t"/>
                      <a:r>
                        <a:rPr lang="en-GB" sz="1200" b="0" i="0" u="none" strike="noStrike">
                          <a:solidFill>
                            <a:srgbClr val="000000"/>
                          </a:solidFill>
                          <a:effectLst/>
                          <a:latin typeface="Calibri" panose="020F0502020204030204" pitchFamily="34" charset="0"/>
                        </a:rPr>
                        <a:t>Undertake a review of the TM system in order to identify areas for improvement, which should include assessing the "suspicion score" that drives the threshold and QA of rule coding.</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2F2"/>
                    </a:solidFill>
                  </a:tcPr>
                </a:tc>
                <a:tc>
                  <a:txBody>
                    <a:bodyPr/>
                    <a:lstStyle/>
                    <a:p>
                      <a:pPr algn="l" rtl="0" fontAlgn="t"/>
                      <a:r>
                        <a:rPr lang="en-GB" sz="1200" b="0" i="0" u="none" strike="noStrike" dirty="0">
                          <a:solidFill>
                            <a:srgbClr val="000000"/>
                          </a:solidFill>
                          <a:effectLst/>
                          <a:latin typeface="Calibri" panose="020F0502020204030204" pitchFamily="34" charset="0"/>
                        </a:rPr>
                        <a:t>FTOMR067</a:t>
                      </a:r>
                    </a:p>
                  </a:txBody>
                  <a:tcPr marL="3923" marR="3923" marT="3923" marB="0">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F2F2F2"/>
                    </a:solidFill>
                  </a:tcPr>
                </a:tc>
                <a:extLst>
                  <a:ext uri="{0D108BD9-81ED-4DB2-BD59-A6C34878D82A}">
                    <a16:rowId xmlns:a16="http://schemas.microsoft.com/office/drawing/2014/main" val="4143612988"/>
                  </a:ext>
                </a:extLst>
              </a:tr>
            </a:tbl>
          </a:graphicData>
        </a:graphic>
      </p:graphicFrame>
    </p:spTree>
    <p:extLst>
      <p:ext uri="{BB962C8B-B14F-4D97-AF65-F5344CB8AC3E}">
        <p14:creationId xmlns:p14="http://schemas.microsoft.com/office/powerpoint/2010/main" val="17260736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BAD370E6C1E834BAF8B0CE8330AF9C8" ma:contentTypeVersion="6" ma:contentTypeDescription="Create a new document." ma:contentTypeScope="" ma:versionID="b214d0340ea19e39ec0537095219f9ee">
  <xsd:schema xmlns:xsd="http://www.w3.org/2001/XMLSchema" xmlns:xs="http://www.w3.org/2001/XMLSchema" xmlns:p="http://schemas.microsoft.com/office/2006/metadata/properties" xmlns:ns3="ddbcc543-95a6-4616-b36c-bb54498c5d5e" targetNamespace="http://schemas.microsoft.com/office/2006/metadata/properties" ma:root="true" ma:fieldsID="0cce393e186051b8d7bb1aeab540c1d1" ns3:_="">
    <xsd:import namespace="ddbcc543-95a6-4616-b36c-bb54498c5d5e"/>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Location"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bcc543-95a6-4616-b36c-bb54498c5d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DDEB2FB-402A-4E7A-9E99-ACB62BBF3C04}">
  <ds:schemaRefs>
    <ds:schemaRef ds:uri="http://schemas.microsoft.com/office/2006/documentManagement/types"/>
    <ds:schemaRef ds:uri="ddbcc543-95a6-4616-b36c-bb54498c5d5e"/>
    <ds:schemaRef ds:uri="http://purl.org/dc/elements/1.1/"/>
    <ds:schemaRef ds:uri="http://schemas.microsoft.com/office/2006/metadata/properties"/>
    <ds:schemaRef ds:uri="http://purl.org/dc/terms/"/>
    <ds:schemaRef ds:uri="http://schemas.openxmlformats.org/package/2006/metadata/core-properti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02BC5A41-0989-4C84-9E88-E7E57333A7FA}">
  <ds:schemaRefs>
    <ds:schemaRef ds:uri="http://schemas.microsoft.com/sharepoint/v3/contenttype/forms"/>
  </ds:schemaRefs>
</ds:datastoreItem>
</file>

<file path=customXml/itemProps3.xml><?xml version="1.0" encoding="utf-8"?>
<ds:datastoreItem xmlns:ds="http://schemas.openxmlformats.org/officeDocument/2006/customXml" ds:itemID="{A333FBD5-BD74-491D-9441-01D7748CD47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dbcc543-95a6-4616-b36c-bb54498c5d5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15666</TotalTime>
  <Words>8112</Words>
  <Application>Microsoft Macintosh PowerPoint</Application>
  <PresentationFormat>Widescreen</PresentationFormat>
  <Paragraphs>782</Paragraphs>
  <Slides>25</Slides>
  <Notes>23</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25</vt:i4>
      </vt:variant>
    </vt:vector>
  </HeadingPairs>
  <TitlesOfParts>
    <vt:vector size="35" baseType="lpstr">
      <vt:lpstr>Arial</vt:lpstr>
      <vt:lpstr>Calibri</vt:lpstr>
      <vt:lpstr>Calibri Light</vt:lpstr>
      <vt:lpstr>Courier New</vt:lpstr>
      <vt:lpstr>Elephant</vt:lpstr>
      <vt:lpstr>NBS Light</vt:lpstr>
      <vt:lpstr>NBS Medium</vt:lpstr>
      <vt:lpstr>Verdana</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Daisy Rolt</dc:creator>
  <cp:lastModifiedBy>Ian Marley</cp:lastModifiedBy>
  <cp:revision>351</cp:revision>
  <cp:lastPrinted>2020-01-23T16:12:55Z</cp:lastPrinted>
  <dcterms:created xsi:type="dcterms:W3CDTF">2019-11-25T09:47:28Z</dcterms:created>
  <dcterms:modified xsi:type="dcterms:W3CDTF">2025-09-30T08:21:05Z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0x010100BBAD370E6C1E834BAF8B0CE8330AF9C8</vt:lpwstr>
  </property>
  <property fmtid="{D5CDD505-2E9C-101B-9397-08002B2CF9AE}" pid="3" name="MSIP_Label_08580bde-ac20-459a-927b-e4b49b924bfc_Enabled">
    <vt:lpwstr>true</vt:lpwstr>
  </property>
  <property fmtid="{D5CDD505-2E9C-101B-9397-08002B2CF9AE}" pid="4" name="MSIP_Label_08580bde-ac20-459a-927b-e4b49b924bfc_SetDate">
    <vt:lpwstr>2021-07-26T10:31:08Z</vt:lpwstr>
  </property>
  <property fmtid="{D5CDD505-2E9C-101B-9397-08002B2CF9AE}" pid="5" name="MSIP_Label_08580bde-ac20-459a-927b-e4b49b924bfc_Method">
    <vt:lpwstr>Privileged</vt:lpwstr>
  </property>
  <property fmtid="{D5CDD505-2E9C-101B-9397-08002B2CF9AE}" pid="6" name="MSIP_Label_08580bde-ac20-459a-927b-e4b49b924bfc_Name">
    <vt:lpwstr>NBS Confidential - No Visible Label</vt:lpwstr>
  </property>
  <property fmtid="{D5CDD505-2E9C-101B-9397-08002B2CF9AE}" pid="7" name="MSIP_Label_08580bde-ac20-459a-927b-e4b49b924bfc_SiteId">
    <vt:lpwstr>18ed93f5-e470-4996-b0ef-9554af985d50</vt:lpwstr>
  </property>
  <property fmtid="{D5CDD505-2E9C-101B-9397-08002B2CF9AE}" pid="8" name="MSIP_Label_08580bde-ac20-459a-927b-e4b49b924bfc_ActionId">
    <vt:lpwstr>903b7dcc-1839-45bd-add8-ff343666b77e</vt:lpwstr>
  </property>
  <property fmtid="{D5CDD505-2E9C-101B-9397-08002B2CF9AE}" pid="9" name="MSIP_Label_08580bde-ac20-459a-927b-e4b49b924bfc_ContentBits">
    <vt:lpwstr>0</vt:lpwstr>
  </property>
</Properties>
</file>